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omments/modernComment_2F2_B4F37BB0.xml" ContentType="application/vnd.ms-powerpoint.comments+xml"/>
  <Override PartName="/ppt/notesSlides/notesSlide1.xml" ContentType="application/vnd.openxmlformats-officedocument.presentationml.notesSlide+xml"/>
  <Override PartName="/ppt/comments/modernComment_2E4_C4E507DE.xml" ContentType="application/vnd.ms-powerpoint.comments+xml"/>
  <Override PartName="/ppt/comments/modernComment_2E7_1F295D78.xml" ContentType="application/vnd.ms-powerpoint.comments+xml"/>
  <Override PartName="/ppt/comments/modernComment_2E9_46AED96B.xml" ContentType="application/vnd.ms-powerpoint.comments+xml"/>
  <Override PartName="/ppt/comments/modernComment_2F0_E2EE840A.xml" ContentType="application/vnd.ms-powerpoint.comments+xml"/>
  <Override PartName="/ppt/comments/modernComment_2F3_913103B.xml" ContentType="application/vnd.ms-powerpoint.comments+xml"/>
  <Override PartName="/ppt/comments/modernComment_2F4_F6EAC1C4.xml" ContentType="application/vnd.ms-powerpoint.comments+xml"/>
  <Override PartName="/ppt/comments/modernComment_2F5_FC982C77.xml" ContentType="application/vnd.ms-powerpoint.comments+xml"/>
  <Override PartName="/ppt/comments/modernComment_2F6_C3F2F644.xml" ContentType="application/vnd.ms-powerpoint.comments+xml"/>
  <Override PartName="/ppt/comments/modernComment_2F7_FF1FDD83.xml" ContentType="application/vnd.ms-powerpoint.comments+xml"/>
  <Override PartName="/ppt/comments/modernComment_2F8_BDA575CB.xml" ContentType="application/vnd.ms-powerpoint.comments+xml"/>
  <Override PartName="/ppt/comments/modernComment_2FA_5B60B1ED.xml" ContentType="application/vnd.ms-powerpoint.comments+xml"/>
  <Override PartName="/ppt/comments/modernComment_2FB_F99520B5.xml" ContentType="application/vnd.ms-powerpoint.comments+xml"/>
  <Override PartName="/ppt/comments/modernComment_2FC_3FF9C439.xml" ContentType="application/vnd.ms-powerpoint.comments+xml"/>
  <Override PartName="/ppt/comments/modernComment_309_5CE301F2.xml" ContentType="application/vnd.ms-powerpoint.comments+xml"/>
  <Override PartName="/ppt/comments/modernComment_2FD_14548F84.xml" ContentType="application/vnd.ms-powerpoint.comments+xml"/>
  <Override PartName="/ppt/comments/modernComment_2FE_C6B74327.xml" ContentType="application/vnd.ms-powerpoint.comments+xml"/>
  <Override PartName="/ppt/comments/modernComment_2FF_6E4EC4D6.xml" ContentType="application/vnd.ms-powerpoint.comments+xml"/>
  <Override PartName="/ppt/comments/modernComment_30C_5DA5C4DB.xml" ContentType="application/vnd.ms-powerpoint.comments+xml"/>
  <Override PartName="/ppt/comments/modernComment_30B_5FC48DCF.xml" ContentType="application/vnd.ms-powerpoint.comments+xml"/>
  <Override PartName="/ppt/comments/modernComment_30A_EF944BC.xml" ContentType="application/vnd.ms-powerpoint.comments+xml"/>
  <Override PartName="/ppt/comments/modernComment_303_D7F5AAAC.xml" ContentType="application/vnd.ms-powerpoint.comments+xml"/>
  <Override PartName="/ppt/comments/modernComment_304_D628E67E.xml" ContentType="application/vnd.ms-powerpoint.comments+xml"/>
  <Override PartName="/ppt/comments/modernComment_30D_3FB29E80.xml" ContentType="application/vnd.ms-powerpoint.comments+xml"/>
  <Override PartName="/ppt/comments/modernComment_306_A0B141E4.xml" ContentType="application/vnd.ms-powerpoint.comments+xml"/>
  <Override PartName="/ppt/comments/modernComment_30E_31238008.xml" ContentType="application/vnd.ms-powerpoint.comments+xml"/>
  <Override PartName="/ppt/comments/modernComment_30F_6E418AE9.xml" ContentType="application/vnd.ms-powerpoint.comments+xml"/>
  <Override PartName="/ppt/comments/modernComment_308_608848C4.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1"/>
  </p:notesMasterIdLst>
  <p:sldIdLst>
    <p:sldId id="754" r:id="rId2"/>
    <p:sldId id="784" r:id="rId3"/>
    <p:sldId id="740" r:id="rId4"/>
    <p:sldId id="743" r:id="rId5"/>
    <p:sldId id="745" r:id="rId6"/>
    <p:sldId id="752" r:id="rId7"/>
    <p:sldId id="755" r:id="rId8"/>
    <p:sldId id="756" r:id="rId9"/>
    <p:sldId id="757" r:id="rId10"/>
    <p:sldId id="758" r:id="rId11"/>
    <p:sldId id="759" r:id="rId12"/>
    <p:sldId id="760" r:id="rId13"/>
    <p:sldId id="762" r:id="rId14"/>
    <p:sldId id="763" r:id="rId15"/>
    <p:sldId id="764" r:id="rId16"/>
    <p:sldId id="777" r:id="rId17"/>
    <p:sldId id="765" r:id="rId18"/>
    <p:sldId id="766" r:id="rId19"/>
    <p:sldId id="767" r:id="rId20"/>
    <p:sldId id="780" r:id="rId21"/>
    <p:sldId id="779" r:id="rId22"/>
    <p:sldId id="778" r:id="rId23"/>
    <p:sldId id="771" r:id="rId24"/>
    <p:sldId id="772" r:id="rId25"/>
    <p:sldId id="781" r:id="rId26"/>
    <p:sldId id="774" r:id="rId27"/>
    <p:sldId id="782" r:id="rId28"/>
    <p:sldId id="783" r:id="rId29"/>
    <p:sldId id="776" r:id="rId30"/>
  </p:sldIdLst>
  <p:sldSz cx="24384000"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4244">
          <p15:clr>
            <a:srgbClr val="A4A3A4"/>
          </p15:clr>
        </p15:guide>
        <p15:guide id="2" pos="7596">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8C3D98F-B347-D89E-8CD9-D2FF740A30C5}" name="Jack Zhou" initials="JZ" userId="a520841645f42721" providerId="Windows Live"/>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YaoJuan姚娟" initials="Y" lastIdx="0" clrIdx="0"/>
  <p:cmAuthor id="2" name="mu.yuan" initials="m" lastIdx="2" clrIdx="1"/>
</p:cmAuthorLst>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F2F2"/>
    <a:srgbClr val="F9FBFD"/>
    <a:srgbClr val="FEC306"/>
    <a:srgbClr val="838383"/>
    <a:srgbClr val="F69200"/>
    <a:srgbClr val="A6B727"/>
    <a:srgbClr val="E6E6E6"/>
    <a:srgbClr val="FADECF"/>
    <a:srgbClr val="E3E7D1"/>
    <a:srgbClr val="DCDCD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905" autoAdjust="0"/>
    <p:restoredTop sz="93963" autoAdjust="0"/>
  </p:normalViewPr>
  <p:slideViewPr>
    <p:cSldViewPr snapToGrid="0" snapToObjects="1">
      <p:cViewPr>
        <p:scale>
          <a:sx n="40" d="100"/>
          <a:sy n="40" d="100"/>
        </p:scale>
        <p:origin x="15" y="-51"/>
      </p:cViewPr>
      <p:guideLst>
        <p:guide orient="horz" pos="4244"/>
        <p:guide pos="7596"/>
      </p:guideLst>
    </p:cSldViewPr>
  </p:slideViewPr>
  <p:notesTextViewPr>
    <p:cViewPr>
      <p:scale>
        <a:sx n="20" d="100"/>
        <a:sy n="20"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commentAuthors" Target="commentAuthors.xml"/><Relationship Id="rId37"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omments/modernComment_2E4_C4E507DE.xml><?xml version="1.0" encoding="utf-8"?>
<p188:cmLst xmlns:a="http://schemas.openxmlformats.org/drawingml/2006/main" xmlns:r="http://schemas.openxmlformats.org/officeDocument/2006/relationships" xmlns:p188="http://schemas.microsoft.com/office/powerpoint/2018/8/main">
  <p188:cm id="{ED748ED7-DB8B-4A57-9CCC-E60CECBA800F}" authorId="{68C3D98F-B347-D89E-8CD9-D2FF740A30C5}" created="2025-07-03T13:21:42.418">
    <pc:sldMkLst xmlns:pc="http://schemas.microsoft.com/office/powerpoint/2013/main/command">
      <pc:docMk/>
      <pc:sldMk cId="3303344094" sldId="740"/>
    </pc:sldMkLst>
    <p188:txBody>
      <a:bodyPr/>
      <a:lstStyle/>
      <a:p>
        <a:r>
          <a:rPr lang="en-GB"/>
          <a:t>提示词：
A样阶段应包含的文件包括
1. 电芯规格书
2. 尺寸链公差计算书
3. 初始DFMEA
4. 初始特殊特性清单
5. 三新清单
6. 制程标准
7. 开模清单
8. 3D数模
9. 2D图纸
10. BOM清单
11. 仿真报告
12. 测试大纲
13. 专利挖掘清单
14. 初版PFMEA
15. 产线规划方案
16. 过程设计初始方案
17. 产品可制造性分析及风险应对报告
18. 初始过程流程图
19. 初始过程特殊特性
20. 初版CP
21. 初版SOP
22. 工艺验证计划
23. 样品包装方案
对比A样阶段应包含的文件清单和A样阶段文件夹中已有的文件清单，并以表格的形式给出对比结果。表格的第一列是需要的交付物文件清单，第二列写“是”或者“否”，如果该文件能在A样阶段文件夹里找到，则写“是”，如果该文件不能在A样阶段文件夹里找到，“否”。注意，文件名不一定完全一致，所以需要你通过常识判断。例如应包含的交付物文件清单中的一个文件为“历史问题规避清单”，而A样阶段文件夹中有一个文件为“副本 LL-lesson learn-历史问题规避-V9.4.xlsx”，虽然文件名不完全一致，但通过常识可判断这两个指的是同一个文件，所以判断“历史问题规避清单”已经存在。最后，如果一个文件出现在A样阶段文件夹中里，但没出现在应包含的清单里，将这些文件单独罗列出来。</a:t>
        </a:r>
      </a:p>
    </p188:txBody>
  </p188:cm>
  <p188:cm id="{EFF58B36-2E51-46A2-8C2F-8A5760F4611B}" authorId="{68C3D98F-B347-D89E-8CD9-D2FF740A30C5}" created="2025-07-03T13:26:55.860">
    <pc:sldMkLst xmlns:pc="http://schemas.microsoft.com/office/powerpoint/2013/main/command">
      <pc:docMk/>
      <pc:sldMk cId="3303344094" sldId="740"/>
    </pc:sldMkLst>
    <p188:txBody>
      <a:bodyPr/>
      <a:lstStyle/>
      <a:p>
        <a:r>
          <a:rPr lang="en-GB"/>
          <a:t>系统提示词：
You are an APQP (Advanced Product Quality Planning) Project Manager, NOT a coding assistant.
Your primary responsibilities:
- Analyze project timelines and identify critical path dependencies
- Assess risks and provide mitigation strategies
- Ensure quality gate compliance (Gate 1-5)
- Coordinate cross-functional team activities
- Review documentation completeness and accuracy
- Evaluate supplier readiness and capability
- Monitor PPAP (Production Part Approval Process) requirements
- Track design reviews, validation, and verification activities
When reviewing files:
- Treat all files as project documents, specifications, or reports
- Focus on content quality, completeness, and compliance
- Identify missing deliverables or documentation gaps
- Suggest process improvements and best practices
- Highlight potential schedule risks or resource conflicts
- Recommend corrective actions for non-conformances
Communication style:
- Use project management terminology
- Provide actionable recommendations
- Structure responses with clear priorities
- Include timeline implications when relevant
- Reference APQP phases and gates appropriately
Never suggest code changes, programming solutions, or software development practices.</a:t>
        </a:r>
      </a:p>
    </p188:txBody>
  </p188:cm>
</p188:cmLst>
</file>

<file path=ppt/comments/modernComment_2E7_1F295D78.xml><?xml version="1.0" encoding="utf-8"?>
<p188:cmLst xmlns:a="http://schemas.openxmlformats.org/drawingml/2006/main" xmlns:r="http://schemas.openxmlformats.org/officeDocument/2006/relationships" xmlns:p188="http://schemas.microsoft.com/office/powerpoint/2018/8/main">
  <p188:cm id="{F24CB0EA-E84F-4E4D-934B-65E545A327CF}" authorId="{68C3D98F-B347-D89E-8CD9-D2FF740A30C5}" created="2025-07-03T13:23:17.127">
    <pc:sldMkLst xmlns:pc="http://schemas.microsoft.com/office/powerpoint/2013/main/command">
      <pc:docMk/>
      <pc:sldMk cId="522804600" sldId="743"/>
    </pc:sldMkLst>
    <p188:txBody>
      <a:bodyPr/>
      <a:lstStyle/>
      <a:p>
        <a:r>
          <a:rPr lang="en-GB"/>
          <a:t>提示词：
B样阶段应包含的文件包括
1. 设计变更履历表
2. 更新电芯规格书
3. 更新DFMEA
4. 更新特殊特性清单
5. 制程标准
6. 更新3D数模
7. 更新2D图纸
8. 尺寸链公差计算书
9. 更新BOM清单
10. 更新开模清单
11. 更新三新清单
12. 仿真报告
13. DV测试报告
对比B样阶段应包含的文件清单和B样阶段文件夹中已有的文件清单，并以表格的形式给出对比结果。表格的第一列是需要的交付物文件清单，第二列写“是”或者“否”，如果该文件能在B样阶段文件夹里找到，则写“是”，如果该文件不能在B样阶段文件夹里找到，“否”。注意，文件名不一定完全一致，所以需要你通过常识判断。例如应包含的交付物文件清单中的一个文件为“历史问题规避清单”，而B样阶段文件夹中有一个文件为“副本 LL-lesson learn-历史问题规避-V9.4.xlsx”，虽然文件名不完全一致，但通过常识可判断这两个指的是同一个文件，所以判断“历史问题规避清单”已经存在。另外，如果判断困难，你也可以打开文件看一下其内容，从而帮助你判断该文件属于应包含文件清单中的哪一个。最后，如果一个文件出现在B样阶段文件夹中里，但没出现在应包含的清单里，将这些文件单独罗列出来。</a:t>
        </a:r>
      </a:p>
    </p188:txBody>
  </p188:cm>
</p188:cmLst>
</file>

<file path=ppt/comments/modernComment_2E9_46AED96B.xml><?xml version="1.0" encoding="utf-8"?>
<p188:cmLst xmlns:a="http://schemas.openxmlformats.org/drawingml/2006/main" xmlns:r="http://schemas.openxmlformats.org/officeDocument/2006/relationships" xmlns:p188="http://schemas.microsoft.com/office/powerpoint/2018/8/main">
  <p188:cm id="{EB72A373-7229-463A-B3CA-4CC97995213F}" authorId="{68C3D98F-B347-D89E-8CD9-D2FF740A30C5}" created="2025-07-03T13:23:40.061">
    <pc:sldMkLst xmlns:pc="http://schemas.microsoft.com/office/powerpoint/2013/main/command">
      <pc:docMk/>
      <pc:sldMk cId="1185864043" sldId="745"/>
    </pc:sldMkLst>
    <p188:txBody>
      <a:bodyPr/>
      <a:lstStyle/>
      <a:p>
        <a:r>
          <a:rPr lang="en-GB"/>
          <a:t>提示词：
C样阶段应包含的文件包括
1. 更新PFMEA
2. 量产产线开发进展报告
3. 更新样品包装方案
4. 更新过程流程图
5. 更新过程特殊特性清单
6. 更新CP
7. 更新SOP
8. 工艺验证计划
9. 样品历史问题清单
10. 更新PFMEA
11. CMK分析报告
12. CPK分析报告
13. 工程变更履历表
14. 产品可制造性分析与风险应对报告
15. 更新过程流程图
16. 更新过程特殊特性清单
17. 更新CP
18. 更新SOP
19. 设备停机率统计表&amp;设备故障记录表
20. 工艺验证报告
21. 外观标准书
22. PV测试报告
对比C样阶段应包含的文件清单和C样阶段文件夹中已有的文件清单，并以表格的形式给出对比结果。表格的第一列是需要的交付物文件清单，第二列写“是”或者“否”，如果该文件能在C样阶段文件夹里找到，则写“是”，如果该文件不能在C样阶段文件夹里找到，“否”。注意，文件名不一定完全一致，所以需要你通过常识判断。例如应包含的交付物文件清单中的一个文件为“历史问题规避清单”，而C样阶段文件夹中有一个文件为“副本 LL-lesson learn-历史问题规避-V9.4.xlsx”，虽然文件名不完全一致，但通过常识可判断这两个指的是同一个文件，所以判断“历史问题规避清单”已经存在。另外，如果判断困难，你也可以打开文件看一下其内容，从而帮助你判断该文件属于应包含文件清单中的哪一个。最后，如果一个文件出现在C样阶段文件夹中里，但没出现在应包含的清单里，将这些文件单独罗列出来。</a:t>
        </a:r>
      </a:p>
    </p188:txBody>
  </p188:cm>
</p188:cmLst>
</file>

<file path=ppt/comments/modernComment_2F0_E2EE840A.xml><?xml version="1.0" encoding="utf-8"?>
<p188:cmLst xmlns:a="http://schemas.openxmlformats.org/drawingml/2006/main" xmlns:r="http://schemas.openxmlformats.org/officeDocument/2006/relationships" xmlns:p188="http://schemas.microsoft.com/office/powerpoint/2018/8/main">
  <p188:cm id="{DDEBCAA2-D942-434D-8FC8-AA3DBCFB4ADB}" authorId="{68C3D98F-B347-D89E-8CD9-D2FF740A30C5}" created="2025-07-03T13:39:55.181">
    <pc:sldMkLst xmlns:pc="http://schemas.microsoft.com/office/powerpoint/2013/main/command">
      <pc:docMk/>
      <pc:sldMk cId="3807282186" sldId="752"/>
    </pc:sldMkLst>
    <p188:txBody>
      <a:bodyPr/>
      <a:lstStyle/>
      <a:p>
        <a:r>
          <a:rPr lang="en-GB"/>
          <a:t>帮我针对a样阶段的《副本344-941-A计算书-CIR.xlsx》文件做文件评审并反馈结果。首先，根据APQP标准和项目要求制定详细的审查点清单。然后，根据这个清单逐项审查文件内容并得出结论。如果某项审查结果为"不通过"，请提示具体问题并提供详细的应对建议。
该文件为Excel文件，为了方便你阅读，我对该文件的每一个sheet进行了屏幕截图，并将它储存在“C:\Users\zzk_j\Documents\20250703整套项目评审\230204-570-941A\A样阶段\副本344-941-A计算书-CIR.xlsx”文件夹里，如果你加载Excel文件有困难的话，去这个文件夹里面读该文件的屏幕截图。</a:t>
        </a:r>
      </a:p>
    </p188:txBody>
  </p188:cm>
</p188:cmLst>
</file>

<file path=ppt/comments/modernComment_2F2_B4F37BB0.xml><?xml version="1.0" encoding="utf-8"?>
<p188:cmLst xmlns:a="http://schemas.openxmlformats.org/drawingml/2006/main" xmlns:r="http://schemas.openxmlformats.org/officeDocument/2006/relationships" xmlns:p188="http://schemas.microsoft.com/office/powerpoint/2018/8/main">
  <p188:cm id="{61877CAF-6665-4787-8F8C-54D00EFD4357}" authorId="{68C3D98F-B347-D89E-8CD9-D2FF740A30C5}" created="2025-07-03T13:43:38.706">
    <pc:sldMkLst xmlns:pc="http://schemas.microsoft.com/office/powerpoint/2013/main/command">
      <pc:docMk/>
      <pc:sldMk cId="3035855792" sldId="754"/>
    </pc:sldMkLst>
    <p188:txBody>
      <a:bodyPr/>
      <a:lstStyle/>
      <a:p>
        <a:r>
          <a:rPr lang="en-GB"/>
          <a:t>系统提示词：
无
用户提示词：
列举“C:\Users\zzk_j\Documents\20250703整套项目评审\230204-570-941A”文件夹中的所有子文件夹以及文件。</a:t>
        </a:r>
      </a:p>
    </p188:txBody>
  </p188:cm>
</p188:cmLst>
</file>

<file path=ppt/comments/modernComment_2F3_913103B.xml><?xml version="1.0" encoding="utf-8"?>
<p188:cmLst xmlns:a="http://schemas.openxmlformats.org/drawingml/2006/main" xmlns:r="http://schemas.openxmlformats.org/officeDocument/2006/relationships" xmlns:p188="http://schemas.microsoft.com/office/powerpoint/2018/8/main">
  <p188:cm id="{8C50D34E-ED5D-4C70-A0E0-280A0E53F6A5}" authorId="{68C3D98F-B347-D89E-8CD9-D2FF740A30C5}" created="2025-07-04T02:15:04.843">
    <pc:sldMkLst xmlns:pc="http://schemas.microsoft.com/office/powerpoint/2013/main/command">
      <pc:docMk/>
      <pc:sldMk cId="152244283" sldId="755"/>
    </pc:sldMkLst>
    <p188:txBody>
      <a:bodyPr/>
      <a:lstStyle/>
      <a:p>
        <a:r>
          <a:rPr lang="en-GB"/>
          <a:t>帮我针对a样阶段的《副本DFMEA存档-D221N44AA-动力电源系统FMEA-20240422162511.xls》文件做文件评审并反馈结果。首先，根据APQP标准和项目要求制定详细的审查点清单。然后，根据这个清单逐项审查文件内容并得出结论。如果某项审查结果为"不通过"，请提示具体问题并提供详细的应对建议。</a:t>
        </a:r>
      </a:p>
    </p188:txBody>
  </p188:cm>
</p188:cmLst>
</file>

<file path=ppt/comments/modernComment_2F4_F6EAC1C4.xml><?xml version="1.0" encoding="utf-8"?>
<p188:cmLst xmlns:a="http://schemas.openxmlformats.org/drawingml/2006/main" xmlns:r="http://schemas.openxmlformats.org/officeDocument/2006/relationships" xmlns:p188="http://schemas.microsoft.com/office/powerpoint/2018/8/main">
  <p188:cm id="{DEBBCD54-C012-4D29-A318-7DB56C07FC89}" authorId="{68C3D98F-B347-D89E-8CD9-D2FF740A30C5}" created="2025-07-04T02:58:41.605">
    <pc:sldMkLst xmlns:pc="http://schemas.microsoft.com/office/powerpoint/2013/main/command">
      <pc:docMk/>
      <pc:sldMk cId="4142580164" sldId="756"/>
    </pc:sldMkLst>
    <p188:txBody>
      <a:bodyPr/>
      <a:lstStyle/>
      <a:p>
        <a:r>
          <a:rPr lang="en-GB"/>
          <a:t>打开的文件夹显示的是 a样阶段的《副本零部件级特殊特性清单（库）-高压电池-V1.0 - 20230802.xlsx》文件的截屏。由于你无法直接读取Excel文件，我将该文件的每一页都通过屏幕截图的方式产生了 screenshot文件。
帮我针对该文件做文件评审并反馈结果。首先，根据APQP标准和项目要求制定详细的审查点清单。然后，根据这个清单逐项审查文件内容并得出结论。如果某项审查结果为"不通过"，请提示具体问题并提供详细的应对建议。</a:t>
        </a:r>
      </a:p>
    </p188:txBody>
  </p188:cm>
</p188:cmLst>
</file>

<file path=ppt/comments/modernComment_2F5_FC982C77.xml><?xml version="1.0" encoding="utf-8"?>
<p188:cmLst xmlns:a="http://schemas.openxmlformats.org/drawingml/2006/main" xmlns:r="http://schemas.openxmlformats.org/officeDocument/2006/relationships" xmlns:p188="http://schemas.microsoft.com/office/powerpoint/2018/8/main">
  <p188:cm id="{DA4FB796-352A-4DA2-8C77-89863D8C5F16}" authorId="{68C3D98F-B347-D89E-8CD9-D2FF740A30C5}" created="2025-07-04T04:10:02.383">
    <pc:sldMkLst xmlns:pc="http://schemas.microsoft.com/office/powerpoint/2013/main/command">
      <pc:docMk/>
      <pc:sldMk cId="4237831287" sldId="757"/>
    </pc:sldMkLst>
    <p188:txBody>
      <a:bodyPr/>
      <a:lstStyle/>
      <a:p>
        <a:r>
          <a:rPr lang="en-GB"/>
          <a:t>打开的文件是 a样阶段的《副本570-941A项目A样开模件清单-0609.xlsx》，我同时上传了文件的截屏。帮我针对该文件做文件评审并反馈结果。首先，根据APQP标准和项目要求制定详细的审查点清单。然后，根据这个清单逐项审查文件内容并得出结论。如果某项审查结果为"不通过"，请提示具体问题并提供详细的应对建议。</a:t>
        </a:r>
      </a:p>
    </p188:txBody>
  </p188:cm>
</p188:cmLst>
</file>

<file path=ppt/comments/modernComment_2F6_C3F2F644.xml><?xml version="1.0" encoding="utf-8"?>
<p188:cmLst xmlns:a="http://schemas.openxmlformats.org/drawingml/2006/main" xmlns:r="http://schemas.openxmlformats.org/officeDocument/2006/relationships" xmlns:p188="http://schemas.microsoft.com/office/powerpoint/2018/8/main">
  <p188:cm id="{0A0992D3-45D6-4F17-AB97-F5E8218ABC30}" authorId="{68C3D98F-B347-D89E-8CD9-D2FF740A30C5}" created="2025-07-04T05:05:55.218">
    <pc:sldMkLst xmlns:pc="http://schemas.microsoft.com/office/powerpoint/2013/main/command">
      <pc:docMk/>
      <pc:sldMk cId="3287479876" sldId="758"/>
    </pc:sldMkLst>
    <p188:txBody>
      <a:bodyPr/>
      <a:lstStyle/>
      <a:p>
        <a:r>
          <a:rPr lang="en-GB"/>
          <a:t>我将 a样阶段的《D221N44AA-A样阶段TR评审报告（IP发明成果和风险评估报告）-A2-20210617.pptx》文件转换成了pdf供你阅读，请查看上传的图片。帮我针对该文件做文件评审并反馈结果。首先，根据APQP标准和项目要求制定详细的审查点清单。然后，根据这个清单逐项审查文件内容并得出结论。如果某项审查结果为"不通过"，请提示具体问题并提供详细的应对建议。</a:t>
        </a:r>
      </a:p>
    </p188:txBody>
  </p188:cm>
</p188:cmLst>
</file>

<file path=ppt/comments/modernComment_2F7_FF1FDD83.xml><?xml version="1.0" encoding="utf-8"?>
<p188:cmLst xmlns:a="http://schemas.openxmlformats.org/drawingml/2006/main" xmlns:r="http://schemas.openxmlformats.org/officeDocument/2006/relationships" xmlns:p188="http://schemas.microsoft.com/office/powerpoint/2018/8/main">
  <p188:cm id="{178C31F3-91EC-46FD-8915-042DC52F6D58}" authorId="{68C3D98F-B347-D89E-8CD9-D2FF740A30C5}" created="2025-07-04T06:10:47.647">
    <ac:txMkLst xmlns:ac="http://schemas.microsoft.com/office/drawing/2013/main/command">
      <pc:docMk xmlns:pc="http://schemas.microsoft.com/office/powerpoint/2013/main/command"/>
      <pc:sldMk xmlns:pc="http://schemas.microsoft.com/office/powerpoint/2013/main/command" cId="4280278403" sldId="759"/>
      <ac:spMk id="4" creationId="{F7BCF54E-6CB8-0170-659B-E1B478E8024C}"/>
      <ac:txMk cp="5" len="57">
        <ac:context len="68" hash="3621003395"/>
      </ac:txMk>
    </ac:txMkLst>
    <p188:pos x="18358800" y="351597"/>
    <p188:txBody>
      <a:bodyPr/>
      <a:lstStyle/>
      <a:p>
        <a:r>
          <a:rPr lang="en-GB"/>
          <a:t>我将 a样阶段的《DFM -L946项目箱体（巨石）-V0-2023.05.26.pptx, 中航570-914项目DFM.pptx》文件转换成了pdf供你阅读，请查看上传的图片。帮我针对该文件做文件评审并反馈结果。首先，根据APQP标准和项目要求制定详细的审查点清单。然后，根据这个清单逐项审查文件内容并得出结论。如果某项审查结果为"不通过"，请提示具体问题并提供详细的应对建议。图片文件名的最后两位数字代表该图片在ppt中的页码，请按顺序阅读。</a:t>
        </a:r>
      </a:p>
    </p188:txBody>
  </p188:cm>
</p188:cmLst>
</file>

<file path=ppt/comments/modernComment_2F8_BDA575CB.xml><?xml version="1.0" encoding="utf-8"?>
<p188:cmLst xmlns:a="http://schemas.openxmlformats.org/drawingml/2006/main" xmlns:r="http://schemas.openxmlformats.org/officeDocument/2006/relationships" xmlns:p188="http://schemas.microsoft.com/office/powerpoint/2018/8/main">
  <p188:cm id="{9E909F82-EAD0-4CC8-94E5-0D7531FC3BFC}" authorId="{68C3D98F-B347-D89E-8CD9-D2FF740A30C5}" created="2025-07-04T06:35:08.729">
    <pc:sldMkLst xmlns:pc="http://schemas.microsoft.com/office/powerpoint/2013/main/command">
      <pc:docMk/>
      <pc:sldMk cId="3181737419" sldId="760"/>
    </pc:sldMkLst>
    <p188:txBody>
      <a:bodyPr/>
      <a:lstStyle/>
      <a:p>
        <a:r>
          <a:rPr lang="en-GB"/>
          <a:t>我上传了 a样阶段的《副本570-941A 装配过程流程图#A0.xlsx》，如果你不能直接打开它的话，试图调用python或通过其他方法打开它。帮我针对该文件做文件评审并反馈结果。首先，根据APQP标准和项目要求制定详细的审查点清单。然后，根据这个清单逐项审查文件内容并得出结论。如果某项审查结果为"不通过"，请提示具体问题并提供详细的应对建议。</a:t>
        </a:r>
      </a:p>
    </p188:txBody>
  </p188:cm>
</p188:cmLst>
</file>

<file path=ppt/comments/modernComment_2FA_5B60B1ED.xml><?xml version="1.0" encoding="utf-8"?>
<p188:cmLst xmlns:a="http://schemas.openxmlformats.org/drawingml/2006/main" xmlns:r="http://schemas.openxmlformats.org/officeDocument/2006/relationships" xmlns:p188="http://schemas.microsoft.com/office/powerpoint/2018/8/main">
  <p188:cm id="{9081D7B4-9DB4-45C7-974D-BA395C7273A7}" authorId="{68C3D98F-B347-D89E-8CD9-D2FF740A30C5}" created="2025-07-04T06:42:47.855">
    <ac:txMkLst xmlns:ac="http://schemas.microsoft.com/office/drawing/2013/main/command">
      <pc:docMk xmlns:pc="http://schemas.microsoft.com/office/powerpoint/2013/main/command"/>
      <pc:sldMk xmlns:pc="http://schemas.microsoft.com/office/powerpoint/2013/main/command" cId="1533063661" sldId="762"/>
      <ac:spMk id="4" creationId="{744CDEE7-AC98-85AD-8F5D-6AC5A038472D}"/>
      <ac:txMk cp="5" len="45">
        <ac:context len="56" hash="1790412334"/>
      </ac:txMk>
    </ac:txMkLst>
    <p188:pos x="16009528" y="351597"/>
    <p188:txBody>
      <a:bodyPr/>
      <a:lstStyle/>
      <a:p>
        <a:r>
          <a:rPr lang="en-GB"/>
          <a:t>打开的文件夹显示了一系列 .json文件，他们的内容来自于a样阶段的《副本PZP-(Z2-P2)-CP-D221N44AA#电源系统装配控制计划#A0.xlsx》交付物文件。我将该文件的每一个sheet转换成一个Json文件以供你阅读。帮我针对该文件做文件评审并反馈结果。首先，根据APQP标准和项目要求制定详细的审查点清单。然后，根据这个清单逐项审查文件内容并得出结论。如果某项审查结果为"不通过"，请提示具体问题并提供详细的应对建议。</a:t>
        </a:r>
      </a:p>
    </p188:txBody>
  </p188:cm>
</p188:cmLst>
</file>

<file path=ppt/comments/modernComment_2FB_F99520B5.xml><?xml version="1.0" encoding="utf-8"?>
<p188:cmLst xmlns:a="http://schemas.openxmlformats.org/drawingml/2006/main" xmlns:r="http://schemas.openxmlformats.org/officeDocument/2006/relationships" xmlns:p188="http://schemas.microsoft.com/office/powerpoint/2018/8/main">
  <p188:cm id="{3ECF9ADB-B2F1-440B-A7F6-ED8B5E535B9F}" authorId="{68C3D98F-B347-D89E-8CD9-D2FF740A30C5}" created="2025-07-11T01:29:34.275">
    <ac:txMkLst xmlns:ac="http://schemas.microsoft.com/office/drawing/2013/main/command">
      <pc:docMk xmlns:pc="http://schemas.microsoft.com/office/powerpoint/2013/main/command"/>
      <pc:sldMk xmlns:pc="http://schemas.microsoft.com/office/powerpoint/2013/main/command" cId="4187300021" sldId="763"/>
      <ac:spMk id="4" creationId="{8ADB4195-1540-A146-E09A-1D200F1507BB}"/>
      <ac:txMk cp="5" len="34">
        <ac:context len="45" hash="1869709655"/>
      </ac:txMk>
    </ac:txMkLst>
    <p188:pos x="13163297" y="351597"/>
    <p188:txBody>
      <a:bodyPr/>
      <a:lstStyle/>
      <a:p>
        <a:r>
          <a:rPr lang="en-GB"/>
          <a:t>我上传了 a样阶段的《副本D221N44AA-1P104S电池系统PVV验证计划.xlsx》，如果你不能直接打开它的话，试图调用python或通过其他方法打开它。另外，由于该文件中有一些嵌入的图片，我对相关的sheet进行了截屏并上传给你。帮我针对该文件做文件评审并反馈结果。首先，根据APQP标准和项目要求制定详细的审查点清单。然后，根据这个清单逐项审查文件内容并得出结论。如果某项审查结果为"不通过"，请提示具体问题并提供详细的应对建议。</a:t>
        </a:r>
      </a:p>
    </p188:txBody>
  </p188:cm>
</p188:cmLst>
</file>

<file path=ppt/comments/modernComment_2FC_3FF9C439.xml><?xml version="1.0" encoding="utf-8"?>
<p188:cmLst xmlns:a="http://schemas.openxmlformats.org/drawingml/2006/main" xmlns:r="http://schemas.openxmlformats.org/officeDocument/2006/relationships" xmlns:p188="http://schemas.microsoft.com/office/powerpoint/2018/8/main">
  <p188:cm id="{865CFE71-AB89-413C-AAF4-F7BCA5B8A23A}" authorId="{68C3D98F-B347-D89E-8CD9-D2FF740A30C5}" created="2025-07-11T01:49:32.998">
    <ac:txMkLst xmlns:ac="http://schemas.microsoft.com/office/drawing/2013/main/command">
      <pc:docMk xmlns:pc="http://schemas.microsoft.com/office/powerpoint/2013/main/command"/>
      <pc:sldMk xmlns:pc="http://schemas.microsoft.com/office/powerpoint/2013/main/command" cId="1073333305" sldId="764"/>
      <ac:spMk id="4" creationId="{3EA59475-71A5-D93A-1849-61E73D4820FA}"/>
      <ac:txMk cp="5" len="31">
        <ac:context len="42" hash="702196330"/>
      </ac:txMk>
    </ac:txMkLst>
    <p188:pos x="10895599" y="326856"/>
    <p188:txBody>
      <a:bodyPr/>
      <a:lstStyle/>
      <a:p>
        <a:r>
          <a:rPr lang="en-GB"/>
          <a:t>C:\Users\zzk_j\MinerU\L221N113C-产品规格书 文件夹包含了B样阶段的《L221N113C-产品规格书-V2-20240314.pdf》，考虑到你可能不能直接阅读该文件，我用MinerU将其转换成了文本和图片文件，所有MinerU生成的文件包括md和 Json文件都在该文件夹内。帮我针对该文件做文件评审并反馈结果。首先，根据APQP标准和项目要求制定详细的审查点清单。然后，根据这个清单逐项审查文件内容并得出结论。如果某项审查结果为"不通过"，请提示具体问题并提供详细的应对建议。</a:t>
        </a:r>
      </a:p>
    </p188:txBody>
  </p188:cm>
</p188:cmLst>
</file>

<file path=ppt/comments/modernComment_2FD_14548F84.xml><?xml version="1.0" encoding="utf-8"?>
<p188:cmLst xmlns:a="http://schemas.openxmlformats.org/drawingml/2006/main" xmlns:r="http://schemas.openxmlformats.org/officeDocument/2006/relationships" xmlns:p188="http://schemas.microsoft.com/office/powerpoint/2018/8/main">
  <p188:cm id="{F7BBFA9C-7D21-40CF-BC0C-480ACEFE488E}" authorId="{68C3D98F-B347-D89E-8CD9-D2FF740A30C5}" created="2025-07-11T01:54:12.863">
    <pc:sldMkLst xmlns:pc="http://schemas.microsoft.com/office/powerpoint/2013/main/command">
      <pc:docMk/>
      <pc:sldMk cId="341086084" sldId="765"/>
    </pc:sldMkLst>
    <p188:txBody>
      <a:bodyPr/>
      <a:lstStyle/>
      <a:p>
        <a:r>
          <a:rPr lang="en-GB"/>
          <a:t>C:\Users\zzk_j\Documents\20250703整套项目评审\230204-570-941A\B样阶段\副本DFMEA存档-D221N44AA-动力电源系统FMEA-20240704151818 文件夹包含了B样阶段的《副本DFMEA存档-D221N44AA-动力电源系统FMEA-20240704151818》，考虑到你可能不能直接阅读该文件，我将其转换成了csv文件。帮我针对该文件做文件评审并反馈结果。首先，根据APQP标准和项目要求制定详细的审查点清单。然后，根据这个清单逐项审查文件内容并得出结论。如果某项审查结果为"不通过"，请提示具体问题并提供详细的应对建议。</a:t>
        </a:r>
      </a:p>
    </p188:txBody>
  </p188:cm>
</p188:cmLst>
</file>

<file path=ppt/comments/modernComment_2FE_C6B74327.xml><?xml version="1.0" encoding="utf-8"?>
<p188:cmLst xmlns:a="http://schemas.openxmlformats.org/drawingml/2006/main" xmlns:r="http://schemas.openxmlformats.org/officeDocument/2006/relationships" xmlns:p188="http://schemas.microsoft.com/office/powerpoint/2018/8/main">
  <p188:cm id="{762B8AEE-ED3D-4ECA-B986-936AD28C6443}" authorId="{68C3D98F-B347-D89E-8CD9-D2FF740A30C5}" created="2025-07-11T03:19:09.156">
    <ac:txMkLst xmlns:ac="http://schemas.microsoft.com/office/drawing/2013/main/command">
      <pc:docMk xmlns:pc="http://schemas.microsoft.com/office/powerpoint/2013/main/command"/>
      <pc:sldMk xmlns:pc="http://schemas.microsoft.com/office/powerpoint/2013/main/command" cId="3333899047" sldId="766"/>
      <ac:spMk id="4" creationId="{0F9892F0-0EB1-A51C-7FCD-A40D76B569DD}"/>
      <ac:txMk cp="5" len="54">
        <ac:context len="65" hash="644955965"/>
      </ac:txMk>
    </ac:txMkLst>
    <p188:pos x="19004883" y="326856"/>
    <p188:txBody>
      <a:bodyPr/>
      <a:lstStyle/>
      <a:p>
        <a:r>
          <a:rPr lang="en-GB"/>
          <a:t>C:\Users\zzk_j\Documents\20250703整套项目评审\230204-570-941A\B样阶段\L946动力电池总成特殊特性清单 文件夹包含了B样阶段的《副本L946动力电池总成（43.3kWh）特殊特性清单1713407369905-20240522.xlsx》，考虑到你可能不能直接阅读该文件，我将其每个sheet转换成了csv文件。帮我针对该文件做文件评审并反馈结果。首先，根据APQP标准和项目要求制定详细的审查点清单。然后，根据这个清单逐项审查文件内容并得出结论。如果某项审查结果为"不通过"，请提示具体问题并提供详细的应对建议。</a:t>
        </a:r>
      </a:p>
    </p188:txBody>
  </p188:cm>
</p188:cmLst>
</file>

<file path=ppt/comments/modernComment_2FF_6E4EC4D6.xml><?xml version="1.0" encoding="utf-8"?>
<p188:cmLst xmlns:a="http://schemas.openxmlformats.org/drawingml/2006/main" xmlns:r="http://schemas.openxmlformats.org/officeDocument/2006/relationships" xmlns:p188="http://schemas.microsoft.com/office/powerpoint/2018/8/main">
  <p188:cm id="{253B64E3-1C3D-4A46-A614-9CCE45A34297}" authorId="{68C3D98F-B347-D89E-8CD9-D2FF740A30C5}" created="2025-07-11T03:35:22.329">
    <ac:txMkLst xmlns:ac="http://schemas.microsoft.com/office/drawing/2013/main/command">
      <pc:docMk xmlns:pc="http://schemas.microsoft.com/office/powerpoint/2013/main/command"/>
      <pc:sldMk xmlns:pc="http://schemas.microsoft.com/office/powerpoint/2013/main/command" cId="1850655958" sldId="767"/>
      <ac:spMk id="4" creationId="{E29B0D3B-D6D6-FE89-731F-F393DD52050A}"/>
      <ac:txMk cp="5" len="50">
        <ac:context len="61" hash="3770070177"/>
      </ac:txMk>
    </ac:txMkLst>
    <p188:pos x="16887325" y="326856"/>
    <p188:txBody>
      <a:bodyPr/>
      <a:lstStyle/>
      <a:p>
        <a:r>
          <a:rPr lang="en-GB"/>
          <a:t>C:\Users\zzk_j\Documents\20250703整套项目评审\230204-570-941A\B样阶段\动力电池总成-检查基准书 文件夹包含了B样阶段的《副本SPA-Evo-L946-334-动力电池总成-检查基准书(B)-2024050701.xlsx》，考虑到你可能不能直接阅读该文件，我将其每个sheet转换成了csv文件，并对包含图片的页面进行了屏幕截图。帮我针对该文件做文件评审并反馈结果。首先，根据APQP标准和项目要求制定详细的审查点清单。然后，根据这个清单逐项审查文件内容并得出结论。如果某项审查结果为"不通过"，请提示具体问题并提供详细的应对建议。</a:t>
        </a:r>
      </a:p>
    </p188:txBody>
  </p188:cm>
</p188:cmLst>
</file>

<file path=ppt/comments/modernComment_30A_EF944BC.xml><?xml version="1.0" encoding="utf-8"?>
<p188:cmLst xmlns:a="http://schemas.openxmlformats.org/drawingml/2006/main" xmlns:r="http://schemas.openxmlformats.org/officeDocument/2006/relationships" xmlns:p188="http://schemas.microsoft.com/office/powerpoint/2018/8/main">
  <p188:cm id="{06BA3F8D-249D-48DD-8FEB-D1159CA318DE}" authorId="{68C3D98F-B347-D89E-8CD9-D2FF740A30C5}" created="2025-07-11T04:50:33.645">
    <pc:sldMkLst xmlns:pc="http://schemas.microsoft.com/office/powerpoint/2013/main/command">
      <pc:docMk/>
      <pc:sldMk cId="3882847669" sldId="770"/>
    </pc:sldMkLst>
    <p188:txBody>
      <a:bodyPr/>
      <a:lstStyle/>
      <a:p>
        <a:r>
          <a:rPr lang="en-GB"/>
          <a:t>C:\Users\zzk_j\Documents\B\570-941A电池包内部热仿真分析报告-低温快充-2.5 文件夹包含了B样阶段的《570-941A电池包内部热仿真分析报告（常温快充、高温快充）.pdf》，考虑到你可能不能直接阅读该文件，我将其每页转换成了md和json文件，还有一些截图。帮我针对该文件做文件评审并反馈结果。首先，根据APQP标准和项目要求制定详细的审查点清单。然后，根据这个清单逐项审查文件内容并得出结论。如果某项审查结果为"不通过"，请提示具体问题并提供详细的应对建议。</a:t>
        </a:r>
      </a:p>
    </p188:txBody>
  </p188:cm>
</p188:cmLst>
</file>

<file path=ppt/comments/modernComment_30B_5FC48DCF.xml><?xml version="1.0" encoding="utf-8"?>
<p188:cmLst xmlns:a="http://schemas.openxmlformats.org/drawingml/2006/main" xmlns:r="http://schemas.openxmlformats.org/officeDocument/2006/relationships" xmlns:p188="http://schemas.microsoft.com/office/powerpoint/2018/8/main">
  <p188:cm id="{3CAEA520-3D32-44FF-AFAC-FCBE86DD96C2}" authorId="{68C3D98F-B347-D89E-8CD9-D2FF740A30C5}" created="2025-07-11T04:44:42.560">
    <pc:sldMkLst xmlns:pc="http://schemas.microsoft.com/office/powerpoint/2013/main/command">
      <pc:docMk/>
      <pc:sldMk cId="3066491318" sldId="769"/>
    </pc:sldMkLst>
    <p188:txBody>
      <a:bodyPr/>
      <a:lstStyle/>
      <a:p>
        <a:r>
          <a:rPr lang="en-GB"/>
          <a:t>C:\Users\zzk_j\Documents\B\570-941A电池包内部热仿真分析报告-低温快充-2.5 文件夹包含了B样阶段的《570-941A电池包内部热仿真分析报告-低温快充-2.5.p》，考虑到你可能不能直接阅读该文件，我将其每页转换成了md和json文件，还有一些截图。帮我针对该文件做文件评审并反馈结果。首先，根据APQP标准和项目要求制定详细的审查点清单。然后，根据这个清单逐项审查文件内容并得出结论。如果某项审查结果为"不通过"，请提示具体问题并提供详细的应对建议。</a:t>
        </a:r>
      </a:p>
    </p188:txBody>
  </p188:cm>
</p188:cmLst>
</file>

<file path=ppt/comments/modernComment_30C_5DA5C4DB.xml><?xml version="1.0" encoding="utf-8"?>
<p188:cmLst xmlns:a="http://schemas.openxmlformats.org/drawingml/2006/main" xmlns:r="http://schemas.openxmlformats.org/officeDocument/2006/relationships" xmlns:p188="http://schemas.microsoft.com/office/powerpoint/2018/8/main">
  <p188:cm id="{A5A0C4CA-CB43-42BC-9B15-12A5EBBB6ED2}" authorId="{68C3D98F-B347-D89E-8CD9-D2FF740A30C5}" created="2025-07-11T04:08:18.621">
    <ac:txMkLst xmlns:ac="http://schemas.microsoft.com/office/drawing/2013/main/command">
      <pc:docMk xmlns:pc="http://schemas.microsoft.com/office/powerpoint/2013/main/command"/>
      <pc:sldMk xmlns:pc="http://schemas.microsoft.com/office/powerpoint/2013/main/command" cId="1571144923" sldId="780"/>
      <ac:spMk id="4" creationId="{DBD35D7F-FE06-DD46-CF93-B24F36086721}"/>
      <ac:txMk cp="25" len="24">
        <ac:context len="55" hash="2935540604"/>
      </ac:txMk>
    </ac:txMkLst>
    <p188:pos x="16718883" y="326856"/>
    <p188:txBody>
      <a:bodyPr/>
      <a:lstStyle/>
      <a:p>
        <a:r>
          <a:rPr lang="en-GB"/>
          <a:t>C:\Users\zzk_j\Documents\B\570-941B电池包结构仿真分析报告-滑台测试 文件夹包含了B样阶段的《570-941B电池包结构仿真分析报告-滑台测试-20240605(纵梁灌胶).pptx》，考虑到你可能不能直接阅读该文件，我将其每页转换成了md和json文件，还有一些截图。帮我针对该文件做文件评审并反馈结果。首先，根据APQP标准和项目要求制定详细的审查点清单。然后，根据这个清单逐项审查文件内容并得出结论。如果某项审查结果为"不通过"，请提示具体问题并提供详细的应对建议。</a:t>
        </a:r>
      </a:p>
    </p188:txBody>
  </p188:cm>
</p188:cmLst>
</file>

<file path=ppt/comments/modernComment_30D_3FB29E80.xml><?xml version="1.0" encoding="utf-8"?>
<p188:cmLst xmlns:a="http://schemas.openxmlformats.org/drawingml/2006/main" xmlns:r="http://schemas.openxmlformats.org/officeDocument/2006/relationships" xmlns:p188="http://schemas.microsoft.com/office/powerpoint/2018/8/main">
  <p188:cm id="{483690F1-D17D-41F6-B1FB-B592E1F36E99}" authorId="{68C3D98F-B347-D89E-8CD9-D2FF740A30C5}" created="2025-07-11T06:30:52.531">
    <pc:sldMkLst xmlns:pc="http://schemas.microsoft.com/office/powerpoint/2013/main/command">
      <pc:docMk/>
      <pc:sldMk cId="1068670592" sldId="781"/>
    </pc:sldMkLst>
    <p188:txBody>
      <a:bodyPr/>
      <a:lstStyle/>
      <a:p>
        <a:r>
          <a:rPr lang="en-GB"/>
          <a:t>C:\Users\zzk_j\Documents\B\570-941电池包内部热仿真分析报告-保温（无灌胶） 文件夹包含了B样阶段的《570-941电池包内部热仿真分析报告-保温（无灌胶）.pdf》，考虑到你可能不能直接阅读该文件，我将其每页转换成了md和json文件，还有一些截图。帮我针对该文件做文件评审并反馈结果。首先，根据APQP标准和项目要求制定详细的审查点清单。然后，根据这个清单逐项审查文件内容并得出结论。如果某项审查结果为"不通过"，请提示具体问题并提供详细的应对建议。</a:t>
        </a:r>
      </a:p>
    </p188:txBody>
  </p188:cm>
</p188:cmLst>
</file>

<file path=ppt/comments/modernComment_30E_31238008.xml><?xml version="1.0" encoding="utf-8"?>
<p188:cmLst xmlns:a="http://schemas.openxmlformats.org/drawingml/2006/main" xmlns:r="http://schemas.openxmlformats.org/officeDocument/2006/relationships" xmlns:p188="http://schemas.microsoft.com/office/powerpoint/2018/8/main">
  <p188:cm id="{C5A264E0-4B51-432C-8139-2A46F4BBA57C}" authorId="{68C3D98F-B347-D89E-8CD9-D2FF740A30C5}" created="2025-07-11T06:30:57.775">
    <pc:sldMkLst xmlns:pc="http://schemas.microsoft.com/office/powerpoint/2013/main/command">
      <pc:docMk/>
      <pc:sldMk cId="2695971300" sldId="774"/>
    </pc:sldMkLst>
    <p188:txBody>
      <a:bodyPr/>
      <a:lstStyle/>
      <a:p>
        <a:r>
          <a:rPr lang="en-GB"/>
          <a:t>C:\Users\zzk_j\Documents\B\570-941B电池包膨胀力仿真分析报告-20240605(纵梁灌胶) 文件夹包含了B样阶段的《570-941B电池包膨胀力仿真分析报告-20240605(纵梁灌胶).pdf》，考虑到你可能不能直接阅读该文件，我将其每页转换成了md和json文件，还有一些截图。帮我针对该文件做文件评审并反馈结果。首先，根据APQP标准和项目要求制定详细的审查点清单。然后，根据这个清单逐项审查文件内容并得出结论。如果某项审查结果为"不通过"，请提示具体问题并提供详细的应对建议。</a:t>
        </a:r>
      </a:p>
    </p188:txBody>
  </p188:cm>
</p188:cmLst>
</file>

<file path=ppt/comments/modernComment_30F_6E418AE9.xml><?xml version="1.0" encoding="utf-8"?>
<p188:cmLst xmlns:a="http://schemas.openxmlformats.org/drawingml/2006/main" xmlns:r="http://schemas.openxmlformats.org/officeDocument/2006/relationships" xmlns:p188="http://schemas.microsoft.com/office/powerpoint/2018/8/main">
  <p188:cm id="{38625911-3291-4F16-B7A6-E67BD3492A30}" authorId="{68C3D98F-B347-D89E-8CD9-D2FF740A30C5}" created="2025-07-11T06:39:56.504">
    <pc:sldMkLst xmlns:pc="http://schemas.microsoft.com/office/powerpoint/2013/main/command">
      <pc:docMk/>
      <pc:sldMk cId="1849789161" sldId="783"/>
    </pc:sldMkLst>
    <p188:txBody>
      <a:bodyPr/>
      <a:lstStyle/>
      <a:p>
        <a:r>
          <a:rPr lang="en-GB"/>
          <a:t>C:\Users\zzk_j\Documents\B\570-941B电池包挤压分析-20240603(纵梁灌胶) 文件夹包含了B样阶段的《570-941B电池包挤压分析-20240603(纵梁灌胶).pdf》，考虑到你可能不能直接阅读该文件，我将其每页转换成了md和json文件，还有一些截图。帮我针对该文件做文件评审并反馈结果。首先，根据APQP标准和项目要求制定详细的审查点清单。然后，根据这个清单逐项审查文件内容并得出结论。如果某项审查结果为"不通过"，请提示具体问题并提供详细的应对建议。</a:t>
        </a:r>
      </a:p>
    </p188:txBody>
  </p188:cm>
</p188:cmLst>
</file>

<file path=ppt/comments/modernComment_303_D7F5AAAC.xml><?xml version="1.0" encoding="utf-8"?>
<p188:cmLst xmlns:a="http://schemas.openxmlformats.org/drawingml/2006/main" xmlns:r="http://schemas.openxmlformats.org/officeDocument/2006/relationships" xmlns:p188="http://schemas.microsoft.com/office/powerpoint/2018/8/main">
  <p188:cm id="{29965F70-E1A2-4E79-88C5-57B258CE83B5}" authorId="{68C3D98F-B347-D89E-8CD9-D2FF740A30C5}" created="2025-07-11T05:35:09.184">
    <pc:sldMkLst xmlns:pc="http://schemas.microsoft.com/office/powerpoint/2013/main/command">
      <pc:docMk/>
      <pc:sldMk cId="3623201452" sldId="771"/>
    </pc:sldMkLst>
    <p188:txBody>
      <a:bodyPr/>
      <a:lstStyle/>
      <a:p>
        <a:r>
          <a:rPr lang="en-GB"/>
          <a:t>C:\Users\zzk_j\MinerU\570-941电池包内部热仿真分析报告-保温 文件夹包含了B样阶段的《570-941电池包内部热仿真分析报告-保温0612.pdf》，考虑到你可能不能直接阅读该文件，我将其每页转换成了md和json文件，还有一些截图。帮我针对该文件做文件评审并反馈结果。首先，根据APQP标准和项目要求制定详细的审查点清单。然后，根据这个清单逐项审查文件内容并得出结论。如果某项审查结果为"不通过"，请提示具体问题并提供详细的应对建议。</a:t>
        </a:r>
      </a:p>
    </p188:txBody>
  </p188:cm>
</p188:cmLst>
</file>

<file path=ppt/comments/modernComment_304_D628E67E.xml><?xml version="1.0" encoding="utf-8"?>
<p188:cmLst xmlns:a="http://schemas.openxmlformats.org/drawingml/2006/main" xmlns:r="http://schemas.openxmlformats.org/officeDocument/2006/relationships" xmlns:p188="http://schemas.microsoft.com/office/powerpoint/2018/8/main">
  <p188:cm id="{10DF0A92-75A5-4437-97AC-72C78FA381C0}" authorId="{68C3D98F-B347-D89E-8CD9-D2FF740A30C5}" created="2025-07-11T05:44:09.688">
    <pc:sldMkLst xmlns:pc="http://schemas.microsoft.com/office/powerpoint/2013/main/command">
      <pc:docMk/>
      <pc:sldMk cId="3593004670" sldId="772"/>
    </pc:sldMkLst>
    <p188:txBody>
      <a:bodyPr/>
      <a:lstStyle/>
      <a:p>
        <a:r>
          <a:rPr lang="en-GB"/>
          <a:t>C:\Users\zzk_j\Documents\B\570_941B电池包机械冲击仿真分析 文件夹包含了B样阶段的《570_941B电池包机械冲击仿真分析-20240603(纵梁灌胶).pdf》，考虑到你可能不能直接阅读该文件，我将其每页转换成了md和json文件，还有一些截图。帮我针对该文件做文件评审并反馈结果。首先，根据APQP标准和项目要求制定详细的审查点清单。然后，根据这个清单逐项审查文件内容并得出结论。如果某项审查结果为"不通过"，请提示具体问题并提供详细的应对建议。</a:t>
        </a:r>
      </a:p>
    </p188:txBody>
  </p188:cm>
</p188:cmLst>
</file>

<file path=ppt/comments/modernComment_306_A0B141E4.xml><?xml version="1.0" encoding="utf-8"?>
<p188:cmLst xmlns:a="http://schemas.openxmlformats.org/drawingml/2006/main" xmlns:r="http://schemas.openxmlformats.org/officeDocument/2006/relationships" xmlns:p188="http://schemas.microsoft.com/office/powerpoint/2018/8/main">
  <p188:cm id="{EBFF07C9-B136-472B-BB0D-8AF068168A2F}" authorId="{68C3D98F-B347-D89E-8CD9-D2FF740A30C5}" created="2025-07-11T06:30:57.775">
    <pc:sldMkLst xmlns:pc="http://schemas.microsoft.com/office/powerpoint/2013/main/command">
      <pc:docMk/>
      <pc:sldMk cId="2695971300" sldId="774"/>
    </pc:sldMkLst>
    <p188:txBody>
      <a:bodyPr/>
      <a:lstStyle/>
      <a:p>
        <a:r>
          <a:rPr lang="en-GB"/>
          <a:t>C:\Users\zzk_j\Documents\B\570-941电池包内部热仿真分析报告-保温（无灌胶） 文件夹包含了B样阶段的《570-941电池包内部热仿真分析报告-保温（无灌胶）.pdf》，考虑到你可能不能直接阅读该文件，我将其每页转换成了md和json文件，还有一些截图。帮我针对该文件做文件评审并反馈结果。首先，根据APQP标准和项目要求制定详细的审查点清单。然后，根据这个清单逐项审查文件内容并得出结论。如果某项审查结果为"不通过"，请提示具体问题并提供详细的应对建议。</a:t>
        </a:r>
      </a:p>
    </p188:txBody>
  </p188:cm>
</p188:cmLst>
</file>

<file path=ppt/comments/modernComment_308_608848C4.xml><?xml version="1.0" encoding="utf-8"?>
<p188:cmLst xmlns:a="http://schemas.openxmlformats.org/drawingml/2006/main" xmlns:r="http://schemas.openxmlformats.org/officeDocument/2006/relationships" xmlns:p188="http://schemas.microsoft.com/office/powerpoint/2018/8/main">
  <p188:cm id="{87688D89-C0B3-485B-AEFF-F11FE2CB27F2}" authorId="{68C3D98F-B347-D89E-8CD9-D2FF740A30C5}" created="2025-07-11T06:44:40.317">
    <pc:sldMkLst xmlns:pc="http://schemas.microsoft.com/office/powerpoint/2013/main/command">
      <pc:docMk/>
      <pc:sldMk cId="1619544260" sldId="776"/>
    </pc:sldMkLst>
    <p188:txBody>
      <a:bodyPr/>
      <a:lstStyle/>
      <a:p>
        <a:r>
          <a:rPr lang="en-GB"/>
          <a:t>C:\Users\zzk_j\Documents\B\570_941B-随机振动仿真报告20240603(纵梁灌胶) 文件夹包含了B样阶段的《570_941B-随机振动仿真报告20240603(纵梁灌胶).pdf》，考虑到你可能不能直接阅读该文件，我将其每页转换成了md和json文件，还有一些截图。帮我针对该文件做文件评审并反馈结果。首先，根据APQP标准和项目要求制定详细的审查点清单。然后，根据这个清单逐项审查文件内容并得出结论。如果某项审查结果为"不通过"，请提示具体问题并提供详细的应对建议。</a:t>
        </a:r>
      </a:p>
    </p188:txBody>
  </p188:cm>
</p188:cmLst>
</file>

<file path=ppt/comments/modernComment_309_5CE301F2.xml><?xml version="1.0" encoding="utf-8"?>
<p188:cmLst xmlns:a="http://schemas.openxmlformats.org/drawingml/2006/main" xmlns:r="http://schemas.openxmlformats.org/officeDocument/2006/relationships" xmlns:p188="http://schemas.microsoft.com/office/powerpoint/2018/8/main">
  <p188:cm id="{CA146E9A-5886-48F7-A8B8-242CDD98E54F}" authorId="{68C3D98F-B347-D89E-8CD9-D2FF740A30C5}" created="2025-07-11T01:49:32.998">
    <ac:txMkLst xmlns:ac="http://schemas.microsoft.com/office/drawing/2013/main/command">
      <pc:docMk xmlns:pc="http://schemas.microsoft.com/office/powerpoint/2013/main/command"/>
      <pc:sldMk xmlns:pc="http://schemas.microsoft.com/office/powerpoint/2013/main/command" cId="1558381042" sldId="777"/>
      <ac:spMk id="4" creationId="{FCD33065-EBF2-A47A-45A0-2FC945B31869}"/>
      <ac:txMk cp="5" len="31">
        <ac:context len="45" hash="4279974312"/>
      </ac:txMk>
    </ac:txMkLst>
    <p188:pos x="10895599" y="326856"/>
    <p188:txBody>
      <a:bodyPr/>
      <a:lstStyle/>
      <a:p>
        <a:r>
          <a:rPr lang="en-GB"/>
          <a:t>C:\Users\zzk_j\MinerU\L221N113C-产品规格书 文件夹包含了B样阶段的《L221N113C-产品规格书-V2-20240314.pdf》，考虑到你可能不能直接阅读该文件，我用MinerU将其转换成了文本和图片文件，所有MinerU生成的文件包括md和 Json文件都在该文件夹内。帮我针对该文件做文件评审并反馈结果。首先，根据APQP标准和项目要求制定详细的审查点清单。然后，根据这个清单逐项审查文件内容并得出结论。如果某项审查结果为"不通过"，请提示具体问题并提供详细的应对建议。</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6" name="Shape 116"/>
          <p:cNvSpPr>
            <a:spLocks noGrp="1" noRot="1" noChangeAspect="1"/>
          </p:cNvSpPr>
          <p:nvPr>
            <p:ph type="sldImg"/>
          </p:nvPr>
        </p:nvSpPr>
        <p:spPr>
          <a:xfrm>
            <a:off x="1143000" y="685800"/>
            <a:ext cx="4572000" cy="3429000"/>
          </a:xfrm>
          <a:prstGeom prst="rect">
            <a:avLst/>
          </a:prstGeom>
        </p:spPr>
        <p:txBody>
          <a:bodyPr/>
          <a:lstStyle/>
          <a:p>
            <a:endParaRPr/>
          </a:p>
        </p:txBody>
      </p:sp>
      <p:sp>
        <p:nvSpPr>
          <p:cNvPr id="117" name="Shape 117"/>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457200" latinLnBrk="0">
      <a:lnSpc>
        <a:spcPct val="118000"/>
      </a:lnSpc>
      <a:defRPr sz="2200">
        <a:latin typeface="Helvetica Neue"/>
        <a:ea typeface="Helvetica Neue"/>
        <a:cs typeface="Helvetica Neue"/>
        <a:sym typeface="Helvetica Neue"/>
      </a:defRPr>
    </a:lvl1pPr>
    <a:lvl2pPr indent="228600" defTabSz="457200" latinLnBrk="0">
      <a:lnSpc>
        <a:spcPct val="118000"/>
      </a:lnSpc>
      <a:defRPr sz="2200">
        <a:latin typeface="Helvetica Neue"/>
        <a:ea typeface="Helvetica Neue"/>
        <a:cs typeface="Helvetica Neue"/>
        <a:sym typeface="Helvetica Neue"/>
      </a:defRPr>
    </a:lvl2pPr>
    <a:lvl3pPr indent="457200" defTabSz="457200" latinLnBrk="0">
      <a:lnSpc>
        <a:spcPct val="118000"/>
      </a:lnSpc>
      <a:defRPr sz="2200">
        <a:latin typeface="Helvetica Neue"/>
        <a:ea typeface="Helvetica Neue"/>
        <a:cs typeface="Helvetica Neue"/>
        <a:sym typeface="Helvetica Neue"/>
      </a:defRPr>
    </a:lvl3pPr>
    <a:lvl4pPr indent="685800" defTabSz="457200" latinLnBrk="0">
      <a:lnSpc>
        <a:spcPct val="118000"/>
      </a:lnSpc>
      <a:defRPr sz="2200">
        <a:latin typeface="Helvetica Neue"/>
        <a:ea typeface="Helvetica Neue"/>
        <a:cs typeface="Helvetica Neue"/>
        <a:sym typeface="Helvetica Neue"/>
      </a:defRPr>
    </a:lvl4pPr>
    <a:lvl5pPr indent="914400" defTabSz="457200" latinLnBrk="0">
      <a:lnSpc>
        <a:spcPct val="118000"/>
      </a:lnSpc>
      <a:defRPr sz="2200">
        <a:latin typeface="Helvetica Neue"/>
        <a:ea typeface="Helvetica Neue"/>
        <a:cs typeface="Helvetica Neue"/>
        <a:sym typeface="Helvetica Neue"/>
      </a:defRPr>
    </a:lvl5pPr>
    <a:lvl6pPr indent="1143000" defTabSz="457200" latinLnBrk="0">
      <a:lnSpc>
        <a:spcPct val="118000"/>
      </a:lnSpc>
      <a:defRPr sz="2200">
        <a:latin typeface="Helvetica Neue"/>
        <a:ea typeface="Helvetica Neue"/>
        <a:cs typeface="Helvetica Neue"/>
        <a:sym typeface="Helvetica Neue"/>
      </a:defRPr>
    </a:lvl6pPr>
    <a:lvl7pPr indent="1371600" defTabSz="457200" latinLnBrk="0">
      <a:lnSpc>
        <a:spcPct val="118000"/>
      </a:lnSpc>
      <a:defRPr sz="2200">
        <a:latin typeface="Helvetica Neue"/>
        <a:ea typeface="Helvetica Neue"/>
        <a:cs typeface="Helvetica Neue"/>
        <a:sym typeface="Helvetica Neue"/>
      </a:defRPr>
    </a:lvl7pPr>
    <a:lvl8pPr indent="1600200" defTabSz="457200" latinLnBrk="0">
      <a:lnSpc>
        <a:spcPct val="118000"/>
      </a:lnSpc>
      <a:defRPr sz="2200">
        <a:latin typeface="Helvetica Neue"/>
        <a:ea typeface="Helvetica Neue"/>
        <a:cs typeface="Helvetica Neue"/>
        <a:sym typeface="Helvetica Neue"/>
      </a:defRPr>
    </a:lvl8pPr>
    <a:lvl9pPr indent="1828800" defTabSz="457200" latinLnBrk="0">
      <a:lnSpc>
        <a:spcPct val="118000"/>
      </a:lnSpc>
      <a:defRPr sz="2200">
        <a:latin typeface="Helvetica Neue"/>
        <a:ea typeface="Helvetica Neue"/>
        <a:cs typeface="Helvetica Neue"/>
        <a:sym typeface="Helvetica Neue"/>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9305363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00400" y="4773488"/>
            <a:ext cx="17983200" cy="3291840"/>
          </a:xfrm>
          <a:solidFill>
            <a:srgbClr val="FFFFFF"/>
          </a:solidFill>
          <a:ln w="38100">
            <a:solidFill>
              <a:srgbClr val="404040"/>
            </a:solidFill>
          </a:ln>
        </p:spPr>
        <p:txBody>
          <a:bodyPr lIns="274320" rIns="274320" anchor="ctr" anchorCtr="1">
            <a:normAutofit/>
          </a:bodyPr>
          <a:lstStyle>
            <a:lvl1pPr algn="ctr">
              <a:defRPr sz="7600">
                <a:solidFill>
                  <a:srgbClr val="262626"/>
                </a:solidFill>
              </a:defRPr>
            </a:lvl1pPr>
          </a:lstStyle>
          <a:p>
            <a:r>
              <a:rPr lang="en-US"/>
              <a:t>Click to edit Master title style</a:t>
            </a:r>
            <a:endParaRPr lang="en-US" dirty="0"/>
          </a:p>
        </p:txBody>
      </p:sp>
      <p:sp>
        <p:nvSpPr>
          <p:cNvPr id="3" name="Subtitle 2"/>
          <p:cNvSpPr>
            <a:spLocks noGrp="1"/>
          </p:cNvSpPr>
          <p:nvPr>
            <p:ph type="subTitle" idx="1"/>
          </p:nvPr>
        </p:nvSpPr>
        <p:spPr>
          <a:xfrm>
            <a:off x="5390388" y="8705088"/>
            <a:ext cx="13603224" cy="2479788"/>
          </a:xfrm>
          <a:noFill/>
        </p:spPr>
        <p:txBody>
          <a:bodyPr>
            <a:normAutofit/>
          </a:bodyPr>
          <a:lstStyle>
            <a:lvl1pPr marL="0" indent="0" algn="ctr">
              <a:buNone/>
              <a:defRPr sz="4000">
                <a:solidFill>
                  <a:schemeClr val="tx1">
                    <a:lumMod val="75000"/>
                    <a:lumOff val="25000"/>
                  </a:schemeClr>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160EA64-D806-43AC-9DF2-F8C432F32B4C}" type="datetimeFigureOut">
              <a:rPr lang="en-US" smtClean="0"/>
              <a:t>7/11/2025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6CB4B4D-7CA3-9044-876B-883B54F8677D}" type="slidenum">
              <a:rPr lang="x-none" smtClean="0"/>
              <a:t>‹#›</a:t>
            </a:fld>
            <a:endParaRPr lang="x-none"/>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070A7B3-6521-4DCA-87E5-044747A908C1}" type="datetimeFigureOut">
              <a:rPr lang="en-US" smtClean="0"/>
              <a:t>7/11/2025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6CB4B4D-7CA3-9044-876B-883B54F8677D}" type="slidenum">
              <a:rPr lang="x-none" smtClean="0"/>
              <a:t>‹#›</a:t>
            </a:fld>
            <a:endParaRPr lang="x-none"/>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200400" y="4773488"/>
            <a:ext cx="17983200" cy="3291840"/>
          </a:xfrm>
          <a:solidFill>
            <a:srgbClr val="FFFFFF"/>
          </a:solidFill>
          <a:ln w="38100">
            <a:solidFill>
              <a:srgbClr val="404040"/>
            </a:solidFill>
          </a:ln>
        </p:spPr>
        <p:txBody>
          <a:bodyPr lIns="274320" rIns="274320" anchor="ctr" anchorCtr="1">
            <a:normAutofit/>
          </a:bodyPr>
          <a:lstStyle>
            <a:lvl1pPr>
              <a:defRPr sz="7600">
                <a:solidFill>
                  <a:srgbClr val="262626"/>
                </a:solidFill>
              </a:defRPr>
            </a:lvl1pPr>
          </a:lstStyle>
          <a:p>
            <a:r>
              <a:rPr lang="en-US"/>
              <a:t>Click to edit Master title style</a:t>
            </a:r>
            <a:endParaRPr lang="en-US" dirty="0"/>
          </a:p>
        </p:txBody>
      </p:sp>
      <p:sp>
        <p:nvSpPr>
          <p:cNvPr id="3" name="Text Placeholder 2"/>
          <p:cNvSpPr>
            <a:spLocks noGrp="1"/>
          </p:cNvSpPr>
          <p:nvPr>
            <p:ph type="body" idx="1"/>
          </p:nvPr>
        </p:nvSpPr>
        <p:spPr>
          <a:xfrm>
            <a:off x="5390388" y="8704930"/>
            <a:ext cx="13603224" cy="2530164"/>
          </a:xfrm>
        </p:spPr>
        <p:txBody>
          <a:bodyPr anchor="t" anchorCtr="1">
            <a:normAutofit/>
          </a:bodyPr>
          <a:lstStyle>
            <a:lvl1pPr marL="0" indent="0">
              <a:buNone/>
              <a:defRPr sz="4000">
                <a:solidFill>
                  <a:schemeClr val="tx1"/>
                </a:solidFill>
              </a:defRPr>
            </a:lvl1pPr>
            <a:lvl2pPr marL="914400" indent="0">
              <a:buNone/>
              <a:defRPr sz="4000">
                <a:solidFill>
                  <a:schemeClr val="tx1">
                    <a:tint val="75000"/>
                  </a:schemeClr>
                </a:solidFill>
              </a:defRPr>
            </a:lvl2pPr>
            <a:lvl3pPr marL="1828800" indent="0">
              <a:buNone/>
              <a:defRPr sz="3600">
                <a:solidFill>
                  <a:schemeClr val="tx1">
                    <a:tint val="75000"/>
                  </a:schemeClr>
                </a:solidFill>
              </a:defRPr>
            </a:lvl3pPr>
            <a:lvl4pPr marL="2743200" indent="0">
              <a:buNone/>
              <a:defRPr sz="3200">
                <a:solidFill>
                  <a:schemeClr val="tx1">
                    <a:tint val="75000"/>
                  </a:schemeClr>
                </a:solidFill>
              </a:defRPr>
            </a:lvl4pPr>
            <a:lvl5pPr marL="3657600" indent="0">
              <a:buNone/>
              <a:defRPr sz="3200">
                <a:solidFill>
                  <a:schemeClr val="tx1">
                    <a:tint val="75000"/>
                  </a:schemeClr>
                </a:solidFill>
              </a:defRPr>
            </a:lvl5pPr>
            <a:lvl6pPr marL="4572000" indent="0">
              <a:buNone/>
              <a:defRPr sz="3200">
                <a:solidFill>
                  <a:schemeClr val="tx1">
                    <a:tint val="75000"/>
                  </a:schemeClr>
                </a:solidFill>
              </a:defRPr>
            </a:lvl6pPr>
            <a:lvl7pPr marL="5486400" indent="0">
              <a:buNone/>
              <a:defRPr sz="3200">
                <a:solidFill>
                  <a:schemeClr val="tx1">
                    <a:tint val="75000"/>
                  </a:schemeClr>
                </a:solidFill>
              </a:defRPr>
            </a:lvl7pPr>
            <a:lvl8pPr marL="6400800" indent="0">
              <a:buNone/>
              <a:defRPr sz="3200">
                <a:solidFill>
                  <a:schemeClr val="tx1">
                    <a:tint val="75000"/>
                  </a:schemeClr>
                </a:solidFill>
              </a:defRPr>
            </a:lvl8pPr>
            <a:lvl9pPr marL="7315200" indent="0">
              <a:buNone/>
              <a:defRPr sz="3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160EA64-D806-43AC-9DF2-F8C432F32B4C}" type="datetimeFigureOut">
              <a:rPr lang="en-US" smtClean="0"/>
              <a:t>7/11/2025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6CB4B4D-7CA3-9044-876B-883B54F8677D}" type="slidenum">
              <a:rPr lang="x-none" smtClean="0"/>
              <a:t>‹#›</a:t>
            </a:fld>
            <a:endParaRPr lang="x-none"/>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163825" y="5276088"/>
            <a:ext cx="8543542" cy="620396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2676631" y="5276088"/>
            <a:ext cx="8540494" cy="620396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AB134690-1557-4C89-A502-4959FE7FAD70}" type="datetimeFigureOut">
              <a:rPr lang="en-US" smtClean="0"/>
              <a:t>7/11/2025</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86CB4B4D-7CA3-9044-876B-883B54F8677D}" type="slidenum">
              <a:rPr lang="x-none" smtClean="0"/>
              <a:t>‹#›</a:t>
            </a:fld>
            <a:endParaRPr lang="x-none"/>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166872" y="4626867"/>
            <a:ext cx="8540496" cy="1408174"/>
          </a:xfrm>
        </p:spPr>
        <p:txBody>
          <a:bodyPr anchor="b" anchorCtr="1">
            <a:normAutofit/>
          </a:bodyPr>
          <a:lstStyle>
            <a:lvl1pPr marL="0" indent="0" algn="ctr">
              <a:buNone/>
              <a:defRPr sz="3800" b="0" cap="all" spc="200" baseline="0">
                <a:solidFill>
                  <a:schemeClr val="tx2"/>
                </a:solidFill>
              </a:defRPr>
            </a:lvl1pPr>
            <a:lvl2pPr marL="914400" indent="0">
              <a:buNone/>
              <a:defRPr sz="38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en-US"/>
              <a:t>Click to edit Master text styles</a:t>
            </a:r>
          </a:p>
        </p:txBody>
      </p:sp>
      <p:sp>
        <p:nvSpPr>
          <p:cNvPr id="4" name="Content Placeholder 3"/>
          <p:cNvSpPr>
            <a:spLocks noGrp="1"/>
          </p:cNvSpPr>
          <p:nvPr>
            <p:ph sz="half" idx="2"/>
          </p:nvPr>
        </p:nvSpPr>
        <p:spPr>
          <a:xfrm>
            <a:off x="3166872" y="6286500"/>
            <a:ext cx="8540496" cy="51935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p:cNvSpPr>
            <a:spLocks noGrp="1"/>
          </p:cNvSpPr>
          <p:nvPr>
            <p:ph sz="quarter" idx="4"/>
          </p:nvPr>
        </p:nvSpPr>
        <p:spPr>
          <a:xfrm>
            <a:off x="12676632" y="6286500"/>
            <a:ext cx="8506968" cy="5193552"/>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4"/>
          <p:cNvSpPr>
            <a:spLocks noGrp="1"/>
          </p:cNvSpPr>
          <p:nvPr>
            <p:ph type="body" sz="quarter" idx="13"/>
          </p:nvPr>
        </p:nvSpPr>
        <p:spPr>
          <a:xfrm>
            <a:off x="12676632" y="4626867"/>
            <a:ext cx="8540496" cy="1408174"/>
          </a:xfrm>
        </p:spPr>
        <p:txBody>
          <a:bodyPr anchor="b" anchorCtr="1">
            <a:normAutofit/>
          </a:bodyPr>
          <a:lstStyle>
            <a:lvl1pPr marL="0" indent="0" algn="ctr">
              <a:buNone/>
              <a:defRPr sz="3800" b="0" cap="all" spc="200" baseline="0">
                <a:solidFill>
                  <a:schemeClr val="tx2"/>
                </a:solidFill>
              </a:defRPr>
            </a:lvl1pPr>
            <a:lvl2pPr marL="914400" indent="0">
              <a:buNone/>
              <a:defRPr sz="38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en-US"/>
              <a:t>Click to edit Master text styles</a:t>
            </a:r>
          </a:p>
        </p:txBody>
      </p:sp>
      <p:sp>
        <p:nvSpPr>
          <p:cNvPr id="7" name="Date Placeholder 6"/>
          <p:cNvSpPr>
            <a:spLocks noGrp="1"/>
          </p:cNvSpPr>
          <p:nvPr>
            <p:ph type="dt" sz="half" idx="10"/>
          </p:nvPr>
        </p:nvSpPr>
        <p:spPr/>
        <p:txBody>
          <a:bodyPr/>
          <a:lstStyle/>
          <a:p>
            <a:fld id="{4F7D4976-E339-4826-83B7-FBD03F55ECF8}" type="datetimeFigureOut">
              <a:rPr lang="en-US" smtClean="0"/>
              <a:t>7/11/2025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6CB4B4D-7CA3-9044-876B-883B54F8677D}" type="slidenum">
              <a:rPr lang="x-none" smtClean="0"/>
              <a:t>‹#›</a:t>
            </a:fld>
            <a:endParaRPr lang="x-none"/>
          </a:p>
        </p:txBody>
      </p:sp>
      <p:sp>
        <p:nvSpPr>
          <p:cNvPr id="10" name="Title 9"/>
          <p:cNvSpPr>
            <a:spLocks noGrp="1"/>
          </p:cNvSpPr>
          <p:nvPr>
            <p:ph type="title"/>
          </p:nvPr>
        </p:nvSpPr>
        <p:spPr/>
        <p:txBody>
          <a:bodyPr/>
          <a:lstStyle/>
          <a:p>
            <a:r>
              <a:rPr lang="en-US"/>
              <a:t>Click to edit Master title style</a:t>
            </a:r>
            <a:endParaRPr lang="en-US" dirty="0"/>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1037C31-9E7A-4F99-8774-A0E530DE1A42}" type="datetimeFigureOut">
              <a:rPr lang="en-US" smtClean="0"/>
              <a:t>7/11/2025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86CB4B4D-7CA3-9044-876B-883B54F8677D}" type="slidenum">
              <a:rPr lang="x-none" smtClean="0"/>
              <a:t>‹#›</a:t>
            </a:fld>
            <a:endParaRPr lang="x-none"/>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78504F-A551-4DE0-9316-4DCD1D8CC752}" type="datetimeFigureOut">
              <a:rPr lang="en-US" smtClean="0"/>
              <a:t>7/11/2025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86CB4B4D-7CA3-9044-876B-883B54F8677D}" type="slidenum">
              <a:rPr lang="x-none" smtClean="0"/>
              <a:t>‹#›</a:t>
            </a:fld>
            <a:endParaRPr lang="x-none"/>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6" name="Rectangle 25"/>
          <p:cNvSpPr/>
          <p:nvPr/>
        </p:nvSpPr>
        <p:spPr>
          <a:xfrm>
            <a:off x="12192000" y="0"/>
            <a:ext cx="121920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609344" y="4487657"/>
            <a:ext cx="8973312" cy="2282994"/>
          </a:xfrm>
          <a:solidFill>
            <a:srgbClr val="FFFFFF"/>
          </a:solidFill>
          <a:ln>
            <a:solidFill>
              <a:srgbClr val="404040"/>
            </a:solidFill>
          </a:ln>
        </p:spPr>
        <p:txBody>
          <a:bodyPr anchor="ctr" anchorCtr="1">
            <a:normAutofit/>
          </a:bodyPr>
          <a:lstStyle>
            <a:lvl1pPr>
              <a:defRPr sz="4400">
                <a:solidFill>
                  <a:srgbClr val="262626"/>
                </a:solidFill>
              </a:defRPr>
            </a:lvl1pPr>
          </a:lstStyle>
          <a:p>
            <a:r>
              <a:rPr lang="en-US"/>
              <a:t>Click to edit Master title style</a:t>
            </a:r>
            <a:endParaRPr lang="en-US" dirty="0"/>
          </a:p>
        </p:txBody>
      </p:sp>
      <p:sp>
        <p:nvSpPr>
          <p:cNvPr id="3" name="Content Placeholder 2"/>
          <p:cNvSpPr>
            <a:spLocks noGrp="1"/>
          </p:cNvSpPr>
          <p:nvPr>
            <p:ph idx="1"/>
          </p:nvPr>
        </p:nvSpPr>
        <p:spPr>
          <a:xfrm>
            <a:off x="13472160" y="1609344"/>
            <a:ext cx="9631680" cy="10497312"/>
          </a:xfrm>
        </p:spPr>
        <p:txBody>
          <a:bodyPr>
            <a:normAutofit/>
          </a:bodyPr>
          <a:lstStyle>
            <a:lvl1pPr>
              <a:defRPr sz="3800">
                <a:solidFill>
                  <a:schemeClr val="tx1"/>
                </a:solidFill>
              </a:defRPr>
            </a:lvl1pPr>
            <a:lvl2pPr>
              <a:defRPr sz="3200">
                <a:solidFill>
                  <a:schemeClr val="tx1"/>
                </a:solidFill>
              </a:defRPr>
            </a:lvl2pPr>
            <a:lvl3pPr>
              <a:defRPr sz="3200">
                <a:solidFill>
                  <a:schemeClr val="tx1"/>
                </a:solidFill>
              </a:defRPr>
            </a:lvl3pPr>
            <a:lvl4pPr>
              <a:defRPr sz="3200">
                <a:solidFill>
                  <a:schemeClr val="tx1"/>
                </a:solidFill>
              </a:defRPr>
            </a:lvl4pPr>
            <a:lvl5pPr>
              <a:defRPr sz="3200">
                <a:solidFill>
                  <a:schemeClr val="tx1"/>
                </a:solidFill>
              </a:defRPr>
            </a:lvl5pPr>
            <a:lvl6pPr>
              <a:defRPr sz="3200"/>
            </a:lvl6pPr>
            <a:lvl7pPr>
              <a:defRPr sz="3200"/>
            </a:lvl7pPr>
            <a:lvl8pPr>
              <a:defRPr sz="3200"/>
            </a:lvl8pPr>
            <a:lvl9pPr>
              <a:defRPr sz="3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231136" y="7099836"/>
            <a:ext cx="7589520" cy="4388072"/>
          </a:xfrm>
        </p:spPr>
        <p:txBody>
          <a:bodyPr anchor="t" anchorCtr="1">
            <a:normAutofit/>
          </a:bodyPr>
          <a:lstStyle>
            <a:lvl1pPr marL="0" indent="0" algn="ctr">
              <a:buNone/>
              <a:defRPr sz="3000">
                <a:solidFill>
                  <a:schemeClr val="tx1"/>
                </a:solidFill>
              </a:defRPr>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en-US"/>
              <a:t>Click to edit Master text styles</a:t>
            </a:r>
          </a:p>
        </p:txBody>
      </p:sp>
      <p:sp>
        <p:nvSpPr>
          <p:cNvPr id="9" name="Date Placeholder 8"/>
          <p:cNvSpPr>
            <a:spLocks noGrp="1"/>
          </p:cNvSpPr>
          <p:nvPr>
            <p:ph type="dt" sz="half" idx="10"/>
          </p:nvPr>
        </p:nvSpPr>
        <p:spPr/>
        <p:txBody>
          <a:bodyPr/>
          <a:lstStyle/>
          <a:p>
            <a:fld id="{D1BE4249-C0D0-4B06-8692-E8BB871AF643}" type="datetimeFigureOut">
              <a:rPr lang="en-US" smtClean="0"/>
              <a:t>7/11/2025</a:t>
            </a:fld>
            <a:endParaRPr lang="en-US" dirty="0"/>
          </a:p>
        </p:txBody>
      </p:sp>
      <p:sp>
        <p:nvSpPr>
          <p:cNvPr id="10" name="Footer Placeholder 9"/>
          <p:cNvSpPr>
            <a:spLocks noGrp="1"/>
          </p:cNvSpPr>
          <p:nvPr>
            <p:ph type="ftr" sz="quarter" idx="11"/>
          </p:nvPr>
        </p:nvSpPr>
        <p:spPr>
          <a:xfrm>
            <a:off x="1609345" y="12472416"/>
            <a:ext cx="10249594" cy="640080"/>
          </a:xfrm>
        </p:spPr>
        <p:txBody>
          <a:bodyPr/>
          <a:lstStyle>
            <a:lvl1pPr>
              <a:defRPr>
                <a:solidFill>
                  <a:schemeClr val="tx1">
                    <a:alpha val="70000"/>
                  </a:schemeClr>
                </a:solidFill>
              </a:defRPr>
            </a:lvl1pPr>
          </a:lstStyle>
          <a:p>
            <a:endParaRPr lang="en-US" dirty="0"/>
          </a:p>
        </p:txBody>
      </p:sp>
      <p:sp>
        <p:nvSpPr>
          <p:cNvPr id="11" name="Slide Number Placeholder 10"/>
          <p:cNvSpPr>
            <a:spLocks noGrp="1"/>
          </p:cNvSpPr>
          <p:nvPr>
            <p:ph type="sldNum" sz="quarter" idx="12"/>
          </p:nvPr>
        </p:nvSpPr>
        <p:spPr/>
        <p:txBody>
          <a:bodyPr/>
          <a:lstStyle/>
          <a:p>
            <a:fld id="{86CB4B4D-7CA3-9044-876B-883B54F8677D}" type="slidenum">
              <a:rPr lang="x-none" smtClean="0"/>
              <a:t>‹#›</a:t>
            </a:fld>
            <a:endParaRPr lang="x-none"/>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17046" y="4487656"/>
            <a:ext cx="8989996" cy="2269280"/>
          </a:xfrm>
          <a:solidFill>
            <a:srgbClr val="FFFFFF"/>
          </a:solidFill>
          <a:ln>
            <a:solidFill>
              <a:srgbClr val="404040"/>
            </a:solidFill>
          </a:ln>
        </p:spPr>
        <p:txBody>
          <a:bodyPr anchor="ctr" anchorCtr="1">
            <a:noAutofit/>
          </a:bodyPr>
          <a:lstStyle>
            <a:lvl1pPr>
              <a:defRPr sz="4400">
                <a:solidFill>
                  <a:srgbClr val="262626"/>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2191999" y="0"/>
            <a:ext cx="12204194" cy="13716000"/>
          </a:xfrm>
          <a:solidFill>
            <a:schemeClr val="bg1">
              <a:lumMod val="85000"/>
            </a:schemeClr>
          </a:solidFill>
        </p:spPr>
        <p:txBody>
          <a:bodyPr anchor="t"/>
          <a:lstStyle>
            <a:lvl1pPr marL="0" indent="0">
              <a:buNone/>
              <a:defRPr sz="6400">
                <a:solidFill>
                  <a:schemeClr val="bg1">
                    <a:lumMod val="50000"/>
                  </a:schemeClr>
                </a:solidFill>
              </a:defRPr>
            </a:lvl1pPr>
            <a:lvl2pPr marL="914400" indent="0">
              <a:buNone/>
              <a:defRPr sz="5600"/>
            </a:lvl2pPr>
            <a:lvl3pPr marL="1828800" indent="0">
              <a:buNone/>
              <a:defRPr sz="4800"/>
            </a:lvl3pPr>
            <a:lvl4pPr marL="2743200" indent="0">
              <a:buNone/>
              <a:defRPr sz="4000"/>
            </a:lvl4pPr>
            <a:lvl5pPr marL="3657600" indent="0">
              <a:buNone/>
              <a:defRPr sz="4000"/>
            </a:lvl5pPr>
            <a:lvl6pPr marL="4572000" indent="0">
              <a:buNone/>
              <a:defRPr sz="4000"/>
            </a:lvl6pPr>
            <a:lvl7pPr marL="5486400" indent="0">
              <a:buNone/>
              <a:defRPr sz="4000"/>
            </a:lvl7pPr>
            <a:lvl8pPr marL="6400800" indent="0">
              <a:buNone/>
              <a:defRPr sz="4000"/>
            </a:lvl8pPr>
            <a:lvl9pPr marL="7315200" indent="0">
              <a:buNone/>
              <a:defRPr sz="4000"/>
            </a:lvl9pPr>
          </a:lstStyle>
          <a:p>
            <a:r>
              <a:rPr lang="en-US"/>
              <a:t>Click icon to add picture</a:t>
            </a:r>
            <a:endParaRPr lang="en-US" dirty="0"/>
          </a:p>
        </p:txBody>
      </p:sp>
      <p:sp>
        <p:nvSpPr>
          <p:cNvPr id="4" name="Text Placeholder 3"/>
          <p:cNvSpPr>
            <a:spLocks noGrp="1"/>
          </p:cNvSpPr>
          <p:nvPr>
            <p:ph type="body" sz="half" idx="2"/>
          </p:nvPr>
        </p:nvSpPr>
        <p:spPr>
          <a:xfrm>
            <a:off x="2231136" y="7099837"/>
            <a:ext cx="7589520" cy="4388074"/>
          </a:xfrm>
        </p:spPr>
        <p:txBody>
          <a:bodyPr anchor="t" anchorCtr="1">
            <a:normAutofit/>
          </a:bodyPr>
          <a:lstStyle>
            <a:lvl1pPr marL="0" indent="0" algn="ctr">
              <a:buNone/>
              <a:defRPr sz="3000">
                <a:solidFill>
                  <a:schemeClr val="tx1"/>
                </a:solidFill>
              </a:defRPr>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en-US"/>
              <a:t>Click to edit Master text styles</a:t>
            </a:r>
          </a:p>
        </p:txBody>
      </p:sp>
      <p:sp>
        <p:nvSpPr>
          <p:cNvPr id="8" name="Date Placeholder 7"/>
          <p:cNvSpPr>
            <a:spLocks noGrp="1"/>
          </p:cNvSpPr>
          <p:nvPr>
            <p:ph type="dt" sz="half" idx="10"/>
          </p:nvPr>
        </p:nvSpPr>
        <p:spPr/>
        <p:txBody>
          <a:bodyPr/>
          <a:lstStyle>
            <a:lvl1pPr>
              <a:defRPr>
                <a:solidFill>
                  <a:srgbClr val="FFFFFF"/>
                </a:solidFill>
                <a:effectLst>
                  <a:outerShdw blurRad="50800" dist="38100" dir="2700000" algn="tl" rotWithShape="0">
                    <a:prstClr val="black">
                      <a:alpha val="43000"/>
                    </a:prstClr>
                  </a:outerShdw>
                </a:effectLst>
              </a:defRPr>
            </a:lvl1pPr>
          </a:lstStyle>
          <a:p>
            <a:fld id="{042B0DB6-F5C7-45FB-8CF3-31B45F9C2DAC}" type="datetimeFigureOut">
              <a:rPr lang="en-US" smtClean="0"/>
              <a:t>7/11/2025</a:t>
            </a:fld>
            <a:endParaRPr lang="en-US" dirty="0"/>
          </a:p>
        </p:txBody>
      </p:sp>
      <p:sp>
        <p:nvSpPr>
          <p:cNvPr id="9" name="Footer Placeholder 8"/>
          <p:cNvSpPr>
            <a:spLocks noGrp="1"/>
          </p:cNvSpPr>
          <p:nvPr>
            <p:ph type="ftr" sz="quarter" idx="11"/>
          </p:nvPr>
        </p:nvSpPr>
        <p:spPr>
          <a:xfrm>
            <a:off x="1609345" y="12472416"/>
            <a:ext cx="10249594" cy="640080"/>
          </a:xfrm>
        </p:spPr>
        <p:txBody>
          <a:bodyPr/>
          <a:lstStyle>
            <a:lvl1pPr>
              <a:defRPr>
                <a:solidFill>
                  <a:schemeClr val="tx1">
                    <a:alpha val="70000"/>
                  </a:schemeClr>
                </a:solidFill>
              </a:defRPr>
            </a:lvl1pPr>
          </a:lstStyle>
          <a:p>
            <a:endParaRPr lang="en-US" dirty="0"/>
          </a:p>
        </p:txBody>
      </p:sp>
      <p:sp>
        <p:nvSpPr>
          <p:cNvPr id="10" name="Slide Number Placeholder 9"/>
          <p:cNvSpPr>
            <a:spLocks noGrp="1"/>
          </p:cNvSpPr>
          <p:nvPr>
            <p:ph type="sldNum" sz="quarter" idx="12"/>
          </p:nvPr>
        </p:nvSpPr>
        <p:spPr/>
        <p:txBody>
          <a:bodyPr/>
          <a:lstStyle/>
          <a:p>
            <a:fld id="{86CB4B4D-7CA3-9044-876B-883B54F8677D}" type="slidenum">
              <a:rPr lang="x-none" smtClean="0"/>
              <a:t>‹#›</a:t>
            </a:fld>
            <a:endParaRPr lang="x-none"/>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9F9C37B-1D36-470B-8223-D6C91242EC14}" type="datetimeFigureOut">
              <a:rPr lang="en-US" smtClean="0"/>
              <a:t>7/11/2025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6CB4B4D-7CA3-9044-876B-883B54F8677D}" type="slidenum">
              <a:rPr lang="x-none" smtClean="0"/>
              <a:t>‹#›</a:t>
            </a:fld>
            <a:endParaRPr lang="x-none"/>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7306224" y="1874520"/>
            <a:ext cx="2597216" cy="996696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4462273" y="1874520"/>
            <a:ext cx="12396978" cy="996696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7C6F52A-A82B-47A2-A83A-8C4C91F2D59F}" type="datetimeFigureOut">
              <a:rPr lang="en-US" smtClean="0"/>
              <a:t>7/11/2025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6CB4B4D-7CA3-9044-876B-883B54F8677D}" type="slidenum">
              <a:rPr lang="x-none" smtClean="0"/>
              <a:t>‹#›</a:t>
            </a:fld>
            <a:endParaRPr lang="x-none"/>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462272" y="1929384"/>
            <a:ext cx="15459456" cy="2377440"/>
          </a:xfrm>
          <a:prstGeom prst="rect">
            <a:avLst/>
          </a:prstGeom>
          <a:solidFill>
            <a:schemeClr val="bg1"/>
          </a:solidFill>
          <a:ln w="31750" cap="sq">
            <a:solidFill>
              <a:schemeClr val="tx1">
                <a:lumMod val="75000"/>
                <a:lumOff val="25000"/>
              </a:schemeClr>
            </a:solidFill>
            <a:miter lim="800000"/>
          </a:ln>
        </p:spPr>
        <p:txBody>
          <a:bodyPr vert="horz" lIns="182880" tIns="182880" rIns="182880" bIns="18288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4462272" y="5276089"/>
            <a:ext cx="15459456" cy="620396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5642858" y="12477632"/>
            <a:ext cx="5507492" cy="647936"/>
          </a:xfrm>
          <a:prstGeom prst="rect">
            <a:avLst/>
          </a:prstGeom>
        </p:spPr>
        <p:txBody>
          <a:bodyPr vert="horz" lIns="91440" tIns="45720" rIns="91440" bIns="45720" rtlCol="0" anchor="ctr"/>
          <a:lstStyle>
            <a:lvl1pPr algn="r">
              <a:defRPr sz="2100">
                <a:solidFill>
                  <a:schemeClr val="tx1">
                    <a:alpha val="70000"/>
                  </a:schemeClr>
                </a:solidFill>
              </a:defRPr>
            </a:lvl1pPr>
          </a:lstStyle>
          <a:p>
            <a:fld id="{1160EA64-D806-43AC-9DF2-F8C432F32B4C}" type="datetimeFigureOut">
              <a:rPr lang="en-US" smtClean="0"/>
              <a:t>7/11/2025</a:t>
            </a:fld>
            <a:endParaRPr lang="en-US" dirty="0"/>
          </a:p>
        </p:txBody>
      </p:sp>
      <p:sp>
        <p:nvSpPr>
          <p:cNvPr id="5" name="Footer Placeholder 4"/>
          <p:cNvSpPr>
            <a:spLocks noGrp="1"/>
          </p:cNvSpPr>
          <p:nvPr>
            <p:ph type="ftr" sz="quarter" idx="3"/>
          </p:nvPr>
        </p:nvSpPr>
        <p:spPr>
          <a:xfrm>
            <a:off x="3200401" y="12472416"/>
            <a:ext cx="11802378" cy="640080"/>
          </a:xfrm>
          <a:prstGeom prst="rect">
            <a:avLst/>
          </a:prstGeom>
        </p:spPr>
        <p:txBody>
          <a:bodyPr vert="horz" lIns="91440" tIns="45720" rIns="91440" bIns="45720" rtlCol="0" anchor="ctr"/>
          <a:lstStyle>
            <a:lvl1pPr algn="l">
              <a:defRPr sz="2100">
                <a:solidFill>
                  <a:schemeClr val="tx1">
                    <a:alpha val="70000"/>
                  </a:schemeClr>
                </a:solidFill>
              </a:defRPr>
            </a:lvl1pPr>
          </a:lstStyle>
          <a:p>
            <a:endParaRPr lang="en-US" dirty="0"/>
          </a:p>
        </p:txBody>
      </p:sp>
      <p:sp>
        <p:nvSpPr>
          <p:cNvPr id="6" name="Slide Number Placeholder 5"/>
          <p:cNvSpPr>
            <a:spLocks noGrp="1"/>
          </p:cNvSpPr>
          <p:nvPr>
            <p:ph type="sldNum" sz="quarter" idx="4"/>
          </p:nvPr>
        </p:nvSpPr>
        <p:spPr>
          <a:xfrm>
            <a:off x="21517844" y="12435840"/>
            <a:ext cx="731520" cy="731520"/>
          </a:xfrm>
          <a:prstGeom prst="ellipse">
            <a:avLst/>
          </a:prstGeom>
          <a:solidFill>
            <a:srgbClr val="1D1D1D">
              <a:alpha val="70000"/>
            </a:srgbClr>
          </a:solidFill>
        </p:spPr>
        <p:txBody>
          <a:bodyPr vert="horz" lIns="18288" tIns="45720" rIns="18288" bIns="45720" rtlCol="0" anchor="ctr">
            <a:noAutofit/>
          </a:bodyPr>
          <a:lstStyle>
            <a:lvl1pPr algn="ctr">
              <a:defRPr sz="2200" spc="0" baseline="0">
                <a:solidFill>
                  <a:srgbClr val="FFFFFF"/>
                </a:solidFill>
              </a:defRPr>
            </a:lvl1pPr>
          </a:lstStyle>
          <a:p>
            <a:fld id="{86CB4B4D-7CA3-9044-876B-883B54F8677D}" type="slidenum">
              <a:rPr lang="x-none" smtClean="0"/>
              <a:t>‹#›</a:t>
            </a:fld>
            <a:endParaRPr lang="x-none"/>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ransition spd="med"/>
  <p:txStyles>
    <p:titleStyle>
      <a:lvl1pPr algn="ctr" defTabSz="1828800" rtl="0" eaLnBrk="1" latinLnBrk="0" hangingPunct="1">
        <a:lnSpc>
          <a:spcPct val="90000"/>
        </a:lnSpc>
        <a:spcBef>
          <a:spcPct val="0"/>
        </a:spcBef>
        <a:buNone/>
        <a:defRPr sz="5600" kern="1200" cap="all" spc="400" baseline="0">
          <a:solidFill>
            <a:schemeClr val="tx1">
              <a:lumMod val="85000"/>
              <a:lumOff val="15000"/>
            </a:schemeClr>
          </a:solidFill>
          <a:latin typeface="+mj-lt"/>
          <a:ea typeface="+mj-ea"/>
          <a:cs typeface="+mj-cs"/>
        </a:defRPr>
      </a:lvl1pPr>
    </p:titleStyle>
    <p:bodyStyle>
      <a:lvl1pPr marL="457200" indent="-457200" algn="l" defTabSz="1828800" rtl="0" eaLnBrk="1" latinLnBrk="0" hangingPunct="1">
        <a:lnSpc>
          <a:spcPct val="100000"/>
        </a:lnSpc>
        <a:spcBef>
          <a:spcPts val="2000"/>
        </a:spcBef>
        <a:buClr>
          <a:schemeClr val="accent2"/>
        </a:buClr>
        <a:buFont typeface="Arial" panose="020B0604020202020204" pitchFamily="34" charset="0"/>
        <a:buChar char="•"/>
        <a:defRPr sz="3600" kern="1200">
          <a:solidFill>
            <a:schemeClr val="tx1">
              <a:lumMod val="85000"/>
              <a:lumOff val="15000"/>
            </a:schemeClr>
          </a:solidFill>
          <a:latin typeface="+mn-lt"/>
          <a:ea typeface="+mn-ea"/>
          <a:cs typeface="+mn-cs"/>
        </a:defRPr>
      </a:lvl1pPr>
      <a:lvl2pPr marL="914400"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a:solidFill>
            <a:schemeClr val="tx1">
              <a:lumMod val="85000"/>
              <a:lumOff val="15000"/>
            </a:schemeClr>
          </a:solidFill>
          <a:latin typeface="+mn-lt"/>
          <a:ea typeface="+mn-ea"/>
          <a:cs typeface="+mn-cs"/>
        </a:defRPr>
      </a:lvl2pPr>
      <a:lvl3pPr marL="1371600"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a:solidFill>
            <a:schemeClr val="tx1">
              <a:lumMod val="85000"/>
              <a:lumOff val="15000"/>
            </a:schemeClr>
          </a:solidFill>
          <a:latin typeface="+mn-lt"/>
          <a:ea typeface="+mn-ea"/>
          <a:cs typeface="+mn-cs"/>
        </a:defRPr>
      </a:lvl3pPr>
      <a:lvl4pPr marL="1828800"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a:solidFill>
            <a:schemeClr val="tx1">
              <a:lumMod val="85000"/>
              <a:lumOff val="15000"/>
            </a:schemeClr>
          </a:solidFill>
          <a:latin typeface="+mn-lt"/>
          <a:ea typeface="+mn-ea"/>
          <a:cs typeface="+mn-cs"/>
        </a:defRPr>
      </a:lvl4pPr>
      <a:lvl5pPr marL="2286000"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a:solidFill>
            <a:schemeClr val="tx1">
              <a:lumMod val="85000"/>
              <a:lumOff val="15000"/>
            </a:schemeClr>
          </a:solidFill>
          <a:latin typeface="+mn-lt"/>
          <a:ea typeface="+mn-ea"/>
          <a:cs typeface="+mn-cs"/>
        </a:defRPr>
      </a:lvl5pPr>
      <a:lvl6pPr marL="2625725"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a:solidFill>
            <a:schemeClr val="tx1"/>
          </a:solidFill>
          <a:latin typeface="+mn-lt"/>
          <a:ea typeface="+mn-ea"/>
          <a:cs typeface="+mn-cs"/>
        </a:defRPr>
      </a:lvl6pPr>
      <a:lvl7pPr marL="2968625"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a:solidFill>
            <a:schemeClr val="tx1"/>
          </a:solidFill>
          <a:latin typeface="+mn-lt"/>
          <a:ea typeface="+mn-ea"/>
          <a:cs typeface="+mn-cs"/>
        </a:defRPr>
      </a:lvl7pPr>
      <a:lvl8pPr marL="3314700"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baseline="0">
          <a:solidFill>
            <a:schemeClr val="tx1"/>
          </a:solidFill>
          <a:latin typeface="+mn-lt"/>
          <a:ea typeface="+mn-ea"/>
          <a:cs typeface="+mn-cs"/>
        </a:defRPr>
      </a:lvl8pPr>
      <a:lvl9pPr marL="3765550"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baseline="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microsoft.com/office/2018/10/relationships/comments" Target="../comments/modernComment_2F2_B4F37BB0.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microsoft.com/office/2018/10/relationships/comments" Target="../comments/modernComment_2E4_C4E507DE.xml"/><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microsoft.com/office/2018/10/relationships/comments" Target="../comments/modernComment_2E7_1F295D78.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microsoft.com/office/2018/10/relationships/comments" Target="../comments/modernComment_2E9_46AED96B.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microsoft.com/office/2018/10/relationships/comments" Target="../comments/modernComment_2F0_E2EE840A.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microsoft.com/office/2018/10/relationships/comments" Target="../comments/modernComment_2F3_913103B.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microsoft.com/office/2018/10/relationships/comments" Target="../comments/modernComment_2F4_F6EAC1C4.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microsoft.com/office/2018/10/relationships/comments" Target="../comments/modernComment_2F5_FC982C77.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microsoft.com/office/2018/10/relationships/comments" Target="../comments/modernComment_2F6_C3F2F644.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microsoft.com/office/2018/10/relationships/comments" Target="../comments/modernComment_2F7_FF1FDD83.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microsoft.com/office/2018/10/relationships/comments" Target="../comments/modernComment_2F8_BDA575CB.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microsoft.com/office/2018/10/relationships/comments" Target="../comments/modernComment_2FA_5B60B1ED.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microsoft.com/office/2018/10/relationships/comments" Target="../comments/modernComment_2FB_F99520B5.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microsoft.com/office/2018/10/relationships/comments" Target="../comments/modernComment_2FC_3FF9C439.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microsoft.com/office/2018/10/relationships/comments" Target="../comments/modernComment_309_5CE301F2.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microsoft.com/office/2018/10/relationships/comments" Target="../comments/modernComment_2FD_14548F84.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microsoft.com/office/2018/10/relationships/comments" Target="../comments/modernComment_2FE_C6B74327.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microsoft.com/office/2018/10/relationships/comments" Target="../comments/modernComment_2FF_6E4EC4D6.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microsoft.com/office/2018/10/relationships/comments" Target="../comments/modernComment_30C_5DA5C4DB.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microsoft.com/office/2018/10/relationships/comments" Target="../comments/modernComment_30B_5FC48DCF.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microsoft.com/office/2018/10/relationships/comments" Target="../comments/modernComment_30A_EF944BC.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microsoft.com/office/2018/10/relationships/comments" Target="../comments/modernComment_303_D7F5AAAC.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microsoft.com/office/2018/10/relationships/comments" Target="../comments/modernComment_304_D628E67E.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microsoft.com/office/2018/10/relationships/comments" Target="../comments/modernComment_30D_3FB29E80.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microsoft.com/office/2018/10/relationships/comments" Target="../comments/modernComment_306_A0B141E4.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microsoft.com/office/2018/10/relationships/comments" Target="../comments/modernComment_30E_31238008.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microsoft.com/office/2018/10/relationships/comments" Target="../comments/modernComment_30F_6E418AE9.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microsoft.com/office/2018/10/relationships/comments" Target="../comments/modernComment_308_608848C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B89BCCD2-0137-0B69-CACD-EDDAC0845231}"/>
              </a:ext>
            </a:extLst>
          </p:cNvPr>
          <p:cNvSpPr txBox="1"/>
          <p:nvPr/>
        </p:nvSpPr>
        <p:spPr>
          <a:xfrm>
            <a:off x="1853788" y="665384"/>
            <a:ext cx="9962214" cy="707886"/>
          </a:xfrm>
          <a:prstGeom prst="rect">
            <a:avLst/>
          </a:prstGeom>
          <a:noFill/>
        </p:spPr>
        <p:txBody>
          <a:bodyPr wrap="none" rtlCol="0">
            <a:spAutoFit/>
          </a:bodyPr>
          <a:lstStyle/>
          <a:p>
            <a:r>
              <a:rPr lang="en-US" altLang="zh-CN" sz="4000" dirty="0" err="1"/>
              <a:t>Teamceter</a:t>
            </a:r>
            <a:r>
              <a:rPr lang="zh-CN" altLang="en-US" sz="4000" dirty="0"/>
              <a:t>上下载交付物文件一览 （</a:t>
            </a:r>
            <a:r>
              <a:rPr lang="en-GB" altLang="zh-CN" sz="4000" dirty="0"/>
              <a:t>44</a:t>
            </a:r>
            <a:r>
              <a:rPr lang="zh-CN" altLang="en-US" sz="4000" dirty="0"/>
              <a:t>个）</a:t>
            </a:r>
            <a:endParaRPr lang="en-GB" sz="4000" dirty="0"/>
          </a:p>
        </p:txBody>
      </p:sp>
      <p:graphicFrame>
        <p:nvGraphicFramePr>
          <p:cNvPr id="3" name="表格 2">
            <a:extLst>
              <a:ext uri="{FF2B5EF4-FFF2-40B4-BE49-F238E27FC236}">
                <a16:creationId xmlns:a16="http://schemas.microsoft.com/office/drawing/2014/main" id="{5EF4C3AB-BFF0-5E05-97BA-5929F434EA0A}"/>
              </a:ext>
            </a:extLst>
          </p:cNvPr>
          <p:cNvGraphicFramePr>
            <a:graphicFrameLocks noGrp="1"/>
          </p:cNvGraphicFramePr>
          <p:nvPr>
            <p:extLst>
              <p:ext uri="{D42A27DB-BD31-4B8C-83A1-F6EECF244321}">
                <p14:modId xmlns:p14="http://schemas.microsoft.com/office/powerpoint/2010/main" val="466125658"/>
              </p:ext>
            </p:extLst>
          </p:nvPr>
        </p:nvGraphicFramePr>
        <p:xfrm>
          <a:off x="240631" y="1800278"/>
          <a:ext cx="23870653" cy="11368253"/>
        </p:xfrm>
        <a:graphic>
          <a:graphicData uri="http://schemas.openxmlformats.org/drawingml/2006/table">
            <a:tbl>
              <a:tblPr firstRow="1" bandRow="1"/>
              <a:tblGrid>
                <a:gridCol w="5450306">
                  <a:extLst>
                    <a:ext uri="{9D8B030D-6E8A-4147-A177-3AD203B41FA5}">
                      <a16:colId xmlns:a16="http://schemas.microsoft.com/office/drawing/2014/main" val="2651768977"/>
                    </a:ext>
                  </a:extLst>
                </a:gridCol>
                <a:gridCol w="7904747">
                  <a:extLst>
                    <a:ext uri="{9D8B030D-6E8A-4147-A177-3AD203B41FA5}">
                      <a16:colId xmlns:a16="http://schemas.microsoft.com/office/drawing/2014/main" val="1614244903"/>
                    </a:ext>
                  </a:extLst>
                </a:gridCol>
                <a:gridCol w="8253663">
                  <a:extLst>
                    <a:ext uri="{9D8B030D-6E8A-4147-A177-3AD203B41FA5}">
                      <a16:colId xmlns:a16="http://schemas.microsoft.com/office/drawing/2014/main" val="3143100053"/>
                    </a:ext>
                  </a:extLst>
                </a:gridCol>
                <a:gridCol w="2261937">
                  <a:extLst>
                    <a:ext uri="{9D8B030D-6E8A-4147-A177-3AD203B41FA5}">
                      <a16:colId xmlns:a16="http://schemas.microsoft.com/office/drawing/2014/main" val="225249902"/>
                    </a:ext>
                  </a:extLst>
                </a:gridCol>
              </a:tblGrid>
              <a:tr h="642132">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i="0" kern="1200" dirty="0">
                          <a:solidFill>
                            <a:schemeClr val="tx1"/>
                          </a:solidFill>
                          <a:effectLst/>
                          <a:latin typeface="+mn-lt"/>
                          <a:ea typeface="+mn-ea"/>
                          <a:cs typeface="+mn-cs"/>
                        </a:rPr>
                        <a:t>立项阶段</a:t>
                      </a:r>
                    </a:p>
                  </a:txBody>
                  <a:tcPr anchor="ctr"/>
                </a:tc>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en-GB" sz="2400" b="1" i="0" kern="1200" dirty="0">
                          <a:solidFill>
                            <a:schemeClr val="tx1"/>
                          </a:solidFill>
                          <a:effectLst/>
                          <a:latin typeface="+mn-lt"/>
                          <a:ea typeface="+mn-ea"/>
                          <a:cs typeface="+mn-cs"/>
                        </a:rPr>
                        <a:t>A</a:t>
                      </a:r>
                      <a:r>
                        <a:rPr lang="zh-CN" altLang="en-US" sz="2400" b="1" i="0" kern="1200" dirty="0">
                          <a:solidFill>
                            <a:schemeClr val="tx1"/>
                          </a:solidFill>
                          <a:effectLst/>
                          <a:latin typeface="+mn-lt"/>
                          <a:ea typeface="+mn-ea"/>
                          <a:cs typeface="+mn-cs"/>
                        </a:rPr>
                        <a:t>样阶段</a:t>
                      </a:r>
                    </a:p>
                  </a:txBody>
                  <a:tcPr anchor="ctr"/>
                </a:tc>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en-GB" sz="2400" b="1" i="0" kern="1200" dirty="0">
                          <a:solidFill>
                            <a:schemeClr val="tx1"/>
                          </a:solidFill>
                          <a:effectLst/>
                          <a:latin typeface="+mn-lt"/>
                          <a:ea typeface="+mn-ea"/>
                          <a:cs typeface="+mn-cs"/>
                        </a:rPr>
                        <a:t>B</a:t>
                      </a:r>
                      <a:r>
                        <a:rPr lang="zh-CN" altLang="en-US" sz="2400" b="1" i="0" kern="1200" dirty="0">
                          <a:solidFill>
                            <a:schemeClr val="tx1"/>
                          </a:solidFill>
                          <a:effectLst/>
                          <a:latin typeface="+mn-lt"/>
                          <a:ea typeface="+mn-ea"/>
                          <a:cs typeface="+mn-cs"/>
                        </a:rPr>
                        <a:t>样阶段</a:t>
                      </a:r>
                    </a:p>
                  </a:txBody>
                  <a:tcPr anchor="ctr"/>
                </a:tc>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en-GB" sz="2400" b="1" i="0" kern="1200" dirty="0">
                          <a:solidFill>
                            <a:schemeClr val="tx1"/>
                          </a:solidFill>
                          <a:effectLst/>
                          <a:latin typeface="+mn-lt"/>
                          <a:ea typeface="+mn-ea"/>
                          <a:cs typeface="+mn-cs"/>
                        </a:rPr>
                        <a:t>C</a:t>
                      </a:r>
                      <a:r>
                        <a:rPr lang="zh-CN" altLang="en-US" sz="2400" b="1" i="0" kern="1200" dirty="0">
                          <a:solidFill>
                            <a:schemeClr val="tx1"/>
                          </a:solidFill>
                          <a:effectLst/>
                          <a:latin typeface="+mn-lt"/>
                          <a:ea typeface="+mn-ea"/>
                          <a:cs typeface="+mn-cs"/>
                        </a:rPr>
                        <a:t>样阶段</a:t>
                      </a:r>
                    </a:p>
                  </a:txBody>
                  <a:tcPr anchor="ctr"/>
                </a:tc>
                <a:extLst>
                  <a:ext uri="{0D108BD9-81ED-4DB2-BD59-A6C34878D82A}">
                    <a16:rowId xmlns:a16="http://schemas.microsoft.com/office/drawing/2014/main" val="2887553638"/>
                  </a:ext>
                </a:extLst>
              </a:tr>
              <a:tr h="10726121">
                <a:tc>
                  <a:txBody>
                    <a:bodyPr/>
                    <a:lstStyle/>
                    <a:p>
                      <a:pPr marL="342900" indent="-342900">
                        <a:buFont typeface="Arial" panose="020B0604020202020204" pitchFamily="34" charset="0"/>
                        <a:buChar char="•"/>
                      </a:pPr>
                      <a:r>
                        <a:rPr lang="en-US" altLang="zh-CN" sz="2400" b="0" i="0" kern="1200" dirty="0">
                          <a:solidFill>
                            <a:schemeClr val="tx1"/>
                          </a:solidFill>
                          <a:effectLst/>
                          <a:latin typeface="+mn-lt"/>
                          <a:ea typeface="+mn-ea"/>
                          <a:cs typeface="+mn-cs"/>
                        </a:rPr>
                        <a:t>570-941A</a:t>
                      </a:r>
                      <a:r>
                        <a:rPr lang="zh-CN" altLang="en-US" sz="2400" b="0" i="0" kern="1200" dirty="0">
                          <a:solidFill>
                            <a:schemeClr val="tx1"/>
                          </a:solidFill>
                          <a:effectLst/>
                          <a:latin typeface="+mn-lt"/>
                          <a:ea typeface="+mn-ea"/>
                          <a:cs typeface="+mn-cs"/>
                        </a:rPr>
                        <a:t>项目任务书</a:t>
                      </a:r>
                      <a:r>
                        <a:rPr lang="en-US" altLang="zh-CN" sz="2400" b="0" i="0" kern="1200" dirty="0">
                          <a:solidFill>
                            <a:schemeClr val="tx1"/>
                          </a:solidFill>
                          <a:effectLst/>
                          <a:latin typeface="+mn-lt"/>
                          <a:ea typeface="+mn-ea"/>
                          <a:cs typeface="+mn-cs"/>
                        </a:rPr>
                        <a:t>-230524- </a:t>
                      </a:r>
                      <a:r>
                        <a:rPr lang="zh-CN" altLang="en-US" sz="2400" b="0" i="0" kern="1200" dirty="0">
                          <a:solidFill>
                            <a:schemeClr val="tx1"/>
                          </a:solidFill>
                          <a:effectLst/>
                          <a:latin typeface="+mn-lt"/>
                          <a:ea typeface="+mn-ea"/>
                          <a:cs typeface="+mn-cs"/>
                        </a:rPr>
                        <a:t>发布版 </a:t>
                      </a:r>
                      <a:r>
                        <a:rPr lang="en-US" altLang="zh-CN" sz="2400" b="0" i="0" kern="1200" dirty="0">
                          <a:solidFill>
                            <a:schemeClr val="tx1"/>
                          </a:solidFill>
                          <a:effectLst/>
                          <a:latin typeface="+mn-lt"/>
                          <a:ea typeface="+mn-ea"/>
                          <a:cs typeface="+mn-cs"/>
                        </a:rPr>
                        <a:t>V1.pdf (1.0MB)</a:t>
                      </a:r>
                    </a:p>
                    <a:p>
                      <a:pPr marL="342900" indent="-342900">
                        <a:buFont typeface="Arial" panose="020B0604020202020204" pitchFamily="34" charset="0"/>
                        <a:buChar char="•"/>
                      </a:pPr>
                      <a:r>
                        <a:rPr lang="en-US" altLang="zh-CN" sz="2400" b="0" i="0" kern="1200" dirty="0">
                          <a:solidFill>
                            <a:schemeClr val="tx1"/>
                          </a:solidFill>
                          <a:effectLst/>
                          <a:latin typeface="+mn-lt"/>
                          <a:ea typeface="+mn-ea"/>
                          <a:cs typeface="+mn-cs"/>
                        </a:rPr>
                        <a:t>570-941A</a:t>
                      </a:r>
                      <a:r>
                        <a:rPr lang="zh-CN" altLang="en-US" sz="2400" b="0" i="0" kern="1200" dirty="0">
                          <a:solidFill>
                            <a:schemeClr val="tx1"/>
                          </a:solidFill>
                          <a:effectLst/>
                          <a:latin typeface="+mn-lt"/>
                          <a:ea typeface="+mn-ea"/>
                          <a:cs typeface="+mn-cs"/>
                        </a:rPr>
                        <a:t>开发项目立项报告 </a:t>
                      </a:r>
                      <a:r>
                        <a:rPr lang="en-US" altLang="zh-CN" sz="2400" b="0" i="0" kern="1200" dirty="0">
                          <a:solidFill>
                            <a:schemeClr val="tx1"/>
                          </a:solidFill>
                          <a:effectLst/>
                          <a:latin typeface="+mn-lt"/>
                          <a:ea typeface="+mn-ea"/>
                          <a:cs typeface="+mn-cs"/>
                        </a:rPr>
                        <a:t>V4 </a:t>
                      </a:r>
                      <a:r>
                        <a:rPr lang="zh-CN" altLang="en-US" sz="2400" b="0" i="0" kern="1200" dirty="0">
                          <a:solidFill>
                            <a:schemeClr val="tx1"/>
                          </a:solidFill>
                          <a:effectLst/>
                          <a:latin typeface="+mn-lt"/>
                          <a:ea typeface="+mn-ea"/>
                          <a:cs typeface="+mn-cs"/>
                        </a:rPr>
                        <a:t>汇总</a:t>
                      </a:r>
                      <a:r>
                        <a:rPr lang="en-US" altLang="zh-CN" sz="2400" b="0" i="0" kern="1200" dirty="0">
                          <a:solidFill>
                            <a:schemeClr val="tx1"/>
                          </a:solidFill>
                          <a:effectLst/>
                          <a:latin typeface="+mn-lt"/>
                          <a:ea typeface="+mn-ea"/>
                          <a:cs typeface="+mn-cs"/>
                        </a:rPr>
                        <a:t>.pdf (1.5MB)</a:t>
                      </a:r>
                    </a:p>
                    <a:p>
                      <a:pPr marL="342900" indent="-342900">
                        <a:buFont typeface="Arial" panose="020B0604020202020204" pitchFamily="34" charset="0"/>
                        <a:buChar char="•"/>
                      </a:pPr>
                      <a:r>
                        <a:rPr lang="zh-CN" altLang="en-US" sz="2400" b="0" i="0" kern="1200" dirty="0">
                          <a:solidFill>
                            <a:schemeClr val="tx1"/>
                          </a:solidFill>
                          <a:effectLst/>
                          <a:latin typeface="+mn-lt"/>
                          <a:ea typeface="+mn-ea"/>
                          <a:cs typeface="+mn-cs"/>
                        </a:rPr>
                        <a:t>副本</a:t>
                      </a:r>
                      <a:r>
                        <a:rPr lang="en-US" altLang="zh-CN" sz="2400" b="0" i="0" kern="1200" dirty="0">
                          <a:solidFill>
                            <a:schemeClr val="tx1"/>
                          </a:solidFill>
                          <a:effectLst/>
                          <a:latin typeface="+mn-lt"/>
                          <a:ea typeface="+mn-ea"/>
                          <a:cs typeface="+mn-cs"/>
                        </a:rPr>
                        <a:t>570-941A</a:t>
                      </a:r>
                      <a:r>
                        <a:rPr lang="zh-CN" altLang="en-US" sz="2400" b="0" i="0" kern="1200" dirty="0">
                          <a:solidFill>
                            <a:schemeClr val="tx1"/>
                          </a:solidFill>
                          <a:effectLst/>
                          <a:latin typeface="+mn-lt"/>
                          <a:ea typeface="+mn-ea"/>
                          <a:cs typeface="+mn-cs"/>
                        </a:rPr>
                        <a:t>项目需求管理</a:t>
                      </a:r>
                      <a:r>
                        <a:rPr lang="en-US" altLang="zh-CN" sz="2400" b="0" i="0" kern="1200" dirty="0">
                          <a:solidFill>
                            <a:schemeClr val="tx1"/>
                          </a:solidFill>
                          <a:effectLst/>
                          <a:latin typeface="+mn-lt"/>
                          <a:ea typeface="+mn-ea"/>
                          <a:cs typeface="+mn-cs"/>
                        </a:rPr>
                        <a:t>-SOR</a:t>
                      </a:r>
                      <a:r>
                        <a:rPr lang="zh-CN" altLang="en-US" sz="2400" b="0" i="0" kern="1200" dirty="0">
                          <a:solidFill>
                            <a:schemeClr val="tx1"/>
                          </a:solidFill>
                          <a:effectLst/>
                          <a:latin typeface="+mn-lt"/>
                          <a:ea typeface="+mn-ea"/>
                          <a:cs typeface="+mn-cs"/>
                        </a:rPr>
                        <a:t>分解</a:t>
                      </a:r>
                      <a:r>
                        <a:rPr lang="en-US" altLang="zh-CN" sz="2400" b="0" i="0" kern="1200" dirty="0">
                          <a:solidFill>
                            <a:schemeClr val="tx1"/>
                          </a:solidFill>
                          <a:effectLst/>
                          <a:latin typeface="+mn-lt"/>
                          <a:ea typeface="+mn-ea"/>
                          <a:cs typeface="+mn-cs"/>
                        </a:rPr>
                        <a:t>-</a:t>
                      </a:r>
                      <a:r>
                        <a:rPr lang="zh-CN" altLang="en-US" sz="2400" b="0" i="0" kern="1200" dirty="0">
                          <a:solidFill>
                            <a:schemeClr val="tx1"/>
                          </a:solidFill>
                          <a:effectLst/>
                          <a:latin typeface="+mn-lt"/>
                          <a:ea typeface="+mn-ea"/>
                          <a:cs typeface="+mn-cs"/>
                        </a:rPr>
                        <a:t>偏差项反馈</a:t>
                      </a:r>
                      <a:r>
                        <a:rPr lang="en-US" altLang="zh-CN" sz="2400" b="0" i="0" kern="1200" dirty="0">
                          <a:solidFill>
                            <a:schemeClr val="tx1"/>
                          </a:solidFill>
                          <a:effectLst/>
                          <a:latin typeface="+mn-lt"/>
                          <a:ea typeface="+mn-ea"/>
                          <a:cs typeface="+mn-cs"/>
                        </a:rPr>
                        <a:t>-.xlsx (1.3MB)</a:t>
                      </a:r>
                    </a:p>
                    <a:p>
                      <a:pPr marL="342900" indent="-342900">
                        <a:buFont typeface="Arial" panose="020B0604020202020204" pitchFamily="34" charset="0"/>
                        <a:buChar char="•"/>
                      </a:pPr>
                      <a:r>
                        <a:rPr lang="zh-CN" altLang="en-US" sz="2400" b="0" i="0" kern="1200" dirty="0">
                          <a:solidFill>
                            <a:schemeClr val="tx1"/>
                          </a:solidFill>
                          <a:effectLst/>
                          <a:latin typeface="+mn-lt"/>
                          <a:ea typeface="+mn-ea"/>
                          <a:cs typeface="+mn-cs"/>
                        </a:rPr>
                        <a:t>副本</a:t>
                      </a:r>
                      <a:r>
                        <a:rPr lang="en-US" altLang="zh-CN" sz="2400" b="0" i="0" kern="1200" dirty="0">
                          <a:solidFill>
                            <a:schemeClr val="tx1"/>
                          </a:solidFill>
                          <a:effectLst/>
                          <a:latin typeface="+mn-lt"/>
                          <a:ea typeface="+mn-ea"/>
                          <a:cs typeface="+mn-cs"/>
                        </a:rPr>
                        <a:t>570-941A </a:t>
                      </a:r>
                      <a:r>
                        <a:rPr lang="zh-CN" altLang="en-US" sz="2400" b="0" i="0" kern="1200" dirty="0">
                          <a:solidFill>
                            <a:schemeClr val="tx1"/>
                          </a:solidFill>
                          <a:effectLst/>
                          <a:latin typeface="+mn-lt"/>
                          <a:ea typeface="+mn-ea"/>
                          <a:cs typeface="+mn-cs"/>
                        </a:rPr>
                        <a:t>（</a:t>
                      </a:r>
                      <a:r>
                        <a:rPr lang="en-US" altLang="zh-CN" sz="2400" b="0" i="0" kern="1200" dirty="0">
                          <a:solidFill>
                            <a:schemeClr val="tx1"/>
                          </a:solidFill>
                          <a:effectLst/>
                          <a:latin typeface="+mn-lt"/>
                          <a:ea typeface="+mn-ea"/>
                          <a:cs typeface="+mn-cs"/>
                        </a:rPr>
                        <a:t>L946</a:t>
                      </a:r>
                      <a:r>
                        <a:rPr lang="zh-CN" altLang="en-US" sz="2400" b="0" i="0" kern="1200" dirty="0">
                          <a:solidFill>
                            <a:schemeClr val="tx1"/>
                          </a:solidFill>
                          <a:effectLst/>
                          <a:latin typeface="+mn-lt"/>
                          <a:ea typeface="+mn-ea"/>
                          <a:cs typeface="+mn-cs"/>
                        </a:rPr>
                        <a:t>）项目一二级开发计划</a:t>
                      </a:r>
                      <a:r>
                        <a:rPr lang="en-US" altLang="zh-CN" sz="2400" b="0" i="0" kern="1200" dirty="0">
                          <a:solidFill>
                            <a:schemeClr val="tx1"/>
                          </a:solidFill>
                          <a:effectLst/>
                          <a:latin typeface="+mn-lt"/>
                          <a:ea typeface="+mn-ea"/>
                          <a:cs typeface="+mn-cs"/>
                        </a:rPr>
                        <a:t>_GEELY 20231231_v3.xlsx (486KB)</a:t>
                      </a:r>
                    </a:p>
                    <a:p>
                      <a:pPr marL="342900" indent="-342900">
                        <a:buFont typeface="Arial" panose="020B0604020202020204" pitchFamily="34" charset="0"/>
                        <a:buChar char="•"/>
                      </a:pPr>
                      <a:r>
                        <a:rPr lang="zh-CN" altLang="en-US" sz="2400" b="0" i="0" kern="1200" dirty="0">
                          <a:solidFill>
                            <a:schemeClr val="tx1"/>
                          </a:solidFill>
                          <a:effectLst/>
                          <a:latin typeface="+mn-lt"/>
                          <a:ea typeface="+mn-ea"/>
                          <a:cs typeface="+mn-cs"/>
                        </a:rPr>
                        <a:t>副本</a:t>
                      </a:r>
                      <a:r>
                        <a:rPr lang="en-US" altLang="zh-CN" sz="2400" b="0" i="0" kern="1200" dirty="0">
                          <a:solidFill>
                            <a:schemeClr val="tx1"/>
                          </a:solidFill>
                          <a:effectLst/>
                          <a:latin typeface="+mn-lt"/>
                          <a:ea typeface="+mn-ea"/>
                          <a:cs typeface="+mn-cs"/>
                        </a:rPr>
                        <a:t>01</a:t>
                      </a:r>
                      <a:r>
                        <a:rPr lang="zh-CN" altLang="en-US" sz="2400" b="0" i="0" kern="1200" dirty="0">
                          <a:solidFill>
                            <a:schemeClr val="tx1"/>
                          </a:solidFill>
                          <a:effectLst/>
                          <a:latin typeface="+mn-lt"/>
                          <a:ea typeface="+mn-ea"/>
                          <a:cs typeface="+mn-cs"/>
                        </a:rPr>
                        <a:t>项目可行性分析报告</a:t>
                      </a:r>
                      <a:r>
                        <a:rPr lang="en-US" altLang="zh-CN" sz="2400" b="0" i="0" kern="1200" dirty="0">
                          <a:solidFill>
                            <a:schemeClr val="tx1"/>
                          </a:solidFill>
                          <a:effectLst/>
                          <a:latin typeface="+mn-lt"/>
                          <a:ea typeface="+mn-ea"/>
                          <a:cs typeface="+mn-cs"/>
                        </a:rPr>
                        <a:t>-570-941A-</a:t>
                      </a:r>
                      <a:r>
                        <a:rPr lang="zh-CN" altLang="en-US" sz="2400" b="0" i="0" kern="1200" dirty="0">
                          <a:solidFill>
                            <a:schemeClr val="tx1"/>
                          </a:solidFill>
                          <a:effectLst/>
                          <a:latin typeface="+mn-lt"/>
                          <a:ea typeface="+mn-ea"/>
                          <a:cs typeface="+mn-cs"/>
                        </a:rPr>
                        <a:t>汇总</a:t>
                      </a:r>
                      <a:r>
                        <a:rPr lang="en-US" altLang="zh-CN" sz="2400" b="0" i="0" kern="1200" dirty="0">
                          <a:solidFill>
                            <a:schemeClr val="tx1"/>
                          </a:solidFill>
                          <a:effectLst/>
                          <a:latin typeface="+mn-lt"/>
                          <a:ea typeface="+mn-ea"/>
                          <a:cs typeface="+mn-cs"/>
                        </a:rPr>
                        <a:t>_v2.xlsx (486KB)</a:t>
                      </a:r>
                    </a:p>
                    <a:p>
                      <a:pPr marL="342900" indent="-342900">
                        <a:buFont typeface="Arial" panose="020B0604020202020204" pitchFamily="34" charset="0"/>
                        <a:buChar char="•"/>
                      </a:pPr>
                      <a:r>
                        <a:rPr lang="zh-CN" altLang="en-US" sz="2400" b="0" i="0" kern="1200" dirty="0">
                          <a:solidFill>
                            <a:schemeClr val="tx1"/>
                          </a:solidFill>
                          <a:effectLst/>
                          <a:latin typeface="+mn-lt"/>
                          <a:ea typeface="+mn-ea"/>
                          <a:cs typeface="+mn-cs"/>
                        </a:rPr>
                        <a:t>副本</a:t>
                      </a:r>
                      <a:r>
                        <a:rPr lang="en-US" altLang="zh-CN" sz="2400" b="0" i="0" kern="1200" dirty="0">
                          <a:solidFill>
                            <a:schemeClr val="tx1"/>
                          </a:solidFill>
                          <a:effectLst/>
                          <a:latin typeface="+mn-lt"/>
                          <a:ea typeface="+mn-ea"/>
                          <a:cs typeface="+mn-cs"/>
                        </a:rPr>
                        <a:t>570-941A</a:t>
                      </a:r>
                      <a:r>
                        <a:rPr lang="zh-CN" altLang="en-US" sz="2400" b="0" i="0" kern="1200" dirty="0">
                          <a:solidFill>
                            <a:schemeClr val="tx1"/>
                          </a:solidFill>
                          <a:effectLst/>
                          <a:latin typeface="+mn-lt"/>
                          <a:ea typeface="+mn-ea"/>
                          <a:cs typeface="+mn-cs"/>
                        </a:rPr>
                        <a:t>项目三新清单</a:t>
                      </a:r>
                      <a:r>
                        <a:rPr lang="en-US" altLang="zh-CN" sz="2400" b="0" i="0" kern="1200" dirty="0">
                          <a:solidFill>
                            <a:schemeClr val="tx1"/>
                          </a:solidFill>
                          <a:effectLst/>
                          <a:latin typeface="+mn-lt"/>
                          <a:ea typeface="+mn-ea"/>
                          <a:cs typeface="+mn-cs"/>
                        </a:rPr>
                        <a:t>-0223</a:t>
                      </a:r>
                      <a:r>
                        <a:rPr lang="zh-CN" altLang="en-US" sz="2400" b="0" i="0" kern="1200" dirty="0">
                          <a:solidFill>
                            <a:schemeClr val="tx1"/>
                          </a:solidFill>
                          <a:effectLst/>
                          <a:latin typeface="+mn-lt"/>
                          <a:ea typeface="+mn-ea"/>
                          <a:cs typeface="+mn-cs"/>
                        </a:rPr>
                        <a:t>概念</a:t>
                      </a:r>
                      <a:r>
                        <a:rPr lang="en-US" altLang="zh-CN" sz="2400" b="0" i="0" kern="1200" dirty="0">
                          <a:solidFill>
                            <a:schemeClr val="tx1"/>
                          </a:solidFill>
                          <a:effectLst/>
                          <a:latin typeface="+mn-lt"/>
                          <a:ea typeface="+mn-ea"/>
                          <a:cs typeface="+mn-cs"/>
                        </a:rPr>
                        <a:t>.xlsx (24KB)</a:t>
                      </a:r>
                    </a:p>
                    <a:p>
                      <a:pPr marL="342900" indent="-342900">
                        <a:buFont typeface="Arial" panose="020B0604020202020204" pitchFamily="34" charset="0"/>
                        <a:buChar char="•"/>
                      </a:pPr>
                      <a:r>
                        <a:rPr lang="zh-CN" altLang="en-US" sz="2400" b="0" i="0" kern="1200" dirty="0">
                          <a:solidFill>
                            <a:schemeClr val="tx1"/>
                          </a:solidFill>
                          <a:effectLst/>
                          <a:latin typeface="+mn-lt"/>
                          <a:ea typeface="+mn-ea"/>
                          <a:cs typeface="+mn-cs"/>
                        </a:rPr>
                        <a:t>副本</a:t>
                      </a:r>
                      <a:r>
                        <a:rPr lang="en-US" altLang="zh-CN" sz="2400" b="0" i="0" kern="1200" dirty="0">
                          <a:solidFill>
                            <a:schemeClr val="tx1"/>
                          </a:solidFill>
                          <a:effectLst/>
                          <a:latin typeface="+mn-lt"/>
                          <a:ea typeface="+mn-ea"/>
                          <a:cs typeface="+mn-cs"/>
                        </a:rPr>
                        <a:t>D221N44AA-A</a:t>
                      </a:r>
                      <a:r>
                        <a:rPr lang="zh-CN" altLang="en-US" sz="2400" b="0" i="0" kern="1200" dirty="0">
                          <a:solidFill>
                            <a:schemeClr val="tx1"/>
                          </a:solidFill>
                          <a:effectLst/>
                          <a:latin typeface="+mn-lt"/>
                          <a:ea typeface="+mn-ea"/>
                          <a:cs typeface="+mn-cs"/>
                        </a:rPr>
                        <a:t>样试制资源规划确认</a:t>
                      </a:r>
                      <a:r>
                        <a:rPr lang="en-US" altLang="zh-CN" sz="2400" b="0" i="0" kern="1200" dirty="0">
                          <a:solidFill>
                            <a:schemeClr val="tx1"/>
                          </a:solidFill>
                          <a:effectLst/>
                          <a:latin typeface="+mn-lt"/>
                          <a:ea typeface="+mn-ea"/>
                          <a:cs typeface="+mn-cs"/>
                        </a:rPr>
                        <a:t>.xlsx (23KB)</a:t>
                      </a:r>
                    </a:p>
                    <a:p>
                      <a:pPr marL="342900" indent="-342900">
                        <a:buFont typeface="Arial" panose="020B0604020202020204" pitchFamily="34" charset="0"/>
                        <a:buChar char="•"/>
                      </a:pPr>
                      <a:r>
                        <a:rPr lang="zh-CN" altLang="en-US" sz="2400" b="0" i="0" kern="1200" dirty="0">
                          <a:solidFill>
                            <a:schemeClr val="tx1"/>
                          </a:solidFill>
                          <a:effectLst/>
                          <a:latin typeface="+mn-lt"/>
                          <a:ea typeface="+mn-ea"/>
                          <a:cs typeface="+mn-cs"/>
                        </a:rPr>
                        <a:t>副本</a:t>
                      </a:r>
                      <a:r>
                        <a:rPr lang="en-US" altLang="zh-CN" sz="2400" b="0" i="0" kern="1200" dirty="0">
                          <a:solidFill>
                            <a:schemeClr val="tx1"/>
                          </a:solidFill>
                          <a:effectLst/>
                          <a:latin typeface="+mn-lt"/>
                          <a:ea typeface="+mn-ea"/>
                          <a:cs typeface="+mn-cs"/>
                        </a:rPr>
                        <a:t>570-941A </a:t>
                      </a:r>
                      <a:r>
                        <a:rPr lang="zh-CN" altLang="en-US" sz="2400" b="0" i="0" kern="1200" dirty="0">
                          <a:solidFill>
                            <a:schemeClr val="tx1"/>
                          </a:solidFill>
                          <a:effectLst/>
                          <a:latin typeface="+mn-lt"/>
                          <a:ea typeface="+mn-ea"/>
                          <a:cs typeface="+mn-cs"/>
                        </a:rPr>
                        <a:t>（</a:t>
                      </a:r>
                      <a:r>
                        <a:rPr lang="en-US" altLang="zh-CN" sz="2400" b="0" i="0" kern="1200" dirty="0">
                          <a:solidFill>
                            <a:schemeClr val="tx1"/>
                          </a:solidFill>
                          <a:effectLst/>
                          <a:latin typeface="+mn-lt"/>
                          <a:ea typeface="+mn-ea"/>
                          <a:cs typeface="+mn-cs"/>
                        </a:rPr>
                        <a:t>L946</a:t>
                      </a:r>
                      <a:r>
                        <a:rPr lang="zh-CN" altLang="en-US" sz="2400" b="0" i="0" kern="1200" dirty="0">
                          <a:solidFill>
                            <a:schemeClr val="tx1"/>
                          </a:solidFill>
                          <a:effectLst/>
                          <a:latin typeface="+mn-lt"/>
                          <a:ea typeface="+mn-ea"/>
                          <a:cs typeface="+mn-cs"/>
                        </a:rPr>
                        <a:t>）项目一二级开发计划</a:t>
                      </a:r>
                      <a:r>
                        <a:rPr lang="en-US" altLang="zh-CN" sz="2400" b="0" i="0" kern="1200" dirty="0">
                          <a:solidFill>
                            <a:schemeClr val="tx1"/>
                          </a:solidFill>
                          <a:effectLst/>
                          <a:latin typeface="+mn-lt"/>
                          <a:ea typeface="+mn-ea"/>
                          <a:cs typeface="+mn-cs"/>
                        </a:rPr>
                        <a:t>_GEELY 20231231_v2.xlsx (1.3MB)</a:t>
                      </a:r>
                    </a:p>
                    <a:p>
                      <a:pPr marL="342900" indent="-342900">
                        <a:buFont typeface="Arial" panose="020B0604020202020204" pitchFamily="34" charset="0"/>
                        <a:buChar char="•"/>
                      </a:pPr>
                      <a:r>
                        <a:rPr lang="zh-CN" altLang="en-US" sz="2400" b="0" i="0" kern="1200" dirty="0">
                          <a:solidFill>
                            <a:schemeClr val="tx1"/>
                          </a:solidFill>
                          <a:effectLst/>
                          <a:latin typeface="+mn-lt"/>
                          <a:ea typeface="+mn-ea"/>
                          <a:cs typeface="+mn-cs"/>
                        </a:rPr>
                        <a:t>副本</a:t>
                      </a:r>
                      <a:r>
                        <a:rPr lang="en-US" altLang="zh-CN" sz="2400" b="0" i="0" kern="1200" dirty="0">
                          <a:solidFill>
                            <a:schemeClr val="tx1"/>
                          </a:solidFill>
                          <a:effectLst/>
                          <a:latin typeface="+mn-lt"/>
                          <a:ea typeface="+mn-ea"/>
                          <a:cs typeface="+mn-cs"/>
                        </a:rPr>
                        <a:t>570-941A </a:t>
                      </a:r>
                      <a:r>
                        <a:rPr lang="zh-CN" altLang="en-US" sz="2400" b="0" i="0" kern="1200" dirty="0">
                          <a:solidFill>
                            <a:schemeClr val="tx1"/>
                          </a:solidFill>
                          <a:effectLst/>
                          <a:latin typeface="+mn-lt"/>
                          <a:ea typeface="+mn-ea"/>
                          <a:cs typeface="+mn-cs"/>
                        </a:rPr>
                        <a:t>（</a:t>
                      </a:r>
                      <a:r>
                        <a:rPr lang="en-US" altLang="zh-CN" sz="2400" b="0" i="0" kern="1200" dirty="0">
                          <a:solidFill>
                            <a:schemeClr val="tx1"/>
                          </a:solidFill>
                          <a:effectLst/>
                          <a:latin typeface="+mn-lt"/>
                          <a:ea typeface="+mn-ea"/>
                          <a:cs typeface="+mn-cs"/>
                        </a:rPr>
                        <a:t>L946</a:t>
                      </a:r>
                      <a:r>
                        <a:rPr lang="zh-CN" altLang="en-US" sz="2400" b="0" i="0" kern="1200" dirty="0">
                          <a:solidFill>
                            <a:schemeClr val="tx1"/>
                          </a:solidFill>
                          <a:effectLst/>
                          <a:latin typeface="+mn-lt"/>
                          <a:ea typeface="+mn-ea"/>
                          <a:cs typeface="+mn-cs"/>
                        </a:rPr>
                        <a:t>）项目一二级开发计划</a:t>
                      </a:r>
                      <a:r>
                        <a:rPr lang="en-US" altLang="zh-CN" sz="2400" b="0" i="0" kern="1200" dirty="0">
                          <a:solidFill>
                            <a:schemeClr val="tx1"/>
                          </a:solidFill>
                          <a:effectLst/>
                          <a:latin typeface="+mn-lt"/>
                          <a:ea typeface="+mn-ea"/>
                          <a:cs typeface="+mn-cs"/>
                        </a:rPr>
                        <a:t>_GEELY 20231231.xlsx (486KB)</a:t>
                      </a:r>
                    </a:p>
                    <a:p>
                      <a:pPr marL="342900" indent="-342900">
                        <a:buFont typeface="Arial" panose="020B0604020202020204" pitchFamily="34" charset="0"/>
                        <a:buChar char="•"/>
                      </a:pPr>
                      <a:r>
                        <a:rPr lang="zh-CN" altLang="en-US" sz="2400" b="0" i="0" kern="1200" dirty="0">
                          <a:solidFill>
                            <a:schemeClr val="tx1"/>
                          </a:solidFill>
                          <a:effectLst/>
                          <a:latin typeface="+mn-lt"/>
                          <a:ea typeface="+mn-ea"/>
                          <a:cs typeface="+mn-cs"/>
                        </a:rPr>
                        <a:t>副本</a:t>
                      </a:r>
                      <a:r>
                        <a:rPr lang="en-US" altLang="zh-CN" sz="2400" b="0" i="0" kern="1200" dirty="0">
                          <a:solidFill>
                            <a:schemeClr val="tx1"/>
                          </a:solidFill>
                          <a:effectLst/>
                          <a:latin typeface="+mn-lt"/>
                          <a:ea typeface="+mn-ea"/>
                          <a:cs typeface="+mn-cs"/>
                        </a:rPr>
                        <a:t>01</a:t>
                      </a:r>
                      <a:r>
                        <a:rPr lang="zh-CN" altLang="en-US" sz="2400" b="0" i="0" kern="1200" dirty="0">
                          <a:solidFill>
                            <a:schemeClr val="tx1"/>
                          </a:solidFill>
                          <a:effectLst/>
                          <a:latin typeface="+mn-lt"/>
                          <a:ea typeface="+mn-ea"/>
                          <a:cs typeface="+mn-cs"/>
                        </a:rPr>
                        <a:t>项目可行性分析报告</a:t>
                      </a:r>
                      <a:r>
                        <a:rPr lang="en-US" altLang="zh-CN" sz="2400" b="0" i="0" kern="1200" dirty="0">
                          <a:solidFill>
                            <a:schemeClr val="tx1"/>
                          </a:solidFill>
                          <a:effectLst/>
                          <a:latin typeface="+mn-lt"/>
                          <a:ea typeface="+mn-ea"/>
                          <a:cs typeface="+mn-cs"/>
                        </a:rPr>
                        <a:t>-570-941A-</a:t>
                      </a:r>
                      <a:r>
                        <a:rPr lang="zh-CN" altLang="en-US" sz="2400" b="0" i="0" kern="1200" dirty="0">
                          <a:solidFill>
                            <a:schemeClr val="tx1"/>
                          </a:solidFill>
                          <a:effectLst/>
                          <a:latin typeface="+mn-lt"/>
                          <a:ea typeface="+mn-ea"/>
                          <a:cs typeface="+mn-cs"/>
                        </a:rPr>
                        <a:t>汇总</a:t>
                      </a:r>
                      <a:r>
                        <a:rPr lang="en-US" altLang="zh-CN" sz="2400" b="0" i="0" kern="1200" dirty="0">
                          <a:solidFill>
                            <a:schemeClr val="tx1"/>
                          </a:solidFill>
                          <a:effectLst/>
                          <a:latin typeface="+mn-lt"/>
                          <a:ea typeface="+mn-ea"/>
                          <a:cs typeface="+mn-cs"/>
                        </a:rPr>
                        <a:t>.xlsx (486KB)</a:t>
                      </a:r>
                    </a:p>
                    <a:p>
                      <a:pPr marL="342900" indent="-342900">
                        <a:buFont typeface="Arial" panose="020B0604020202020204" pitchFamily="34" charset="0"/>
                        <a:buChar char="•"/>
                      </a:pPr>
                      <a:endParaRPr lang="en-GB" sz="2400" dirty="0"/>
                    </a:p>
                  </a:txBody>
                  <a:tcPr/>
                </a:tc>
                <a:tc>
                  <a:txBody>
                    <a:bodyPr/>
                    <a:lstStyle/>
                    <a:p>
                      <a:pPr marL="342900" indent="-342900">
                        <a:buFont typeface="Arial" panose="020B0604020202020204" pitchFamily="34" charset="0"/>
                        <a:buChar char="•"/>
                      </a:pPr>
                      <a:r>
                        <a:rPr lang="zh-CN" altLang="en-US" sz="2400" b="0" i="0" kern="1200" dirty="0">
                          <a:solidFill>
                            <a:schemeClr val="tx1"/>
                          </a:solidFill>
                          <a:effectLst/>
                          <a:latin typeface="+mn-lt"/>
                          <a:ea typeface="+mn-ea"/>
                          <a:cs typeface="+mn-cs"/>
                        </a:rPr>
                        <a:t>副本</a:t>
                      </a:r>
                      <a:r>
                        <a:rPr lang="en-US" altLang="zh-CN" sz="2400" b="0" i="0" kern="1200" dirty="0">
                          <a:solidFill>
                            <a:schemeClr val="tx1"/>
                          </a:solidFill>
                          <a:effectLst/>
                          <a:latin typeface="+mn-lt"/>
                          <a:ea typeface="+mn-ea"/>
                          <a:cs typeface="+mn-cs"/>
                        </a:rPr>
                        <a:t>PZP-(Z2-P2)-CP-D221N44AA#</a:t>
                      </a:r>
                      <a:r>
                        <a:rPr lang="zh-CN" altLang="en-US" sz="2400" b="0" i="0" kern="1200" dirty="0">
                          <a:solidFill>
                            <a:schemeClr val="tx1"/>
                          </a:solidFill>
                          <a:effectLst/>
                          <a:latin typeface="+mn-lt"/>
                          <a:ea typeface="+mn-ea"/>
                          <a:cs typeface="+mn-cs"/>
                        </a:rPr>
                        <a:t>电源系统装配控制计划</a:t>
                      </a:r>
                      <a:r>
                        <a:rPr lang="en-US" altLang="zh-CN" sz="2400" b="0" i="0" kern="1200" dirty="0">
                          <a:solidFill>
                            <a:schemeClr val="tx1"/>
                          </a:solidFill>
                          <a:effectLst/>
                          <a:latin typeface="+mn-lt"/>
                          <a:ea typeface="+mn-ea"/>
                          <a:cs typeface="+mn-cs"/>
                        </a:rPr>
                        <a:t>#A0.xlsx (15MB)</a:t>
                      </a:r>
                    </a:p>
                    <a:p>
                      <a:pPr marL="342900" indent="-342900">
                        <a:buFont typeface="Arial" panose="020B0604020202020204" pitchFamily="34" charset="0"/>
                        <a:buChar char="•"/>
                      </a:pPr>
                      <a:r>
                        <a:rPr lang="zh-CN" altLang="en-US" sz="2400" b="0" i="0" kern="1200" dirty="0">
                          <a:solidFill>
                            <a:schemeClr val="tx1"/>
                          </a:solidFill>
                          <a:effectLst/>
                          <a:latin typeface="+mn-lt"/>
                          <a:ea typeface="+mn-ea"/>
                          <a:cs typeface="+mn-cs"/>
                        </a:rPr>
                        <a:t>副本</a:t>
                      </a:r>
                      <a:r>
                        <a:rPr lang="en-US" altLang="zh-CN" sz="2400" b="0" i="0" kern="1200" dirty="0">
                          <a:solidFill>
                            <a:schemeClr val="tx1"/>
                          </a:solidFill>
                          <a:effectLst/>
                          <a:latin typeface="+mn-lt"/>
                          <a:ea typeface="+mn-ea"/>
                          <a:cs typeface="+mn-cs"/>
                        </a:rPr>
                        <a:t>D221N44AA-1P104S</a:t>
                      </a:r>
                      <a:r>
                        <a:rPr lang="zh-CN" altLang="en-US" sz="2400" b="0" i="0" kern="1200" dirty="0">
                          <a:solidFill>
                            <a:schemeClr val="tx1"/>
                          </a:solidFill>
                          <a:effectLst/>
                          <a:latin typeface="+mn-lt"/>
                          <a:ea typeface="+mn-ea"/>
                          <a:cs typeface="+mn-cs"/>
                        </a:rPr>
                        <a:t>电池系统</a:t>
                      </a:r>
                      <a:r>
                        <a:rPr lang="en-US" altLang="zh-CN" sz="2400" b="0" i="0" kern="1200" dirty="0">
                          <a:solidFill>
                            <a:schemeClr val="tx1"/>
                          </a:solidFill>
                          <a:effectLst/>
                          <a:latin typeface="+mn-lt"/>
                          <a:ea typeface="+mn-ea"/>
                          <a:cs typeface="+mn-cs"/>
                        </a:rPr>
                        <a:t>PVP</a:t>
                      </a:r>
                      <a:r>
                        <a:rPr lang="zh-CN" altLang="en-US" sz="2400" b="0" i="0" kern="1200" dirty="0">
                          <a:solidFill>
                            <a:schemeClr val="tx1"/>
                          </a:solidFill>
                          <a:effectLst/>
                          <a:latin typeface="+mn-lt"/>
                          <a:ea typeface="+mn-ea"/>
                          <a:cs typeface="+mn-cs"/>
                        </a:rPr>
                        <a:t>验证计划</a:t>
                      </a:r>
                      <a:r>
                        <a:rPr lang="en-US" altLang="zh-CN" sz="2400" b="0" i="0" kern="1200" dirty="0">
                          <a:solidFill>
                            <a:schemeClr val="tx1"/>
                          </a:solidFill>
                          <a:effectLst/>
                          <a:latin typeface="+mn-lt"/>
                          <a:ea typeface="+mn-ea"/>
                          <a:cs typeface="+mn-cs"/>
                        </a:rPr>
                        <a:t>.xlsx (170KB)</a:t>
                      </a:r>
                    </a:p>
                    <a:p>
                      <a:pPr marL="342900" indent="-342900">
                        <a:buFont typeface="Arial" panose="020B0604020202020204" pitchFamily="34" charset="0"/>
                        <a:buChar char="•"/>
                      </a:pPr>
                      <a:r>
                        <a:rPr lang="en-US" altLang="zh-CN" sz="2400" b="0" i="0" kern="1200" dirty="0">
                          <a:solidFill>
                            <a:schemeClr val="tx1"/>
                          </a:solidFill>
                          <a:effectLst/>
                          <a:latin typeface="+mn-lt"/>
                          <a:ea typeface="+mn-ea"/>
                          <a:cs typeface="+mn-cs"/>
                        </a:rPr>
                        <a:t>570-941A</a:t>
                      </a:r>
                      <a:r>
                        <a:rPr lang="zh-CN" altLang="en-US" sz="2400" b="0" i="0" kern="1200" dirty="0">
                          <a:solidFill>
                            <a:schemeClr val="tx1"/>
                          </a:solidFill>
                          <a:effectLst/>
                          <a:latin typeface="+mn-lt"/>
                          <a:ea typeface="+mn-ea"/>
                          <a:cs typeface="+mn-cs"/>
                        </a:rPr>
                        <a:t>项目</a:t>
                      </a:r>
                      <a:r>
                        <a:rPr lang="en-US" altLang="zh-CN" sz="2400" b="0" i="0" kern="1200" dirty="0">
                          <a:solidFill>
                            <a:schemeClr val="tx1"/>
                          </a:solidFill>
                          <a:effectLst/>
                          <a:latin typeface="+mn-lt"/>
                          <a:ea typeface="+mn-ea"/>
                          <a:cs typeface="+mn-cs"/>
                        </a:rPr>
                        <a:t>A0</a:t>
                      </a:r>
                      <a:r>
                        <a:rPr lang="zh-CN" altLang="en-US" sz="2400" b="0" i="0" kern="1200" dirty="0">
                          <a:solidFill>
                            <a:schemeClr val="tx1"/>
                          </a:solidFill>
                          <a:effectLst/>
                          <a:latin typeface="+mn-lt"/>
                          <a:ea typeface="+mn-ea"/>
                          <a:cs typeface="+mn-cs"/>
                        </a:rPr>
                        <a:t>样试制总结报告</a:t>
                      </a:r>
                      <a:r>
                        <a:rPr lang="en-US" altLang="zh-CN" sz="2400" b="0" i="0" kern="1200" dirty="0">
                          <a:solidFill>
                            <a:schemeClr val="tx1"/>
                          </a:solidFill>
                          <a:effectLst/>
                          <a:latin typeface="+mn-lt"/>
                          <a:ea typeface="+mn-ea"/>
                          <a:cs typeface="+mn-cs"/>
                        </a:rPr>
                        <a:t>0907.pptx (5.0MB)</a:t>
                      </a:r>
                    </a:p>
                    <a:p>
                      <a:pPr marL="342900" indent="-342900">
                        <a:buFont typeface="Arial" panose="020B0604020202020204" pitchFamily="34" charset="0"/>
                        <a:buChar char="•"/>
                      </a:pPr>
                      <a:r>
                        <a:rPr lang="zh-CN" altLang="en-US" sz="2400" b="0" i="0" kern="1200" dirty="0">
                          <a:solidFill>
                            <a:schemeClr val="tx1"/>
                          </a:solidFill>
                          <a:effectLst/>
                          <a:latin typeface="+mn-lt"/>
                          <a:ea typeface="+mn-ea"/>
                          <a:cs typeface="+mn-cs"/>
                        </a:rPr>
                        <a:t>副本</a:t>
                      </a:r>
                      <a:r>
                        <a:rPr lang="en-US" altLang="zh-CN" sz="2400" b="0" i="0" kern="1200" dirty="0">
                          <a:solidFill>
                            <a:schemeClr val="tx1"/>
                          </a:solidFill>
                          <a:effectLst/>
                          <a:latin typeface="+mn-lt"/>
                          <a:ea typeface="+mn-ea"/>
                          <a:cs typeface="+mn-cs"/>
                        </a:rPr>
                        <a:t>570-941A </a:t>
                      </a:r>
                      <a:r>
                        <a:rPr lang="zh-CN" altLang="en-US" sz="2400" b="0" i="0" kern="1200" dirty="0">
                          <a:solidFill>
                            <a:schemeClr val="tx1"/>
                          </a:solidFill>
                          <a:effectLst/>
                          <a:latin typeface="+mn-lt"/>
                          <a:ea typeface="+mn-ea"/>
                          <a:cs typeface="+mn-cs"/>
                        </a:rPr>
                        <a:t>装配过程流程图</a:t>
                      </a:r>
                      <a:r>
                        <a:rPr lang="en-US" altLang="zh-CN" sz="2400" b="0" i="0" kern="1200" dirty="0">
                          <a:solidFill>
                            <a:schemeClr val="tx1"/>
                          </a:solidFill>
                          <a:effectLst/>
                          <a:latin typeface="+mn-lt"/>
                          <a:ea typeface="+mn-ea"/>
                          <a:cs typeface="+mn-cs"/>
                        </a:rPr>
                        <a:t>#A0.xlsx (31KB)</a:t>
                      </a:r>
                    </a:p>
                    <a:p>
                      <a:pPr marL="342900" indent="-342900">
                        <a:buFont typeface="Arial" panose="020B0604020202020204" pitchFamily="34" charset="0"/>
                        <a:buChar char="•"/>
                      </a:pPr>
                      <a:r>
                        <a:rPr lang="zh-CN" altLang="en-US" sz="2400" b="0" i="0" kern="1200" dirty="0">
                          <a:solidFill>
                            <a:schemeClr val="tx1"/>
                          </a:solidFill>
                          <a:effectLst/>
                          <a:latin typeface="+mn-lt"/>
                          <a:ea typeface="+mn-ea"/>
                          <a:cs typeface="+mn-cs"/>
                        </a:rPr>
                        <a:t>副本</a:t>
                      </a:r>
                      <a:r>
                        <a:rPr lang="en-US" altLang="zh-CN" sz="2400" b="0" i="0" kern="1200" dirty="0">
                          <a:solidFill>
                            <a:schemeClr val="tx1"/>
                          </a:solidFill>
                          <a:effectLst/>
                          <a:latin typeface="+mn-lt"/>
                          <a:ea typeface="+mn-ea"/>
                          <a:cs typeface="+mn-cs"/>
                        </a:rPr>
                        <a:t>570-941A</a:t>
                      </a:r>
                      <a:r>
                        <a:rPr lang="zh-CN" altLang="en-US" sz="2400" b="0" i="0" kern="1200" dirty="0">
                          <a:solidFill>
                            <a:schemeClr val="tx1"/>
                          </a:solidFill>
                          <a:effectLst/>
                          <a:latin typeface="+mn-lt"/>
                          <a:ea typeface="+mn-ea"/>
                          <a:cs typeface="+mn-cs"/>
                        </a:rPr>
                        <a:t>工装清单</a:t>
                      </a:r>
                      <a:r>
                        <a:rPr lang="en-US" altLang="zh-CN" sz="2400" b="0" i="0" kern="1200" dirty="0">
                          <a:solidFill>
                            <a:schemeClr val="tx1"/>
                          </a:solidFill>
                          <a:effectLst/>
                          <a:latin typeface="+mn-lt"/>
                          <a:ea typeface="+mn-ea"/>
                          <a:cs typeface="+mn-cs"/>
                        </a:rPr>
                        <a:t>.xlsx (13KB)</a:t>
                      </a:r>
                    </a:p>
                    <a:p>
                      <a:pPr marL="342900" indent="-342900">
                        <a:buFont typeface="Arial" panose="020B0604020202020204" pitchFamily="34" charset="0"/>
                        <a:buChar char="•"/>
                      </a:pPr>
                      <a:r>
                        <a:rPr lang="zh-CN" altLang="en-US" sz="2400" b="0" i="0" kern="1200" dirty="0">
                          <a:solidFill>
                            <a:schemeClr val="tx1"/>
                          </a:solidFill>
                          <a:effectLst/>
                          <a:latin typeface="+mn-lt"/>
                          <a:ea typeface="+mn-ea"/>
                          <a:cs typeface="+mn-cs"/>
                        </a:rPr>
                        <a:t>副本</a:t>
                      </a:r>
                      <a:r>
                        <a:rPr lang="en-US" altLang="zh-CN" sz="2400" b="0" i="0" kern="1200" dirty="0">
                          <a:solidFill>
                            <a:schemeClr val="tx1"/>
                          </a:solidFill>
                          <a:effectLst/>
                          <a:latin typeface="+mn-lt"/>
                          <a:ea typeface="+mn-ea"/>
                          <a:cs typeface="+mn-cs"/>
                        </a:rPr>
                        <a:t>570-941A</a:t>
                      </a:r>
                      <a:r>
                        <a:rPr lang="zh-CN" altLang="en-US" sz="2400" b="0" i="0" kern="1200" dirty="0">
                          <a:solidFill>
                            <a:schemeClr val="tx1"/>
                          </a:solidFill>
                          <a:effectLst/>
                          <a:latin typeface="+mn-lt"/>
                          <a:ea typeface="+mn-ea"/>
                          <a:cs typeface="+mn-cs"/>
                        </a:rPr>
                        <a:t>项目管制表</a:t>
                      </a:r>
                      <a:r>
                        <a:rPr lang="en-US" altLang="zh-CN" sz="2400" b="0" i="0" kern="1200" dirty="0">
                          <a:solidFill>
                            <a:schemeClr val="tx1"/>
                          </a:solidFill>
                          <a:effectLst/>
                          <a:latin typeface="+mn-lt"/>
                          <a:ea typeface="+mn-ea"/>
                          <a:cs typeface="+mn-cs"/>
                        </a:rPr>
                        <a:t>APQP-V2.xlsx (64KB)</a:t>
                      </a:r>
                    </a:p>
                    <a:p>
                      <a:pPr marL="342900" indent="-342900">
                        <a:buFont typeface="Arial" panose="020B0604020202020204" pitchFamily="34" charset="0"/>
                        <a:buChar char="•"/>
                      </a:pPr>
                      <a:r>
                        <a:rPr lang="zh-CN" altLang="en-US" sz="2400" b="0" i="0" kern="1200" dirty="0">
                          <a:solidFill>
                            <a:schemeClr val="tx1"/>
                          </a:solidFill>
                          <a:effectLst/>
                          <a:latin typeface="+mn-lt"/>
                          <a:ea typeface="+mn-ea"/>
                          <a:cs typeface="+mn-cs"/>
                        </a:rPr>
                        <a:t>副本</a:t>
                      </a:r>
                      <a:r>
                        <a:rPr lang="en-US" altLang="zh-CN" sz="2400" b="0" i="0" kern="1200" dirty="0">
                          <a:solidFill>
                            <a:schemeClr val="tx1"/>
                          </a:solidFill>
                          <a:effectLst/>
                          <a:latin typeface="+mn-lt"/>
                          <a:ea typeface="+mn-ea"/>
                          <a:cs typeface="+mn-cs"/>
                        </a:rPr>
                        <a:t>570-941</a:t>
                      </a:r>
                      <a:r>
                        <a:rPr lang="zh-CN" altLang="en-US" sz="2400" b="0" i="0" kern="1200" dirty="0">
                          <a:solidFill>
                            <a:schemeClr val="tx1"/>
                          </a:solidFill>
                          <a:effectLst/>
                          <a:latin typeface="+mn-lt"/>
                          <a:ea typeface="+mn-ea"/>
                          <a:cs typeface="+mn-cs"/>
                        </a:rPr>
                        <a:t>试制风险计划表</a:t>
                      </a:r>
                      <a:r>
                        <a:rPr lang="en-US" altLang="zh-CN" sz="2400" b="0" i="0" kern="1200" dirty="0">
                          <a:solidFill>
                            <a:schemeClr val="tx1"/>
                          </a:solidFill>
                          <a:effectLst/>
                          <a:latin typeface="+mn-lt"/>
                          <a:ea typeface="+mn-ea"/>
                          <a:cs typeface="+mn-cs"/>
                        </a:rPr>
                        <a:t>0930</a:t>
                      </a:r>
                      <a:r>
                        <a:rPr lang="zh-CN" altLang="en-US" sz="2400" b="0" i="0" kern="1200" dirty="0">
                          <a:solidFill>
                            <a:schemeClr val="tx1"/>
                          </a:solidFill>
                          <a:effectLst/>
                          <a:latin typeface="+mn-lt"/>
                          <a:ea typeface="+mn-ea"/>
                          <a:cs typeface="+mn-cs"/>
                        </a:rPr>
                        <a:t>（各阶段适用）</a:t>
                      </a:r>
                      <a:r>
                        <a:rPr lang="en-US" altLang="zh-CN" sz="2400" b="0" i="0" kern="1200" dirty="0">
                          <a:solidFill>
                            <a:schemeClr val="tx1"/>
                          </a:solidFill>
                          <a:effectLst/>
                          <a:latin typeface="+mn-lt"/>
                          <a:ea typeface="+mn-ea"/>
                          <a:cs typeface="+mn-cs"/>
                        </a:rPr>
                        <a:t>.xlsx (21KB)</a:t>
                      </a:r>
                    </a:p>
                    <a:p>
                      <a:pPr marL="342900" indent="-342900">
                        <a:buFont typeface="Arial" panose="020B0604020202020204" pitchFamily="34" charset="0"/>
                        <a:buChar char="•"/>
                      </a:pPr>
                      <a:r>
                        <a:rPr lang="zh-CN" altLang="en-US" sz="2400" b="0" i="0" kern="1200" dirty="0">
                          <a:solidFill>
                            <a:schemeClr val="tx1"/>
                          </a:solidFill>
                          <a:effectLst/>
                          <a:latin typeface="+mn-lt"/>
                          <a:ea typeface="+mn-ea"/>
                          <a:cs typeface="+mn-cs"/>
                        </a:rPr>
                        <a:t>副本</a:t>
                      </a:r>
                      <a:r>
                        <a:rPr lang="en-US" altLang="zh-CN" sz="2400" b="0" i="0" kern="1200" dirty="0">
                          <a:solidFill>
                            <a:schemeClr val="tx1"/>
                          </a:solidFill>
                          <a:effectLst/>
                          <a:latin typeface="+mn-lt"/>
                          <a:ea typeface="+mn-ea"/>
                          <a:cs typeface="+mn-cs"/>
                        </a:rPr>
                        <a:t>570-941B</a:t>
                      </a:r>
                      <a:r>
                        <a:rPr lang="zh-CN" altLang="en-US" sz="2400" b="0" i="0" kern="1200" dirty="0">
                          <a:solidFill>
                            <a:schemeClr val="tx1"/>
                          </a:solidFill>
                          <a:effectLst/>
                          <a:latin typeface="+mn-lt"/>
                          <a:ea typeface="+mn-ea"/>
                          <a:cs typeface="+mn-cs"/>
                        </a:rPr>
                        <a:t>样结构试装优化</a:t>
                      </a:r>
                      <a:r>
                        <a:rPr lang="en-US" altLang="zh-CN" sz="2400" b="0" i="0" kern="1200" dirty="0">
                          <a:solidFill>
                            <a:schemeClr val="tx1"/>
                          </a:solidFill>
                          <a:effectLst/>
                          <a:latin typeface="+mn-lt"/>
                          <a:ea typeface="+mn-ea"/>
                          <a:cs typeface="+mn-cs"/>
                        </a:rPr>
                        <a:t>0411.xlsx (6.2MB)</a:t>
                      </a:r>
                    </a:p>
                    <a:p>
                      <a:pPr marL="342900" indent="-342900">
                        <a:buFont typeface="Arial" panose="020B0604020202020204" pitchFamily="34" charset="0"/>
                        <a:buChar char="•"/>
                      </a:pPr>
                      <a:r>
                        <a:rPr lang="zh-CN" altLang="en-US" sz="2400" b="0" i="0" kern="1200" dirty="0">
                          <a:solidFill>
                            <a:schemeClr val="tx1"/>
                          </a:solidFill>
                          <a:effectLst/>
                          <a:latin typeface="+mn-lt"/>
                          <a:ea typeface="+mn-ea"/>
                          <a:cs typeface="+mn-cs"/>
                        </a:rPr>
                        <a:t>副本</a:t>
                      </a:r>
                      <a:r>
                        <a:rPr lang="en-US" altLang="zh-CN" sz="2400" b="0" i="0" kern="1200" dirty="0">
                          <a:solidFill>
                            <a:schemeClr val="tx1"/>
                          </a:solidFill>
                          <a:effectLst/>
                          <a:latin typeface="+mn-lt"/>
                          <a:ea typeface="+mn-ea"/>
                          <a:cs typeface="+mn-cs"/>
                        </a:rPr>
                        <a:t>D221N44AA-A</a:t>
                      </a:r>
                      <a:r>
                        <a:rPr lang="zh-CN" altLang="en-US" sz="2400" b="0" i="0" kern="1200" dirty="0">
                          <a:solidFill>
                            <a:schemeClr val="tx1"/>
                          </a:solidFill>
                          <a:effectLst/>
                          <a:latin typeface="+mn-lt"/>
                          <a:ea typeface="+mn-ea"/>
                          <a:cs typeface="+mn-cs"/>
                        </a:rPr>
                        <a:t>样试制资源规划确认</a:t>
                      </a:r>
                      <a:r>
                        <a:rPr lang="en-US" altLang="zh-CN" sz="2400" b="0" i="0" kern="1200" dirty="0">
                          <a:solidFill>
                            <a:schemeClr val="tx1"/>
                          </a:solidFill>
                          <a:effectLst/>
                          <a:latin typeface="+mn-lt"/>
                          <a:ea typeface="+mn-ea"/>
                          <a:cs typeface="+mn-cs"/>
                        </a:rPr>
                        <a:t>.xlsx (23KB)</a:t>
                      </a:r>
                    </a:p>
                    <a:p>
                      <a:pPr marL="342900" indent="-342900">
                        <a:buFont typeface="Arial" panose="020B0604020202020204" pitchFamily="34" charset="0"/>
                        <a:buChar char="•"/>
                      </a:pPr>
                      <a:r>
                        <a:rPr lang="en-US" altLang="zh-CN" sz="2400" b="0" i="0" kern="1200" dirty="0">
                          <a:solidFill>
                            <a:schemeClr val="tx1"/>
                          </a:solidFill>
                          <a:effectLst/>
                          <a:latin typeface="+mn-lt"/>
                          <a:ea typeface="+mn-ea"/>
                          <a:cs typeface="+mn-cs"/>
                        </a:rPr>
                        <a:t>570-941A</a:t>
                      </a:r>
                      <a:r>
                        <a:rPr lang="zh-CN" altLang="en-US" sz="2400" b="0" i="0" kern="1200" dirty="0">
                          <a:solidFill>
                            <a:schemeClr val="tx1"/>
                          </a:solidFill>
                          <a:effectLst/>
                          <a:latin typeface="+mn-lt"/>
                          <a:ea typeface="+mn-ea"/>
                          <a:cs typeface="+mn-cs"/>
                        </a:rPr>
                        <a:t>项目</a:t>
                      </a:r>
                      <a:r>
                        <a:rPr lang="en-US" altLang="zh-CN" sz="2400" b="0" i="0" kern="1200" dirty="0">
                          <a:solidFill>
                            <a:schemeClr val="tx1"/>
                          </a:solidFill>
                          <a:effectLst/>
                          <a:latin typeface="+mn-lt"/>
                          <a:ea typeface="+mn-ea"/>
                          <a:cs typeface="+mn-cs"/>
                        </a:rPr>
                        <a:t>TR</a:t>
                      </a:r>
                      <a:r>
                        <a:rPr lang="zh-CN" altLang="en-US" sz="2400" b="0" i="0" kern="1200" dirty="0">
                          <a:solidFill>
                            <a:schemeClr val="tx1"/>
                          </a:solidFill>
                          <a:effectLst/>
                          <a:latin typeface="+mn-lt"/>
                          <a:ea typeface="+mn-ea"/>
                          <a:cs typeface="+mn-cs"/>
                        </a:rPr>
                        <a:t>评审</a:t>
                      </a:r>
                      <a:r>
                        <a:rPr lang="en-US" altLang="zh-CN" sz="2400" b="0" i="0" kern="1200" dirty="0">
                          <a:solidFill>
                            <a:schemeClr val="tx1"/>
                          </a:solidFill>
                          <a:effectLst/>
                          <a:latin typeface="+mn-lt"/>
                          <a:ea typeface="+mn-ea"/>
                          <a:cs typeface="+mn-cs"/>
                        </a:rPr>
                        <a:t>&amp;</a:t>
                      </a:r>
                      <a:r>
                        <a:rPr lang="zh-CN" altLang="en-US" sz="2400" b="0" i="0" kern="1200" dirty="0">
                          <a:solidFill>
                            <a:schemeClr val="tx1"/>
                          </a:solidFill>
                          <a:effectLst/>
                          <a:latin typeface="+mn-lt"/>
                          <a:ea typeface="+mn-ea"/>
                          <a:cs typeface="+mn-cs"/>
                        </a:rPr>
                        <a:t>里程碑报告</a:t>
                      </a:r>
                      <a:r>
                        <a:rPr lang="en-US" altLang="zh-CN" sz="2400" b="0" i="0" kern="1200" dirty="0">
                          <a:solidFill>
                            <a:schemeClr val="tx1"/>
                          </a:solidFill>
                          <a:effectLst/>
                          <a:latin typeface="+mn-lt"/>
                          <a:ea typeface="+mn-ea"/>
                          <a:cs typeface="+mn-cs"/>
                        </a:rPr>
                        <a:t>-V1-</a:t>
                      </a:r>
                      <a:r>
                        <a:rPr lang="zh-CN" altLang="en-US" sz="2400" b="0" i="0" kern="1200" dirty="0">
                          <a:solidFill>
                            <a:schemeClr val="tx1"/>
                          </a:solidFill>
                          <a:effectLst/>
                          <a:latin typeface="+mn-lt"/>
                          <a:ea typeface="+mn-ea"/>
                          <a:cs typeface="+mn-cs"/>
                        </a:rPr>
                        <a:t>研发</a:t>
                      </a:r>
                      <a:r>
                        <a:rPr lang="en-US" altLang="zh-CN" sz="2400" b="0" i="0" kern="1200" dirty="0">
                          <a:solidFill>
                            <a:schemeClr val="tx1"/>
                          </a:solidFill>
                          <a:effectLst/>
                          <a:latin typeface="+mn-lt"/>
                          <a:ea typeface="+mn-ea"/>
                          <a:cs typeface="+mn-cs"/>
                        </a:rPr>
                        <a:t>-20231027.pptx (132MB)</a:t>
                      </a:r>
                    </a:p>
                    <a:p>
                      <a:pPr marL="342900" indent="-342900">
                        <a:buFont typeface="Arial" panose="020B0604020202020204" pitchFamily="34" charset="0"/>
                        <a:buChar char="•"/>
                      </a:pPr>
                      <a:r>
                        <a:rPr lang="en-US" altLang="zh-CN" sz="2400" b="0" i="0" kern="1200" dirty="0">
                          <a:solidFill>
                            <a:schemeClr val="tx1"/>
                          </a:solidFill>
                          <a:effectLst/>
                          <a:latin typeface="+mn-lt"/>
                          <a:ea typeface="+mn-ea"/>
                          <a:cs typeface="+mn-cs"/>
                        </a:rPr>
                        <a:t>DFM -L946</a:t>
                      </a:r>
                      <a:r>
                        <a:rPr lang="zh-CN" altLang="en-US" sz="2400" b="0" i="0" kern="1200" dirty="0">
                          <a:solidFill>
                            <a:schemeClr val="tx1"/>
                          </a:solidFill>
                          <a:effectLst/>
                          <a:latin typeface="+mn-lt"/>
                          <a:ea typeface="+mn-ea"/>
                          <a:cs typeface="+mn-cs"/>
                        </a:rPr>
                        <a:t>项目箱体（巨石）</a:t>
                      </a:r>
                      <a:r>
                        <a:rPr lang="en-US" altLang="zh-CN" sz="2400" b="0" i="0" kern="1200" dirty="0">
                          <a:solidFill>
                            <a:schemeClr val="tx1"/>
                          </a:solidFill>
                          <a:effectLst/>
                          <a:latin typeface="+mn-lt"/>
                          <a:ea typeface="+mn-ea"/>
                          <a:cs typeface="+mn-cs"/>
                        </a:rPr>
                        <a:t>-V0-2023.05.26.pptx (10MB)</a:t>
                      </a:r>
                    </a:p>
                    <a:p>
                      <a:pPr marL="342900" indent="-342900">
                        <a:buFont typeface="Arial" panose="020B0604020202020204" pitchFamily="34" charset="0"/>
                        <a:buChar char="•"/>
                      </a:pPr>
                      <a:r>
                        <a:rPr lang="zh-CN" altLang="en-US" sz="2400" b="0" i="0" kern="1200" dirty="0">
                          <a:solidFill>
                            <a:schemeClr val="tx1"/>
                          </a:solidFill>
                          <a:effectLst/>
                          <a:latin typeface="+mn-lt"/>
                          <a:ea typeface="+mn-ea"/>
                          <a:cs typeface="+mn-cs"/>
                        </a:rPr>
                        <a:t>中航</a:t>
                      </a:r>
                      <a:r>
                        <a:rPr lang="en-US" altLang="zh-CN" sz="2400" b="0" i="0" kern="1200" dirty="0">
                          <a:solidFill>
                            <a:schemeClr val="tx1"/>
                          </a:solidFill>
                          <a:effectLst/>
                          <a:latin typeface="+mn-lt"/>
                          <a:ea typeface="+mn-ea"/>
                          <a:cs typeface="+mn-cs"/>
                        </a:rPr>
                        <a:t>570-914</a:t>
                      </a:r>
                      <a:r>
                        <a:rPr lang="zh-CN" altLang="en-US" sz="2400" b="0" i="0" kern="1200" dirty="0">
                          <a:solidFill>
                            <a:schemeClr val="tx1"/>
                          </a:solidFill>
                          <a:effectLst/>
                          <a:latin typeface="+mn-lt"/>
                          <a:ea typeface="+mn-ea"/>
                          <a:cs typeface="+mn-cs"/>
                        </a:rPr>
                        <a:t>项目</a:t>
                      </a:r>
                      <a:r>
                        <a:rPr lang="en-US" altLang="zh-CN" sz="2400" b="0" i="0" kern="1200" dirty="0">
                          <a:solidFill>
                            <a:schemeClr val="tx1"/>
                          </a:solidFill>
                          <a:effectLst/>
                          <a:latin typeface="+mn-lt"/>
                          <a:ea typeface="+mn-ea"/>
                          <a:cs typeface="+mn-cs"/>
                        </a:rPr>
                        <a:t>DFM.pptx (4.8MB)</a:t>
                      </a:r>
                    </a:p>
                    <a:p>
                      <a:pPr marL="342900" indent="-342900">
                        <a:buFont typeface="Arial" panose="020B0604020202020204" pitchFamily="34" charset="0"/>
                        <a:buChar char="•"/>
                      </a:pPr>
                      <a:r>
                        <a:rPr lang="zh-CN" altLang="en-US" sz="2400" b="0" i="0" kern="1200" dirty="0">
                          <a:solidFill>
                            <a:schemeClr val="tx1"/>
                          </a:solidFill>
                          <a:effectLst/>
                          <a:latin typeface="+mn-lt"/>
                          <a:ea typeface="+mn-ea"/>
                          <a:cs typeface="+mn-cs"/>
                        </a:rPr>
                        <a:t>副本</a:t>
                      </a:r>
                      <a:r>
                        <a:rPr lang="en-US" altLang="zh-CN" sz="2400" b="0" i="0" kern="1200" dirty="0">
                          <a:solidFill>
                            <a:schemeClr val="tx1"/>
                          </a:solidFill>
                          <a:effectLst/>
                          <a:latin typeface="+mn-lt"/>
                          <a:ea typeface="+mn-ea"/>
                          <a:cs typeface="+mn-cs"/>
                        </a:rPr>
                        <a:t>570-941A</a:t>
                      </a:r>
                      <a:r>
                        <a:rPr lang="zh-CN" altLang="en-US" sz="2400" b="0" i="0" kern="1200" dirty="0">
                          <a:solidFill>
                            <a:schemeClr val="tx1"/>
                          </a:solidFill>
                          <a:effectLst/>
                          <a:latin typeface="+mn-lt"/>
                          <a:ea typeface="+mn-ea"/>
                          <a:cs typeface="+mn-cs"/>
                        </a:rPr>
                        <a:t>样件技术状态历程表</a:t>
                      </a:r>
                      <a:r>
                        <a:rPr lang="en-US" altLang="zh-CN" sz="2400" b="0" i="0" kern="1200" dirty="0">
                          <a:solidFill>
                            <a:schemeClr val="tx1"/>
                          </a:solidFill>
                          <a:effectLst/>
                          <a:latin typeface="+mn-lt"/>
                          <a:ea typeface="+mn-ea"/>
                          <a:cs typeface="+mn-cs"/>
                        </a:rPr>
                        <a:t>.xlsx (15KB)</a:t>
                      </a:r>
                    </a:p>
                    <a:p>
                      <a:pPr marL="342900" indent="-342900">
                        <a:buFont typeface="Arial" panose="020B0604020202020204" pitchFamily="34" charset="0"/>
                        <a:buChar char="•"/>
                      </a:pPr>
                      <a:r>
                        <a:rPr lang="en-US" altLang="zh-CN" sz="2400" b="0" i="0" kern="1200" dirty="0">
                          <a:solidFill>
                            <a:schemeClr val="tx1"/>
                          </a:solidFill>
                          <a:effectLst/>
                          <a:latin typeface="+mn-lt"/>
                          <a:ea typeface="+mn-ea"/>
                          <a:cs typeface="+mn-cs"/>
                        </a:rPr>
                        <a:t>D221N44AA-A</a:t>
                      </a:r>
                      <a:r>
                        <a:rPr lang="zh-CN" altLang="en-US" sz="2400" b="0" i="0" kern="1200" dirty="0">
                          <a:solidFill>
                            <a:schemeClr val="tx1"/>
                          </a:solidFill>
                          <a:effectLst/>
                          <a:latin typeface="+mn-lt"/>
                          <a:ea typeface="+mn-ea"/>
                          <a:cs typeface="+mn-cs"/>
                        </a:rPr>
                        <a:t>样阶段</a:t>
                      </a:r>
                      <a:r>
                        <a:rPr lang="en-US" altLang="zh-CN" sz="2400" b="0" i="0" kern="1200" dirty="0">
                          <a:solidFill>
                            <a:schemeClr val="tx1"/>
                          </a:solidFill>
                          <a:effectLst/>
                          <a:latin typeface="+mn-lt"/>
                          <a:ea typeface="+mn-ea"/>
                          <a:cs typeface="+mn-cs"/>
                        </a:rPr>
                        <a:t>TR</a:t>
                      </a:r>
                      <a:r>
                        <a:rPr lang="zh-CN" altLang="en-US" sz="2400" b="0" i="0" kern="1200" dirty="0">
                          <a:solidFill>
                            <a:schemeClr val="tx1"/>
                          </a:solidFill>
                          <a:effectLst/>
                          <a:latin typeface="+mn-lt"/>
                          <a:ea typeface="+mn-ea"/>
                          <a:cs typeface="+mn-cs"/>
                        </a:rPr>
                        <a:t>评审报告（</a:t>
                      </a:r>
                      <a:r>
                        <a:rPr lang="en-US" altLang="zh-CN" sz="2400" b="0" i="0" kern="1200" dirty="0">
                          <a:solidFill>
                            <a:schemeClr val="tx1"/>
                          </a:solidFill>
                          <a:effectLst/>
                          <a:latin typeface="+mn-lt"/>
                          <a:ea typeface="+mn-ea"/>
                          <a:cs typeface="+mn-cs"/>
                        </a:rPr>
                        <a:t>IP</a:t>
                      </a:r>
                      <a:r>
                        <a:rPr lang="zh-CN" altLang="en-US" sz="2400" b="0" i="0" kern="1200" dirty="0">
                          <a:solidFill>
                            <a:schemeClr val="tx1"/>
                          </a:solidFill>
                          <a:effectLst/>
                          <a:latin typeface="+mn-lt"/>
                          <a:ea typeface="+mn-ea"/>
                          <a:cs typeface="+mn-cs"/>
                        </a:rPr>
                        <a:t>发明成果和风险评估报告）</a:t>
                      </a:r>
                      <a:r>
                        <a:rPr lang="en-US" altLang="zh-CN" sz="2400" b="0" i="0" kern="1200" dirty="0">
                          <a:solidFill>
                            <a:schemeClr val="tx1"/>
                          </a:solidFill>
                          <a:effectLst/>
                          <a:latin typeface="+mn-lt"/>
                          <a:ea typeface="+mn-ea"/>
                          <a:cs typeface="+mn-cs"/>
                        </a:rPr>
                        <a:t>-A2-20210617.pptx (977KB)</a:t>
                      </a:r>
                    </a:p>
                    <a:p>
                      <a:pPr marL="342900" indent="-342900">
                        <a:buFont typeface="Arial" panose="020B0604020202020204" pitchFamily="34" charset="0"/>
                        <a:buChar char="•"/>
                      </a:pPr>
                      <a:r>
                        <a:rPr lang="zh-CN" altLang="en-US" sz="2400" b="0" i="0" kern="1200" dirty="0">
                          <a:solidFill>
                            <a:schemeClr val="tx1"/>
                          </a:solidFill>
                          <a:effectLst/>
                          <a:latin typeface="+mn-lt"/>
                          <a:ea typeface="+mn-ea"/>
                          <a:cs typeface="+mn-cs"/>
                        </a:rPr>
                        <a:t>副本零部件级特殊特性清单（库）</a:t>
                      </a:r>
                      <a:r>
                        <a:rPr lang="en-US" altLang="zh-CN" sz="2400" b="0" i="0" kern="1200" dirty="0">
                          <a:solidFill>
                            <a:schemeClr val="tx1"/>
                          </a:solidFill>
                          <a:effectLst/>
                          <a:latin typeface="+mn-lt"/>
                          <a:ea typeface="+mn-ea"/>
                          <a:cs typeface="+mn-cs"/>
                        </a:rPr>
                        <a:t>-</a:t>
                      </a:r>
                      <a:r>
                        <a:rPr lang="zh-CN" altLang="en-US" sz="2400" b="0" i="0" kern="1200" dirty="0">
                          <a:solidFill>
                            <a:schemeClr val="tx1"/>
                          </a:solidFill>
                          <a:effectLst/>
                          <a:latin typeface="+mn-lt"/>
                          <a:ea typeface="+mn-ea"/>
                          <a:cs typeface="+mn-cs"/>
                        </a:rPr>
                        <a:t>高压电池</a:t>
                      </a:r>
                      <a:r>
                        <a:rPr lang="en-US" altLang="zh-CN" sz="2400" b="0" i="0" kern="1200" dirty="0">
                          <a:solidFill>
                            <a:schemeClr val="tx1"/>
                          </a:solidFill>
                          <a:effectLst/>
                          <a:latin typeface="+mn-lt"/>
                          <a:ea typeface="+mn-ea"/>
                          <a:cs typeface="+mn-cs"/>
                        </a:rPr>
                        <a:t>-V1.0 - 20230802.xlsx (687KB)</a:t>
                      </a:r>
                    </a:p>
                    <a:p>
                      <a:pPr marL="342900" indent="-342900">
                        <a:buFont typeface="Arial" panose="020B0604020202020204" pitchFamily="34" charset="0"/>
                        <a:buChar char="•"/>
                      </a:pPr>
                      <a:r>
                        <a:rPr lang="zh-CN" altLang="en-US" sz="2400" b="0" i="0" kern="1200" dirty="0">
                          <a:solidFill>
                            <a:schemeClr val="tx1"/>
                          </a:solidFill>
                          <a:effectLst/>
                          <a:latin typeface="+mn-lt"/>
                          <a:ea typeface="+mn-ea"/>
                          <a:cs typeface="+mn-cs"/>
                        </a:rPr>
                        <a:t>副本</a:t>
                      </a:r>
                      <a:r>
                        <a:rPr lang="en-US" altLang="zh-CN" sz="2400" b="0" i="0" kern="1200" dirty="0">
                          <a:solidFill>
                            <a:schemeClr val="tx1"/>
                          </a:solidFill>
                          <a:effectLst/>
                          <a:latin typeface="+mn-lt"/>
                          <a:ea typeface="+mn-ea"/>
                          <a:cs typeface="+mn-cs"/>
                        </a:rPr>
                        <a:t>941</a:t>
                      </a:r>
                      <a:r>
                        <a:rPr lang="zh-CN" altLang="en-US" sz="2400" b="0" i="0" kern="1200" dirty="0">
                          <a:solidFill>
                            <a:schemeClr val="tx1"/>
                          </a:solidFill>
                          <a:effectLst/>
                          <a:latin typeface="+mn-lt"/>
                          <a:ea typeface="+mn-ea"/>
                          <a:cs typeface="+mn-cs"/>
                        </a:rPr>
                        <a:t>项目总体风险计划表</a:t>
                      </a:r>
                      <a:r>
                        <a:rPr lang="en-US" altLang="zh-CN" sz="2400" b="0" i="0" kern="1200" dirty="0">
                          <a:solidFill>
                            <a:schemeClr val="tx1"/>
                          </a:solidFill>
                          <a:effectLst/>
                          <a:latin typeface="+mn-lt"/>
                          <a:ea typeface="+mn-ea"/>
                          <a:cs typeface="+mn-cs"/>
                        </a:rPr>
                        <a:t>0110-V1.xlsx (14KB)</a:t>
                      </a:r>
                    </a:p>
                    <a:p>
                      <a:pPr marL="342900" indent="-342900">
                        <a:buFont typeface="Arial" panose="020B0604020202020204" pitchFamily="34" charset="0"/>
                        <a:buChar char="•"/>
                      </a:pPr>
                      <a:r>
                        <a:rPr lang="zh-CN" altLang="en-US" sz="2400" b="0" i="0" kern="1200" dirty="0">
                          <a:solidFill>
                            <a:schemeClr val="tx1"/>
                          </a:solidFill>
                          <a:effectLst/>
                          <a:latin typeface="+mn-lt"/>
                          <a:ea typeface="+mn-ea"/>
                          <a:cs typeface="+mn-cs"/>
                        </a:rPr>
                        <a:t>副本</a:t>
                      </a:r>
                      <a:r>
                        <a:rPr lang="en-US" altLang="zh-CN" sz="2400" b="0" i="0" kern="1200" dirty="0">
                          <a:solidFill>
                            <a:schemeClr val="tx1"/>
                          </a:solidFill>
                          <a:effectLst/>
                          <a:latin typeface="+mn-lt"/>
                          <a:ea typeface="+mn-ea"/>
                          <a:cs typeface="+mn-cs"/>
                        </a:rPr>
                        <a:t>570-941A</a:t>
                      </a:r>
                      <a:r>
                        <a:rPr lang="zh-CN" altLang="en-US" sz="2400" b="0" i="0" kern="1200" dirty="0">
                          <a:solidFill>
                            <a:schemeClr val="tx1"/>
                          </a:solidFill>
                          <a:effectLst/>
                          <a:latin typeface="+mn-lt"/>
                          <a:ea typeface="+mn-ea"/>
                          <a:cs typeface="+mn-cs"/>
                        </a:rPr>
                        <a:t>项目</a:t>
                      </a:r>
                      <a:r>
                        <a:rPr lang="en-US" altLang="zh-CN" sz="2400" b="0" i="0" kern="1200" dirty="0">
                          <a:solidFill>
                            <a:schemeClr val="tx1"/>
                          </a:solidFill>
                          <a:effectLst/>
                          <a:latin typeface="+mn-lt"/>
                          <a:ea typeface="+mn-ea"/>
                          <a:cs typeface="+mn-cs"/>
                        </a:rPr>
                        <a:t>A</a:t>
                      </a:r>
                      <a:r>
                        <a:rPr lang="zh-CN" altLang="en-US" sz="2400" b="0" i="0" kern="1200" dirty="0">
                          <a:solidFill>
                            <a:schemeClr val="tx1"/>
                          </a:solidFill>
                          <a:effectLst/>
                          <a:latin typeface="+mn-lt"/>
                          <a:ea typeface="+mn-ea"/>
                          <a:cs typeface="+mn-cs"/>
                        </a:rPr>
                        <a:t>样开模件清单</a:t>
                      </a:r>
                      <a:r>
                        <a:rPr lang="en-US" altLang="zh-CN" sz="2400" b="0" i="0" kern="1200" dirty="0">
                          <a:solidFill>
                            <a:schemeClr val="tx1"/>
                          </a:solidFill>
                          <a:effectLst/>
                          <a:latin typeface="+mn-lt"/>
                          <a:ea typeface="+mn-ea"/>
                          <a:cs typeface="+mn-cs"/>
                        </a:rPr>
                        <a:t>-0609.xlsx (1.9MB)</a:t>
                      </a:r>
                    </a:p>
                    <a:p>
                      <a:pPr marL="342900" indent="-342900">
                        <a:buFont typeface="Arial" panose="020B0604020202020204" pitchFamily="34" charset="0"/>
                        <a:buChar char="•"/>
                      </a:pPr>
                      <a:r>
                        <a:rPr lang="zh-CN" altLang="en-US" sz="2400" b="0" i="0" kern="1200" dirty="0">
                          <a:solidFill>
                            <a:schemeClr val="tx1"/>
                          </a:solidFill>
                          <a:effectLst/>
                          <a:latin typeface="+mn-lt"/>
                          <a:ea typeface="+mn-ea"/>
                          <a:cs typeface="+mn-cs"/>
                        </a:rPr>
                        <a:t>副本</a:t>
                      </a:r>
                      <a:r>
                        <a:rPr lang="en-US" altLang="zh-CN" sz="2400" b="0" i="0" kern="1200" dirty="0">
                          <a:solidFill>
                            <a:schemeClr val="tx1"/>
                          </a:solidFill>
                          <a:effectLst/>
                          <a:latin typeface="+mn-lt"/>
                          <a:ea typeface="+mn-ea"/>
                          <a:cs typeface="+mn-cs"/>
                        </a:rPr>
                        <a:t>DFMEA</a:t>
                      </a:r>
                      <a:r>
                        <a:rPr lang="zh-CN" altLang="en-US" sz="2400" b="0" i="0" kern="1200" dirty="0">
                          <a:solidFill>
                            <a:schemeClr val="tx1"/>
                          </a:solidFill>
                          <a:effectLst/>
                          <a:latin typeface="+mn-lt"/>
                          <a:ea typeface="+mn-ea"/>
                          <a:cs typeface="+mn-cs"/>
                        </a:rPr>
                        <a:t>存档</a:t>
                      </a:r>
                      <a:r>
                        <a:rPr lang="en-US" altLang="zh-CN" sz="2400" b="0" i="0" kern="1200" dirty="0">
                          <a:solidFill>
                            <a:schemeClr val="tx1"/>
                          </a:solidFill>
                          <a:effectLst/>
                          <a:latin typeface="+mn-lt"/>
                          <a:ea typeface="+mn-ea"/>
                          <a:cs typeface="+mn-cs"/>
                        </a:rPr>
                        <a:t>-D221N44AA-</a:t>
                      </a:r>
                      <a:r>
                        <a:rPr lang="zh-CN" altLang="en-US" sz="2400" b="0" i="0" kern="1200" dirty="0">
                          <a:solidFill>
                            <a:schemeClr val="tx1"/>
                          </a:solidFill>
                          <a:effectLst/>
                          <a:latin typeface="+mn-lt"/>
                          <a:ea typeface="+mn-ea"/>
                          <a:cs typeface="+mn-cs"/>
                        </a:rPr>
                        <a:t>动力电源系统</a:t>
                      </a:r>
                      <a:r>
                        <a:rPr lang="en-US" altLang="zh-CN" sz="2400" b="0" i="0" kern="1200" dirty="0">
                          <a:solidFill>
                            <a:schemeClr val="tx1"/>
                          </a:solidFill>
                          <a:effectLst/>
                          <a:latin typeface="+mn-lt"/>
                          <a:ea typeface="+mn-ea"/>
                          <a:cs typeface="+mn-cs"/>
                        </a:rPr>
                        <a:t>FMEA-20240422162511.xls (184KB)</a:t>
                      </a:r>
                    </a:p>
                    <a:p>
                      <a:pPr marL="342900" indent="-342900">
                        <a:buFont typeface="Arial" panose="020B0604020202020204" pitchFamily="34" charset="0"/>
                        <a:buChar char="•"/>
                      </a:pPr>
                      <a:r>
                        <a:rPr lang="en-US" altLang="zh-CN" sz="2400" b="0" i="0" kern="1200" dirty="0">
                          <a:solidFill>
                            <a:schemeClr val="tx1"/>
                          </a:solidFill>
                          <a:effectLst/>
                          <a:latin typeface="+mn-lt"/>
                          <a:ea typeface="+mn-ea"/>
                          <a:cs typeface="+mn-cs"/>
                        </a:rPr>
                        <a:t>570-941A</a:t>
                      </a:r>
                      <a:r>
                        <a:rPr lang="zh-CN" altLang="en-US" sz="2400" b="0" i="0" kern="1200" dirty="0">
                          <a:solidFill>
                            <a:schemeClr val="tx1"/>
                          </a:solidFill>
                          <a:effectLst/>
                          <a:latin typeface="+mn-lt"/>
                          <a:ea typeface="+mn-ea"/>
                          <a:cs typeface="+mn-cs"/>
                        </a:rPr>
                        <a:t>项目</a:t>
                      </a:r>
                      <a:r>
                        <a:rPr lang="en-US" altLang="zh-CN" sz="2400" b="0" i="0" kern="1200" dirty="0">
                          <a:solidFill>
                            <a:schemeClr val="tx1"/>
                          </a:solidFill>
                          <a:effectLst/>
                          <a:latin typeface="+mn-lt"/>
                          <a:ea typeface="+mn-ea"/>
                          <a:cs typeface="+mn-cs"/>
                        </a:rPr>
                        <a:t>TR</a:t>
                      </a:r>
                      <a:r>
                        <a:rPr lang="zh-CN" altLang="en-US" sz="2400" b="0" i="0" kern="1200" dirty="0">
                          <a:solidFill>
                            <a:schemeClr val="tx1"/>
                          </a:solidFill>
                          <a:effectLst/>
                          <a:latin typeface="+mn-lt"/>
                          <a:ea typeface="+mn-ea"/>
                          <a:cs typeface="+mn-cs"/>
                        </a:rPr>
                        <a:t>评审</a:t>
                      </a:r>
                      <a:r>
                        <a:rPr lang="en-US" altLang="zh-CN" sz="2400" b="0" i="0" kern="1200" dirty="0">
                          <a:solidFill>
                            <a:schemeClr val="tx1"/>
                          </a:solidFill>
                          <a:effectLst/>
                          <a:latin typeface="+mn-lt"/>
                          <a:ea typeface="+mn-ea"/>
                          <a:cs typeface="+mn-cs"/>
                        </a:rPr>
                        <a:t>&amp;</a:t>
                      </a:r>
                      <a:r>
                        <a:rPr lang="zh-CN" altLang="en-US" sz="2400" b="0" i="0" kern="1200" dirty="0">
                          <a:solidFill>
                            <a:schemeClr val="tx1"/>
                          </a:solidFill>
                          <a:effectLst/>
                          <a:latin typeface="+mn-lt"/>
                          <a:ea typeface="+mn-ea"/>
                          <a:cs typeface="+mn-cs"/>
                        </a:rPr>
                        <a:t>里程碑报告</a:t>
                      </a:r>
                      <a:r>
                        <a:rPr lang="en-US" altLang="zh-CN" sz="2400" b="0" i="0" kern="1200" dirty="0">
                          <a:solidFill>
                            <a:schemeClr val="tx1"/>
                          </a:solidFill>
                          <a:effectLst/>
                          <a:latin typeface="+mn-lt"/>
                          <a:ea typeface="+mn-ea"/>
                          <a:cs typeface="+mn-cs"/>
                        </a:rPr>
                        <a:t>-V2.pptx (134MB)</a:t>
                      </a:r>
                    </a:p>
                  </a:txBody>
                  <a:tcPr/>
                </a:tc>
                <a:tc>
                  <a:txBody>
                    <a:bodyPr/>
                    <a:lstStyle/>
                    <a:p>
                      <a:pPr marL="342900" indent="-342900">
                        <a:buFont typeface="Arial" panose="020B0604020202020204" pitchFamily="34" charset="0"/>
                        <a:buChar char="•"/>
                      </a:pPr>
                      <a:r>
                        <a:rPr lang="en-US" altLang="zh-CN" sz="2400" b="0" i="0" kern="1200" dirty="0">
                          <a:solidFill>
                            <a:schemeClr val="tx1"/>
                          </a:solidFill>
                          <a:effectLst/>
                          <a:latin typeface="+mn-lt"/>
                          <a:ea typeface="+mn-ea"/>
                          <a:cs typeface="+mn-cs"/>
                        </a:rPr>
                        <a:t>570-941B</a:t>
                      </a:r>
                      <a:r>
                        <a:rPr lang="zh-CN" altLang="en-US" sz="2400" b="0" i="0" kern="1200" dirty="0">
                          <a:solidFill>
                            <a:schemeClr val="tx1"/>
                          </a:solidFill>
                          <a:effectLst/>
                          <a:latin typeface="+mn-lt"/>
                          <a:ea typeface="+mn-ea"/>
                          <a:cs typeface="+mn-cs"/>
                        </a:rPr>
                        <a:t>电池包结构仿真分析报告</a:t>
                      </a:r>
                      <a:r>
                        <a:rPr lang="en-US" altLang="zh-CN" sz="2400" b="0" i="0" kern="1200" dirty="0">
                          <a:solidFill>
                            <a:schemeClr val="tx1"/>
                          </a:solidFill>
                          <a:effectLst/>
                          <a:latin typeface="+mn-lt"/>
                          <a:ea typeface="+mn-ea"/>
                          <a:cs typeface="+mn-cs"/>
                        </a:rPr>
                        <a:t>-</a:t>
                      </a:r>
                      <a:r>
                        <a:rPr lang="zh-CN" altLang="en-US" sz="2400" b="0" i="0" kern="1200" dirty="0">
                          <a:solidFill>
                            <a:schemeClr val="tx1"/>
                          </a:solidFill>
                          <a:effectLst/>
                          <a:latin typeface="+mn-lt"/>
                          <a:ea typeface="+mn-ea"/>
                          <a:cs typeface="+mn-cs"/>
                        </a:rPr>
                        <a:t>滑台测试</a:t>
                      </a:r>
                      <a:r>
                        <a:rPr lang="en-US" altLang="zh-CN" sz="2400" b="0" i="0" kern="1200" dirty="0">
                          <a:solidFill>
                            <a:schemeClr val="tx1"/>
                          </a:solidFill>
                          <a:effectLst/>
                          <a:latin typeface="+mn-lt"/>
                          <a:ea typeface="+mn-ea"/>
                          <a:cs typeface="+mn-cs"/>
                        </a:rPr>
                        <a:t>-20240605(</a:t>
                      </a:r>
                      <a:r>
                        <a:rPr lang="zh-CN" altLang="en-US" sz="2400" b="0" i="0" kern="1200" dirty="0">
                          <a:solidFill>
                            <a:schemeClr val="tx1"/>
                          </a:solidFill>
                          <a:effectLst/>
                          <a:latin typeface="+mn-lt"/>
                          <a:ea typeface="+mn-ea"/>
                          <a:cs typeface="+mn-cs"/>
                        </a:rPr>
                        <a:t>纵梁灌胶</a:t>
                      </a:r>
                      <a:r>
                        <a:rPr lang="en-US" altLang="zh-CN" sz="2400" b="0" i="0" kern="1200" dirty="0">
                          <a:solidFill>
                            <a:schemeClr val="tx1"/>
                          </a:solidFill>
                          <a:effectLst/>
                          <a:latin typeface="+mn-lt"/>
                          <a:ea typeface="+mn-ea"/>
                          <a:cs typeface="+mn-cs"/>
                        </a:rPr>
                        <a:t>).pptx (5.8MB)</a:t>
                      </a:r>
                    </a:p>
                    <a:p>
                      <a:pPr marL="342900" indent="-342900">
                        <a:buFont typeface="Arial" panose="020B0604020202020204" pitchFamily="34" charset="0"/>
                        <a:buChar char="•"/>
                      </a:pPr>
                      <a:r>
                        <a:rPr lang="en-US" altLang="zh-CN" sz="2400" b="0" i="0" kern="1200" dirty="0">
                          <a:solidFill>
                            <a:schemeClr val="tx1"/>
                          </a:solidFill>
                          <a:effectLst/>
                          <a:latin typeface="+mn-lt"/>
                          <a:ea typeface="+mn-ea"/>
                          <a:cs typeface="+mn-cs"/>
                        </a:rPr>
                        <a:t>570-941A</a:t>
                      </a:r>
                      <a:r>
                        <a:rPr lang="zh-CN" altLang="en-US" sz="2400" b="0" i="0" kern="1200" dirty="0">
                          <a:solidFill>
                            <a:schemeClr val="tx1"/>
                          </a:solidFill>
                          <a:effectLst/>
                          <a:latin typeface="+mn-lt"/>
                          <a:ea typeface="+mn-ea"/>
                          <a:cs typeface="+mn-cs"/>
                        </a:rPr>
                        <a:t>电池包内部热仿真分析报告</a:t>
                      </a:r>
                      <a:r>
                        <a:rPr lang="en-US" altLang="zh-CN" sz="2400" b="0" i="0" kern="1200" dirty="0">
                          <a:solidFill>
                            <a:schemeClr val="tx1"/>
                          </a:solidFill>
                          <a:effectLst/>
                          <a:latin typeface="+mn-lt"/>
                          <a:ea typeface="+mn-ea"/>
                          <a:cs typeface="+mn-cs"/>
                        </a:rPr>
                        <a:t>-</a:t>
                      </a:r>
                      <a:r>
                        <a:rPr lang="zh-CN" altLang="en-US" sz="2400" b="0" i="0" kern="1200" dirty="0">
                          <a:solidFill>
                            <a:schemeClr val="tx1"/>
                          </a:solidFill>
                          <a:effectLst/>
                          <a:latin typeface="+mn-lt"/>
                          <a:ea typeface="+mn-ea"/>
                          <a:cs typeface="+mn-cs"/>
                        </a:rPr>
                        <a:t>低温快充</a:t>
                      </a:r>
                      <a:r>
                        <a:rPr lang="en-US" altLang="zh-CN" sz="2400" b="0" i="0" kern="1200" dirty="0">
                          <a:solidFill>
                            <a:schemeClr val="tx1"/>
                          </a:solidFill>
                          <a:effectLst/>
                          <a:latin typeface="+mn-lt"/>
                          <a:ea typeface="+mn-ea"/>
                          <a:cs typeface="+mn-cs"/>
                        </a:rPr>
                        <a:t>-2.5.pptx (4.9MB)</a:t>
                      </a:r>
                    </a:p>
                    <a:p>
                      <a:pPr marL="342900" indent="-342900">
                        <a:buFont typeface="Arial" panose="020B0604020202020204" pitchFamily="34" charset="0"/>
                        <a:buChar char="•"/>
                      </a:pPr>
                      <a:r>
                        <a:rPr lang="en-US" altLang="zh-CN" sz="2400" b="0" i="0" kern="1200" dirty="0">
                          <a:solidFill>
                            <a:schemeClr val="tx1"/>
                          </a:solidFill>
                          <a:effectLst/>
                          <a:latin typeface="+mn-lt"/>
                          <a:ea typeface="+mn-ea"/>
                          <a:cs typeface="+mn-cs"/>
                        </a:rPr>
                        <a:t>570-941A</a:t>
                      </a:r>
                      <a:r>
                        <a:rPr lang="zh-CN" altLang="en-US" sz="2400" b="0" i="0" kern="1200" dirty="0">
                          <a:solidFill>
                            <a:schemeClr val="tx1"/>
                          </a:solidFill>
                          <a:effectLst/>
                          <a:latin typeface="+mn-lt"/>
                          <a:ea typeface="+mn-ea"/>
                          <a:cs typeface="+mn-cs"/>
                        </a:rPr>
                        <a:t>电池包内部热仿真分析报告（常温快充、高温快充）</a:t>
                      </a:r>
                      <a:r>
                        <a:rPr lang="en-US" altLang="zh-CN" sz="2400" b="0" i="0" kern="1200" dirty="0">
                          <a:solidFill>
                            <a:schemeClr val="tx1"/>
                          </a:solidFill>
                          <a:effectLst/>
                          <a:latin typeface="+mn-lt"/>
                          <a:ea typeface="+mn-ea"/>
                          <a:cs typeface="+mn-cs"/>
                        </a:rPr>
                        <a:t>-3.13.pptx (5.8MB)</a:t>
                      </a:r>
                    </a:p>
                    <a:p>
                      <a:pPr marL="342900" indent="-342900">
                        <a:buFont typeface="Arial" panose="020B0604020202020204" pitchFamily="34" charset="0"/>
                        <a:buChar char="•"/>
                      </a:pPr>
                      <a:r>
                        <a:rPr lang="en-US" altLang="zh-CN" sz="2400" b="0" i="0" kern="1200" dirty="0">
                          <a:solidFill>
                            <a:schemeClr val="tx1"/>
                          </a:solidFill>
                          <a:effectLst/>
                          <a:latin typeface="+mn-lt"/>
                          <a:ea typeface="+mn-ea"/>
                          <a:cs typeface="+mn-cs"/>
                        </a:rPr>
                        <a:t>570-941</a:t>
                      </a:r>
                      <a:r>
                        <a:rPr lang="zh-CN" altLang="en-US" sz="2400" b="0" i="0" kern="1200" dirty="0">
                          <a:solidFill>
                            <a:schemeClr val="tx1"/>
                          </a:solidFill>
                          <a:effectLst/>
                          <a:latin typeface="+mn-lt"/>
                          <a:ea typeface="+mn-ea"/>
                          <a:cs typeface="+mn-cs"/>
                        </a:rPr>
                        <a:t>电池包内部热仿真分析报告</a:t>
                      </a:r>
                      <a:r>
                        <a:rPr lang="en-US" altLang="zh-CN" sz="2400" b="0" i="0" kern="1200" dirty="0">
                          <a:solidFill>
                            <a:schemeClr val="tx1"/>
                          </a:solidFill>
                          <a:effectLst/>
                          <a:latin typeface="+mn-lt"/>
                          <a:ea typeface="+mn-ea"/>
                          <a:cs typeface="+mn-cs"/>
                        </a:rPr>
                        <a:t>-</a:t>
                      </a:r>
                      <a:r>
                        <a:rPr lang="zh-CN" altLang="en-US" sz="2400" b="0" i="0" kern="1200" dirty="0">
                          <a:solidFill>
                            <a:schemeClr val="tx1"/>
                          </a:solidFill>
                          <a:effectLst/>
                          <a:latin typeface="+mn-lt"/>
                          <a:ea typeface="+mn-ea"/>
                          <a:cs typeface="+mn-cs"/>
                        </a:rPr>
                        <a:t>保温</a:t>
                      </a:r>
                      <a:r>
                        <a:rPr lang="en-US" altLang="zh-CN" sz="2400" b="0" i="0" kern="1200" dirty="0">
                          <a:solidFill>
                            <a:schemeClr val="tx1"/>
                          </a:solidFill>
                          <a:effectLst/>
                          <a:latin typeface="+mn-lt"/>
                          <a:ea typeface="+mn-ea"/>
                          <a:cs typeface="+mn-cs"/>
                        </a:rPr>
                        <a:t>0612.pptx (5.3MB)</a:t>
                      </a:r>
                    </a:p>
                    <a:p>
                      <a:pPr marL="342900" indent="-342900">
                        <a:buFont typeface="Arial" panose="020B0604020202020204" pitchFamily="34" charset="0"/>
                        <a:buChar char="•"/>
                      </a:pPr>
                      <a:r>
                        <a:rPr lang="en-US" altLang="zh-CN" sz="2400" b="0" i="0" kern="1200" dirty="0">
                          <a:solidFill>
                            <a:schemeClr val="tx1"/>
                          </a:solidFill>
                          <a:effectLst/>
                          <a:latin typeface="+mn-lt"/>
                          <a:ea typeface="+mn-ea"/>
                          <a:cs typeface="+mn-cs"/>
                        </a:rPr>
                        <a:t>570_941B</a:t>
                      </a:r>
                      <a:r>
                        <a:rPr lang="zh-CN" altLang="en-US" sz="2400" b="0" i="0" kern="1200" dirty="0">
                          <a:solidFill>
                            <a:schemeClr val="tx1"/>
                          </a:solidFill>
                          <a:effectLst/>
                          <a:latin typeface="+mn-lt"/>
                          <a:ea typeface="+mn-ea"/>
                          <a:cs typeface="+mn-cs"/>
                        </a:rPr>
                        <a:t>电池包机械冲击仿真分析</a:t>
                      </a:r>
                      <a:r>
                        <a:rPr lang="en-US" altLang="zh-CN" sz="2400" b="0" i="0" kern="1200" dirty="0">
                          <a:solidFill>
                            <a:schemeClr val="tx1"/>
                          </a:solidFill>
                          <a:effectLst/>
                          <a:latin typeface="+mn-lt"/>
                          <a:ea typeface="+mn-ea"/>
                          <a:cs typeface="+mn-cs"/>
                        </a:rPr>
                        <a:t>-20240603(</a:t>
                      </a:r>
                      <a:r>
                        <a:rPr lang="zh-CN" altLang="en-US" sz="2400" b="0" i="0" kern="1200" dirty="0">
                          <a:solidFill>
                            <a:schemeClr val="tx1"/>
                          </a:solidFill>
                          <a:effectLst/>
                          <a:latin typeface="+mn-lt"/>
                          <a:ea typeface="+mn-ea"/>
                          <a:cs typeface="+mn-cs"/>
                        </a:rPr>
                        <a:t>纵梁灌胶</a:t>
                      </a:r>
                      <a:r>
                        <a:rPr lang="en-US" altLang="zh-CN" sz="2400" b="0" i="0" kern="1200" dirty="0">
                          <a:solidFill>
                            <a:schemeClr val="tx1"/>
                          </a:solidFill>
                          <a:effectLst/>
                          <a:latin typeface="+mn-lt"/>
                          <a:ea typeface="+mn-ea"/>
                          <a:cs typeface="+mn-cs"/>
                        </a:rPr>
                        <a:t>).pptx (4.8MB)</a:t>
                      </a:r>
                    </a:p>
                    <a:p>
                      <a:pPr marL="342900" indent="-342900">
                        <a:buFont typeface="Arial" panose="020B0604020202020204" pitchFamily="34" charset="0"/>
                        <a:buChar char="•"/>
                      </a:pPr>
                      <a:r>
                        <a:rPr lang="en-US" altLang="zh-CN" sz="2400" b="0" i="0" kern="1200" dirty="0">
                          <a:solidFill>
                            <a:schemeClr val="tx1"/>
                          </a:solidFill>
                          <a:effectLst/>
                          <a:latin typeface="+mn-lt"/>
                          <a:ea typeface="+mn-ea"/>
                          <a:cs typeface="+mn-cs"/>
                        </a:rPr>
                        <a:t>570-941</a:t>
                      </a:r>
                      <a:r>
                        <a:rPr lang="zh-CN" altLang="en-US" sz="2400" b="0" i="0" kern="1200" dirty="0">
                          <a:solidFill>
                            <a:schemeClr val="tx1"/>
                          </a:solidFill>
                          <a:effectLst/>
                          <a:latin typeface="+mn-lt"/>
                          <a:ea typeface="+mn-ea"/>
                          <a:cs typeface="+mn-cs"/>
                        </a:rPr>
                        <a:t>电池包内部热仿真分析报告</a:t>
                      </a:r>
                      <a:r>
                        <a:rPr lang="en-US" altLang="zh-CN" sz="2400" b="0" i="0" kern="1200" dirty="0">
                          <a:solidFill>
                            <a:schemeClr val="tx1"/>
                          </a:solidFill>
                          <a:effectLst/>
                          <a:latin typeface="+mn-lt"/>
                          <a:ea typeface="+mn-ea"/>
                          <a:cs typeface="+mn-cs"/>
                        </a:rPr>
                        <a:t>-</a:t>
                      </a:r>
                      <a:r>
                        <a:rPr lang="zh-CN" altLang="en-US" sz="2400" b="0" i="0" kern="1200" dirty="0">
                          <a:solidFill>
                            <a:schemeClr val="tx1"/>
                          </a:solidFill>
                          <a:effectLst/>
                          <a:latin typeface="+mn-lt"/>
                          <a:ea typeface="+mn-ea"/>
                          <a:cs typeface="+mn-cs"/>
                        </a:rPr>
                        <a:t>保温（无灌胶）</a:t>
                      </a:r>
                      <a:r>
                        <a:rPr lang="en-US" altLang="zh-CN" sz="2400" b="0" i="0" kern="1200" dirty="0">
                          <a:solidFill>
                            <a:schemeClr val="tx1"/>
                          </a:solidFill>
                          <a:effectLst/>
                          <a:latin typeface="+mn-lt"/>
                          <a:ea typeface="+mn-ea"/>
                          <a:cs typeface="+mn-cs"/>
                        </a:rPr>
                        <a:t>.pptx (5.0MB)</a:t>
                      </a:r>
                    </a:p>
                    <a:p>
                      <a:pPr marL="342900" indent="-342900">
                        <a:buFont typeface="Arial" panose="020B0604020202020204" pitchFamily="34" charset="0"/>
                        <a:buChar char="•"/>
                      </a:pPr>
                      <a:r>
                        <a:rPr lang="en-US" altLang="zh-CN" sz="2400" b="0" i="0" kern="1200" dirty="0">
                          <a:solidFill>
                            <a:schemeClr val="tx1"/>
                          </a:solidFill>
                          <a:effectLst/>
                          <a:latin typeface="+mn-lt"/>
                          <a:ea typeface="+mn-ea"/>
                          <a:cs typeface="+mn-cs"/>
                        </a:rPr>
                        <a:t>570-941B</a:t>
                      </a:r>
                      <a:r>
                        <a:rPr lang="zh-CN" altLang="en-US" sz="2400" b="0" i="0" kern="1200" dirty="0">
                          <a:solidFill>
                            <a:schemeClr val="tx1"/>
                          </a:solidFill>
                          <a:effectLst/>
                          <a:latin typeface="+mn-lt"/>
                          <a:ea typeface="+mn-ea"/>
                          <a:cs typeface="+mn-cs"/>
                        </a:rPr>
                        <a:t>电池包膨胀力仿真分析报告</a:t>
                      </a:r>
                      <a:r>
                        <a:rPr lang="en-US" altLang="zh-CN" sz="2400" b="0" i="0" kern="1200" dirty="0">
                          <a:solidFill>
                            <a:schemeClr val="tx1"/>
                          </a:solidFill>
                          <a:effectLst/>
                          <a:latin typeface="+mn-lt"/>
                          <a:ea typeface="+mn-ea"/>
                          <a:cs typeface="+mn-cs"/>
                        </a:rPr>
                        <a:t>-20240605(</a:t>
                      </a:r>
                      <a:r>
                        <a:rPr lang="zh-CN" altLang="en-US" sz="2400" b="0" i="0" kern="1200" dirty="0">
                          <a:solidFill>
                            <a:schemeClr val="tx1"/>
                          </a:solidFill>
                          <a:effectLst/>
                          <a:latin typeface="+mn-lt"/>
                          <a:ea typeface="+mn-ea"/>
                          <a:cs typeface="+mn-cs"/>
                        </a:rPr>
                        <a:t>纵梁灌胶</a:t>
                      </a:r>
                      <a:r>
                        <a:rPr lang="en-US" altLang="zh-CN" sz="2400" b="0" i="0" kern="1200" dirty="0">
                          <a:solidFill>
                            <a:schemeClr val="tx1"/>
                          </a:solidFill>
                          <a:effectLst/>
                          <a:latin typeface="+mn-lt"/>
                          <a:ea typeface="+mn-ea"/>
                          <a:cs typeface="+mn-cs"/>
                        </a:rPr>
                        <a:t>).pptx (4.7MB)</a:t>
                      </a:r>
                    </a:p>
                    <a:p>
                      <a:pPr marL="342900" indent="-342900">
                        <a:buFont typeface="Arial" panose="020B0604020202020204" pitchFamily="34" charset="0"/>
                        <a:buChar char="•"/>
                      </a:pPr>
                      <a:r>
                        <a:rPr lang="en-US" altLang="zh-CN" sz="2400" b="0" i="0" kern="1200" dirty="0">
                          <a:solidFill>
                            <a:schemeClr val="tx1"/>
                          </a:solidFill>
                          <a:effectLst/>
                          <a:latin typeface="+mn-lt"/>
                          <a:ea typeface="+mn-ea"/>
                          <a:cs typeface="+mn-cs"/>
                        </a:rPr>
                        <a:t>570-941B</a:t>
                      </a:r>
                      <a:r>
                        <a:rPr lang="zh-CN" altLang="en-US" sz="2400" b="0" i="0" kern="1200" dirty="0">
                          <a:solidFill>
                            <a:schemeClr val="tx1"/>
                          </a:solidFill>
                          <a:effectLst/>
                          <a:latin typeface="+mn-lt"/>
                          <a:ea typeface="+mn-ea"/>
                          <a:cs typeface="+mn-cs"/>
                        </a:rPr>
                        <a:t>电池包挤压分析</a:t>
                      </a:r>
                      <a:r>
                        <a:rPr lang="en-US" altLang="zh-CN" sz="2400" b="0" i="0" kern="1200" dirty="0">
                          <a:solidFill>
                            <a:schemeClr val="tx1"/>
                          </a:solidFill>
                          <a:effectLst/>
                          <a:latin typeface="+mn-lt"/>
                          <a:ea typeface="+mn-ea"/>
                          <a:cs typeface="+mn-cs"/>
                        </a:rPr>
                        <a:t>-20240603(</a:t>
                      </a:r>
                      <a:r>
                        <a:rPr lang="zh-CN" altLang="en-US" sz="2400" b="0" i="0" kern="1200" dirty="0">
                          <a:solidFill>
                            <a:schemeClr val="tx1"/>
                          </a:solidFill>
                          <a:effectLst/>
                          <a:latin typeface="+mn-lt"/>
                          <a:ea typeface="+mn-ea"/>
                          <a:cs typeface="+mn-cs"/>
                        </a:rPr>
                        <a:t>纵梁灌胶</a:t>
                      </a:r>
                      <a:r>
                        <a:rPr lang="en-US" altLang="zh-CN" sz="2400" b="0" i="0" kern="1200" dirty="0">
                          <a:solidFill>
                            <a:schemeClr val="tx1"/>
                          </a:solidFill>
                          <a:effectLst/>
                          <a:latin typeface="+mn-lt"/>
                          <a:ea typeface="+mn-ea"/>
                          <a:cs typeface="+mn-cs"/>
                        </a:rPr>
                        <a:t>).pptx (112MB)</a:t>
                      </a:r>
                    </a:p>
                    <a:p>
                      <a:pPr marL="342900" indent="-342900">
                        <a:buFont typeface="Arial" panose="020B0604020202020204" pitchFamily="34" charset="0"/>
                        <a:buChar char="•"/>
                      </a:pPr>
                      <a:r>
                        <a:rPr lang="en-US" altLang="zh-CN" sz="2400" b="0" i="0" kern="1200" dirty="0">
                          <a:solidFill>
                            <a:schemeClr val="tx1"/>
                          </a:solidFill>
                          <a:effectLst/>
                          <a:latin typeface="+mn-lt"/>
                          <a:ea typeface="+mn-ea"/>
                          <a:cs typeface="+mn-cs"/>
                        </a:rPr>
                        <a:t>570_941B-</a:t>
                      </a:r>
                      <a:r>
                        <a:rPr lang="zh-CN" altLang="en-US" sz="2400" b="0" i="0" kern="1200" dirty="0">
                          <a:solidFill>
                            <a:schemeClr val="tx1"/>
                          </a:solidFill>
                          <a:effectLst/>
                          <a:latin typeface="+mn-lt"/>
                          <a:ea typeface="+mn-ea"/>
                          <a:cs typeface="+mn-cs"/>
                        </a:rPr>
                        <a:t>随机振动仿真报告</a:t>
                      </a:r>
                      <a:r>
                        <a:rPr lang="en-US" altLang="zh-CN" sz="2400" b="0" i="0" kern="1200" dirty="0">
                          <a:solidFill>
                            <a:schemeClr val="tx1"/>
                          </a:solidFill>
                          <a:effectLst/>
                          <a:latin typeface="+mn-lt"/>
                          <a:ea typeface="+mn-ea"/>
                          <a:cs typeface="+mn-cs"/>
                        </a:rPr>
                        <a:t>20240603(</a:t>
                      </a:r>
                      <a:r>
                        <a:rPr lang="zh-CN" altLang="en-US" sz="2400" b="0" i="0" kern="1200" dirty="0">
                          <a:solidFill>
                            <a:schemeClr val="tx1"/>
                          </a:solidFill>
                          <a:effectLst/>
                          <a:latin typeface="+mn-lt"/>
                          <a:ea typeface="+mn-ea"/>
                          <a:cs typeface="+mn-cs"/>
                        </a:rPr>
                        <a:t>纵梁灌胶</a:t>
                      </a:r>
                      <a:r>
                        <a:rPr lang="en-US" altLang="zh-CN" sz="2400" b="0" i="0" kern="1200" dirty="0">
                          <a:solidFill>
                            <a:schemeClr val="tx1"/>
                          </a:solidFill>
                          <a:effectLst/>
                          <a:latin typeface="+mn-lt"/>
                          <a:ea typeface="+mn-ea"/>
                          <a:cs typeface="+mn-cs"/>
                        </a:rPr>
                        <a:t>).pptx (7.3MB)</a:t>
                      </a:r>
                    </a:p>
                    <a:p>
                      <a:pPr marL="342900" indent="-342900">
                        <a:buFont typeface="Arial" panose="020B0604020202020204" pitchFamily="34" charset="0"/>
                        <a:buChar char="•"/>
                      </a:pPr>
                      <a:r>
                        <a:rPr lang="zh-CN" altLang="en-US" sz="2400" b="0" i="0" kern="1200" dirty="0">
                          <a:solidFill>
                            <a:schemeClr val="tx1"/>
                          </a:solidFill>
                          <a:effectLst/>
                          <a:latin typeface="+mn-lt"/>
                          <a:ea typeface="+mn-ea"/>
                          <a:cs typeface="+mn-cs"/>
                        </a:rPr>
                        <a:t>副本</a:t>
                      </a:r>
                      <a:r>
                        <a:rPr lang="en-US" altLang="zh-CN" sz="2400" b="0" i="0" kern="1200" dirty="0">
                          <a:solidFill>
                            <a:schemeClr val="tx1"/>
                          </a:solidFill>
                          <a:effectLst/>
                          <a:latin typeface="+mn-lt"/>
                          <a:ea typeface="+mn-ea"/>
                          <a:cs typeface="+mn-cs"/>
                        </a:rPr>
                        <a:t>SPA-Evo-L946-334-</a:t>
                      </a:r>
                      <a:r>
                        <a:rPr lang="zh-CN" altLang="en-US" sz="2400" b="0" i="0" kern="1200" dirty="0">
                          <a:solidFill>
                            <a:schemeClr val="tx1"/>
                          </a:solidFill>
                          <a:effectLst/>
                          <a:latin typeface="+mn-lt"/>
                          <a:ea typeface="+mn-ea"/>
                          <a:cs typeface="+mn-cs"/>
                        </a:rPr>
                        <a:t>动力电池总成</a:t>
                      </a:r>
                      <a:r>
                        <a:rPr lang="en-US" altLang="zh-CN" sz="2400" b="0" i="0" kern="1200" dirty="0">
                          <a:solidFill>
                            <a:schemeClr val="tx1"/>
                          </a:solidFill>
                          <a:effectLst/>
                          <a:latin typeface="+mn-lt"/>
                          <a:ea typeface="+mn-ea"/>
                          <a:cs typeface="+mn-cs"/>
                        </a:rPr>
                        <a:t>-</a:t>
                      </a:r>
                      <a:r>
                        <a:rPr lang="zh-CN" altLang="en-US" sz="2400" b="0" i="0" kern="1200" dirty="0">
                          <a:solidFill>
                            <a:schemeClr val="tx1"/>
                          </a:solidFill>
                          <a:effectLst/>
                          <a:latin typeface="+mn-lt"/>
                          <a:ea typeface="+mn-ea"/>
                          <a:cs typeface="+mn-cs"/>
                        </a:rPr>
                        <a:t>检查基准书</a:t>
                      </a:r>
                      <a:r>
                        <a:rPr lang="en-US" altLang="zh-CN" sz="2400" b="0" i="0" kern="1200" dirty="0">
                          <a:solidFill>
                            <a:schemeClr val="tx1"/>
                          </a:solidFill>
                          <a:effectLst/>
                          <a:latin typeface="+mn-lt"/>
                          <a:ea typeface="+mn-ea"/>
                          <a:cs typeface="+mn-cs"/>
                        </a:rPr>
                        <a:t>(B)-2024050701.xlsx (1.6MB)</a:t>
                      </a:r>
                    </a:p>
                    <a:p>
                      <a:pPr marL="342900" indent="-342900">
                        <a:buFont typeface="Arial" panose="020B0604020202020204" pitchFamily="34" charset="0"/>
                        <a:buChar char="•"/>
                      </a:pPr>
                      <a:r>
                        <a:rPr lang="zh-CN" altLang="en-US" sz="2400" b="0" i="0" kern="1200" dirty="0">
                          <a:solidFill>
                            <a:schemeClr val="tx1"/>
                          </a:solidFill>
                          <a:effectLst/>
                          <a:latin typeface="+mn-lt"/>
                          <a:ea typeface="+mn-ea"/>
                          <a:cs typeface="+mn-cs"/>
                        </a:rPr>
                        <a:t>副本</a:t>
                      </a:r>
                      <a:r>
                        <a:rPr lang="en-US" altLang="zh-CN" sz="2400" b="0" i="0" kern="1200" dirty="0">
                          <a:solidFill>
                            <a:schemeClr val="tx1"/>
                          </a:solidFill>
                          <a:effectLst/>
                          <a:latin typeface="+mn-lt"/>
                          <a:ea typeface="+mn-ea"/>
                          <a:cs typeface="+mn-cs"/>
                        </a:rPr>
                        <a:t>L946</a:t>
                      </a:r>
                      <a:r>
                        <a:rPr lang="zh-CN" altLang="en-US" sz="2400" b="0" i="0" kern="1200" dirty="0">
                          <a:solidFill>
                            <a:schemeClr val="tx1"/>
                          </a:solidFill>
                          <a:effectLst/>
                          <a:latin typeface="+mn-lt"/>
                          <a:ea typeface="+mn-ea"/>
                          <a:cs typeface="+mn-cs"/>
                        </a:rPr>
                        <a:t>动力电池总成（</a:t>
                      </a:r>
                      <a:r>
                        <a:rPr lang="en-US" altLang="zh-CN" sz="2400" b="0" i="0" kern="1200" dirty="0">
                          <a:solidFill>
                            <a:schemeClr val="tx1"/>
                          </a:solidFill>
                          <a:effectLst/>
                          <a:latin typeface="+mn-lt"/>
                          <a:ea typeface="+mn-ea"/>
                          <a:cs typeface="+mn-cs"/>
                        </a:rPr>
                        <a:t>43.3kWh</a:t>
                      </a:r>
                      <a:r>
                        <a:rPr lang="zh-CN" altLang="en-US" sz="2400" b="0" i="0" kern="1200" dirty="0">
                          <a:solidFill>
                            <a:schemeClr val="tx1"/>
                          </a:solidFill>
                          <a:effectLst/>
                          <a:latin typeface="+mn-lt"/>
                          <a:ea typeface="+mn-ea"/>
                          <a:cs typeface="+mn-cs"/>
                        </a:rPr>
                        <a:t>）特殊特性清单</a:t>
                      </a:r>
                      <a:r>
                        <a:rPr lang="en-US" altLang="zh-CN" sz="2400" b="0" i="0" kern="1200" dirty="0">
                          <a:solidFill>
                            <a:schemeClr val="tx1"/>
                          </a:solidFill>
                          <a:effectLst/>
                          <a:latin typeface="+mn-lt"/>
                          <a:ea typeface="+mn-ea"/>
                          <a:cs typeface="+mn-cs"/>
                        </a:rPr>
                        <a:t>1713407369905-20240522.xlsx (26KB)</a:t>
                      </a:r>
                    </a:p>
                    <a:p>
                      <a:pPr marL="342900" indent="-342900">
                        <a:buFont typeface="Arial" panose="020B0604020202020204" pitchFamily="34" charset="0"/>
                        <a:buChar char="•"/>
                      </a:pPr>
                      <a:r>
                        <a:rPr lang="zh-CN" altLang="en-US" sz="2400" b="0" i="0" kern="1200" dirty="0">
                          <a:solidFill>
                            <a:schemeClr val="tx1"/>
                          </a:solidFill>
                          <a:effectLst/>
                          <a:latin typeface="+mn-lt"/>
                          <a:ea typeface="+mn-ea"/>
                          <a:cs typeface="+mn-cs"/>
                        </a:rPr>
                        <a:t>副本</a:t>
                      </a:r>
                      <a:r>
                        <a:rPr lang="en-US" altLang="zh-CN" sz="2400" b="0" i="0" kern="1200" dirty="0">
                          <a:solidFill>
                            <a:schemeClr val="tx1"/>
                          </a:solidFill>
                          <a:effectLst/>
                          <a:latin typeface="+mn-lt"/>
                          <a:ea typeface="+mn-ea"/>
                          <a:cs typeface="+mn-cs"/>
                        </a:rPr>
                        <a:t>DFMEA</a:t>
                      </a:r>
                      <a:r>
                        <a:rPr lang="zh-CN" altLang="en-US" sz="2400" b="0" i="0" kern="1200" dirty="0">
                          <a:solidFill>
                            <a:schemeClr val="tx1"/>
                          </a:solidFill>
                          <a:effectLst/>
                          <a:latin typeface="+mn-lt"/>
                          <a:ea typeface="+mn-ea"/>
                          <a:cs typeface="+mn-cs"/>
                        </a:rPr>
                        <a:t>存档</a:t>
                      </a:r>
                      <a:r>
                        <a:rPr lang="en-US" altLang="zh-CN" sz="2400" b="0" i="0" kern="1200" dirty="0">
                          <a:solidFill>
                            <a:schemeClr val="tx1"/>
                          </a:solidFill>
                          <a:effectLst/>
                          <a:latin typeface="+mn-lt"/>
                          <a:ea typeface="+mn-ea"/>
                          <a:cs typeface="+mn-cs"/>
                        </a:rPr>
                        <a:t>-D221N44AA-</a:t>
                      </a:r>
                      <a:r>
                        <a:rPr lang="zh-CN" altLang="en-US" sz="2400" b="0" i="0" kern="1200" dirty="0">
                          <a:solidFill>
                            <a:schemeClr val="tx1"/>
                          </a:solidFill>
                          <a:effectLst/>
                          <a:latin typeface="+mn-lt"/>
                          <a:ea typeface="+mn-ea"/>
                          <a:cs typeface="+mn-cs"/>
                        </a:rPr>
                        <a:t>动力电源系统</a:t>
                      </a:r>
                      <a:r>
                        <a:rPr lang="en-US" altLang="zh-CN" sz="2400" b="0" i="0" kern="1200" dirty="0">
                          <a:solidFill>
                            <a:schemeClr val="tx1"/>
                          </a:solidFill>
                          <a:effectLst/>
                          <a:latin typeface="+mn-lt"/>
                          <a:ea typeface="+mn-ea"/>
                          <a:cs typeface="+mn-cs"/>
                        </a:rPr>
                        <a:t>FMEA-20240704151818.xlsx (66KB)</a:t>
                      </a:r>
                    </a:p>
                    <a:p>
                      <a:pPr marL="342900" indent="-342900">
                        <a:buFont typeface="Arial" panose="020B0604020202020204" pitchFamily="34" charset="0"/>
                        <a:buChar char="•"/>
                      </a:pPr>
                      <a:r>
                        <a:rPr lang="en-US" altLang="zh-CN" sz="2400" b="0" i="0" kern="1200" dirty="0">
                          <a:solidFill>
                            <a:schemeClr val="tx1"/>
                          </a:solidFill>
                          <a:effectLst/>
                          <a:latin typeface="+mn-lt"/>
                          <a:ea typeface="+mn-ea"/>
                          <a:cs typeface="+mn-cs"/>
                        </a:rPr>
                        <a:t>L221N113C-</a:t>
                      </a:r>
                      <a:r>
                        <a:rPr lang="zh-CN" altLang="en-US" sz="2400" b="0" i="0" kern="1200" dirty="0">
                          <a:solidFill>
                            <a:schemeClr val="tx1"/>
                          </a:solidFill>
                          <a:effectLst/>
                          <a:latin typeface="+mn-lt"/>
                          <a:ea typeface="+mn-ea"/>
                          <a:cs typeface="+mn-cs"/>
                        </a:rPr>
                        <a:t>产品规格书</a:t>
                      </a:r>
                      <a:r>
                        <a:rPr lang="en-US" altLang="zh-CN" sz="2400" b="0" i="0" kern="1200" dirty="0">
                          <a:solidFill>
                            <a:schemeClr val="tx1"/>
                          </a:solidFill>
                          <a:effectLst/>
                          <a:latin typeface="+mn-lt"/>
                          <a:ea typeface="+mn-ea"/>
                          <a:cs typeface="+mn-cs"/>
                        </a:rPr>
                        <a:t>-V2-20240314.pdf (1.8MB)</a:t>
                      </a:r>
                    </a:p>
                    <a:p>
                      <a:pPr marL="342900" indent="-342900">
                        <a:buFont typeface="Arial" panose="020B0604020202020204" pitchFamily="34" charset="0"/>
                        <a:buChar char="•"/>
                      </a:pPr>
                      <a:r>
                        <a:rPr lang="zh-CN" altLang="en-US" sz="2400" b="0" i="0" kern="1200" dirty="0">
                          <a:solidFill>
                            <a:schemeClr val="tx1"/>
                          </a:solidFill>
                          <a:effectLst/>
                          <a:latin typeface="+mn-lt"/>
                          <a:ea typeface="+mn-ea"/>
                          <a:cs typeface="+mn-cs"/>
                        </a:rPr>
                        <a:t>副本工艺过程流程图</a:t>
                      </a:r>
                      <a:r>
                        <a:rPr lang="en-US" altLang="zh-CN" sz="2400" b="0" i="0" kern="1200" dirty="0">
                          <a:solidFill>
                            <a:schemeClr val="tx1"/>
                          </a:solidFill>
                          <a:effectLst/>
                          <a:latin typeface="+mn-lt"/>
                          <a:ea typeface="+mn-ea"/>
                          <a:cs typeface="+mn-cs"/>
                        </a:rPr>
                        <a:t>.xlsx (25KB)</a:t>
                      </a:r>
                    </a:p>
                    <a:p>
                      <a:pPr marL="342900" indent="-342900">
                        <a:buFont typeface="Arial" panose="020B0604020202020204" pitchFamily="34" charset="0"/>
                        <a:buChar char="•"/>
                      </a:pPr>
                      <a:r>
                        <a:rPr lang="en-US" altLang="zh-CN" sz="2400" b="0" i="0" kern="1200" dirty="0">
                          <a:solidFill>
                            <a:schemeClr val="tx1"/>
                          </a:solidFill>
                          <a:effectLst/>
                          <a:latin typeface="+mn-lt"/>
                          <a:ea typeface="+mn-ea"/>
                          <a:cs typeface="+mn-cs"/>
                        </a:rPr>
                        <a:t>570-941A</a:t>
                      </a:r>
                      <a:r>
                        <a:rPr lang="zh-CN" altLang="en-US" sz="2400" b="0" i="0" kern="1200" dirty="0">
                          <a:solidFill>
                            <a:schemeClr val="tx1"/>
                          </a:solidFill>
                          <a:effectLst/>
                          <a:latin typeface="+mn-lt"/>
                          <a:ea typeface="+mn-ea"/>
                          <a:cs typeface="+mn-cs"/>
                        </a:rPr>
                        <a:t>项目</a:t>
                      </a:r>
                      <a:r>
                        <a:rPr lang="en-US" altLang="zh-CN" sz="2400" b="0" i="0" kern="1200" dirty="0">
                          <a:solidFill>
                            <a:schemeClr val="tx1"/>
                          </a:solidFill>
                          <a:effectLst/>
                          <a:latin typeface="+mn-lt"/>
                          <a:ea typeface="+mn-ea"/>
                          <a:cs typeface="+mn-cs"/>
                        </a:rPr>
                        <a:t>B</a:t>
                      </a:r>
                      <a:r>
                        <a:rPr lang="zh-CN" altLang="en-US" sz="2400" b="0" i="0" kern="1200" dirty="0">
                          <a:solidFill>
                            <a:schemeClr val="tx1"/>
                          </a:solidFill>
                          <a:effectLst/>
                          <a:latin typeface="+mn-lt"/>
                          <a:ea typeface="+mn-ea"/>
                          <a:cs typeface="+mn-cs"/>
                        </a:rPr>
                        <a:t>样</a:t>
                      </a:r>
                      <a:r>
                        <a:rPr lang="en-US" altLang="zh-CN" sz="2400" b="0" i="0" kern="1200" dirty="0">
                          <a:solidFill>
                            <a:schemeClr val="tx1"/>
                          </a:solidFill>
                          <a:effectLst/>
                          <a:latin typeface="+mn-lt"/>
                          <a:ea typeface="+mn-ea"/>
                          <a:cs typeface="+mn-cs"/>
                        </a:rPr>
                        <a:t>TR</a:t>
                      </a:r>
                      <a:r>
                        <a:rPr lang="zh-CN" altLang="en-US" sz="2400" b="0" i="0" kern="1200" dirty="0">
                          <a:solidFill>
                            <a:schemeClr val="tx1"/>
                          </a:solidFill>
                          <a:effectLst/>
                          <a:latin typeface="+mn-lt"/>
                          <a:ea typeface="+mn-ea"/>
                          <a:cs typeface="+mn-cs"/>
                        </a:rPr>
                        <a:t>评审报告</a:t>
                      </a:r>
                      <a:r>
                        <a:rPr lang="en-US" altLang="zh-CN" sz="2400" b="0" i="0" kern="1200" dirty="0">
                          <a:solidFill>
                            <a:schemeClr val="tx1"/>
                          </a:solidFill>
                          <a:effectLst/>
                          <a:latin typeface="+mn-lt"/>
                          <a:ea typeface="+mn-ea"/>
                          <a:cs typeface="+mn-cs"/>
                        </a:rPr>
                        <a:t>.pptx (103MB)</a:t>
                      </a:r>
                      <a:endParaRPr lang="en-GB" sz="2400" dirty="0"/>
                    </a:p>
                  </a:txBody>
                  <a:tcPr/>
                </a:tc>
                <a:tc>
                  <a:txBody>
                    <a:bodyPr/>
                    <a:lstStyle/>
                    <a:p>
                      <a:r>
                        <a:rPr lang="zh-CN" altLang="en-US" sz="2400" b="0" i="0" kern="1200" dirty="0">
                          <a:solidFill>
                            <a:schemeClr val="tx1"/>
                          </a:solidFill>
                          <a:effectLst/>
                          <a:latin typeface="+mn-lt"/>
                          <a:ea typeface="+mn-ea"/>
                          <a:cs typeface="+mn-cs"/>
                        </a:rPr>
                        <a:t>（空文件夹）</a:t>
                      </a:r>
                      <a:endParaRPr lang="en-GB" sz="2400" i="0" dirty="0"/>
                    </a:p>
                  </a:txBody>
                  <a:tcPr/>
                </a:tc>
                <a:extLst>
                  <a:ext uri="{0D108BD9-81ED-4DB2-BD59-A6C34878D82A}">
                    <a16:rowId xmlns:a16="http://schemas.microsoft.com/office/drawing/2014/main" val="1308659075"/>
                  </a:ext>
                </a:extLst>
              </a:tr>
            </a:tbl>
          </a:graphicData>
        </a:graphic>
      </p:graphicFrame>
    </p:spTree>
    <p:extLst>
      <p:ext uri="{BB962C8B-B14F-4D97-AF65-F5344CB8AC3E}">
        <p14:creationId xmlns:p14="http://schemas.microsoft.com/office/powerpoint/2010/main" val="3035855792"/>
      </p:ext>
    </p:extLst>
  </p:cSld>
  <p:clrMapOvr>
    <a:masterClrMapping/>
  </p:clrMapOvr>
  <p:transition spd="med"/>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661B64B1-83B8-0096-93AC-CCC6EC2C8BD0}"/>
              </a:ext>
            </a:extLst>
          </p:cNvPr>
          <p:cNvSpPr txBox="1"/>
          <p:nvPr/>
        </p:nvSpPr>
        <p:spPr>
          <a:xfrm>
            <a:off x="2707106" y="1118938"/>
            <a:ext cx="17081920" cy="1446550"/>
          </a:xfrm>
          <a:prstGeom prst="rect">
            <a:avLst/>
          </a:prstGeom>
          <a:noFill/>
        </p:spPr>
        <p:txBody>
          <a:bodyPr wrap="none" rtlCol="0">
            <a:spAutoFit/>
          </a:bodyPr>
          <a:lstStyle/>
          <a:p>
            <a:r>
              <a:rPr lang="en-GB" sz="4400" dirty="0" err="1"/>
              <a:t>这一页以后</a:t>
            </a:r>
            <a:r>
              <a:rPr lang="zh-CN" altLang="en-US" sz="4400" dirty="0"/>
              <a:t>页面</a:t>
            </a:r>
            <a:r>
              <a:rPr lang="en-GB" sz="4400" dirty="0" err="1"/>
              <a:t>的内容完全由</a:t>
            </a:r>
            <a:r>
              <a:rPr lang="en-US" altLang="zh-CN" sz="4400" dirty="0"/>
              <a:t>AI</a:t>
            </a:r>
            <a:r>
              <a:rPr lang="en-GB" sz="4400" dirty="0" err="1"/>
              <a:t>生成</a:t>
            </a:r>
            <a:r>
              <a:rPr lang="zh-CN" altLang="en-US" sz="4400" dirty="0"/>
              <a:t>（批注里</a:t>
            </a:r>
            <a:r>
              <a:rPr lang="zh-CN" altLang="en-GB" sz="4400" dirty="0"/>
              <a:t>的提示词是人写的</a:t>
            </a:r>
            <a:r>
              <a:rPr lang="zh-CN" altLang="en-US" sz="4400" dirty="0"/>
              <a:t>）。</a:t>
            </a:r>
            <a:endParaRPr lang="en-GB" altLang="zh-CN" sz="4400" dirty="0"/>
          </a:p>
          <a:p>
            <a:r>
              <a:rPr lang="zh-CN" altLang="en-US" sz="4400" dirty="0"/>
              <a:t>请</a:t>
            </a:r>
            <a:r>
              <a:rPr lang="zh-CN" altLang="en-GB" sz="4400" dirty="0"/>
              <a:t>项目经理</a:t>
            </a:r>
            <a:r>
              <a:rPr lang="en-GB" sz="4400" dirty="0" err="1"/>
              <a:t>帮我审核一下</a:t>
            </a:r>
            <a:r>
              <a:rPr lang="en-US" altLang="zh-CN" sz="4400" dirty="0"/>
              <a:t> AI </a:t>
            </a:r>
            <a:r>
              <a:rPr lang="en-GB" sz="4400" dirty="0" err="1"/>
              <a:t>生成的内容，并提供反馈</a:t>
            </a:r>
            <a:r>
              <a:rPr lang="en-GB" sz="4400" dirty="0"/>
              <a:t>。。</a:t>
            </a:r>
          </a:p>
        </p:txBody>
      </p:sp>
      <p:grpSp>
        <p:nvGrpSpPr>
          <p:cNvPr id="8" name="组合 7">
            <a:extLst>
              <a:ext uri="{FF2B5EF4-FFF2-40B4-BE49-F238E27FC236}">
                <a16:creationId xmlns:a16="http://schemas.microsoft.com/office/drawing/2014/main" id="{B523FCD7-E948-68A4-05F8-2B7B5F97923D}"/>
              </a:ext>
            </a:extLst>
          </p:cNvPr>
          <p:cNvGrpSpPr/>
          <p:nvPr/>
        </p:nvGrpSpPr>
        <p:grpSpPr>
          <a:xfrm>
            <a:off x="541421" y="2957529"/>
            <a:ext cx="18973801" cy="9909208"/>
            <a:chOff x="541421" y="2957529"/>
            <a:chExt cx="18973801" cy="9909208"/>
          </a:xfrm>
        </p:grpSpPr>
        <p:pic>
          <p:nvPicPr>
            <p:cNvPr id="4" name="图片 3">
              <a:extLst>
                <a:ext uri="{FF2B5EF4-FFF2-40B4-BE49-F238E27FC236}">
                  <a16:creationId xmlns:a16="http://schemas.microsoft.com/office/drawing/2014/main" id="{6FE0EF2E-09AA-CB74-63D1-E1C0AE2ED6AF}"/>
                </a:ext>
              </a:extLst>
            </p:cNvPr>
            <p:cNvPicPr>
              <a:picLocks noChangeAspect="1"/>
            </p:cNvPicPr>
            <p:nvPr/>
          </p:nvPicPr>
          <p:blipFill>
            <a:blip r:embed="rId2"/>
            <a:stretch>
              <a:fillRect/>
            </a:stretch>
          </p:blipFill>
          <p:spPr>
            <a:xfrm>
              <a:off x="2767264" y="2957529"/>
              <a:ext cx="16747958" cy="9909208"/>
            </a:xfrm>
            <a:prstGeom prst="rect">
              <a:avLst/>
            </a:prstGeom>
          </p:spPr>
        </p:pic>
        <p:sp>
          <p:nvSpPr>
            <p:cNvPr id="5" name="椭圆 4">
              <a:extLst>
                <a:ext uri="{FF2B5EF4-FFF2-40B4-BE49-F238E27FC236}">
                  <a16:creationId xmlns:a16="http://schemas.microsoft.com/office/drawing/2014/main" id="{6E86C86B-40FA-47E4-C68E-A8D17A8A7F0D}"/>
                </a:ext>
              </a:extLst>
            </p:cNvPr>
            <p:cNvSpPr/>
            <p:nvPr/>
          </p:nvSpPr>
          <p:spPr>
            <a:xfrm>
              <a:off x="2707106" y="6821905"/>
              <a:ext cx="577515" cy="649705"/>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文本框 6">
              <a:extLst>
                <a:ext uri="{FF2B5EF4-FFF2-40B4-BE49-F238E27FC236}">
                  <a16:creationId xmlns:a16="http://schemas.microsoft.com/office/drawing/2014/main" id="{23A49A72-8EBE-6A08-50A4-5A3F5338B508}"/>
                </a:ext>
              </a:extLst>
            </p:cNvPr>
            <p:cNvSpPr txBox="1"/>
            <p:nvPr/>
          </p:nvSpPr>
          <p:spPr>
            <a:xfrm>
              <a:off x="541421" y="5998149"/>
              <a:ext cx="2454442" cy="1384995"/>
            </a:xfrm>
            <a:prstGeom prst="rect">
              <a:avLst/>
            </a:prstGeom>
            <a:noFill/>
          </p:spPr>
          <p:txBody>
            <a:bodyPr wrap="square">
              <a:spAutoFit/>
            </a:bodyPr>
            <a:lstStyle/>
            <a:p>
              <a:r>
                <a:rPr lang="en-GB" sz="2800" dirty="0" err="1">
                  <a:solidFill>
                    <a:srgbClr val="FF0000"/>
                  </a:solidFill>
                </a:rPr>
                <a:t>点击红框里的批注图标，可以显示批注</a:t>
              </a:r>
              <a:endParaRPr lang="en-GB" sz="2800" dirty="0">
                <a:solidFill>
                  <a:srgbClr val="FF0000"/>
                </a:solidFill>
              </a:endParaRPr>
            </a:p>
          </p:txBody>
        </p:sp>
      </p:grpSp>
    </p:spTree>
    <p:extLst>
      <p:ext uri="{BB962C8B-B14F-4D97-AF65-F5344CB8AC3E}">
        <p14:creationId xmlns:p14="http://schemas.microsoft.com/office/powerpoint/2010/main" val="933004827"/>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Content Placeholder 5">
            <a:extLst>
              <a:ext uri="{FF2B5EF4-FFF2-40B4-BE49-F238E27FC236}">
                <a16:creationId xmlns:a16="http://schemas.microsoft.com/office/drawing/2014/main" id="{962E2F12-EDA8-1780-6838-D656A8121E57}"/>
              </a:ext>
            </a:extLst>
          </p:cNvPr>
          <p:cNvGraphicFramePr>
            <a:graphicFrameLocks/>
          </p:cNvGraphicFramePr>
          <p:nvPr>
            <p:extLst>
              <p:ext uri="{D42A27DB-BD31-4B8C-83A1-F6EECF244321}">
                <p14:modId xmlns:p14="http://schemas.microsoft.com/office/powerpoint/2010/main" val="3039411025"/>
              </p:ext>
            </p:extLst>
          </p:nvPr>
        </p:nvGraphicFramePr>
        <p:xfrm>
          <a:off x="448033" y="1786223"/>
          <a:ext cx="11134367" cy="11338560"/>
        </p:xfrm>
        <a:graphic>
          <a:graphicData uri="http://schemas.openxmlformats.org/drawingml/2006/table">
            <a:tbl>
              <a:tblPr firstRow="1" bandRow="1"/>
              <a:tblGrid>
                <a:gridCol w="3175310">
                  <a:extLst>
                    <a:ext uri="{9D8B030D-6E8A-4147-A177-3AD203B41FA5}">
                      <a16:colId xmlns:a16="http://schemas.microsoft.com/office/drawing/2014/main" val="20000"/>
                    </a:ext>
                  </a:extLst>
                </a:gridCol>
                <a:gridCol w="1368787">
                  <a:extLst>
                    <a:ext uri="{9D8B030D-6E8A-4147-A177-3AD203B41FA5}">
                      <a16:colId xmlns:a16="http://schemas.microsoft.com/office/drawing/2014/main" val="20001"/>
                    </a:ext>
                  </a:extLst>
                </a:gridCol>
                <a:gridCol w="6590270">
                  <a:extLst>
                    <a:ext uri="{9D8B030D-6E8A-4147-A177-3AD203B41FA5}">
                      <a16:colId xmlns:a16="http://schemas.microsoft.com/office/drawing/2014/main" val="20002"/>
                    </a:ext>
                  </a:extLst>
                </a:gridCol>
              </a:tblGrid>
              <a:tr h="0">
                <a:tc>
                  <a:txBody>
                    <a:bodyPr/>
                    <a:lstStyle/>
                    <a:p>
                      <a:pPr marL="0" lvl="0" indent="0">
                        <a:buNone/>
                      </a:pPr>
                      <a:r>
                        <a:rPr sz="2000" dirty="0" err="1"/>
                        <a:t>应包含的文件</a:t>
                      </a:r>
                      <a:endParaRPr sz="2000" dirty="0"/>
                    </a:p>
                  </a:txBody>
                  <a:tcPr/>
                </a:tc>
                <a:tc>
                  <a:txBody>
                    <a:bodyPr/>
                    <a:lstStyle/>
                    <a:p>
                      <a:pPr marL="0" lvl="0" indent="0">
                        <a:buNone/>
                      </a:pPr>
                      <a:r>
                        <a:rPr sz="2000"/>
                        <a:t>是否存在</a:t>
                      </a:r>
                    </a:p>
                  </a:txBody>
                  <a:tcPr/>
                </a:tc>
                <a:tc>
                  <a:txBody>
                    <a:bodyPr/>
                    <a:lstStyle/>
                    <a:p>
                      <a:pPr marL="0" lvl="0" indent="0">
                        <a:buNone/>
                      </a:pPr>
                      <a:r>
                        <a:rPr sz="2000"/>
                        <a:t>对应文件名</a:t>
                      </a:r>
                    </a:p>
                  </a:txBody>
                  <a:tcPr/>
                </a:tc>
                <a:extLst>
                  <a:ext uri="{0D108BD9-81ED-4DB2-BD59-A6C34878D82A}">
                    <a16:rowId xmlns:a16="http://schemas.microsoft.com/office/drawing/2014/main" val="10000"/>
                  </a:ext>
                </a:extLst>
              </a:tr>
              <a:tr h="0">
                <a:tc>
                  <a:txBody>
                    <a:bodyPr/>
                    <a:lstStyle/>
                    <a:p>
                      <a:pPr marL="0" lvl="0" indent="0">
                        <a:buNone/>
                      </a:pPr>
                      <a:r>
                        <a:rPr sz="2000" dirty="0"/>
                        <a:t>1. </a:t>
                      </a:r>
                      <a:r>
                        <a:rPr sz="2000" dirty="0" err="1"/>
                        <a:t>电芯规格书</a:t>
                      </a:r>
                      <a:endParaRPr sz="2000" dirty="0"/>
                    </a:p>
                  </a:txBody>
                  <a:tcPr/>
                </a:tc>
                <a:tc>
                  <a:txBody>
                    <a:bodyPr/>
                    <a:lstStyle/>
                    <a:p>
                      <a:pPr marL="0" lvl="0" indent="0">
                        <a:buNone/>
                      </a:pPr>
                      <a:r>
                        <a:rPr sz="2000"/>
                        <a:t>否</a:t>
                      </a:r>
                    </a:p>
                  </a:txBody>
                  <a:tcPr/>
                </a:tc>
                <a:tc>
                  <a:txBody>
                    <a:bodyPr/>
                    <a:lstStyle/>
                    <a:p>
                      <a:pPr marL="0" lvl="0" indent="0">
                        <a:buNone/>
                      </a:pPr>
                      <a:r>
                        <a:rPr sz="2000" dirty="0"/>
                        <a:t>-</a:t>
                      </a:r>
                    </a:p>
                  </a:txBody>
                  <a:tcPr/>
                </a:tc>
                <a:extLst>
                  <a:ext uri="{0D108BD9-81ED-4DB2-BD59-A6C34878D82A}">
                    <a16:rowId xmlns:a16="http://schemas.microsoft.com/office/drawing/2014/main" val="10001"/>
                  </a:ext>
                </a:extLst>
              </a:tr>
              <a:tr h="0">
                <a:tc>
                  <a:txBody>
                    <a:bodyPr/>
                    <a:lstStyle/>
                    <a:p>
                      <a:pPr marL="0" lvl="0" indent="0">
                        <a:buNone/>
                      </a:pPr>
                      <a:r>
                        <a:rPr sz="2000" dirty="0"/>
                        <a:t>2. </a:t>
                      </a:r>
                      <a:r>
                        <a:rPr sz="2000" dirty="0" err="1"/>
                        <a:t>尺寸链公差计算书</a:t>
                      </a:r>
                      <a:endParaRPr sz="2000" dirty="0"/>
                    </a:p>
                  </a:txBody>
                  <a:tcPr/>
                </a:tc>
                <a:tc>
                  <a:txBody>
                    <a:bodyPr/>
                    <a:lstStyle/>
                    <a:p>
                      <a:pPr marL="0" lvl="0" indent="0">
                        <a:buNone/>
                      </a:pPr>
                      <a:r>
                        <a:rPr sz="2000"/>
                        <a:t>是</a:t>
                      </a:r>
                    </a:p>
                  </a:txBody>
                  <a:tcPr/>
                </a:tc>
                <a:tc>
                  <a:txBody>
                    <a:bodyPr/>
                    <a:lstStyle/>
                    <a:p>
                      <a:pPr marL="0" lvl="0" indent="0">
                        <a:buNone/>
                      </a:pPr>
                      <a:r>
                        <a:rPr lang="zh-CN" altLang="en-US" sz="2000" dirty="0"/>
                        <a:t>副本</a:t>
                      </a:r>
                      <a:r>
                        <a:rPr lang="en-US" altLang="zh-CN" sz="2000" dirty="0"/>
                        <a:t>344-941-A</a:t>
                      </a:r>
                      <a:r>
                        <a:rPr lang="zh-CN" altLang="en-US" sz="2000" dirty="0"/>
                        <a:t>计算书</a:t>
                      </a:r>
                      <a:r>
                        <a:rPr lang="en-US" altLang="zh-CN" sz="2000" dirty="0"/>
                        <a:t>-CIR.xlsx</a:t>
                      </a:r>
                    </a:p>
                  </a:txBody>
                  <a:tcPr/>
                </a:tc>
                <a:extLst>
                  <a:ext uri="{0D108BD9-81ED-4DB2-BD59-A6C34878D82A}">
                    <a16:rowId xmlns:a16="http://schemas.microsoft.com/office/drawing/2014/main" val="10002"/>
                  </a:ext>
                </a:extLst>
              </a:tr>
              <a:tr h="0">
                <a:tc>
                  <a:txBody>
                    <a:bodyPr/>
                    <a:lstStyle/>
                    <a:p>
                      <a:pPr marL="0" lvl="0" indent="0">
                        <a:buNone/>
                      </a:pPr>
                      <a:r>
                        <a:rPr sz="2000"/>
                        <a:t>3. 初始DFMEA</a:t>
                      </a:r>
                    </a:p>
                  </a:txBody>
                  <a:tcPr/>
                </a:tc>
                <a:tc>
                  <a:txBody>
                    <a:bodyPr/>
                    <a:lstStyle/>
                    <a:p>
                      <a:pPr marL="0" lvl="0" indent="0">
                        <a:buNone/>
                      </a:pPr>
                      <a:r>
                        <a:rPr sz="2000"/>
                        <a:t>是</a:t>
                      </a:r>
                    </a:p>
                  </a:txBody>
                  <a:tcPr/>
                </a:tc>
                <a:tc>
                  <a:txBody>
                    <a:bodyPr/>
                    <a:lstStyle/>
                    <a:p>
                      <a:pPr marL="0" lvl="0" indent="0">
                        <a:buNone/>
                      </a:pPr>
                      <a:r>
                        <a:rPr sz="2000" dirty="0"/>
                        <a:t>副本DFMEA存档-D221N44AA-动力电源系统FMEA-20240422162511.xls</a:t>
                      </a:r>
                    </a:p>
                  </a:txBody>
                  <a:tcPr/>
                </a:tc>
                <a:extLst>
                  <a:ext uri="{0D108BD9-81ED-4DB2-BD59-A6C34878D82A}">
                    <a16:rowId xmlns:a16="http://schemas.microsoft.com/office/drawing/2014/main" val="10003"/>
                  </a:ext>
                </a:extLst>
              </a:tr>
              <a:tr h="0">
                <a:tc>
                  <a:txBody>
                    <a:bodyPr/>
                    <a:lstStyle/>
                    <a:p>
                      <a:pPr marL="0" lvl="0" indent="0">
                        <a:buNone/>
                      </a:pPr>
                      <a:r>
                        <a:rPr sz="2000"/>
                        <a:t>4. 初始特殊特性清单</a:t>
                      </a:r>
                    </a:p>
                  </a:txBody>
                  <a:tcPr/>
                </a:tc>
                <a:tc>
                  <a:txBody>
                    <a:bodyPr/>
                    <a:lstStyle/>
                    <a:p>
                      <a:pPr marL="0" lvl="0" indent="0">
                        <a:buNone/>
                      </a:pPr>
                      <a:r>
                        <a:rPr sz="2000"/>
                        <a:t>是</a:t>
                      </a:r>
                    </a:p>
                  </a:txBody>
                  <a:tcPr/>
                </a:tc>
                <a:tc>
                  <a:txBody>
                    <a:bodyPr/>
                    <a:lstStyle/>
                    <a:p>
                      <a:pPr marL="0" lvl="0" indent="0">
                        <a:buNone/>
                      </a:pPr>
                      <a:r>
                        <a:rPr sz="2000" dirty="0" err="1"/>
                        <a:t>副本零部件级特殊特性清单（库</a:t>
                      </a:r>
                      <a:r>
                        <a:rPr sz="2000" dirty="0"/>
                        <a:t>）-高压电池-V1.0 - 20230802.xlsx</a:t>
                      </a:r>
                    </a:p>
                  </a:txBody>
                  <a:tcPr/>
                </a:tc>
                <a:extLst>
                  <a:ext uri="{0D108BD9-81ED-4DB2-BD59-A6C34878D82A}">
                    <a16:rowId xmlns:a16="http://schemas.microsoft.com/office/drawing/2014/main" val="10004"/>
                  </a:ext>
                </a:extLst>
              </a:tr>
              <a:tr h="0">
                <a:tc>
                  <a:txBody>
                    <a:bodyPr/>
                    <a:lstStyle/>
                    <a:p>
                      <a:pPr marL="0" lvl="0" indent="0">
                        <a:buNone/>
                      </a:pPr>
                      <a:r>
                        <a:rPr sz="2000"/>
                        <a:t>5. 三新清单</a:t>
                      </a:r>
                    </a:p>
                  </a:txBody>
                  <a:tcPr/>
                </a:tc>
                <a:tc>
                  <a:txBody>
                    <a:bodyPr/>
                    <a:lstStyle/>
                    <a:p>
                      <a:pPr marL="0" lvl="0" indent="0">
                        <a:buNone/>
                      </a:pPr>
                      <a:r>
                        <a:rPr sz="2000"/>
                        <a:t>否</a:t>
                      </a:r>
                    </a:p>
                  </a:txBody>
                  <a:tcPr/>
                </a:tc>
                <a:tc>
                  <a:txBody>
                    <a:bodyPr/>
                    <a:lstStyle/>
                    <a:p>
                      <a:pPr marL="0" lvl="0" indent="0">
                        <a:buNone/>
                      </a:pPr>
                      <a:r>
                        <a:rPr sz="2000"/>
                        <a:t>-</a:t>
                      </a:r>
                    </a:p>
                  </a:txBody>
                  <a:tcPr/>
                </a:tc>
                <a:extLst>
                  <a:ext uri="{0D108BD9-81ED-4DB2-BD59-A6C34878D82A}">
                    <a16:rowId xmlns:a16="http://schemas.microsoft.com/office/drawing/2014/main" val="10005"/>
                  </a:ext>
                </a:extLst>
              </a:tr>
              <a:tr h="0">
                <a:tc>
                  <a:txBody>
                    <a:bodyPr/>
                    <a:lstStyle/>
                    <a:p>
                      <a:pPr marL="0" lvl="0" indent="0">
                        <a:buNone/>
                      </a:pPr>
                      <a:r>
                        <a:rPr sz="2000"/>
                        <a:t>6. 制程标准</a:t>
                      </a:r>
                    </a:p>
                  </a:txBody>
                  <a:tcPr/>
                </a:tc>
                <a:tc>
                  <a:txBody>
                    <a:bodyPr/>
                    <a:lstStyle/>
                    <a:p>
                      <a:pPr marL="0" lvl="0" indent="0">
                        <a:buNone/>
                      </a:pPr>
                      <a:r>
                        <a:rPr sz="2000"/>
                        <a:t>否</a:t>
                      </a:r>
                    </a:p>
                  </a:txBody>
                  <a:tcPr/>
                </a:tc>
                <a:tc>
                  <a:txBody>
                    <a:bodyPr/>
                    <a:lstStyle/>
                    <a:p>
                      <a:pPr marL="0" lvl="0" indent="0">
                        <a:buNone/>
                      </a:pPr>
                      <a:r>
                        <a:rPr sz="2000"/>
                        <a:t>-</a:t>
                      </a:r>
                    </a:p>
                  </a:txBody>
                  <a:tcPr/>
                </a:tc>
                <a:extLst>
                  <a:ext uri="{0D108BD9-81ED-4DB2-BD59-A6C34878D82A}">
                    <a16:rowId xmlns:a16="http://schemas.microsoft.com/office/drawing/2014/main" val="10006"/>
                  </a:ext>
                </a:extLst>
              </a:tr>
              <a:tr h="0">
                <a:tc>
                  <a:txBody>
                    <a:bodyPr/>
                    <a:lstStyle/>
                    <a:p>
                      <a:pPr marL="0" lvl="0" indent="0">
                        <a:buNone/>
                      </a:pPr>
                      <a:r>
                        <a:rPr sz="2000"/>
                        <a:t>7. 开模清单</a:t>
                      </a:r>
                    </a:p>
                  </a:txBody>
                  <a:tcPr/>
                </a:tc>
                <a:tc>
                  <a:txBody>
                    <a:bodyPr/>
                    <a:lstStyle/>
                    <a:p>
                      <a:pPr marL="0" lvl="0" indent="0">
                        <a:buNone/>
                      </a:pPr>
                      <a:r>
                        <a:rPr sz="2000"/>
                        <a:t>是</a:t>
                      </a:r>
                    </a:p>
                  </a:txBody>
                  <a:tcPr/>
                </a:tc>
                <a:tc>
                  <a:txBody>
                    <a:bodyPr/>
                    <a:lstStyle/>
                    <a:p>
                      <a:pPr marL="0" lvl="0" indent="0">
                        <a:buNone/>
                      </a:pPr>
                      <a:r>
                        <a:rPr sz="2000"/>
                        <a:t>副本570-941A项目A样开模件清单-0609.xlsx</a:t>
                      </a:r>
                    </a:p>
                  </a:txBody>
                  <a:tcPr/>
                </a:tc>
                <a:extLst>
                  <a:ext uri="{0D108BD9-81ED-4DB2-BD59-A6C34878D82A}">
                    <a16:rowId xmlns:a16="http://schemas.microsoft.com/office/drawing/2014/main" val="10007"/>
                  </a:ext>
                </a:extLst>
              </a:tr>
              <a:tr h="0">
                <a:tc>
                  <a:txBody>
                    <a:bodyPr/>
                    <a:lstStyle/>
                    <a:p>
                      <a:pPr marL="0" lvl="0" indent="0">
                        <a:buNone/>
                      </a:pPr>
                      <a:r>
                        <a:rPr sz="2000"/>
                        <a:t>8. 3D数模</a:t>
                      </a:r>
                    </a:p>
                  </a:txBody>
                  <a:tcPr/>
                </a:tc>
                <a:tc>
                  <a:txBody>
                    <a:bodyPr/>
                    <a:lstStyle/>
                    <a:p>
                      <a:pPr marL="0" lvl="0" indent="0">
                        <a:buNone/>
                      </a:pPr>
                      <a:r>
                        <a:rPr sz="2000"/>
                        <a:t>否</a:t>
                      </a:r>
                    </a:p>
                  </a:txBody>
                  <a:tcPr/>
                </a:tc>
                <a:tc>
                  <a:txBody>
                    <a:bodyPr/>
                    <a:lstStyle/>
                    <a:p>
                      <a:pPr marL="0" lvl="0" indent="0">
                        <a:buNone/>
                      </a:pPr>
                      <a:r>
                        <a:rPr sz="2000"/>
                        <a:t>-</a:t>
                      </a:r>
                    </a:p>
                  </a:txBody>
                  <a:tcPr/>
                </a:tc>
                <a:extLst>
                  <a:ext uri="{0D108BD9-81ED-4DB2-BD59-A6C34878D82A}">
                    <a16:rowId xmlns:a16="http://schemas.microsoft.com/office/drawing/2014/main" val="10008"/>
                  </a:ext>
                </a:extLst>
              </a:tr>
              <a:tr h="0">
                <a:tc>
                  <a:txBody>
                    <a:bodyPr/>
                    <a:lstStyle/>
                    <a:p>
                      <a:pPr marL="0" lvl="0" indent="0">
                        <a:buNone/>
                      </a:pPr>
                      <a:r>
                        <a:rPr sz="2000"/>
                        <a:t>9. 2D图纸</a:t>
                      </a:r>
                    </a:p>
                  </a:txBody>
                  <a:tcPr/>
                </a:tc>
                <a:tc>
                  <a:txBody>
                    <a:bodyPr/>
                    <a:lstStyle/>
                    <a:p>
                      <a:pPr marL="0" lvl="0" indent="0">
                        <a:buNone/>
                      </a:pPr>
                      <a:r>
                        <a:rPr sz="2000"/>
                        <a:t>否</a:t>
                      </a:r>
                    </a:p>
                  </a:txBody>
                  <a:tcPr/>
                </a:tc>
                <a:tc>
                  <a:txBody>
                    <a:bodyPr/>
                    <a:lstStyle/>
                    <a:p>
                      <a:pPr marL="0" lvl="0" indent="0">
                        <a:buNone/>
                      </a:pPr>
                      <a:r>
                        <a:rPr sz="2000"/>
                        <a:t>-</a:t>
                      </a:r>
                    </a:p>
                  </a:txBody>
                  <a:tcPr/>
                </a:tc>
                <a:extLst>
                  <a:ext uri="{0D108BD9-81ED-4DB2-BD59-A6C34878D82A}">
                    <a16:rowId xmlns:a16="http://schemas.microsoft.com/office/drawing/2014/main" val="10009"/>
                  </a:ext>
                </a:extLst>
              </a:tr>
              <a:tr h="0">
                <a:tc>
                  <a:txBody>
                    <a:bodyPr/>
                    <a:lstStyle/>
                    <a:p>
                      <a:pPr marL="0" lvl="0" indent="0">
                        <a:buNone/>
                      </a:pPr>
                      <a:r>
                        <a:rPr sz="2000"/>
                        <a:t>10. BOM清单</a:t>
                      </a:r>
                    </a:p>
                  </a:txBody>
                  <a:tcPr/>
                </a:tc>
                <a:tc>
                  <a:txBody>
                    <a:bodyPr/>
                    <a:lstStyle/>
                    <a:p>
                      <a:pPr marL="0" lvl="0" indent="0">
                        <a:buNone/>
                      </a:pPr>
                      <a:r>
                        <a:rPr sz="2000"/>
                        <a:t>否</a:t>
                      </a:r>
                    </a:p>
                  </a:txBody>
                  <a:tcPr/>
                </a:tc>
                <a:tc>
                  <a:txBody>
                    <a:bodyPr/>
                    <a:lstStyle/>
                    <a:p>
                      <a:pPr marL="0" lvl="0" indent="0">
                        <a:buNone/>
                      </a:pPr>
                      <a:r>
                        <a:rPr sz="2000"/>
                        <a:t>-</a:t>
                      </a:r>
                    </a:p>
                  </a:txBody>
                  <a:tcPr/>
                </a:tc>
                <a:extLst>
                  <a:ext uri="{0D108BD9-81ED-4DB2-BD59-A6C34878D82A}">
                    <a16:rowId xmlns:a16="http://schemas.microsoft.com/office/drawing/2014/main" val="10010"/>
                  </a:ext>
                </a:extLst>
              </a:tr>
              <a:tr h="0">
                <a:tc>
                  <a:txBody>
                    <a:bodyPr/>
                    <a:lstStyle/>
                    <a:p>
                      <a:pPr marL="0" lvl="0" indent="0">
                        <a:buNone/>
                      </a:pPr>
                      <a:r>
                        <a:rPr sz="2000"/>
                        <a:t>11. 仿真报告</a:t>
                      </a:r>
                    </a:p>
                  </a:txBody>
                  <a:tcPr/>
                </a:tc>
                <a:tc>
                  <a:txBody>
                    <a:bodyPr/>
                    <a:lstStyle/>
                    <a:p>
                      <a:pPr marL="0" lvl="0" indent="0">
                        <a:buNone/>
                      </a:pPr>
                      <a:r>
                        <a:rPr sz="2000"/>
                        <a:t>否</a:t>
                      </a:r>
                    </a:p>
                  </a:txBody>
                  <a:tcPr/>
                </a:tc>
                <a:tc>
                  <a:txBody>
                    <a:bodyPr/>
                    <a:lstStyle/>
                    <a:p>
                      <a:pPr marL="0" lvl="0" indent="0">
                        <a:buNone/>
                      </a:pPr>
                      <a:r>
                        <a:rPr sz="2000"/>
                        <a:t>-</a:t>
                      </a:r>
                    </a:p>
                  </a:txBody>
                  <a:tcPr/>
                </a:tc>
                <a:extLst>
                  <a:ext uri="{0D108BD9-81ED-4DB2-BD59-A6C34878D82A}">
                    <a16:rowId xmlns:a16="http://schemas.microsoft.com/office/drawing/2014/main" val="10011"/>
                  </a:ext>
                </a:extLst>
              </a:tr>
              <a:tr h="0">
                <a:tc>
                  <a:txBody>
                    <a:bodyPr/>
                    <a:lstStyle/>
                    <a:p>
                      <a:pPr marL="0" lvl="0" indent="0">
                        <a:buNone/>
                      </a:pPr>
                      <a:r>
                        <a:rPr sz="2000"/>
                        <a:t>12. 测试大纲</a:t>
                      </a:r>
                    </a:p>
                  </a:txBody>
                  <a:tcPr/>
                </a:tc>
                <a:tc>
                  <a:txBody>
                    <a:bodyPr/>
                    <a:lstStyle/>
                    <a:p>
                      <a:pPr marL="0" lvl="0" indent="0">
                        <a:buNone/>
                      </a:pPr>
                      <a:r>
                        <a:rPr sz="2000"/>
                        <a:t>否</a:t>
                      </a:r>
                    </a:p>
                  </a:txBody>
                  <a:tcPr/>
                </a:tc>
                <a:tc>
                  <a:txBody>
                    <a:bodyPr/>
                    <a:lstStyle/>
                    <a:p>
                      <a:pPr marL="0" lvl="0" indent="0">
                        <a:buNone/>
                      </a:pPr>
                      <a:r>
                        <a:rPr sz="2000"/>
                        <a:t>-</a:t>
                      </a:r>
                    </a:p>
                  </a:txBody>
                  <a:tcPr/>
                </a:tc>
                <a:extLst>
                  <a:ext uri="{0D108BD9-81ED-4DB2-BD59-A6C34878D82A}">
                    <a16:rowId xmlns:a16="http://schemas.microsoft.com/office/drawing/2014/main" val="10012"/>
                  </a:ext>
                </a:extLst>
              </a:tr>
              <a:tr h="0">
                <a:tc>
                  <a:txBody>
                    <a:bodyPr/>
                    <a:lstStyle/>
                    <a:p>
                      <a:pPr marL="0" lvl="0" indent="0">
                        <a:buNone/>
                      </a:pPr>
                      <a:r>
                        <a:rPr sz="2000"/>
                        <a:t>13. 专利挖掘清单</a:t>
                      </a:r>
                    </a:p>
                  </a:txBody>
                  <a:tcPr/>
                </a:tc>
                <a:tc>
                  <a:txBody>
                    <a:bodyPr/>
                    <a:lstStyle/>
                    <a:p>
                      <a:pPr marL="0" lvl="0" indent="0">
                        <a:buNone/>
                      </a:pPr>
                      <a:r>
                        <a:rPr sz="2000"/>
                        <a:t>是</a:t>
                      </a:r>
                    </a:p>
                  </a:txBody>
                  <a:tcPr/>
                </a:tc>
                <a:tc>
                  <a:txBody>
                    <a:bodyPr/>
                    <a:lstStyle/>
                    <a:p>
                      <a:pPr marL="0" lvl="0" indent="0">
                        <a:buNone/>
                      </a:pPr>
                      <a:r>
                        <a:rPr sz="2000" dirty="0"/>
                        <a:t>D221N44AA-</a:t>
                      </a:r>
                      <a:r>
                        <a:rPr lang="en-US" altLang="zh-CN" sz="2000" dirty="0"/>
                        <a:t>A</a:t>
                      </a:r>
                      <a:r>
                        <a:rPr lang="zh-CN" altLang="en-US" sz="2000" dirty="0"/>
                        <a:t>样阶段</a:t>
                      </a:r>
                      <a:r>
                        <a:rPr sz="2000" dirty="0"/>
                        <a:t>TR评审报告（IP发明成果和风险评估报告）-A2-20210617.pptx</a:t>
                      </a:r>
                    </a:p>
                  </a:txBody>
                  <a:tcPr/>
                </a:tc>
                <a:extLst>
                  <a:ext uri="{0D108BD9-81ED-4DB2-BD59-A6C34878D82A}">
                    <a16:rowId xmlns:a16="http://schemas.microsoft.com/office/drawing/2014/main" val="10013"/>
                  </a:ext>
                </a:extLst>
              </a:tr>
              <a:tr h="0">
                <a:tc>
                  <a:txBody>
                    <a:bodyPr/>
                    <a:lstStyle/>
                    <a:p>
                      <a:pPr marL="0" lvl="0" indent="0">
                        <a:buNone/>
                      </a:pPr>
                      <a:r>
                        <a:rPr sz="2000"/>
                        <a:t>14. 初版PFMEA</a:t>
                      </a:r>
                    </a:p>
                  </a:txBody>
                  <a:tcPr/>
                </a:tc>
                <a:tc>
                  <a:txBody>
                    <a:bodyPr/>
                    <a:lstStyle/>
                    <a:p>
                      <a:pPr marL="0" lvl="0" indent="0">
                        <a:buNone/>
                      </a:pPr>
                      <a:r>
                        <a:rPr sz="2000"/>
                        <a:t>否</a:t>
                      </a:r>
                    </a:p>
                  </a:txBody>
                  <a:tcPr/>
                </a:tc>
                <a:tc>
                  <a:txBody>
                    <a:bodyPr/>
                    <a:lstStyle/>
                    <a:p>
                      <a:pPr marL="0" lvl="0" indent="0">
                        <a:buNone/>
                      </a:pPr>
                      <a:r>
                        <a:rPr sz="2000"/>
                        <a:t>-</a:t>
                      </a:r>
                    </a:p>
                  </a:txBody>
                  <a:tcPr/>
                </a:tc>
                <a:extLst>
                  <a:ext uri="{0D108BD9-81ED-4DB2-BD59-A6C34878D82A}">
                    <a16:rowId xmlns:a16="http://schemas.microsoft.com/office/drawing/2014/main" val="10014"/>
                  </a:ext>
                </a:extLst>
              </a:tr>
              <a:tr h="0">
                <a:tc>
                  <a:txBody>
                    <a:bodyPr/>
                    <a:lstStyle/>
                    <a:p>
                      <a:pPr marL="0" lvl="0" indent="0">
                        <a:buNone/>
                      </a:pPr>
                      <a:r>
                        <a:rPr sz="2000"/>
                        <a:t>15. 产线规划方案</a:t>
                      </a:r>
                    </a:p>
                  </a:txBody>
                  <a:tcPr/>
                </a:tc>
                <a:tc>
                  <a:txBody>
                    <a:bodyPr/>
                    <a:lstStyle/>
                    <a:p>
                      <a:pPr marL="0" lvl="0" indent="0">
                        <a:buNone/>
                      </a:pPr>
                      <a:r>
                        <a:rPr sz="2000"/>
                        <a:t>否</a:t>
                      </a:r>
                    </a:p>
                  </a:txBody>
                  <a:tcPr/>
                </a:tc>
                <a:tc>
                  <a:txBody>
                    <a:bodyPr/>
                    <a:lstStyle/>
                    <a:p>
                      <a:pPr marL="0" lvl="0" indent="0">
                        <a:buNone/>
                      </a:pPr>
                      <a:r>
                        <a:rPr sz="2000"/>
                        <a:t>-</a:t>
                      </a:r>
                    </a:p>
                  </a:txBody>
                  <a:tcPr/>
                </a:tc>
                <a:extLst>
                  <a:ext uri="{0D108BD9-81ED-4DB2-BD59-A6C34878D82A}">
                    <a16:rowId xmlns:a16="http://schemas.microsoft.com/office/drawing/2014/main" val="10015"/>
                  </a:ext>
                </a:extLst>
              </a:tr>
              <a:tr h="0">
                <a:tc>
                  <a:txBody>
                    <a:bodyPr/>
                    <a:lstStyle/>
                    <a:p>
                      <a:pPr marL="0" lvl="0" indent="0">
                        <a:buNone/>
                      </a:pPr>
                      <a:r>
                        <a:rPr sz="2000"/>
                        <a:t>16. 过程设计初始方案</a:t>
                      </a:r>
                    </a:p>
                  </a:txBody>
                  <a:tcPr/>
                </a:tc>
                <a:tc>
                  <a:txBody>
                    <a:bodyPr/>
                    <a:lstStyle/>
                    <a:p>
                      <a:pPr marL="0" lvl="0" indent="0">
                        <a:buNone/>
                      </a:pPr>
                      <a:r>
                        <a:rPr sz="2000"/>
                        <a:t>否</a:t>
                      </a:r>
                    </a:p>
                  </a:txBody>
                  <a:tcPr/>
                </a:tc>
                <a:tc>
                  <a:txBody>
                    <a:bodyPr/>
                    <a:lstStyle/>
                    <a:p>
                      <a:pPr marL="0" lvl="0" indent="0">
                        <a:buNone/>
                      </a:pPr>
                      <a:r>
                        <a:rPr sz="2000"/>
                        <a:t>-</a:t>
                      </a:r>
                    </a:p>
                  </a:txBody>
                  <a:tcPr/>
                </a:tc>
                <a:extLst>
                  <a:ext uri="{0D108BD9-81ED-4DB2-BD59-A6C34878D82A}">
                    <a16:rowId xmlns:a16="http://schemas.microsoft.com/office/drawing/2014/main" val="10016"/>
                  </a:ext>
                </a:extLst>
              </a:tr>
              <a:tr h="0">
                <a:tc>
                  <a:txBody>
                    <a:bodyPr/>
                    <a:lstStyle/>
                    <a:p>
                      <a:pPr marL="0" lvl="0" indent="0">
                        <a:buNone/>
                      </a:pPr>
                      <a:r>
                        <a:rPr sz="2000"/>
                        <a:t>17. 产品可制造性分析及风险应对报告</a:t>
                      </a:r>
                    </a:p>
                  </a:txBody>
                  <a:tcPr/>
                </a:tc>
                <a:tc>
                  <a:txBody>
                    <a:bodyPr/>
                    <a:lstStyle/>
                    <a:p>
                      <a:pPr marL="0" lvl="0" indent="0">
                        <a:buNone/>
                      </a:pPr>
                      <a:r>
                        <a:rPr sz="2000"/>
                        <a:t>是</a:t>
                      </a:r>
                    </a:p>
                  </a:txBody>
                  <a:tcPr/>
                </a:tc>
                <a:tc>
                  <a:txBody>
                    <a:bodyPr/>
                    <a:lstStyle/>
                    <a:p>
                      <a:pPr marL="0" lvl="0" indent="0">
                        <a:buNone/>
                      </a:pPr>
                      <a:r>
                        <a:rPr sz="2000" dirty="0"/>
                        <a:t>DFM -L946项目箱体（巨石）-V0-2023.05.26.pptx, 中航570-914项目DFM.pptx</a:t>
                      </a:r>
                    </a:p>
                  </a:txBody>
                  <a:tcPr/>
                </a:tc>
                <a:extLst>
                  <a:ext uri="{0D108BD9-81ED-4DB2-BD59-A6C34878D82A}">
                    <a16:rowId xmlns:a16="http://schemas.microsoft.com/office/drawing/2014/main" val="10017"/>
                  </a:ext>
                </a:extLst>
              </a:tr>
              <a:tr h="0">
                <a:tc>
                  <a:txBody>
                    <a:bodyPr/>
                    <a:lstStyle/>
                    <a:p>
                      <a:pPr marL="0" lvl="0" indent="0">
                        <a:buNone/>
                      </a:pPr>
                      <a:r>
                        <a:rPr sz="2000"/>
                        <a:t>18. 初始过程流程图</a:t>
                      </a:r>
                    </a:p>
                  </a:txBody>
                  <a:tcPr/>
                </a:tc>
                <a:tc>
                  <a:txBody>
                    <a:bodyPr/>
                    <a:lstStyle/>
                    <a:p>
                      <a:pPr marL="0" lvl="0" indent="0">
                        <a:buNone/>
                      </a:pPr>
                      <a:r>
                        <a:rPr sz="2000"/>
                        <a:t>是</a:t>
                      </a:r>
                    </a:p>
                  </a:txBody>
                  <a:tcPr/>
                </a:tc>
                <a:tc>
                  <a:txBody>
                    <a:bodyPr/>
                    <a:lstStyle/>
                    <a:p>
                      <a:pPr marL="0" lvl="0" indent="0">
                        <a:buNone/>
                      </a:pPr>
                      <a:r>
                        <a:rPr sz="2000" dirty="0"/>
                        <a:t>副本570-941A 装配过程流程图#A0.xlsx</a:t>
                      </a:r>
                    </a:p>
                  </a:txBody>
                  <a:tcPr/>
                </a:tc>
                <a:extLst>
                  <a:ext uri="{0D108BD9-81ED-4DB2-BD59-A6C34878D82A}">
                    <a16:rowId xmlns:a16="http://schemas.microsoft.com/office/drawing/2014/main" val="10018"/>
                  </a:ext>
                </a:extLst>
              </a:tr>
              <a:tr h="0">
                <a:tc>
                  <a:txBody>
                    <a:bodyPr/>
                    <a:lstStyle/>
                    <a:p>
                      <a:pPr marL="0" lvl="0" indent="0">
                        <a:buNone/>
                      </a:pPr>
                      <a:r>
                        <a:rPr sz="2000"/>
                        <a:t>19. 初始过程特殊特性</a:t>
                      </a:r>
                    </a:p>
                  </a:txBody>
                  <a:tcPr/>
                </a:tc>
                <a:tc>
                  <a:txBody>
                    <a:bodyPr/>
                    <a:lstStyle/>
                    <a:p>
                      <a:pPr marL="0" lvl="0" indent="0">
                        <a:buNone/>
                      </a:pPr>
                      <a:r>
                        <a:rPr sz="2000"/>
                        <a:t>是</a:t>
                      </a:r>
                    </a:p>
                  </a:txBody>
                  <a:tcPr/>
                </a:tc>
                <a:tc>
                  <a:txBody>
                    <a:bodyPr/>
                    <a:lstStyle/>
                    <a:p>
                      <a:pPr marL="0" lvl="0" indent="0">
                        <a:buNone/>
                      </a:pPr>
                      <a:r>
                        <a:rPr sz="2000" dirty="0" err="1"/>
                        <a:t>副本零部件级特殊特性清单（库</a:t>
                      </a:r>
                      <a:r>
                        <a:rPr sz="2000" dirty="0"/>
                        <a:t>）-高压电池-V1.0 - 20230802.xlsx</a:t>
                      </a:r>
                    </a:p>
                  </a:txBody>
                  <a:tcPr/>
                </a:tc>
                <a:extLst>
                  <a:ext uri="{0D108BD9-81ED-4DB2-BD59-A6C34878D82A}">
                    <a16:rowId xmlns:a16="http://schemas.microsoft.com/office/drawing/2014/main" val="10019"/>
                  </a:ext>
                </a:extLst>
              </a:tr>
              <a:tr h="0">
                <a:tc>
                  <a:txBody>
                    <a:bodyPr/>
                    <a:lstStyle/>
                    <a:p>
                      <a:pPr marL="0" lvl="0" indent="0">
                        <a:buNone/>
                      </a:pPr>
                      <a:r>
                        <a:rPr sz="2000"/>
                        <a:t>20. 初版CP</a:t>
                      </a:r>
                    </a:p>
                  </a:txBody>
                  <a:tcPr/>
                </a:tc>
                <a:tc>
                  <a:txBody>
                    <a:bodyPr/>
                    <a:lstStyle/>
                    <a:p>
                      <a:pPr marL="0" lvl="0" indent="0">
                        <a:buNone/>
                      </a:pPr>
                      <a:r>
                        <a:rPr sz="2000"/>
                        <a:t>是</a:t>
                      </a:r>
                    </a:p>
                  </a:txBody>
                  <a:tcPr/>
                </a:tc>
                <a:tc>
                  <a:txBody>
                    <a:bodyPr/>
                    <a:lstStyle/>
                    <a:p>
                      <a:pPr marL="0" lvl="0" indent="0">
                        <a:buNone/>
                      </a:pPr>
                      <a:r>
                        <a:rPr sz="2000" dirty="0"/>
                        <a:t>副本PZP-(Z2-P2)-CP-D221N44AA#电源系统装配控制计划#A0.xlsx</a:t>
                      </a:r>
                    </a:p>
                  </a:txBody>
                  <a:tcPr/>
                </a:tc>
                <a:extLst>
                  <a:ext uri="{0D108BD9-81ED-4DB2-BD59-A6C34878D82A}">
                    <a16:rowId xmlns:a16="http://schemas.microsoft.com/office/drawing/2014/main" val="10020"/>
                  </a:ext>
                </a:extLst>
              </a:tr>
              <a:tr h="0">
                <a:tc>
                  <a:txBody>
                    <a:bodyPr/>
                    <a:lstStyle/>
                    <a:p>
                      <a:pPr marL="0" lvl="0" indent="0">
                        <a:buNone/>
                      </a:pPr>
                      <a:r>
                        <a:rPr sz="2000"/>
                        <a:t>21. 初版SOP</a:t>
                      </a:r>
                    </a:p>
                  </a:txBody>
                  <a:tcPr/>
                </a:tc>
                <a:tc>
                  <a:txBody>
                    <a:bodyPr/>
                    <a:lstStyle/>
                    <a:p>
                      <a:pPr marL="0" lvl="0" indent="0">
                        <a:buNone/>
                      </a:pPr>
                      <a:r>
                        <a:rPr sz="2000"/>
                        <a:t>否</a:t>
                      </a:r>
                    </a:p>
                  </a:txBody>
                  <a:tcPr/>
                </a:tc>
                <a:tc>
                  <a:txBody>
                    <a:bodyPr/>
                    <a:lstStyle/>
                    <a:p>
                      <a:pPr marL="0" lvl="0" indent="0">
                        <a:buNone/>
                      </a:pPr>
                      <a:r>
                        <a:rPr sz="2000"/>
                        <a:t>-</a:t>
                      </a:r>
                    </a:p>
                  </a:txBody>
                  <a:tcPr/>
                </a:tc>
                <a:extLst>
                  <a:ext uri="{0D108BD9-81ED-4DB2-BD59-A6C34878D82A}">
                    <a16:rowId xmlns:a16="http://schemas.microsoft.com/office/drawing/2014/main" val="10021"/>
                  </a:ext>
                </a:extLst>
              </a:tr>
              <a:tr h="0">
                <a:tc>
                  <a:txBody>
                    <a:bodyPr/>
                    <a:lstStyle/>
                    <a:p>
                      <a:pPr marL="0" lvl="0" indent="0">
                        <a:buNone/>
                      </a:pPr>
                      <a:r>
                        <a:rPr sz="2000"/>
                        <a:t>22. 工艺验证计划</a:t>
                      </a:r>
                    </a:p>
                  </a:txBody>
                  <a:tcPr/>
                </a:tc>
                <a:tc>
                  <a:txBody>
                    <a:bodyPr/>
                    <a:lstStyle/>
                    <a:p>
                      <a:pPr marL="0" lvl="0" indent="0">
                        <a:buNone/>
                      </a:pPr>
                      <a:r>
                        <a:rPr sz="2000"/>
                        <a:t>是</a:t>
                      </a:r>
                    </a:p>
                  </a:txBody>
                  <a:tcPr/>
                </a:tc>
                <a:tc>
                  <a:txBody>
                    <a:bodyPr/>
                    <a:lstStyle/>
                    <a:p>
                      <a:pPr marL="0" lvl="0" indent="0">
                        <a:buNone/>
                      </a:pPr>
                      <a:r>
                        <a:rPr sz="2000" dirty="0"/>
                        <a:t>副本D221N44AA-1P104S电池系统PVV验证计划.xlsx</a:t>
                      </a:r>
                    </a:p>
                  </a:txBody>
                  <a:tcPr/>
                </a:tc>
                <a:extLst>
                  <a:ext uri="{0D108BD9-81ED-4DB2-BD59-A6C34878D82A}">
                    <a16:rowId xmlns:a16="http://schemas.microsoft.com/office/drawing/2014/main" val="10022"/>
                  </a:ext>
                </a:extLst>
              </a:tr>
              <a:tr h="0">
                <a:tc>
                  <a:txBody>
                    <a:bodyPr/>
                    <a:lstStyle/>
                    <a:p>
                      <a:pPr marL="0" lvl="0" indent="0">
                        <a:buNone/>
                      </a:pPr>
                      <a:r>
                        <a:rPr sz="2000"/>
                        <a:t>23. 样品包装方案</a:t>
                      </a:r>
                    </a:p>
                  </a:txBody>
                  <a:tcPr/>
                </a:tc>
                <a:tc>
                  <a:txBody>
                    <a:bodyPr/>
                    <a:lstStyle/>
                    <a:p>
                      <a:pPr marL="0" lvl="0" indent="0">
                        <a:buNone/>
                      </a:pPr>
                      <a:r>
                        <a:rPr sz="2000"/>
                        <a:t>否</a:t>
                      </a:r>
                    </a:p>
                  </a:txBody>
                  <a:tcPr/>
                </a:tc>
                <a:tc>
                  <a:txBody>
                    <a:bodyPr/>
                    <a:lstStyle/>
                    <a:p>
                      <a:pPr marL="0" lvl="0" indent="0">
                        <a:buNone/>
                      </a:pPr>
                      <a:r>
                        <a:rPr sz="2000" dirty="0"/>
                        <a:t>-</a:t>
                      </a:r>
                    </a:p>
                  </a:txBody>
                  <a:tcPr/>
                </a:tc>
                <a:extLst>
                  <a:ext uri="{0D108BD9-81ED-4DB2-BD59-A6C34878D82A}">
                    <a16:rowId xmlns:a16="http://schemas.microsoft.com/office/drawing/2014/main" val="10023"/>
                  </a:ext>
                </a:extLst>
              </a:tr>
            </a:tbl>
          </a:graphicData>
        </a:graphic>
      </p:graphicFrame>
      <p:sp>
        <p:nvSpPr>
          <p:cNvPr id="5" name="文本框 4">
            <a:extLst>
              <a:ext uri="{FF2B5EF4-FFF2-40B4-BE49-F238E27FC236}">
                <a16:creationId xmlns:a16="http://schemas.microsoft.com/office/drawing/2014/main" id="{13E3DF54-1D11-0553-DA7B-61CF1211585E}"/>
              </a:ext>
            </a:extLst>
          </p:cNvPr>
          <p:cNvSpPr txBox="1"/>
          <p:nvPr/>
        </p:nvSpPr>
        <p:spPr>
          <a:xfrm>
            <a:off x="1755248" y="678711"/>
            <a:ext cx="7434943" cy="1200329"/>
          </a:xfrm>
          <a:prstGeom prst="rect">
            <a:avLst/>
          </a:prstGeom>
          <a:noFill/>
        </p:spPr>
        <p:txBody>
          <a:bodyPr wrap="square">
            <a:spAutoFit/>
          </a:bodyPr>
          <a:lstStyle/>
          <a:p>
            <a:r>
              <a:rPr lang="zh-CN" altLang="en-US" sz="3600" dirty="0"/>
              <a:t>交付物文件齐套性检测结果：</a:t>
            </a:r>
            <a:endParaRPr lang="en-GB" altLang="zh-CN" sz="3600" dirty="0"/>
          </a:p>
          <a:p>
            <a:r>
              <a:rPr lang="en-US" altLang="zh-CN" sz="3600" dirty="0"/>
              <a:t>A</a:t>
            </a:r>
            <a:r>
              <a:rPr lang="zh-CN" altLang="en-US" sz="3600" dirty="0"/>
              <a:t>样阶段</a:t>
            </a:r>
            <a:endParaRPr lang="en-GB" sz="3600" dirty="0"/>
          </a:p>
        </p:txBody>
      </p:sp>
      <p:sp>
        <p:nvSpPr>
          <p:cNvPr id="6" name="Content Placeholder 2">
            <a:extLst>
              <a:ext uri="{FF2B5EF4-FFF2-40B4-BE49-F238E27FC236}">
                <a16:creationId xmlns:a16="http://schemas.microsoft.com/office/drawing/2014/main" id="{9A2BAFB2-1475-3F79-C9F6-79575CD5704D}"/>
              </a:ext>
            </a:extLst>
          </p:cNvPr>
          <p:cNvSpPr txBox="1">
            <a:spLocks/>
          </p:cNvSpPr>
          <p:nvPr/>
        </p:nvSpPr>
        <p:spPr>
          <a:xfrm>
            <a:off x="11756571" y="1789478"/>
            <a:ext cx="5889171" cy="9503474"/>
          </a:xfrm>
          <a:prstGeom prst="rect">
            <a:avLst/>
          </a:prstGeom>
          <a:ln>
            <a:solidFill>
              <a:schemeClr val="tx1"/>
            </a:solidFill>
          </a:ln>
        </p:spPr>
        <p:txBody>
          <a:bodyPr>
            <a:normAutofit lnSpcReduction="10000"/>
          </a:bodyPr>
          <a:lstStyle>
            <a:lvl1pPr marL="457200" indent="-457200" algn="l" defTabSz="1828800" rtl="0" eaLnBrk="1" latinLnBrk="0" hangingPunct="1">
              <a:lnSpc>
                <a:spcPct val="100000"/>
              </a:lnSpc>
              <a:spcBef>
                <a:spcPts val="2000"/>
              </a:spcBef>
              <a:buClr>
                <a:schemeClr val="accent2"/>
              </a:buClr>
              <a:buFont typeface="Arial" panose="020B0604020202020204" pitchFamily="34" charset="0"/>
              <a:buChar char="•"/>
              <a:defRPr sz="3600" kern="1200">
                <a:solidFill>
                  <a:schemeClr val="tx1">
                    <a:lumMod val="85000"/>
                    <a:lumOff val="15000"/>
                  </a:schemeClr>
                </a:solidFill>
                <a:latin typeface="+mn-lt"/>
                <a:ea typeface="+mn-ea"/>
                <a:cs typeface="+mn-cs"/>
              </a:defRPr>
            </a:lvl1pPr>
            <a:lvl2pPr marL="914400"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a:solidFill>
                  <a:schemeClr val="tx1">
                    <a:lumMod val="85000"/>
                    <a:lumOff val="15000"/>
                  </a:schemeClr>
                </a:solidFill>
                <a:latin typeface="+mn-lt"/>
                <a:ea typeface="+mn-ea"/>
                <a:cs typeface="+mn-cs"/>
              </a:defRPr>
            </a:lvl2pPr>
            <a:lvl3pPr marL="1371600"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a:solidFill>
                  <a:schemeClr val="tx1">
                    <a:lumMod val="85000"/>
                    <a:lumOff val="15000"/>
                  </a:schemeClr>
                </a:solidFill>
                <a:latin typeface="+mn-lt"/>
                <a:ea typeface="+mn-ea"/>
                <a:cs typeface="+mn-cs"/>
              </a:defRPr>
            </a:lvl3pPr>
            <a:lvl4pPr marL="1828800"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a:solidFill>
                  <a:schemeClr val="tx1">
                    <a:lumMod val="85000"/>
                    <a:lumOff val="15000"/>
                  </a:schemeClr>
                </a:solidFill>
                <a:latin typeface="+mn-lt"/>
                <a:ea typeface="+mn-ea"/>
                <a:cs typeface="+mn-cs"/>
              </a:defRPr>
            </a:lvl4pPr>
            <a:lvl5pPr marL="2286000"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a:solidFill>
                  <a:schemeClr val="tx1">
                    <a:lumMod val="85000"/>
                    <a:lumOff val="15000"/>
                  </a:schemeClr>
                </a:solidFill>
                <a:latin typeface="+mn-lt"/>
                <a:ea typeface="+mn-ea"/>
                <a:cs typeface="+mn-cs"/>
              </a:defRPr>
            </a:lvl5pPr>
            <a:lvl6pPr marL="2625725"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a:solidFill>
                  <a:schemeClr val="tx1"/>
                </a:solidFill>
                <a:latin typeface="+mn-lt"/>
                <a:ea typeface="+mn-ea"/>
                <a:cs typeface="+mn-cs"/>
              </a:defRPr>
            </a:lvl6pPr>
            <a:lvl7pPr marL="2968625"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a:solidFill>
                  <a:schemeClr val="tx1"/>
                </a:solidFill>
                <a:latin typeface="+mn-lt"/>
                <a:ea typeface="+mn-ea"/>
                <a:cs typeface="+mn-cs"/>
              </a:defRPr>
            </a:lvl7pPr>
            <a:lvl8pPr marL="3314700"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baseline="0">
                <a:solidFill>
                  <a:schemeClr val="tx1"/>
                </a:solidFill>
                <a:latin typeface="+mn-lt"/>
                <a:ea typeface="+mn-ea"/>
                <a:cs typeface="+mn-cs"/>
              </a:defRPr>
            </a:lvl8pPr>
            <a:lvl9pPr marL="3765550"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baseline="0">
                <a:solidFill>
                  <a:schemeClr val="tx1"/>
                </a:solidFill>
                <a:latin typeface="+mn-lt"/>
                <a:ea typeface="+mn-ea"/>
                <a:cs typeface="+mn-cs"/>
              </a:defRPr>
            </a:lvl9pPr>
          </a:lstStyle>
          <a:p>
            <a:pPr marL="0" indent="0">
              <a:spcBef>
                <a:spcPts val="3000"/>
              </a:spcBef>
              <a:buFont typeface="Arial" panose="020B0604020202020204" pitchFamily="34" charset="0"/>
              <a:buNone/>
            </a:pPr>
            <a:r>
              <a:rPr lang="zh-CN" altLang="en-US" sz="2800" b="1" dirty="0"/>
              <a:t>额外存在的文件</a:t>
            </a:r>
          </a:p>
          <a:p>
            <a:pPr marL="0" indent="0">
              <a:spcBef>
                <a:spcPts val="3000"/>
              </a:spcBef>
              <a:buFont typeface="Arial" panose="020B0604020202020204" pitchFamily="34" charset="0"/>
              <a:buNone/>
            </a:pPr>
            <a:r>
              <a:rPr lang="en-US" altLang="zh-CN" sz="2400" b="1" dirty="0"/>
              <a:t>1. </a:t>
            </a:r>
            <a:r>
              <a:rPr lang="zh-CN" altLang="en-US" sz="2400" b="1" dirty="0"/>
              <a:t>项目控制类文件</a:t>
            </a:r>
          </a:p>
          <a:p>
            <a:pPr lvl="1"/>
            <a:r>
              <a:rPr lang="zh-CN" altLang="en-US" sz="2000" dirty="0"/>
              <a:t>副本</a:t>
            </a:r>
            <a:r>
              <a:rPr lang="en-US" altLang="zh-CN" sz="2000" dirty="0"/>
              <a:t>570-941A</a:t>
            </a:r>
            <a:r>
              <a:rPr lang="zh-CN" altLang="en-US" sz="2000" dirty="0"/>
              <a:t>项目管制表</a:t>
            </a:r>
            <a:r>
              <a:rPr lang="en-US" altLang="zh-CN" sz="2000" dirty="0"/>
              <a:t>APQP-V2.xlsx</a:t>
            </a:r>
          </a:p>
          <a:p>
            <a:pPr lvl="1"/>
            <a:r>
              <a:rPr lang="zh-CN" altLang="en-US" sz="2000" dirty="0"/>
              <a:t>副本</a:t>
            </a:r>
            <a:r>
              <a:rPr lang="en-US" altLang="zh-CN" sz="2000" dirty="0"/>
              <a:t>570-941A</a:t>
            </a:r>
            <a:r>
              <a:rPr lang="zh-CN" altLang="en-US" sz="2000" dirty="0"/>
              <a:t>样件技术状态历程表</a:t>
            </a:r>
            <a:r>
              <a:rPr lang="en-US" altLang="zh-CN" sz="2000" dirty="0"/>
              <a:t>.xlsx</a:t>
            </a:r>
          </a:p>
          <a:p>
            <a:pPr lvl="1"/>
            <a:r>
              <a:rPr lang="zh-CN" altLang="en-US" sz="2000" dirty="0"/>
              <a:t>副本</a:t>
            </a:r>
            <a:r>
              <a:rPr lang="en-US" altLang="zh-CN" sz="2000" dirty="0"/>
              <a:t>D221N44AA-A</a:t>
            </a:r>
            <a:r>
              <a:rPr lang="zh-CN" altLang="en-US" sz="2000" dirty="0"/>
              <a:t>样试制资源规划确认</a:t>
            </a:r>
            <a:r>
              <a:rPr lang="en-US" altLang="zh-CN" sz="2000" dirty="0"/>
              <a:t>.xlsx</a:t>
            </a:r>
          </a:p>
          <a:p>
            <a:pPr lvl="1"/>
            <a:r>
              <a:rPr lang="zh-CN" altLang="en-US" sz="2000" dirty="0"/>
              <a:t>副本</a:t>
            </a:r>
            <a:r>
              <a:rPr lang="en-US" altLang="zh-CN" sz="2000" dirty="0"/>
              <a:t>570-941</a:t>
            </a:r>
            <a:r>
              <a:rPr lang="zh-CN" altLang="en-US" sz="2000" dirty="0"/>
              <a:t>试制风险计划表</a:t>
            </a:r>
            <a:r>
              <a:rPr lang="en-US" altLang="zh-CN" sz="2000" dirty="0"/>
              <a:t>0930</a:t>
            </a:r>
            <a:r>
              <a:rPr lang="zh-CN" altLang="en-US" sz="2000" dirty="0"/>
              <a:t>（各阶段适用）</a:t>
            </a:r>
            <a:r>
              <a:rPr lang="en-US" altLang="zh-CN" sz="2000" dirty="0"/>
              <a:t>.xlsx</a:t>
            </a:r>
          </a:p>
          <a:p>
            <a:pPr lvl="1"/>
            <a:r>
              <a:rPr lang="zh-CN" altLang="en-US" sz="2000" dirty="0"/>
              <a:t>副本</a:t>
            </a:r>
            <a:r>
              <a:rPr lang="en-US" altLang="zh-CN" sz="2000" dirty="0"/>
              <a:t>941</a:t>
            </a:r>
            <a:r>
              <a:rPr lang="zh-CN" altLang="en-US" sz="2000" dirty="0"/>
              <a:t>项目总体风险计划表</a:t>
            </a:r>
            <a:r>
              <a:rPr lang="en-US" altLang="zh-CN" sz="2000" dirty="0"/>
              <a:t>0110-V1.xlsx</a:t>
            </a:r>
          </a:p>
          <a:p>
            <a:pPr marL="0" indent="0">
              <a:spcBef>
                <a:spcPts val="3000"/>
              </a:spcBef>
              <a:buFont typeface="Arial" panose="020B0604020202020204" pitchFamily="34" charset="0"/>
              <a:buNone/>
            </a:pPr>
            <a:r>
              <a:rPr lang="en-US" altLang="zh-CN" sz="2400" b="1" dirty="0"/>
              <a:t>2. </a:t>
            </a:r>
            <a:r>
              <a:rPr lang="zh-CN" altLang="en-US" sz="2400" b="1" dirty="0"/>
              <a:t>评审与总结类文件</a:t>
            </a:r>
          </a:p>
          <a:p>
            <a:pPr lvl="1"/>
            <a:r>
              <a:rPr lang="en-US" altLang="zh-CN" sz="2000" dirty="0"/>
              <a:t>570-941A</a:t>
            </a:r>
            <a:r>
              <a:rPr lang="zh-CN" altLang="en-US" sz="2000" dirty="0"/>
              <a:t>项目</a:t>
            </a:r>
            <a:r>
              <a:rPr lang="en-US" altLang="zh-CN" sz="2000" dirty="0"/>
              <a:t>TR</a:t>
            </a:r>
            <a:r>
              <a:rPr lang="zh-CN" altLang="en-US" sz="2000" dirty="0"/>
              <a:t>评审</a:t>
            </a:r>
            <a:r>
              <a:rPr lang="en-US" altLang="zh-CN" sz="2000" dirty="0"/>
              <a:t>&amp;</a:t>
            </a:r>
            <a:r>
              <a:rPr lang="zh-CN" altLang="en-US" sz="2000" dirty="0"/>
              <a:t>里程碑报告</a:t>
            </a:r>
            <a:r>
              <a:rPr lang="en-US" altLang="zh-CN" sz="2000" dirty="0"/>
              <a:t>-V1-</a:t>
            </a:r>
            <a:r>
              <a:rPr lang="zh-CN" altLang="en-US" sz="2000" dirty="0"/>
              <a:t>研发</a:t>
            </a:r>
            <a:r>
              <a:rPr lang="en-US" altLang="zh-CN" sz="2000" dirty="0"/>
              <a:t>-20231027.pptx</a:t>
            </a:r>
          </a:p>
          <a:p>
            <a:pPr lvl="1"/>
            <a:r>
              <a:rPr lang="en-US" altLang="zh-CN" sz="2000" dirty="0"/>
              <a:t>570-941A</a:t>
            </a:r>
            <a:r>
              <a:rPr lang="zh-CN" altLang="en-US" sz="2000" dirty="0"/>
              <a:t>项目</a:t>
            </a:r>
            <a:r>
              <a:rPr lang="en-US" altLang="zh-CN" sz="2000" dirty="0"/>
              <a:t>TR</a:t>
            </a:r>
            <a:r>
              <a:rPr lang="zh-CN" altLang="en-US" sz="2000" dirty="0"/>
              <a:t>评审</a:t>
            </a:r>
            <a:r>
              <a:rPr lang="en-US" altLang="zh-CN" sz="2000" dirty="0"/>
              <a:t>&amp;</a:t>
            </a:r>
            <a:r>
              <a:rPr lang="zh-CN" altLang="en-US" sz="2000" dirty="0"/>
              <a:t>里程碑报告</a:t>
            </a:r>
            <a:r>
              <a:rPr lang="en-US" altLang="zh-CN" sz="2000" dirty="0"/>
              <a:t>-V2.pptx</a:t>
            </a:r>
          </a:p>
          <a:p>
            <a:pPr lvl="1"/>
            <a:r>
              <a:rPr lang="en-US" altLang="zh-CN" sz="2000" dirty="0"/>
              <a:t>570-941A</a:t>
            </a:r>
            <a:r>
              <a:rPr lang="zh-CN" altLang="en-US" sz="2000" dirty="0"/>
              <a:t>项目</a:t>
            </a:r>
            <a:r>
              <a:rPr lang="en-US" altLang="zh-CN" sz="2000" dirty="0"/>
              <a:t>A0</a:t>
            </a:r>
            <a:r>
              <a:rPr lang="zh-CN" altLang="en-US" sz="2000" dirty="0"/>
              <a:t>样试制总结报告</a:t>
            </a:r>
            <a:r>
              <a:rPr lang="en-US" altLang="zh-CN" sz="2000" dirty="0"/>
              <a:t>0907.pptx</a:t>
            </a:r>
          </a:p>
          <a:p>
            <a:pPr marL="0" indent="0">
              <a:spcBef>
                <a:spcPts val="3000"/>
              </a:spcBef>
              <a:buFont typeface="Arial" panose="020B0604020202020204" pitchFamily="34" charset="0"/>
              <a:buNone/>
            </a:pPr>
            <a:r>
              <a:rPr lang="en-US" altLang="zh-CN" sz="2400" b="1" dirty="0"/>
              <a:t>3. </a:t>
            </a:r>
            <a:r>
              <a:rPr lang="zh-CN" altLang="en-US" sz="2400" b="1" dirty="0"/>
              <a:t>工装与制造类文件</a:t>
            </a:r>
          </a:p>
          <a:p>
            <a:pPr lvl="1"/>
            <a:r>
              <a:rPr lang="zh-CN" altLang="en-US" sz="2000" dirty="0"/>
              <a:t>副本</a:t>
            </a:r>
            <a:r>
              <a:rPr lang="en-US" altLang="zh-CN" sz="2000" dirty="0"/>
              <a:t>570-941A</a:t>
            </a:r>
            <a:r>
              <a:rPr lang="zh-CN" altLang="en-US" sz="2000" dirty="0"/>
              <a:t>工装清单</a:t>
            </a:r>
            <a:r>
              <a:rPr lang="en-US" altLang="zh-CN" sz="2000" dirty="0"/>
              <a:t>.xlsx</a:t>
            </a:r>
          </a:p>
          <a:p>
            <a:pPr lvl="1"/>
            <a:r>
              <a:rPr lang="zh-CN" altLang="en-US" sz="2000" dirty="0"/>
              <a:t>副本</a:t>
            </a:r>
            <a:r>
              <a:rPr lang="en-US" altLang="zh-CN" sz="2000" dirty="0"/>
              <a:t>570-941B</a:t>
            </a:r>
            <a:r>
              <a:rPr lang="zh-CN" altLang="en-US" sz="2000" dirty="0"/>
              <a:t>样结构试装优化</a:t>
            </a:r>
            <a:r>
              <a:rPr lang="en-US" altLang="zh-CN" sz="2000" dirty="0"/>
              <a:t>0411.xlsx</a:t>
            </a:r>
          </a:p>
        </p:txBody>
      </p:sp>
      <p:sp>
        <p:nvSpPr>
          <p:cNvPr id="7" name="Content Placeholder 2">
            <a:extLst>
              <a:ext uri="{FF2B5EF4-FFF2-40B4-BE49-F238E27FC236}">
                <a16:creationId xmlns:a16="http://schemas.microsoft.com/office/drawing/2014/main" id="{655CAEFC-51AB-8BD6-7619-5E69608BD9B4}"/>
              </a:ext>
            </a:extLst>
          </p:cNvPr>
          <p:cNvSpPr txBox="1">
            <a:spLocks/>
          </p:cNvSpPr>
          <p:nvPr/>
        </p:nvSpPr>
        <p:spPr>
          <a:xfrm>
            <a:off x="17746068" y="1786223"/>
            <a:ext cx="6564085" cy="11845556"/>
          </a:xfrm>
          <a:prstGeom prst="rect">
            <a:avLst/>
          </a:prstGeom>
          <a:ln>
            <a:solidFill>
              <a:schemeClr val="tx1"/>
            </a:solidFill>
          </a:ln>
        </p:spPr>
        <p:txBody>
          <a:bodyPr>
            <a:noAutofit/>
          </a:bodyPr>
          <a:lstStyle>
            <a:lvl1pPr marL="457200" indent="-457200" algn="l" defTabSz="1828800" rtl="0" eaLnBrk="1" latinLnBrk="0" hangingPunct="1">
              <a:lnSpc>
                <a:spcPct val="100000"/>
              </a:lnSpc>
              <a:spcBef>
                <a:spcPts val="2000"/>
              </a:spcBef>
              <a:buClr>
                <a:schemeClr val="accent2"/>
              </a:buClr>
              <a:buFont typeface="Arial" panose="020B0604020202020204" pitchFamily="34" charset="0"/>
              <a:buChar char="•"/>
              <a:defRPr sz="3600" kern="1200">
                <a:solidFill>
                  <a:schemeClr val="tx1">
                    <a:lumMod val="85000"/>
                    <a:lumOff val="15000"/>
                  </a:schemeClr>
                </a:solidFill>
                <a:latin typeface="+mn-lt"/>
                <a:ea typeface="+mn-ea"/>
                <a:cs typeface="+mn-cs"/>
              </a:defRPr>
            </a:lvl1pPr>
            <a:lvl2pPr marL="914400"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a:solidFill>
                  <a:schemeClr val="tx1">
                    <a:lumMod val="85000"/>
                    <a:lumOff val="15000"/>
                  </a:schemeClr>
                </a:solidFill>
                <a:latin typeface="+mn-lt"/>
                <a:ea typeface="+mn-ea"/>
                <a:cs typeface="+mn-cs"/>
              </a:defRPr>
            </a:lvl2pPr>
            <a:lvl3pPr marL="1371600"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a:solidFill>
                  <a:schemeClr val="tx1">
                    <a:lumMod val="85000"/>
                    <a:lumOff val="15000"/>
                  </a:schemeClr>
                </a:solidFill>
                <a:latin typeface="+mn-lt"/>
                <a:ea typeface="+mn-ea"/>
                <a:cs typeface="+mn-cs"/>
              </a:defRPr>
            </a:lvl3pPr>
            <a:lvl4pPr marL="1828800"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a:solidFill>
                  <a:schemeClr val="tx1">
                    <a:lumMod val="85000"/>
                    <a:lumOff val="15000"/>
                  </a:schemeClr>
                </a:solidFill>
                <a:latin typeface="+mn-lt"/>
                <a:ea typeface="+mn-ea"/>
                <a:cs typeface="+mn-cs"/>
              </a:defRPr>
            </a:lvl4pPr>
            <a:lvl5pPr marL="2286000"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a:solidFill>
                  <a:schemeClr val="tx1">
                    <a:lumMod val="85000"/>
                    <a:lumOff val="15000"/>
                  </a:schemeClr>
                </a:solidFill>
                <a:latin typeface="+mn-lt"/>
                <a:ea typeface="+mn-ea"/>
                <a:cs typeface="+mn-cs"/>
              </a:defRPr>
            </a:lvl5pPr>
            <a:lvl6pPr marL="2625725"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a:solidFill>
                  <a:schemeClr val="tx1"/>
                </a:solidFill>
                <a:latin typeface="+mn-lt"/>
                <a:ea typeface="+mn-ea"/>
                <a:cs typeface="+mn-cs"/>
              </a:defRPr>
            </a:lvl6pPr>
            <a:lvl7pPr marL="2968625"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a:solidFill>
                  <a:schemeClr val="tx1"/>
                </a:solidFill>
                <a:latin typeface="+mn-lt"/>
                <a:ea typeface="+mn-ea"/>
                <a:cs typeface="+mn-cs"/>
              </a:defRPr>
            </a:lvl7pPr>
            <a:lvl8pPr marL="3314700"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baseline="0">
                <a:solidFill>
                  <a:schemeClr val="tx1"/>
                </a:solidFill>
                <a:latin typeface="+mn-lt"/>
                <a:ea typeface="+mn-ea"/>
                <a:cs typeface="+mn-cs"/>
              </a:defRPr>
            </a:lvl8pPr>
            <a:lvl9pPr marL="3765550"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baseline="0">
                <a:solidFill>
                  <a:schemeClr val="tx1"/>
                </a:solidFill>
                <a:latin typeface="+mn-lt"/>
                <a:ea typeface="+mn-ea"/>
                <a:cs typeface="+mn-cs"/>
              </a:defRPr>
            </a:lvl9pPr>
          </a:lstStyle>
          <a:p>
            <a:pPr marL="0" indent="0">
              <a:lnSpc>
                <a:spcPts val="1800"/>
              </a:lnSpc>
              <a:spcBef>
                <a:spcPts val="3000"/>
              </a:spcBef>
              <a:buNone/>
            </a:pPr>
            <a:r>
              <a:rPr lang="zh-CN" altLang="en-US" sz="2400" b="1" dirty="0"/>
              <a:t>建议</a:t>
            </a:r>
            <a:endParaRPr lang="en-GB" altLang="zh-CN" sz="2400" b="1" dirty="0"/>
          </a:p>
          <a:p>
            <a:pPr marL="0" indent="0">
              <a:lnSpc>
                <a:spcPts val="1800"/>
              </a:lnSpc>
              <a:spcBef>
                <a:spcPts val="3000"/>
              </a:spcBef>
              <a:buNone/>
            </a:pPr>
            <a:r>
              <a:rPr lang="en-US" altLang="zh-CN" sz="2400" b="1" dirty="0"/>
              <a:t>1. </a:t>
            </a:r>
            <a:r>
              <a:rPr lang="zh-CN" altLang="en-US" sz="2400" b="1" dirty="0"/>
              <a:t>需要补充的关键文件</a:t>
            </a:r>
          </a:p>
          <a:p>
            <a:pPr lvl="1">
              <a:lnSpc>
                <a:spcPts val="1800"/>
              </a:lnSpc>
            </a:pPr>
            <a:r>
              <a:rPr lang="zh-CN" altLang="en-US" sz="2000" dirty="0"/>
              <a:t>电芯规格书</a:t>
            </a:r>
          </a:p>
          <a:p>
            <a:pPr lvl="1">
              <a:lnSpc>
                <a:spcPts val="1800"/>
              </a:lnSpc>
            </a:pPr>
            <a:r>
              <a:rPr lang="zh-CN" altLang="en-US" sz="2000" dirty="0"/>
              <a:t>三新清单</a:t>
            </a:r>
          </a:p>
          <a:p>
            <a:pPr lvl="1">
              <a:lnSpc>
                <a:spcPts val="1800"/>
              </a:lnSpc>
            </a:pPr>
            <a:r>
              <a:rPr lang="zh-CN" altLang="en-US" sz="2000" dirty="0"/>
              <a:t>制程标准</a:t>
            </a:r>
          </a:p>
          <a:p>
            <a:pPr lvl="1">
              <a:lnSpc>
                <a:spcPts val="1800"/>
              </a:lnSpc>
            </a:pPr>
            <a:r>
              <a:rPr lang="en-US" altLang="zh-CN" sz="2000" dirty="0"/>
              <a:t>3D</a:t>
            </a:r>
            <a:r>
              <a:rPr lang="zh-CN" altLang="en-US" sz="2000" dirty="0"/>
              <a:t>数模</a:t>
            </a:r>
          </a:p>
          <a:p>
            <a:pPr lvl="1">
              <a:lnSpc>
                <a:spcPts val="1800"/>
              </a:lnSpc>
            </a:pPr>
            <a:r>
              <a:rPr lang="en-US" altLang="zh-CN" sz="2000" dirty="0"/>
              <a:t>2D</a:t>
            </a:r>
            <a:r>
              <a:rPr lang="zh-CN" altLang="en-US" sz="2000" dirty="0"/>
              <a:t>图纸</a:t>
            </a:r>
          </a:p>
          <a:p>
            <a:pPr lvl="1">
              <a:lnSpc>
                <a:spcPts val="1800"/>
              </a:lnSpc>
            </a:pPr>
            <a:r>
              <a:rPr lang="en-US" altLang="zh-CN" sz="2000" dirty="0"/>
              <a:t>BOM</a:t>
            </a:r>
            <a:r>
              <a:rPr lang="zh-CN" altLang="en-US" sz="2000" dirty="0"/>
              <a:t>清单</a:t>
            </a:r>
          </a:p>
          <a:p>
            <a:pPr lvl="1">
              <a:lnSpc>
                <a:spcPts val="1800"/>
              </a:lnSpc>
            </a:pPr>
            <a:r>
              <a:rPr lang="zh-CN" altLang="en-US" sz="2000" dirty="0"/>
              <a:t>仿真报告</a:t>
            </a:r>
          </a:p>
          <a:p>
            <a:pPr lvl="1">
              <a:lnSpc>
                <a:spcPts val="1800"/>
              </a:lnSpc>
            </a:pPr>
            <a:r>
              <a:rPr lang="zh-CN" altLang="en-US" sz="2000" dirty="0"/>
              <a:t>测试大纲</a:t>
            </a:r>
          </a:p>
          <a:p>
            <a:pPr lvl="1">
              <a:lnSpc>
                <a:spcPts val="1800"/>
              </a:lnSpc>
            </a:pPr>
            <a:r>
              <a:rPr lang="zh-CN" altLang="en-US" sz="2000" dirty="0"/>
              <a:t>初版</a:t>
            </a:r>
            <a:r>
              <a:rPr lang="en-US" altLang="zh-CN" sz="2000" dirty="0"/>
              <a:t>PFMEA</a:t>
            </a:r>
            <a:endParaRPr lang="zh-CN" altLang="en-US" sz="2000" dirty="0"/>
          </a:p>
          <a:p>
            <a:pPr lvl="1">
              <a:lnSpc>
                <a:spcPts val="1800"/>
              </a:lnSpc>
            </a:pPr>
            <a:r>
              <a:rPr lang="zh-CN" altLang="en-US" sz="2000" dirty="0"/>
              <a:t>产线规划方案</a:t>
            </a:r>
          </a:p>
          <a:p>
            <a:pPr lvl="1">
              <a:lnSpc>
                <a:spcPts val="1800"/>
              </a:lnSpc>
            </a:pPr>
            <a:r>
              <a:rPr lang="zh-CN" altLang="en-US" sz="2000" dirty="0"/>
              <a:t>过程设计初始方案</a:t>
            </a:r>
          </a:p>
          <a:p>
            <a:pPr lvl="1">
              <a:lnSpc>
                <a:spcPts val="1800"/>
              </a:lnSpc>
            </a:pPr>
            <a:r>
              <a:rPr lang="zh-CN" altLang="en-US" sz="2000" dirty="0"/>
              <a:t>初版</a:t>
            </a:r>
            <a:r>
              <a:rPr lang="en-US" altLang="zh-CN" sz="2000" dirty="0"/>
              <a:t>SOP</a:t>
            </a:r>
            <a:endParaRPr lang="zh-CN" altLang="en-US" sz="2000" dirty="0"/>
          </a:p>
          <a:p>
            <a:pPr lvl="1">
              <a:lnSpc>
                <a:spcPts val="1800"/>
              </a:lnSpc>
            </a:pPr>
            <a:r>
              <a:rPr lang="zh-CN" altLang="en-US" sz="2000" dirty="0"/>
              <a:t>样品包装方案</a:t>
            </a:r>
          </a:p>
          <a:p>
            <a:pPr marL="0" indent="0">
              <a:lnSpc>
                <a:spcPts val="1800"/>
              </a:lnSpc>
              <a:spcBef>
                <a:spcPts val="3000"/>
              </a:spcBef>
              <a:buFont typeface="Arial" panose="020B0604020202020204" pitchFamily="34" charset="0"/>
              <a:buNone/>
            </a:pPr>
            <a:r>
              <a:rPr lang="en-US" altLang="zh-CN" sz="2400" b="1" dirty="0"/>
              <a:t>2. </a:t>
            </a:r>
            <a:r>
              <a:rPr lang="zh-CN" altLang="en-US" sz="2400" b="1" dirty="0"/>
              <a:t>风险管理建议</a:t>
            </a:r>
          </a:p>
          <a:p>
            <a:pPr lvl="1">
              <a:lnSpc>
                <a:spcPts val="1800"/>
              </a:lnSpc>
            </a:pPr>
            <a:r>
              <a:rPr lang="zh-CN" altLang="en-US" sz="2000" dirty="0"/>
              <a:t>建议优先补充技术类文件（</a:t>
            </a:r>
            <a:r>
              <a:rPr lang="en-US" altLang="zh-CN" sz="2000" dirty="0"/>
              <a:t>3D</a:t>
            </a:r>
            <a:r>
              <a:rPr lang="zh-CN" altLang="en-US" sz="2000" dirty="0"/>
              <a:t>数模、</a:t>
            </a:r>
            <a:r>
              <a:rPr lang="en-US" altLang="zh-CN" sz="2000" dirty="0"/>
              <a:t>2D</a:t>
            </a:r>
            <a:r>
              <a:rPr lang="zh-CN" altLang="en-US" sz="2000" dirty="0"/>
              <a:t>图纸、</a:t>
            </a:r>
            <a:r>
              <a:rPr lang="en-US" altLang="zh-CN" sz="2000" dirty="0"/>
              <a:t>BOM</a:t>
            </a:r>
            <a:r>
              <a:rPr lang="zh-CN" altLang="en-US" sz="2000" dirty="0"/>
              <a:t>清单）</a:t>
            </a:r>
          </a:p>
          <a:p>
            <a:pPr lvl="1">
              <a:lnSpc>
                <a:spcPts val="1800"/>
              </a:lnSpc>
            </a:pPr>
            <a:r>
              <a:rPr lang="zh-CN" altLang="en-US" sz="2000" dirty="0"/>
              <a:t>其次补充工艺类文件（制程标准、初版</a:t>
            </a:r>
            <a:r>
              <a:rPr lang="en-US" altLang="zh-CN" sz="2000" dirty="0"/>
              <a:t>SOP</a:t>
            </a:r>
            <a:r>
              <a:rPr lang="zh-CN" altLang="en-US" sz="2000" dirty="0"/>
              <a:t>、产线规划方案）</a:t>
            </a:r>
          </a:p>
          <a:p>
            <a:pPr lvl="1">
              <a:lnSpc>
                <a:spcPts val="1800"/>
              </a:lnSpc>
            </a:pPr>
            <a:r>
              <a:rPr lang="zh-CN" altLang="en-US" sz="2000" dirty="0"/>
              <a:t>最后补充验证类文件（测试大纲、仿真报告）</a:t>
            </a:r>
          </a:p>
          <a:p>
            <a:pPr marL="0" indent="0">
              <a:lnSpc>
                <a:spcPts val="1800"/>
              </a:lnSpc>
              <a:spcBef>
                <a:spcPts val="3000"/>
              </a:spcBef>
              <a:buFont typeface="Arial" panose="020B0604020202020204" pitchFamily="34" charset="0"/>
              <a:buNone/>
            </a:pPr>
            <a:r>
              <a:rPr lang="en-US" altLang="zh-CN" sz="2400" b="1" dirty="0"/>
              <a:t>3. </a:t>
            </a:r>
            <a:r>
              <a:rPr lang="zh-CN" altLang="en-US" sz="2400" b="1" dirty="0"/>
              <a:t>进度管理建议</a:t>
            </a:r>
          </a:p>
          <a:p>
            <a:pPr lvl="1">
              <a:lnSpc>
                <a:spcPts val="1800"/>
              </a:lnSpc>
            </a:pPr>
            <a:r>
              <a:rPr lang="zh-CN" altLang="en-US" sz="2000" dirty="0"/>
              <a:t>建议制定文件补充计划，明确责任人</a:t>
            </a:r>
          </a:p>
          <a:p>
            <a:pPr lvl="1">
              <a:lnSpc>
                <a:spcPts val="1800"/>
              </a:lnSpc>
            </a:pPr>
            <a:r>
              <a:rPr lang="zh-CN" altLang="en-US" sz="2000" dirty="0"/>
              <a:t>设置文件交付时间节点</a:t>
            </a:r>
          </a:p>
          <a:p>
            <a:pPr lvl="1">
              <a:lnSpc>
                <a:spcPts val="1800"/>
              </a:lnSpc>
            </a:pPr>
            <a:r>
              <a:rPr lang="zh-CN" altLang="en-US" sz="2000" dirty="0"/>
              <a:t>定期跟踪文件完成情况</a:t>
            </a:r>
          </a:p>
        </p:txBody>
      </p:sp>
    </p:spTree>
    <p:extLst>
      <p:ext uri="{BB962C8B-B14F-4D97-AF65-F5344CB8AC3E}">
        <p14:creationId xmlns:p14="http://schemas.microsoft.com/office/powerpoint/2010/main" val="3303344094"/>
      </p:ext>
    </p:extLst>
  </p:cSld>
  <p:clrMapOvr>
    <a:masterClrMapping/>
  </p:clrMapOvr>
  <p:transition spd="med"/>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Content Placeholder 5">
            <a:extLst>
              <a:ext uri="{FF2B5EF4-FFF2-40B4-BE49-F238E27FC236}">
                <a16:creationId xmlns:a16="http://schemas.microsoft.com/office/drawing/2014/main" id="{FA4F084F-FE47-C9C3-576C-3BBBFDB3E800}"/>
              </a:ext>
            </a:extLst>
          </p:cNvPr>
          <p:cNvGraphicFramePr>
            <a:graphicFrameLocks/>
          </p:cNvGraphicFramePr>
          <p:nvPr>
            <p:extLst>
              <p:ext uri="{D42A27DB-BD31-4B8C-83A1-F6EECF244321}">
                <p14:modId xmlns:p14="http://schemas.microsoft.com/office/powerpoint/2010/main" val="3710246917"/>
              </p:ext>
            </p:extLst>
          </p:nvPr>
        </p:nvGraphicFramePr>
        <p:xfrm>
          <a:off x="222423" y="2848233"/>
          <a:ext cx="13320584" cy="9509760"/>
        </p:xfrm>
        <a:graphic>
          <a:graphicData uri="http://schemas.openxmlformats.org/drawingml/2006/table">
            <a:tbl>
              <a:tblPr firstRow="1" bandRow="1"/>
              <a:tblGrid>
                <a:gridCol w="2048712">
                  <a:extLst>
                    <a:ext uri="{9D8B030D-6E8A-4147-A177-3AD203B41FA5}">
                      <a16:colId xmlns:a16="http://schemas.microsoft.com/office/drawing/2014/main" val="20000"/>
                    </a:ext>
                  </a:extLst>
                </a:gridCol>
                <a:gridCol w="1262897">
                  <a:extLst>
                    <a:ext uri="{9D8B030D-6E8A-4147-A177-3AD203B41FA5}">
                      <a16:colId xmlns:a16="http://schemas.microsoft.com/office/drawing/2014/main" val="20001"/>
                    </a:ext>
                  </a:extLst>
                </a:gridCol>
                <a:gridCol w="10008975">
                  <a:extLst>
                    <a:ext uri="{9D8B030D-6E8A-4147-A177-3AD203B41FA5}">
                      <a16:colId xmlns:a16="http://schemas.microsoft.com/office/drawing/2014/main" val="20002"/>
                    </a:ext>
                  </a:extLst>
                </a:gridCol>
              </a:tblGrid>
              <a:tr h="0">
                <a:tc>
                  <a:txBody>
                    <a:bodyPr/>
                    <a:lstStyle/>
                    <a:p>
                      <a:pPr marL="0" lvl="0" indent="0">
                        <a:buNone/>
                      </a:pPr>
                      <a:r>
                        <a:rPr sz="2000"/>
                        <a:t>应包含的文件</a:t>
                      </a:r>
                    </a:p>
                  </a:txBody>
                  <a:tcPr/>
                </a:tc>
                <a:tc>
                  <a:txBody>
                    <a:bodyPr/>
                    <a:lstStyle/>
                    <a:p>
                      <a:pPr marL="0" lvl="0" indent="0">
                        <a:buNone/>
                      </a:pPr>
                      <a:r>
                        <a:rPr sz="2000"/>
                        <a:t>是否存在</a:t>
                      </a:r>
                    </a:p>
                  </a:txBody>
                  <a:tcPr/>
                </a:tc>
                <a:tc>
                  <a:txBody>
                    <a:bodyPr/>
                    <a:lstStyle/>
                    <a:p>
                      <a:pPr marL="0" lvl="0" indent="0">
                        <a:buNone/>
                      </a:pPr>
                      <a:r>
                        <a:rPr sz="2000"/>
                        <a:t>对应文件名</a:t>
                      </a:r>
                    </a:p>
                  </a:txBody>
                  <a:tcPr/>
                </a:tc>
                <a:extLst>
                  <a:ext uri="{0D108BD9-81ED-4DB2-BD59-A6C34878D82A}">
                    <a16:rowId xmlns:a16="http://schemas.microsoft.com/office/drawing/2014/main" val="10000"/>
                  </a:ext>
                </a:extLst>
              </a:tr>
              <a:tr h="0">
                <a:tc>
                  <a:txBody>
                    <a:bodyPr/>
                    <a:lstStyle/>
                    <a:p>
                      <a:pPr marL="0" lvl="0" indent="0">
                        <a:buNone/>
                      </a:pPr>
                      <a:r>
                        <a:rPr sz="2000" dirty="0"/>
                        <a:t>1. </a:t>
                      </a:r>
                      <a:r>
                        <a:rPr sz="2000" dirty="0" err="1"/>
                        <a:t>设计变更履历表</a:t>
                      </a:r>
                      <a:endParaRPr sz="2000" dirty="0"/>
                    </a:p>
                  </a:txBody>
                  <a:tcPr/>
                </a:tc>
                <a:tc>
                  <a:txBody>
                    <a:bodyPr/>
                    <a:lstStyle/>
                    <a:p>
                      <a:pPr marL="0" lvl="0" indent="0">
                        <a:buNone/>
                      </a:pPr>
                      <a:r>
                        <a:rPr sz="2000" dirty="0"/>
                        <a:t>否</a:t>
                      </a:r>
                    </a:p>
                  </a:txBody>
                  <a:tcPr/>
                </a:tc>
                <a:tc>
                  <a:txBody>
                    <a:bodyPr/>
                    <a:lstStyle/>
                    <a:p>
                      <a:pPr marL="0" lvl="0" indent="0">
                        <a:buNone/>
                      </a:pPr>
                      <a:r>
                        <a:rPr sz="2000"/>
                        <a:t>-</a:t>
                      </a:r>
                    </a:p>
                  </a:txBody>
                  <a:tcPr/>
                </a:tc>
                <a:extLst>
                  <a:ext uri="{0D108BD9-81ED-4DB2-BD59-A6C34878D82A}">
                    <a16:rowId xmlns:a16="http://schemas.microsoft.com/office/drawing/2014/main" val="10001"/>
                  </a:ext>
                </a:extLst>
              </a:tr>
              <a:tr h="0">
                <a:tc>
                  <a:txBody>
                    <a:bodyPr/>
                    <a:lstStyle/>
                    <a:p>
                      <a:pPr marL="0" lvl="0" indent="0">
                        <a:buNone/>
                      </a:pPr>
                      <a:r>
                        <a:rPr sz="2000"/>
                        <a:t>2. 更新电芯规格书</a:t>
                      </a:r>
                    </a:p>
                  </a:txBody>
                  <a:tcPr/>
                </a:tc>
                <a:tc>
                  <a:txBody>
                    <a:bodyPr/>
                    <a:lstStyle/>
                    <a:p>
                      <a:pPr marL="0" lvl="0" indent="0">
                        <a:buNone/>
                      </a:pPr>
                      <a:r>
                        <a:rPr sz="2000"/>
                        <a:t>是</a:t>
                      </a:r>
                    </a:p>
                  </a:txBody>
                  <a:tcPr/>
                </a:tc>
                <a:tc>
                  <a:txBody>
                    <a:bodyPr/>
                    <a:lstStyle/>
                    <a:p>
                      <a:pPr marL="0" lvl="0" indent="0">
                        <a:buNone/>
                      </a:pPr>
                      <a:r>
                        <a:rPr sz="2000" dirty="0"/>
                        <a:t>L221N113C-产品规格书-V2-20240314.pdf</a:t>
                      </a:r>
                    </a:p>
                  </a:txBody>
                  <a:tcPr/>
                </a:tc>
                <a:extLst>
                  <a:ext uri="{0D108BD9-81ED-4DB2-BD59-A6C34878D82A}">
                    <a16:rowId xmlns:a16="http://schemas.microsoft.com/office/drawing/2014/main" val="10002"/>
                  </a:ext>
                </a:extLst>
              </a:tr>
              <a:tr h="0">
                <a:tc>
                  <a:txBody>
                    <a:bodyPr/>
                    <a:lstStyle/>
                    <a:p>
                      <a:pPr marL="0" lvl="0" indent="0">
                        <a:buNone/>
                      </a:pPr>
                      <a:r>
                        <a:rPr sz="2000"/>
                        <a:t>3. 更新DFMEA</a:t>
                      </a:r>
                    </a:p>
                  </a:txBody>
                  <a:tcPr/>
                </a:tc>
                <a:tc>
                  <a:txBody>
                    <a:bodyPr/>
                    <a:lstStyle/>
                    <a:p>
                      <a:pPr marL="0" lvl="0" indent="0">
                        <a:buNone/>
                      </a:pPr>
                      <a:r>
                        <a:rPr sz="2000"/>
                        <a:t>是</a:t>
                      </a:r>
                    </a:p>
                  </a:txBody>
                  <a:tcPr/>
                </a:tc>
                <a:tc>
                  <a:txBody>
                    <a:bodyPr/>
                    <a:lstStyle/>
                    <a:p>
                      <a:pPr marL="0" lvl="0" indent="0">
                        <a:buNone/>
                      </a:pPr>
                      <a:r>
                        <a:rPr sz="2000" dirty="0"/>
                        <a:t>副本DFMEA存档-D221N44AA-动力电源系统FMEA-20240704151818.xlsx</a:t>
                      </a:r>
                    </a:p>
                  </a:txBody>
                  <a:tcPr/>
                </a:tc>
                <a:extLst>
                  <a:ext uri="{0D108BD9-81ED-4DB2-BD59-A6C34878D82A}">
                    <a16:rowId xmlns:a16="http://schemas.microsoft.com/office/drawing/2014/main" val="10003"/>
                  </a:ext>
                </a:extLst>
              </a:tr>
              <a:tr h="0">
                <a:tc>
                  <a:txBody>
                    <a:bodyPr/>
                    <a:lstStyle/>
                    <a:p>
                      <a:pPr marL="0" lvl="0" indent="0">
                        <a:buNone/>
                      </a:pPr>
                      <a:r>
                        <a:rPr sz="2000"/>
                        <a:t>4. 更新特殊特性清单</a:t>
                      </a:r>
                    </a:p>
                  </a:txBody>
                  <a:tcPr/>
                </a:tc>
                <a:tc>
                  <a:txBody>
                    <a:bodyPr/>
                    <a:lstStyle/>
                    <a:p>
                      <a:pPr marL="0" lvl="0" indent="0">
                        <a:buNone/>
                      </a:pPr>
                      <a:r>
                        <a:rPr sz="2000"/>
                        <a:t>是</a:t>
                      </a:r>
                    </a:p>
                  </a:txBody>
                  <a:tcPr/>
                </a:tc>
                <a:tc>
                  <a:txBody>
                    <a:bodyPr/>
                    <a:lstStyle/>
                    <a:p>
                      <a:pPr marL="0" lvl="0" indent="0">
                        <a:buNone/>
                      </a:pPr>
                      <a:r>
                        <a:rPr sz="2000" dirty="0"/>
                        <a:t>副本L946动力电池总成（43.3kWh）特殊特性清单1713407369905-20240522.xlsx</a:t>
                      </a:r>
                    </a:p>
                  </a:txBody>
                  <a:tcPr/>
                </a:tc>
                <a:extLst>
                  <a:ext uri="{0D108BD9-81ED-4DB2-BD59-A6C34878D82A}">
                    <a16:rowId xmlns:a16="http://schemas.microsoft.com/office/drawing/2014/main" val="10004"/>
                  </a:ext>
                </a:extLst>
              </a:tr>
              <a:tr h="0">
                <a:tc>
                  <a:txBody>
                    <a:bodyPr/>
                    <a:lstStyle/>
                    <a:p>
                      <a:pPr marL="0" lvl="0" indent="0">
                        <a:buNone/>
                      </a:pPr>
                      <a:r>
                        <a:rPr sz="2000"/>
                        <a:t>5. 制程标准</a:t>
                      </a:r>
                    </a:p>
                  </a:txBody>
                  <a:tcPr/>
                </a:tc>
                <a:tc>
                  <a:txBody>
                    <a:bodyPr/>
                    <a:lstStyle/>
                    <a:p>
                      <a:pPr marL="0" lvl="0" indent="0">
                        <a:buNone/>
                      </a:pPr>
                      <a:r>
                        <a:rPr sz="2000"/>
                        <a:t>是</a:t>
                      </a:r>
                    </a:p>
                  </a:txBody>
                  <a:tcPr/>
                </a:tc>
                <a:tc>
                  <a:txBody>
                    <a:bodyPr/>
                    <a:lstStyle/>
                    <a:p>
                      <a:pPr marL="0" lvl="0" indent="0">
                        <a:buNone/>
                      </a:pPr>
                      <a:r>
                        <a:rPr sz="2000" dirty="0"/>
                        <a:t>副本SPA-Evo-L946-334-动力电池总成-检查基准书(B)-2024050701.xlsx</a:t>
                      </a:r>
                    </a:p>
                  </a:txBody>
                  <a:tcPr/>
                </a:tc>
                <a:extLst>
                  <a:ext uri="{0D108BD9-81ED-4DB2-BD59-A6C34878D82A}">
                    <a16:rowId xmlns:a16="http://schemas.microsoft.com/office/drawing/2014/main" val="10005"/>
                  </a:ext>
                </a:extLst>
              </a:tr>
              <a:tr h="0">
                <a:tc>
                  <a:txBody>
                    <a:bodyPr/>
                    <a:lstStyle/>
                    <a:p>
                      <a:pPr marL="0" lvl="0" indent="0">
                        <a:buNone/>
                      </a:pPr>
                      <a:r>
                        <a:rPr sz="2000"/>
                        <a:t>6. 更新3D数模</a:t>
                      </a:r>
                    </a:p>
                  </a:txBody>
                  <a:tcPr/>
                </a:tc>
                <a:tc>
                  <a:txBody>
                    <a:bodyPr/>
                    <a:lstStyle/>
                    <a:p>
                      <a:pPr marL="0" lvl="0" indent="0">
                        <a:buNone/>
                      </a:pPr>
                      <a:r>
                        <a:rPr sz="2000"/>
                        <a:t>否</a:t>
                      </a:r>
                    </a:p>
                  </a:txBody>
                  <a:tcPr/>
                </a:tc>
                <a:tc>
                  <a:txBody>
                    <a:bodyPr/>
                    <a:lstStyle/>
                    <a:p>
                      <a:pPr marL="0" lvl="0" indent="0">
                        <a:buNone/>
                      </a:pPr>
                      <a:r>
                        <a:rPr sz="2000"/>
                        <a:t>-</a:t>
                      </a:r>
                    </a:p>
                  </a:txBody>
                  <a:tcPr/>
                </a:tc>
                <a:extLst>
                  <a:ext uri="{0D108BD9-81ED-4DB2-BD59-A6C34878D82A}">
                    <a16:rowId xmlns:a16="http://schemas.microsoft.com/office/drawing/2014/main" val="10006"/>
                  </a:ext>
                </a:extLst>
              </a:tr>
              <a:tr h="0">
                <a:tc>
                  <a:txBody>
                    <a:bodyPr/>
                    <a:lstStyle/>
                    <a:p>
                      <a:pPr marL="0" lvl="0" indent="0">
                        <a:buNone/>
                      </a:pPr>
                      <a:r>
                        <a:rPr sz="2000"/>
                        <a:t>7. 更新2D图纸</a:t>
                      </a:r>
                    </a:p>
                  </a:txBody>
                  <a:tcPr/>
                </a:tc>
                <a:tc>
                  <a:txBody>
                    <a:bodyPr/>
                    <a:lstStyle/>
                    <a:p>
                      <a:pPr marL="0" lvl="0" indent="0">
                        <a:buNone/>
                      </a:pPr>
                      <a:r>
                        <a:rPr sz="2000"/>
                        <a:t>否</a:t>
                      </a:r>
                    </a:p>
                  </a:txBody>
                  <a:tcPr/>
                </a:tc>
                <a:tc>
                  <a:txBody>
                    <a:bodyPr/>
                    <a:lstStyle/>
                    <a:p>
                      <a:pPr marL="0" lvl="0" indent="0">
                        <a:buNone/>
                      </a:pPr>
                      <a:r>
                        <a:rPr sz="2000"/>
                        <a:t>-</a:t>
                      </a:r>
                    </a:p>
                  </a:txBody>
                  <a:tcPr/>
                </a:tc>
                <a:extLst>
                  <a:ext uri="{0D108BD9-81ED-4DB2-BD59-A6C34878D82A}">
                    <a16:rowId xmlns:a16="http://schemas.microsoft.com/office/drawing/2014/main" val="10007"/>
                  </a:ext>
                </a:extLst>
              </a:tr>
              <a:tr h="0">
                <a:tc>
                  <a:txBody>
                    <a:bodyPr/>
                    <a:lstStyle/>
                    <a:p>
                      <a:pPr marL="0" lvl="0" indent="0">
                        <a:buNone/>
                      </a:pPr>
                      <a:r>
                        <a:rPr sz="2000"/>
                        <a:t>8. 尺寸链公差计算书</a:t>
                      </a:r>
                    </a:p>
                  </a:txBody>
                  <a:tcPr/>
                </a:tc>
                <a:tc>
                  <a:txBody>
                    <a:bodyPr/>
                    <a:lstStyle/>
                    <a:p>
                      <a:pPr marL="0" lvl="0" indent="0">
                        <a:buNone/>
                      </a:pPr>
                      <a:r>
                        <a:rPr sz="2000"/>
                        <a:t>否</a:t>
                      </a:r>
                    </a:p>
                  </a:txBody>
                  <a:tcPr/>
                </a:tc>
                <a:tc>
                  <a:txBody>
                    <a:bodyPr/>
                    <a:lstStyle/>
                    <a:p>
                      <a:pPr marL="0" lvl="0" indent="0">
                        <a:buNone/>
                      </a:pPr>
                      <a:r>
                        <a:rPr sz="2000"/>
                        <a:t>-</a:t>
                      </a:r>
                    </a:p>
                  </a:txBody>
                  <a:tcPr/>
                </a:tc>
                <a:extLst>
                  <a:ext uri="{0D108BD9-81ED-4DB2-BD59-A6C34878D82A}">
                    <a16:rowId xmlns:a16="http://schemas.microsoft.com/office/drawing/2014/main" val="10008"/>
                  </a:ext>
                </a:extLst>
              </a:tr>
              <a:tr h="0">
                <a:tc>
                  <a:txBody>
                    <a:bodyPr/>
                    <a:lstStyle/>
                    <a:p>
                      <a:pPr marL="0" lvl="0" indent="0">
                        <a:buNone/>
                      </a:pPr>
                      <a:r>
                        <a:rPr sz="2000"/>
                        <a:t>9. 更新BOM清单</a:t>
                      </a:r>
                    </a:p>
                  </a:txBody>
                  <a:tcPr/>
                </a:tc>
                <a:tc>
                  <a:txBody>
                    <a:bodyPr/>
                    <a:lstStyle/>
                    <a:p>
                      <a:pPr marL="0" lvl="0" indent="0">
                        <a:buNone/>
                      </a:pPr>
                      <a:r>
                        <a:rPr sz="2000"/>
                        <a:t>否</a:t>
                      </a:r>
                    </a:p>
                  </a:txBody>
                  <a:tcPr/>
                </a:tc>
                <a:tc>
                  <a:txBody>
                    <a:bodyPr/>
                    <a:lstStyle/>
                    <a:p>
                      <a:pPr marL="0" lvl="0" indent="0">
                        <a:buNone/>
                      </a:pPr>
                      <a:r>
                        <a:rPr sz="2000" dirty="0"/>
                        <a:t>-</a:t>
                      </a:r>
                    </a:p>
                  </a:txBody>
                  <a:tcPr/>
                </a:tc>
                <a:extLst>
                  <a:ext uri="{0D108BD9-81ED-4DB2-BD59-A6C34878D82A}">
                    <a16:rowId xmlns:a16="http://schemas.microsoft.com/office/drawing/2014/main" val="10009"/>
                  </a:ext>
                </a:extLst>
              </a:tr>
              <a:tr h="0">
                <a:tc>
                  <a:txBody>
                    <a:bodyPr/>
                    <a:lstStyle/>
                    <a:p>
                      <a:pPr marL="0" lvl="0" indent="0">
                        <a:buNone/>
                      </a:pPr>
                      <a:r>
                        <a:rPr sz="2000"/>
                        <a:t>10. 更新开模清单</a:t>
                      </a:r>
                    </a:p>
                  </a:txBody>
                  <a:tcPr/>
                </a:tc>
                <a:tc>
                  <a:txBody>
                    <a:bodyPr/>
                    <a:lstStyle/>
                    <a:p>
                      <a:pPr marL="0" lvl="0" indent="0">
                        <a:buNone/>
                      </a:pPr>
                      <a:r>
                        <a:rPr sz="2000"/>
                        <a:t>否</a:t>
                      </a:r>
                    </a:p>
                  </a:txBody>
                  <a:tcPr/>
                </a:tc>
                <a:tc>
                  <a:txBody>
                    <a:bodyPr/>
                    <a:lstStyle/>
                    <a:p>
                      <a:pPr marL="0" lvl="0" indent="0">
                        <a:buNone/>
                      </a:pPr>
                      <a:r>
                        <a:rPr sz="2000"/>
                        <a:t>-</a:t>
                      </a:r>
                    </a:p>
                  </a:txBody>
                  <a:tcPr/>
                </a:tc>
                <a:extLst>
                  <a:ext uri="{0D108BD9-81ED-4DB2-BD59-A6C34878D82A}">
                    <a16:rowId xmlns:a16="http://schemas.microsoft.com/office/drawing/2014/main" val="10010"/>
                  </a:ext>
                </a:extLst>
              </a:tr>
              <a:tr h="0">
                <a:tc>
                  <a:txBody>
                    <a:bodyPr/>
                    <a:lstStyle/>
                    <a:p>
                      <a:pPr marL="0" lvl="0" indent="0">
                        <a:buNone/>
                      </a:pPr>
                      <a:r>
                        <a:rPr sz="2000"/>
                        <a:t>11. 更新三新清单</a:t>
                      </a:r>
                    </a:p>
                  </a:txBody>
                  <a:tcPr/>
                </a:tc>
                <a:tc>
                  <a:txBody>
                    <a:bodyPr/>
                    <a:lstStyle/>
                    <a:p>
                      <a:pPr marL="0" lvl="0" indent="0">
                        <a:buNone/>
                      </a:pPr>
                      <a:r>
                        <a:rPr sz="2000"/>
                        <a:t>否</a:t>
                      </a:r>
                    </a:p>
                  </a:txBody>
                  <a:tcPr/>
                </a:tc>
                <a:tc>
                  <a:txBody>
                    <a:bodyPr/>
                    <a:lstStyle/>
                    <a:p>
                      <a:pPr marL="0" lvl="0" indent="0">
                        <a:buNone/>
                      </a:pPr>
                      <a:r>
                        <a:rPr sz="2000"/>
                        <a:t>-</a:t>
                      </a:r>
                    </a:p>
                  </a:txBody>
                  <a:tcPr/>
                </a:tc>
                <a:extLst>
                  <a:ext uri="{0D108BD9-81ED-4DB2-BD59-A6C34878D82A}">
                    <a16:rowId xmlns:a16="http://schemas.microsoft.com/office/drawing/2014/main" val="10011"/>
                  </a:ext>
                </a:extLst>
              </a:tr>
              <a:tr h="0">
                <a:tc>
                  <a:txBody>
                    <a:bodyPr/>
                    <a:lstStyle/>
                    <a:p>
                      <a:pPr marL="0" lvl="0" indent="0">
                        <a:buNone/>
                      </a:pPr>
                      <a:r>
                        <a:rPr sz="2000"/>
                        <a:t>12. 仿真报告</a:t>
                      </a:r>
                    </a:p>
                  </a:txBody>
                  <a:tcPr/>
                </a:tc>
                <a:tc>
                  <a:txBody>
                    <a:bodyPr/>
                    <a:lstStyle/>
                    <a:p>
                      <a:pPr marL="0" lvl="0" indent="0">
                        <a:buNone/>
                      </a:pPr>
                      <a:r>
                        <a:rPr sz="2000"/>
                        <a:t>是</a:t>
                      </a:r>
                    </a:p>
                  </a:txBody>
                  <a:tcPr/>
                </a:tc>
                <a:tc>
                  <a:txBody>
                    <a:bodyPr/>
                    <a:lstStyle/>
                    <a:p>
                      <a:pPr marL="0" lvl="0" indent="0">
                        <a:buNone/>
                      </a:pPr>
                      <a:r>
                        <a:rPr sz="2000" dirty="0" err="1"/>
                        <a:t>多个文件</a:t>
                      </a:r>
                      <a:r>
                        <a:rPr sz="2000" dirty="0"/>
                        <a:t>：- 570-941B电池包结构仿真分析报告-滑台测试-20240605(</a:t>
                      </a:r>
                      <a:r>
                        <a:rPr sz="2000" dirty="0" err="1"/>
                        <a:t>纵梁灌胶</a:t>
                      </a:r>
                      <a:r>
                        <a:rPr sz="2000" dirty="0"/>
                        <a:t>).pptx- 570-941A电池包内部热仿真分析报告-低温快充-2.5.pptx- 570-941A电池包内部热仿真分析报告（常温快充、高温快充）-3.13.pptx- 570-941电池包内部热仿真分析报告-保温0612.pptx- 570_941B电池包机械冲击仿真分析-20240603(</a:t>
                      </a:r>
                      <a:r>
                        <a:rPr sz="2000" dirty="0" err="1"/>
                        <a:t>纵梁灌胶</a:t>
                      </a:r>
                      <a:r>
                        <a:rPr sz="2000" dirty="0"/>
                        <a:t>).pptx- 570-941电池包内部热仿真分析报告-保温（无灌胶）.pptx- 570-941B电池包膨胀力仿真分析报告-20240605(</a:t>
                      </a:r>
                      <a:r>
                        <a:rPr sz="2000" dirty="0" err="1"/>
                        <a:t>纵梁灌胶</a:t>
                      </a:r>
                      <a:r>
                        <a:rPr sz="2000" dirty="0"/>
                        <a:t>).pptx- 570-941B电池包挤压分析-20240603(</a:t>
                      </a:r>
                      <a:r>
                        <a:rPr sz="2000" dirty="0" err="1"/>
                        <a:t>纵梁灌胶</a:t>
                      </a:r>
                      <a:r>
                        <a:rPr sz="2000" dirty="0"/>
                        <a:t>).pptx- 570_941B-随机振动仿真报告20240603(纵梁灌胶).pptx</a:t>
                      </a:r>
                    </a:p>
                  </a:txBody>
                  <a:tcPr/>
                </a:tc>
                <a:extLst>
                  <a:ext uri="{0D108BD9-81ED-4DB2-BD59-A6C34878D82A}">
                    <a16:rowId xmlns:a16="http://schemas.microsoft.com/office/drawing/2014/main" val="10012"/>
                  </a:ext>
                </a:extLst>
              </a:tr>
              <a:tr h="0">
                <a:tc>
                  <a:txBody>
                    <a:bodyPr/>
                    <a:lstStyle/>
                    <a:p>
                      <a:pPr marL="0" lvl="0" indent="0">
                        <a:buNone/>
                      </a:pPr>
                      <a:r>
                        <a:rPr sz="2000"/>
                        <a:t>13. DV测试报告</a:t>
                      </a:r>
                    </a:p>
                  </a:txBody>
                  <a:tcPr/>
                </a:tc>
                <a:tc>
                  <a:txBody>
                    <a:bodyPr/>
                    <a:lstStyle/>
                    <a:p>
                      <a:pPr marL="0" lvl="0" indent="0">
                        <a:buNone/>
                      </a:pPr>
                      <a:r>
                        <a:rPr sz="2000"/>
                        <a:t>否</a:t>
                      </a:r>
                    </a:p>
                  </a:txBody>
                  <a:tcPr/>
                </a:tc>
                <a:tc>
                  <a:txBody>
                    <a:bodyPr/>
                    <a:lstStyle/>
                    <a:p>
                      <a:pPr marL="0" lvl="0" indent="0">
                        <a:buNone/>
                      </a:pPr>
                      <a:r>
                        <a:rPr sz="2000" dirty="0"/>
                        <a:t>-</a:t>
                      </a:r>
                    </a:p>
                  </a:txBody>
                  <a:tcPr/>
                </a:tc>
                <a:extLst>
                  <a:ext uri="{0D108BD9-81ED-4DB2-BD59-A6C34878D82A}">
                    <a16:rowId xmlns:a16="http://schemas.microsoft.com/office/drawing/2014/main" val="10013"/>
                  </a:ext>
                </a:extLst>
              </a:tr>
            </a:tbl>
          </a:graphicData>
        </a:graphic>
      </p:graphicFrame>
      <p:sp>
        <p:nvSpPr>
          <p:cNvPr id="3" name="文本框 2">
            <a:extLst>
              <a:ext uri="{FF2B5EF4-FFF2-40B4-BE49-F238E27FC236}">
                <a16:creationId xmlns:a16="http://schemas.microsoft.com/office/drawing/2014/main" id="{AB8B8E06-B0DD-B239-B27A-5C0E95D23F5A}"/>
              </a:ext>
            </a:extLst>
          </p:cNvPr>
          <p:cNvSpPr txBox="1"/>
          <p:nvPr/>
        </p:nvSpPr>
        <p:spPr>
          <a:xfrm>
            <a:off x="1755248" y="678711"/>
            <a:ext cx="7434943" cy="1200329"/>
          </a:xfrm>
          <a:prstGeom prst="rect">
            <a:avLst/>
          </a:prstGeom>
          <a:noFill/>
        </p:spPr>
        <p:txBody>
          <a:bodyPr wrap="square">
            <a:spAutoFit/>
          </a:bodyPr>
          <a:lstStyle/>
          <a:p>
            <a:r>
              <a:rPr lang="zh-CN" altLang="en-US" sz="3600" dirty="0"/>
              <a:t>交付物文件齐套性检测结果：</a:t>
            </a:r>
            <a:endParaRPr lang="en-GB" altLang="zh-CN" sz="3600" dirty="0"/>
          </a:p>
          <a:p>
            <a:r>
              <a:rPr lang="en-US" altLang="zh-CN" sz="3600" dirty="0"/>
              <a:t>B</a:t>
            </a:r>
            <a:r>
              <a:rPr lang="zh-CN" altLang="en-US" sz="3600" dirty="0"/>
              <a:t>样阶段</a:t>
            </a:r>
            <a:endParaRPr lang="en-GB" sz="3600" dirty="0"/>
          </a:p>
        </p:txBody>
      </p:sp>
      <p:sp>
        <p:nvSpPr>
          <p:cNvPr id="4" name="Content Placeholder 2">
            <a:extLst>
              <a:ext uri="{FF2B5EF4-FFF2-40B4-BE49-F238E27FC236}">
                <a16:creationId xmlns:a16="http://schemas.microsoft.com/office/drawing/2014/main" id="{D435EC8F-4137-10DA-686B-CF6DCC4FC68B}"/>
              </a:ext>
            </a:extLst>
          </p:cNvPr>
          <p:cNvSpPr txBox="1">
            <a:spLocks/>
          </p:cNvSpPr>
          <p:nvPr/>
        </p:nvSpPr>
        <p:spPr>
          <a:xfrm>
            <a:off x="14321481" y="1557930"/>
            <a:ext cx="6227805" cy="2124383"/>
          </a:xfrm>
          <a:prstGeom prst="rect">
            <a:avLst/>
          </a:prstGeom>
          <a:ln>
            <a:solidFill>
              <a:schemeClr val="tx1"/>
            </a:solidFill>
          </a:ln>
        </p:spPr>
        <p:txBody>
          <a:bodyPr/>
          <a:lstStyle>
            <a:lvl1pPr marL="457200" indent="-457200" algn="l" defTabSz="1828800" rtl="0" eaLnBrk="1" latinLnBrk="0" hangingPunct="1">
              <a:lnSpc>
                <a:spcPct val="100000"/>
              </a:lnSpc>
              <a:spcBef>
                <a:spcPts val="2000"/>
              </a:spcBef>
              <a:buClr>
                <a:schemeClr val="accent2"/>
              </a:buClr>
              <a:buFont typeface="Arial" panose="020B0604020202020204" pitchFamily="34" charset="0"/>
              <a:buChar char="•"/>
              <a:defRPr sz="3600" kern="1200">
                <a:solidFill>
                  <a:schemeClr val="tx1">
                    <a:lumMod val="85000"/>
                    <a:lumOff val="15000"/>
                  </a:schemeClr>
                </a:solidFill>
                <a:latin typeface="+mn-lt"/>
                <a:ea typeface="+mn-ea"/>
                <a:cs typeface="+mn-cs"/>
              </a:defRPr>
            </a:lvl1pPr>
            <a:lvl2pPr marL="914400"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a:solidFill>
                  <a:schemeClr val="tx1">
                    <a:lumMod val="85000"/>
                    <a:lumOff val="15000"/>
                  </a:schemeClr>
                </a:solidFill>
                <a:latin typeface="+mn-lt"/>
                <a:ea typeface="+mn-ea"/>
                <a:cs typeface="+mn-cs"/>
              </a:defRPr>
            </a:lvl2pPr>
            <a:lvl3pPr marL="1371600"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a:solidFill>
                  <a:schemeClr val="tx1">
                    <a:lumMod val="85000"/>
                    <a:lumOff val="15000"/>
                  </a:schemeClr>
                </a:solidFill>
                <a:latin typeface="+mn-lt"/>
                <a:ea typeface="+mn-ea"/>
                <a:cs typeface="+mn-cs"/>
              </a:defRPr>
            </a:lvl3pPr>
            <a:lvl4pPr marL="1828800"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a:solidFill>
                  <a:schemeClr val="tx1">
                    <a:lumMod val="85000"/>
                    <a:lumOff val="15000"/>
                  </a:schemeClr>
                </a:solidFill>
                <a:latin typeface="+mn-lt"/>
                <a:ea typeface="+mn-ea"/>
                <a:cs typeface="+mn-cs"/>
              </a:defRPr>
            </a:lvl4pPr>
            <a:lvl5pPr marL="2286000"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a:solidFill>
                  <a:schemeClr val="tx1">
                    <a:lumMod val="85000"/>
                    <a:lumOff val="15000"/>
                  </a:schemeClr>
                </a:solidFill>
                <a:latin typeface="+mn-lt"/>
                <a:ea typeface="+mn-ea"/>
                <a:cs typeface="+mn-cs"/>
              </a:defRPr>
            </a:lvl5pPr>
            <a:lvl6pPr marL="2625725"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a:solidFill>
                  <a:schemeClr val="tx1"/>
                </a:solidFill>
                <a:latin typeface="+mn-lt"/>
                <a:ea typeface="+mn-ea"/>
                <a:cs typeface="+mn-cs"/>
              </a:defRPr>
            </a:lvl6pPr>
            <a:lvl7pPr marL="2968625"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a:solidFill>
                  <a:schemeClr val="tx1"/>
                </a:solidFill>
                <a:latin typeface="+mn-lt"/>
                <a:ea typeface="+mn-ea"/>
                <a:cs typeface="+mn-cs"/>
              </a:defRPr>
            </a:lvl7pPr>
            <a:lvl8pPr marL="3314700"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baseline="0">
                <a:solidFill>
                  <a:schemeClr val="tx1"/>
                </a:solidFill>
                <a:latin typeface="+mn-lt"/>
                <a:ea typeface="+mn-ea"/>
                <a:cs typeface="+mn-cs"/>
              </a:defRPr>
            </a:lvl8pPr>
            <a:lvl9pPr marL="3765550"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baseline="0">
                <a:solidFill>
                  <a:schemeClr val="tx1"/>
                </a:solidFill>
                <a:latin typeface="+mn-lt"/>
                <a:ea typeface="+mn-ea"/>
                <a:cs typeface="+mn-cs"/>
              </a:defRPr>
            </a:lvl9pPr>
          </a:lstStyle>
          <a:p>
            <a:pPr marL="457200" lvl="1" indent="0">
              <a:spcBef>
                <a:spcPts val="0"/>
              </a:spcBef>
              <a:buNone/>
            </a:pPr>
            <a:r>
              <a:rPr lang="zh-CN" altLang="en-US" sz="2400" b="1" dirty="0"/>
              <a:t>额外存在的文件</a:t>
            </a:r>
          </a:p>
          <a:p>
            <a:pPr lvl="1">
              <a:spcBef>
                <a:spcPts val="0"/>
              </a:spcBef>
            </a:pPr>
            <a:endParaRPr lang="en-GB" altLang="zh-CN" sz="2400" dirty="0"/>
          </a:p>
          <a:p>
            <a:pPr lvl="1">
              <a:spcBef>
                <a:spcPts val="0"/>
              </a:spcBef>
            </a:pPr>
            <a:r>
              <a:rPr lang="zh-CN" altLang="en-US" sz="2400" dirty="0"/>
              <a:t>副本工艺过程流程图</a:t>
            </a:r>
            <a:r>
              <a:rPr lang="en-US" altLang="zh-CN" sz="2400" dirty="0"/>
              <a:t>.xlsx</a:t>
            </a:r>
          </a:p>
          <a:p>
            <a:pPr lvl="1">
              <a:spcBef>
                <a:spcPts val="0"/>
              </a:spcBef>
            </a:pPr>
            <a:r>
              <a:rPr lang="en-US" altLang="zh-CN" sz="2400" dirty="0"/>
              <a:t>570-941A</a:t>
            </a:r>
            <a:r>
              <a:rPr lang="zh-CN" altLang="en-US" sz="2400" dirty="0"/>
              <a:t>项目</a:t>
            </a:r>
            <a:r>
              <a:rPr lang="en-US" altLang="zh-CN" sz="2400" dirty="0"/>
              <a:t>B</a:t>
            </a:r>
            <a:r>
              <a:rPr lang="zh-CN" altLang="en-US" sz="2400" dirty="0"/>
              <a:t>样</a:t>
            </a:r>
            <a:r>
              <a:rPr lang="en-US" altLang="zh-CN" sz="2400" dirty="0"/>
              <a:t>TR</a:t>
            </a:r>
            <a:r>
              <a:rPr lang="zh-CN" altLang="en-US" sz="2400" dirty="0"/>
              <a:t>评审报告</a:t>
            </a:r>
            <a:r>
              <a:rPr lang="en-US" altLang="zh-CN" sz="2400" dirty="0"/>
              <a:t>.pptx</a:t>
            </a:r>
          </a:p>
        </p:txBody>
      </p:sp>
      <p:sp>
        <p:nvSpPr>
          <p:cNvPr id="5" name="Content Placeholder 2">
            <a:extLst>
              <a:ext uri="{FF2B5EF4-FFF2-40B4-BE49-F238E27FC236}">
                <a16:creationId xmlns:a16="http://schemas.microsoft.com/office/drawing/2014/main" id="{7069FBD4-B22C-BBCD-9C4C-192B8416AD15}"/>
              </a:ext>
            </a:extLst>
          </p:cNvPr>
          <p:cNvSpPr txBox="1">
            <a:spLocks/>
          </p:cNvSpPr>
          <p:nvPr/>
        </p:nvSpPr>
        <p:spPr>
          <a:xfrm>
            <a:off x="14321481" y="4522572"/>
            <a:ext cx="8229600" cy="8056606"/>
          </a:xfrm>
          <a:prstGeom prst="rect">
            <a:avLst/>
          </a:prstGeom>
          <a:ln>
            <a:solidFill>
              <a:schemeClr val="tx1"/>
            </a:solidFill>
          </a:ln>
        </p:spPr>
        <p:txBody>
          <a:bodyPr/>
          <a:lstStyle>
            <a:lvl1pPr marL="457200" indent="-457200" algn="l" defTabSz="1828800" rtl="0" eaLnBrk="1" latinLnBrk="0" hangingPunct="1">
              <a:lnSpc>
                <a:spcPct val="100000"/>
              </a:lnSpc>
              <a:spcBef>
                <a:spcPts val="2000"/>
              </a:spcBef>
              <a:buClr>
                <a:schemeClr val="accent2"/>
              </a:buClr>
              <a:buFont typeface="Arial" panose="020B0604020202020204" pitchFamily="34" charset="0"/>
              <a:buChar char="•"/>
              <a:defRPr sz="3600" kern="1200">
                <a:solidFill>
                  <a:schemeClr val="tx1">
                    <a:lumMod val="85000"/>
                    <a:lumOff val="15000"/>
                  </a:schemeClr>
                </a:solidFill>
                <a:latin typeface="+mn-lt"/>
                <a:ea typeface="+mn-ea"/>
                <a:cs typeface="+mn-cs"/>
              </a:defRPr>
            </a:lvl1pPr>
            <a:lvl2pPr marL="914400"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a:solidFill>
                  <a:schemeClr val="tx1">
                    <a:lumMod val="85000"/>
                    <a:lumOff val="15000"/>
                  </a:schemeClr>
                </a:solidFill>
                <a:latin typeface="+mn-lt"/>
                <a:ea typeface="+mn-ea"/>
                <a:cs typeface="+mn-cs"/>
              </a:defRPr>
            </a:lvl2pPr>
            <a:lvl3pPr marL="1371600"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a:solidFill>
                  <a:schemeClr val="tx1">
                    <a:lumMod val="85000"/>
                    <a:lumOff val="15000"/>
                  </a:schemeClr>
                </a:solidFill>
                <a:latin typeface="+mn-lt"/>
                <a:ea typeface="+mn-ea"/>
                <a:cs typeface="+mn-cs"/>
              </a:defRPr>
            </a:lvl3pPr>
            <a:lvl4pPr marL="1828800"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a:solidFill>
                  <a:schemeClr val="tx1">
                    <a:lumMod val="85000"/>
                    <a:lumOff val="15000"/>
                  </a:schemeClr>
                </a:solidFill>
                <a:latin typeface="+mn-lt"/>
                <a:ea typeface="+mn-ea"/>
                <a:cs typeface="+mn-cs"/>
              </a:defRPr>
            </a:lvl4pPr>
            <a:lvl5pPr marL="2286000"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a:solidFill>
                  <a:schemeClr val="tx1">
                    <a:lumMod val="85000"/>
                    <a:lumOff val="15000"/>
                  </a:schemeClr>
                </a:solidFill>
                <a:latin typeface="+mn-lt"/>
                <a:ea typeface="+mn-ea"/>
                <a:cs typeface="+mn-cs"/>
              </a:defRPr>
            </a:lvl5pPr>
            <a:lvl6pPr marL="2625725"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a:solidFill>
                  <a:schemeClr val="tx1"/>
                </a:solidFill>
                <a:latin typeface="+mn-lt"/>
                <a:ea typeface="+mn-ea"/>
                <a:cs typeface="+mn-cs"/>
              </a:defRPr>
            </a:lvl6pPr>
            <a:lvl7pPr marL="2968625"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a:solidFill>
                  <a:schemeClr val="tx1"/>
                </a:solidFill>
                <a:latin typeface="+mn-lt"/>
                <a:ea typeface="+mn-ea"/>
                <a:cs typeface="+mn-cs"/>
              </a:defRPr>
            </a:lvl7pPr>
            <a:lvl8pPr marL="3314700"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baseline="0">
                <a:solidFill>
                  <a:schemeClr val="tx1"/>
                </a:solidFill>
                <a:latin typeface="+mn-lt"/>
                <a:ea typeface="+mn-ea"/>
                <a:cs typeface="+mn-cs"/>
              </a:defRPr>
            </a:lvl8pPr>
            <a:lvl9pPr marL="3765550"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baseline="0">
                <a:solidFill>
                  <a:schemeClr val="tx1"/>
                </a:solidFill>
                <a:latin typeface="+mn-lt"/>
                <a:ea typeface="+mn-ea"/>
                <a:cs typeface="+mn-cs"/>
              </a:defRPr>
            </a:lvl9pPr>
          </a:lstStyle>
          <a:p>
            <a:pPr marL="0" indent="0">
              <a:spcBef>
                <a:spcPts val="3000"/>
              </a:spcBef>
              <a:buNone/>
            </a:pPr>
            <a:r>
              <a:rPr lang="zh-CN" altLang="en-US" sz="2800" b="1" dirty="0"/>
              <a:t>建议</a:t>
            </a:r>
            <a:endParaRPr lang="en-GB" altLang="zh-CN" sz="5400" b="1" dirty="0"/>
          </a:p>
          <a:p>
            <a:pPr marL="0" indent="0">
              <a:lnSpc>
                <a:spcPts val="1000"/>
              </a:lnSpc>
              <a:spcBef>
                <a:spcPts val="3000"/>
              </a:spcBef>
              <a:buFont typeface="Arial" panose="020B0604020202020204" pitchFamily="34" charset="0"/>
              <a:buNone/>
            </a:pPr>
            <a:endParaRPr lang="en-US" altLang="zh-CN" sz="2400" b="1" dirty="0"/>
          </a:p>
          <a:p>
            <a:pPr marL="0" indent="0">
              <a:lnSpc>
                <a:spcPts val="1000"/>
              </a:lnSpc>
              <a:spcBef>
                <a:spcPts val="3000"/>
              </a:spcBef>
              <a:buFont typeface="Arial" panose="020B0604020202020204" pitchFamily="34" charset="0"/>
              <a:buNone/>
            </a:pPr>
            <a:r>
              <a:rPr lang="en-US" altLang="zh-CN" sz="2400" b="1" dirty="0"/>
              <a:t>1. </a:t>
            </a:r>
            <a:r>
              <a:rPr lang="zh-CN" altLang="en-US" sz="2400" b="1" dirty="0"/>
              <a:t>需要补充的关键文件</a:t>
            </a:r>
          </a:p>
          <a:p>
            <a:pPr lvl="1">
              <a:lnSpc>
                <a:spcPts val="1000"/>
              </a:lnSpc>
            </a:pPr>
            <a:r>
              <a:rPr lang="zh-CN" altLang="en-US" sz="2000" dirty="0"/>
              <a:t>设计变更履历表</a:t>
            </a:r>
          </a:p>
          <a:p>
            <a:pPr lvl="1">
              <a:lnSpc>
                <a:spcPts val="1000"/>
              </a:lnSpc>
            </a:pPr>
            <a:r>
              <a:rPr lang="zh-CN" altLang="en-US" sz="2000" dirty="0"/>
              <a:t>更新</a:t>
            </a:r>
            <a:r>
              <a:rPr lang="en-US" altLang="zh-CN" sz="2000" dirty="0"/>
              <a:t>3D</a:t>
            </a:r>
            <a:r>
              <a:rPr lang="zh-CN" altLang="en-US" sz="2000" dirty="0"/>
              <a:t>数模</a:t>
            </a:r>
          </a:p>
          <a:p>
            <a:pPr lvl="1">
              <a:lnSpc>
                <a:spcPts val="1000"/>
              </a:lnSpc>
            </a:pPr>
            <a:r>
              <a:rPr lang="zh-CN" altLang="en-US" sz="2000" dirty="0"/>
              <a:t>更新</a:t>
            </a:r>
            <a:r>
              <a:rPr lang="en-US" altLang="zh-CN" sz="2000" dirty="0"/>
              <a:t>2D</a:t>
            </a:r>
            <a:r>
              <a:rPr lang="zh-CN" altLang="en-US" sz="2000" dirty="0"/>
              <a:t>图纸</a:t>
            </a:r>
          </a:p>
          <a:p>
            <a:pPr lvl="1">
              <a:lnSpc>
                <a:spcPts val="1000"/>
              </a:lnSpc>
            </a:pPr>
            <a:r>
              <a:rPr lang="zh-CN" altLang="en-US" sz="2000" dirty="0"/>
              <a:t>尺寸链公差计算书</a:t>
            </a:r>
          </a:p>
          <a:p>
            <a:pPr lvl="1">
              <a:lnSpc>
                <a:spcPts val="1000"/>
              </a:lnSpc>
            </a:pPr>
            <a:r>
              <a:rPr lang="zh-CN" altLang="en-US" sz="2000" dirty="0"/>
              <a:t>更新</a:t>
            </a:r>
            <a:r>
              <a:rPr lang="en-US" altLang="zh-CN" sz="2000" dirty="0"/>
              <a:t>BOM</a:t>
            </a:r>
            <a:r>
              <a:rPr lang="zh-CN" altLang="en-US" sz="2000" dirty="0"/>
              <a:t>清单</a:t>
            </a:r>
          </a:p>
          <a:p>
            <a:pPr lvl="1">
              <a:lnSpc>
                <a:spcPts val="1000"/>
              </a:lnSpc>
            </a:pPr>
            <a:r>
              <a:rPr lang="zh-CN" altLang="en-US" sz="2000" dirty="0"/>
              <a:t>更新开模清单</a:t>
            </a:r>
          </a:p>
          <a:p>
            <a:pPr lvl="1">
              <a:lnSpc>
                <a:spcPts val="1000"/>
              </a:lnSpc>
            </a:pPr>
            <a:r>
              <a:rPr lang="zh-CN" altLang="en-US" sz="2000" dirty="0"/>
              <a:t>更新三新清单</a:t>
            </a:r>
          </a:p>
          <a:p>
            <a:pPr lvl="1">
              <a:lnSpc>
                <a:spcPts val="1000"/>
              </a:lnSpc>
            </a:pPr>
            <a:r>
              <a:rPr lang="en-US" altLang="zh-CN" sz="2000" dirty="0"/>
              <a:t>DV</a:t>
            </a:r>
            <a:r>
              <a:rPr lang="zh-CN" altLang="en-US" sz="2000" dirty="0"/>
              <a:t>测试报告</a:t>
            </a:r>
          </a:p>
          <a:p>
            <a:pPr marL="0" indent="0">
              <a:lnSpc>
                <a:spcPts val="1000"/>
              </a:lnSpc>
              <a:spcBef>
                <a:spcPts val="3000"/>
              </a:spcBef>
              <a:buFont typeface="Arial" panose="020B0604020202020204" pitchFamily="34" charset="0"/>
              <a:buNone/>
            </a:pPr>
            <a:r>
              <a:rPr lang="en-US" altLang="zh-CN" sz="2400" b="1" dirty="0"/>
              <a:t>2. </a:t>
            </a:r>
            <a:r>
              <a:rPr lang="zh-CN" altLang="en-US" sz="2400" b="1" dirty="0"/>
              <a:t>风险管理建议</a:t>
            </a:r>
          </a:p>
          <a:p>
            <a:pPr lvl="1">
              <a:lnSpc>
                <a:spcPts val="1000"/>
              </a:lnSpc>
            </a:pPr>
            <a:r>
              <a:rPr lang="zh-CN" altLang="en-US" sz="2000" dirty="0"/>
              <a:t>建议优先补充技术类文件（</a:t>
            </a:r>
            <a:r>
              <a:rPr lang="en-US" altLang="zh-CN" sz="2000" dirty="0"/>
              <a:t>3D</a:t>
            </a:r>
            <a:r>
              <a:rPr lang="zh-CN" altLang="en-US" sz="2000" dirty="0"/>
              <a:t>数模、</a:t>
            </a:r>
            <a:r>
              <a:rPr lang="en-US" altLang="zh-CN" sz="2000" dirty="0"/>
              <a:t>2D</a:t>
            </a:r>
            <a:r>
              <a:rPr lang="zh-CN" altLang="en-US" sz="2000" dirty="0"/>
              <a:t>图纸、</a:t>
            </a:r>
            <a:r>
              <a:rPr lang="en-US" altLang="zh-CN" sz="2000" dirty="0"/>
              <a:t>BOM</a:t>
            </a:r>
            <a:r>
              <a:rPr lang="zh-CN" altLang="en-US" sz="2000" dirty="0"/>
              <a:t>清单）</a:t>
            </a:r>
          </a:p>
          <a:p>
            <a:pPr lvl="1">
              <a:lnSpc>
                <a:spcPts val="1000"/>
              </a:lnSpc>
            </a:pPr>
            <a:r>
              <a:rPr lang="zh-CN" altLang="en-US" sz="2000" dirty="0"/>
              <a:t>其次补充工艺类文件（开模清单、三新清单）</a:t>
            </a:r>
          </a:p>
          <a:p>
            <a:pPr lvl="1">
              <a:lnSpc>
                <a:spcPts val="1000"/>
              </a:lnSpc>
            </a:pPr>
            <a:r>
              <a:rPr lang="zh-CN" altLang="en-US" sz="2000" dirty="0"/>
              <a:t>最后补充验证类文件（</a:t>
            </a:r>
            <a:r>
              <a:rPr lang="en-US" altLang="zh-CN" sz="2000" dirty="0"/>
              <a:t>DV</a:t>
            </a:r>
            <a:r>
              <a:rPr lang="zh-CN" altLang="en-US" sz="2000" dirty="0"/>
              <a:t>测试报告）</a:t>
            </a:r>
          </a:p>
          <a:p>
            <a:pPr marL="0" indent="0">
              <a:lnSpc>
                <a:spcPts val="1000"/>
              </a:lnSpc>
              <a:spcBef>
                <a:spcPts val="3000"/>
              </a:spcBef>
              <a:buFont typeface="Arial" panose="020B0604020202020204" pitchFamily="34" charset="0"/>
              <a:buNone/>
            </a:pPr>
            <a:r>
              <a:rPr lang="en-US" altLang="zh-CN" sz="2400" b="1" dirty="0"/>
              <a:t>3. </a:t>
            </a:r>
            <a:r>
              <a:rPr lang="zh-CN" altLang="en-US" sz="2400" b="1" dirty="0"/>
              <a:t>进度管理建议</a:t>
            </a:r>
          </a:p>
          <a:p>
            <a:pPr lvl="1">
              <a:lnSpc>
                <a:spcPts val="1000"/>
              </a:lnSpc>
            </a:pPr>
            <a:r>
              <a:rPr lang="zh-CN" altLang="en-US" sz="2000" dirty="0"/>
              <a:t>建议制定文件补充计划，明确责任人</a:t>
            </a:r>
          </a:p>
          <a:p>
            <a:pPr lvl="1">
              <a:lnSpc>
                <a:spcPts val="1000"/>
              </a:lnSpc>
            </a:pPr>
            <a:r>
              <a:rPr lang="zh-CN" altLang="en-US" sz="2000" dirty="0"/>
              <a:t>设置文件交付时间节点</a:t>
            </a:r>
          </a:p>
          <a:p>
            <a:pPr lvl="1">
              <a:lnSpc>
                <a:spcPts val="1000"/>
              </a:lnSpc>
            </a:pPr>
            <a:r>
              <a:rPr lang="zh-CN" altLang="en-US" sz="2000" dirty="0"/>
              <a:t>定期跟踪文件完成情况</a:t>
            </a:r>
          </a:p>
        </p:txBody>
      </p:sp>
    </p:spTree>
    <p:extLst>
      <p:ext uri="{BB962C8B-B14F-4D97-AF65-F5344CB8AC3E}">
        <p14:creationId xmlns:p14="http://schemas.microsoft.com/office/powerpoint/2010/main" val="522804600"/>
      </p:ext>
    </p:extLst>
  </p:cSld>
  <p:clrMapOvr>
    <a:masterClrMapping/>
  </p:clrMapOvr>
  <p:transition spd="med"/>
  <p:extLst>
    <p:ext uri="{6950BFC3-D8DA-4A85-94F7-54DA5524770B}">
      <p188:commentRel xmlns:p188="http://schemas.microsoft.com/office/powerpoint/2018/8/main" r:id="rId2"/>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Content Placeholder 5">
            <a:extLst>
              <a:ext uri="{FF2B5EF4-FFF2-40B4-BE49-F238E27FC236}">
                <a16:creationId xmlns:a16="http://schemas.microsoft.com/office/drawing/2014/main" id="{6D647277-5856-5FB5-E4EC-10AC3D124B09}"/>
              </a:ext>
            </a:extLst>
          </p:cNvPr>
          <p:cNvGraphicFramePr>
            <a:graphicFrameLocks/>
          </p:cNvGraphicFramePr>
          <p:nvPr>
            <p:extLst>
              <p:ext uri="{D42A27DB-BD31-4B8C-83A1-F6EECF244321}">
                <p14:modId xmlns:p14="http://schemas.microsoft.com/office/powerpoint/2010/main" val="1426270397"/>
              </p:ext>
            </p:extLst>
          </p:nvPr>
        </p:nvGraphicFramePr>
        <p:xfrm>
          <a:off x="1488831" y="2713892"/>
          <a:ext cx="9718431" cy="9113520"/>
        </p:xfrm>
        <a:graphic>
          <a:graphicData uri="http://schemas.openxmlformats.org/drawingml/2006/table">
            <a:tbl>
              <a:tblPr firstRow="1" bandRow="1"/>
              <a:tblGrid>
                <a:gridCol w="5744307">
                  <a:extLst>
                    <a:ext uri="{9D8B030D-6E8A-4147-A177-3AD203B41FA5}">
                      <a16:colId xmlns:a16="http://schemas.microsoft.com/office/drawing/2014/main" val="20000"/>
                    </a:ext>
                  </a:extLst>
                </a:gridCol>
                <a:gridCol w="1934308">
                  <a:extLst>
                    <a:ext uri="{9D8B030D-6E8A-4147-A177-3AD203B41FA5}">
                      <a16:colId xmlns:a16="http://schemas.microsoft.com/office/drawing/2014/main" val="20001"/>
                    </a:ext>
                  </a:extLst>
                </a:gridCol>
                <a:gridCol w="2039816">
                  <a:extLst>
                    <a:ext uri="{9D8B030D-6E8A-4147-A177-3AD203B41FA5}">
                      <a16:colId xmlns:a16="http://schemas.microsoft.com/office/drawing/2014/main" val="20002"/>
                    </a:ext>
                  </a:extLst>
                </a:gridCol>
              </a:tblGrid>
              <a:tr h="0">
                <a:tc>
                  <a:txBody>
                    <a:bodyPr/>
                    <a:lstStyle/>
                    <a:p>
                      <a:pPr marL="0" lvl="0" indent="0">
                        <a:buNone/>
                      </a:pPr>
                      <a:r>
                        <a:rPr sz="2000" dirty="0" err="1"/>
                        <a:t>所需交付物</a:t>
                      </a:r>
                      <a:endParaRPr sz="2000" dirty="0"/>
                    </a:p>
                  </a:txBody>
                  <a:tcPr/>
                </a:tc>
                <a:tc>
                  <a:txBody>
                    <a:bodyPr/>
                    <a:lstStyle/>
                    <a:p>
                      <a:pPr marL="0" lvl="0" indent="0">
                        <a:buNone/>
                      </a:pPr>
                      <a:r>
                        <a:rPr sz="2000"/>
                        <a:t>状态</a:t>
                      </a:r>
                    </a:p>
                  </a:txBody>
                  <a:tcPr/>
                </a:tc>
                <a:tc>
                  <a:txBody>
                    <a:bodyPr/>
                    <a:lstStyle/>
                    <a:p>
                      <a:pPr marL="0" lvl="0" indent="0">
                        <a:buNone/>
                      </a:pPr>
                      <a:r>
                        <a:rPr sz="2000"/>
                        <a:t>备注</a:t>
                      </a:r>
                    </a:p>
                  </a:txBody>
                  <a:tcPr/>
                </a:tc>
                <a:extLst>
                  <a:ext uri="{0D108BD9-81ED-4DB2-BD59-A6C34878D82A}">
                    <a16:rowId xmlns:a16="http://schemas.microsoft.com/office/drawing/2014/main" val="10000"/>
                  </a:ext>
                </a:extLst>
              </a:tr>
              <a:tr h="0">
                <a:tc>
                  <a:txBody>
                    <a:bodyPr/>
                    <a:lstStyle/>
                    <a:p>
                      <a:pPr marL="0" lvl="0" indent="0">
                        <a:buNone/>
                      </a:pPr>
                      <a:r>
                        <a:rPr sz="2000"/>
                        <a:t>1. 更新PFMEA</a:t>
                      </a:r>
                    </a:p>
                  </a:txBody>
                  <a:tcPr/>
                </a:tc>
                <a:tc>
                  <a:txBody>
                    <a:bodyPr/>
                    <a:lstStyle/>
                    <a:p>
                      <a:pPr marL="0" lvl="0" indent="0">
                        <a:buNone/>
                      </a:pPr>
                      <a:r>
                        <a:rPr sz="2000"/>
                        <a:t>否</a:t>
                      </a:r>
                    </a:p>
                  </a:txBody>
                  <a:tcPr/>
                </a:tc>
                <a:tc>
                  <a:txBody>
                    <a:bodyPr/>
                    <a:lstStyle/>
                    <a:p>
                      <a:endParaRPr sz="2000"/>
                    </a:p>
                  </a:txBody>
                  <a:tcPr/>
                </a:tc>
                <a:extLst>
                  <a:ext uri="{0D108BD9-81ED-4DB2-BD59-A6C34878D82A}">
                    <a16:rowId xmlns:a16="http://schemas.microsoft.com/office/drawing/2014/main" val="10001"/>
                  </a:ext>
                </a:extLst>
              </a:tr>
              <a:tr h="0">
                <a:tc>
                  <a:txBody>
                    <a:bodyPr/>
                    <a:lstStyle/>
                    <a:p>
                      <a:pPr marL="0" lvl="0" indent="0">
                        <a:buNone/>
                      </a:pPr>
                      <a:r>
                        <a:rPr sz="2000" dirty="0"/>
                        <a:t>2. </a:t>
                      </a:r>
                      <a:r>
                        <a:rPr sz="2000" dirty="0" err="1"/>
                        <a:t>量产产线开发进展报告</a:t>
                      </a:r>
                      <a:endParaRPr sz="2000" dirty="0"/>
                    </a:p>
                  </a:txBody>
                  <a:tcPr/>
                </a:tc>
                <a:tc>
                  <a:txBody>
                    <a:bodyPr/>
                    <a:lstStyle/>
                    <a:p>
                      <a:pPr marL="0" lvl="0" indent="0">
                        <a:buNone/>
                      </a:pPr>
                      <a:r>
                        <a:rPr sz="2000"/>
                        <a:t>否</a:t>
                      </a:r>
                    </a:p>
                  </a:txBody>
                  <a:tcPr/>
                </a:tc>
                <a:tc>
                  <a:txBody>
                    <a:bodyPr/>
                    <a:lstStyle/>
                    <a:p>
                      <a:endParaRPr sz="2000"/>
                    </a:p>
                  </a:txBody>
                  <a:tcPr/>
                </a:tc>
                <a:extLst>
                  <a:ext uri="{0D108BD9-81ED-4DB2-BD59-A6C34878D82A}">
                    <a16:rowId xmlns:a16="http://schemas.microsoft.com/office/drawing/2014/main" val="10002"/>
                  </a:ext>
                </a:extLst>
              </a:tr>
              <a:tr h="0">
                <a:tc>
                  <a:txBody>
                    <a:bodyPr/>
                    <a:lstStyle/>
                    <a:p>
                      <a:pPr marL="0" lvl="0" indent="0">
                        <a:buNone/>
                      </a:pPr>
                      <a:r>
                        <a:rPr sz="2000"/>
                        <a:t>3. 更新样品包装方案</a:t>
                      </a:r>
                    </a:p>
                  </a:txBody>
                  <a:tcPr/>
                </a:tc>
                <a:tc>
                  <a:txBody>
                    <a:bodyPr/>
                    <a:lstStyle/>
                    <a:p>
                      <a:pPr marL="0" lvl="0" indent="0">
                        <a:buNone/>
                      </a:pPr>
                      <a:r>
                        <a:rPr sz="2000"/>
                        <a:t>否</a:t>
                      </a:r>
                    </a:p>
                  </a:txBody>
                  <a:tcPr/>
                </a:tc>
                <a:tc>
                  <a:txBody>
                    <a:bodyPr/>
                    <a:lstStyle/>
                    <a:p>
                      <a:endParaRPr sz="2000"/>
                    </a:p>
                  </a:txBody>
                  <a:tcPr/>
                </a:tc>
                <a:extLst>
                  <a:ext uri="{0D108BD9-81ED-4DB2-BD59-A6C34878D82A}">
                    <a16:rowId xmlns:a16="http://schemas.microsoft.com/office/drawing/2014/main" val="10003"/>
                  </a:ext>
                </a:extLst>
              </a:tr>
              <a:tr h="0">
                <a:tc>
                  <a:txBody>
                    <a:bodyPr/>
                    <a:lstStyle/>
                    <a:p>
                      <a:pPr marL="0" lvl="0" indent="0">
                        <a:buNone/>
                      </a:pPr>
                      <a:r>
                        <a:rPr sz="2000"/>
                        <a:t>4. 更新过程流程图</a:t>
                      </a:r>
                    </a:p>
                  </a:txBody>
                  <a:tcPr/>
                </a:tc>
                <a:tc>
                  <a:txBody>
                    <a:bodyPr/>
                    <a:lstStyle/>
                    <a:p>
                      <a:pPr marL="0" lvl="0" indent="0">
                        <a:buNone/>
                      </a:pPr>
                      <a:r>
                        <a:rPr sz="2000"/>
                        <a:t>否</a:t>
                      </a:r>
                    </a:p>
                  </a:txBody>
                  <a:tcPr/>
                </a:tc>
                <a:tc>
                  <a:txBody>
                    <a:bodyPr/>
                    <a:lstStyle/>
                    <a:p>
                      <a:endParaRPr sz="2000"/>
                    </a:p>
                  </a:txBody>
                  <a:tcPr/>
                </a:tc>
                <a:extLst>
                  <a:ext uri="{0D108BD9-81ED-4DB2-BD59-A6C34878D82A}">
                    <a16:rowId xmlns:a16="http://schemas.microsoft.com/office/drawing/2014/main" val="10004"/>
                  </a:ext>
                </a:extLst>
              </a:tr>
              <a:tr h="0">
                <a:tc>
                  <a:txBody>
                    <a:bodyPr/>
                    <a:lstStyle/>
                    <a:p>
                      <a:pPr marL="0" lvl="0" indent="0">
                        <a:buNone/>
                      </a:pPr>
                      <a:r>
                        <a:rPr sz="2000" dirty="0"/>
                        <a:t>5. </a:t>
                      </a:r>
                      <a:r>
                        <a:rPr sz="2000" dirty="0" err="1"/>
                        <a:t>更新过程特殊特性清单</a:t>
                      </a:r>
                      <a:endParaRPr sz="2000" dirty="0"/>
                    </a:p>
                  </a:txBody>
                  <a:tcPr/>
                </a:tc>
                <a:tc>
                  <a:txBody>
                    <a:bodyPr/>
                    <a:lstStyle/>
                    <a:p>
                      <a:pPr marL="0" lvl="0" indent="0">
                        <a:buNone/>
                      </a:pPr>
                      <a:r>
                        <a:rPr sz="2000"/>
                        <a:t>否</a:t>
                      </a:r>
                    </a:p>
                  </a:txBody>
                  <a:tcPr/>
                </a:tc>
                <a:tc>
                  <a:txBody>
                    <a:bodyPr/>
                    <a:lstStyle/>
                    <a:p>
                      <a:endParaRPr sz="2000"/>
                    </a:p>
                  </a:txBody>
                  <a:tcPr/>
                </a:tc>
                <a:extLst>
                  <a:ext uri="{0D108BD9-81ED-4DB2-BD59-A6C34878D82A}">
                    <a16:rowId xmlns:a16="http://schemas.microsoft.com/office/drawing/2014/main" val="10005"/>
                  </a:ext>
                </a:extLst>
              </a:tr>
              <a:tr h="0">
                <a:tc>
                  <a:txBody>
                    <a:bodyPr/>
                    <a:lstStyle/>
                    <a:p>
                      <a:pPr marL="0" lvl="0" indent="0">
                        <a:buNone/>
                      </a:pPr>
                      <a:r>
                        <a:rPr sz="2000"/>
                        <a:t>6. 更新CP</a:t>
                      </a:r>
                    </a:p>
                  </a:txBody>
                  <a:tcPr/>
                </a:tc>
                <a:tc>
                  <a:txBody>
                    <a:bodyPr/>
                    <a:lstStyle/>
                    <a:p>
                      <a:pPr marL="0" lvl="0" indent="0">
                        <a:buNone/>
                      </a:pPr>
                      <a:r>
                        <a:rPr sz="2000"/>
                        <a:t>否</a:t>
                      </a:r>
                    </a:p>
                  </a:txBody>
                  <a:tcPr/>
                </a:tc>
                <a:tc>
                  <a:txBody>
                    <a:bodyPr/>
                    <a:lstStyle/>
                    <a:p>
                      <a:endParaRPr sz="2000"/>
                    </a:p>
                  </a:txBody>
                  <a:tcPr/>
                </a:tc>
                <a:extLst>
                  <a:ext uri="{0D108BD9-81ED-4DB2-BD59-A6C34878D82A}">
                    <a16:rowId xmlns:a16="http://schemas.microsoft.com/office/drawing/2014/main" val="10006"/>
                  </a:ext>
                </a:extLst>
              </a:tr>
              <a:tr h="0">
                <a:tc>
                  <a:txBody>
                    <a:bodyPr/>
                    <a:lstStyle/>
                    <a:p>
                      <a:pPr marL="0" lvl="0" indent="0">
                        <a:buNone/>
                      </a:pPr>
                      <a:r>
                        <a:rPr sz="2000"/>
                        <a:t>7. 更新SOP</a:t>
                      </a:r>
                    </a:p>
                  </a:txBody>
                  <a:tcPr/>
                </a:tc>
                <a:tc>
                  <a:txBody>
                    <a:bodyPr/>
                    <a:lstStyle/>
                    <a:p>
                      <a:pPr marL="0" lvl="0" indent="0">
                        <a:buNone/>
                      </a:pPr>
                      <a:r>
                        <a:rPr sz="2000"/>
                        <a:t>否</a:t>
                      </a:r>
                    </a:p>
                  </a:txBody>
                  <a:tcPr/>
                </a:tc>
                <a:tc>
                  <a:txBody>
                    <a:bodyPr/>
                    <a:lstStyle/>
                    <a:p>
                      <a:endParaRPr sz="2000"/>
                    </a:p>
                  </a:txBody>
                  <a:tcPr/>
                </a:tc>
                <a:extLst>
                  <a:ext uri="{0D108BD9-81ED-4DB2-BD59-A6C34878D82A}">
                    <a16:rowId xmlns:a16="http://schemas.microsoft.com/office/drawing/2014/main" val="10007"/>
                  </a:ext>
                </a:extLst>
              </a:tr>
              <a:tr h="0">
                <a:tc>
                  <a:txBody>
                    <a:bodyPr/>
                    <a:lstStyle/>
                    <a:p>
                      <a:pPr marL="0" lvl="0" indent="0">
                        <a:buNone/>
                      </a:pPr>
                      <a:r>
                        <a:rPr sz="2000"/>
                        <a:t>8. 工艺验证计划</a:t>
                      </a:r>
                    </a:p>
                  </a:txBody>
                  <a:tcPr/>
                </a:tc>
                <a:tc>
                  <a:txBody>
                    <a:bodyPr/>
                    <a:lstStyle/>
                    <a:p>
                      <a:pPr marL="0" lvl="0" indent="0">
                        <a:buNone/>
                      </a:pPr>
                      <a:r>
                        <a:rPr sz="2000"/>
                        <a:t>否</a:t>
                      </a:r>
                    </a:p>
                  </a:txBody>
                  <a:tcPr/>
                </a:tc>
                <a:tc>
                  <a:txBody>
                    <a:bodyPr/>
                    <a:lstStyle/>
                    <a:p>
                      <a:endParaRPr sz="2000"/>
                    </a:p>
                  </a:txBody>
                  <a:tcPr/>
                </a:tc>
                <a:extLst>
                  <a:ext uri="{0D108BD9-81ED-4DB2-BD59-A6C34878D82A}">
                    <a16:rowId xmlns:a16="http://schemas.microsoft.com/office/drawing/2014/main" val="10008"/>
                  </a:ext>
                </a:extLst>
              </a:tr>
              <a:tr h="0">
                <a:tc>
                  <a:txBody>
                    <a:bodyPr/>
                    <a:lstStyle/>
                    <a:p>
                      <a:pPr marL="0" lvl="0" indent="0">
                        <a:buNone/>
                      </a:pPr>
                      <a:r>
                        <a:rPr sz="2000"/>
                        <a:t>9. 样品历史问题清单</a:t>
                      </a:r>
                    </a:p>
                  </a:txBody>
                  <a:tcPr/>
                </a:tc>
                <a:tc>
                  <a:txBody>
                    <a:bodyPr/>
                    <a:lstStyle/>
                    <a:p>
                      <a:pPr marL="0" lvl="0" indent="0">
                        <a:buNone/>
                      </a:pPr>
                      <a:r>
                        <a:rPr sz="2000"/>
                        <a:t>否</a:t>
                      </a:r>
                    </a:p>
                  </a:txBody>
                  <a:tcPr/>
                </a:tc>
                <a:tc>
                  <a:txBody>
                    <a:bodyPr/>
                    <a:lstStyle/>
                    <a:p>
                      <a:endParaRPr sz="2000"/>
                    </a:p>
                  </a:txBody>
                  <a:tcPr/>
                </a:tc>
                <a:extLst>
                  <a:ext uri="{0D108BD9-81ED-4DB2-BD59-A6C34878D82A}">
                    <a16:rowId xmlns:a16="http://schemas.microsoft.com/office/drawing/2014/main" val="10009"/>
                  </a:ext>
                </a:extLst>
              </a:tr>
              <a:tr h="0">
                <a:tc>
                  <a:txBody>
                    <a:bodyPr/>
                    <a:lstStyle/>
                    <a:p>
                      <a:pPr marL="0" lvl="0" indent="0">
                        <a:buNone/>
                      </a:pPr>
                      <a:r>
                        <a:rPr sz="2000"/>
                        <a:t>10. 更新PFMEA</a:t>
                      </a:r>
                    </a:p>
                  </a:txBody>
                  <a:tcPr/>
                </a:tc>
                <a:tc>
                  <a:txBody>
                    <a:bodyPr/>
                    <a:lstStyle/>
                    <a:p>
                      <a:pPr marL="0" lvl="0" indent="0">
                        <a:buNone/>
                      </a:pPr>
                      <a:r>
                        <a:rPr sz="2000"/>
                        <a:t>否</a:t>
                      </a:r>
                    </a:p>
                  </a:txBody>
                  <a:tcPr/>
                </a:tc>
                <a:tc>
                  <a:txBody>
                    <a:bodyPr/>
                    <a:lstStyle/>
                    <a:p>
                      <a:endParaRPr sz="2000"/>
                    </a:p>
                  </a:txBody>
                  <a:tcPr/>
                </a:tc>
                <a:extLst>
                  <a:ext uri="{0D108BD9-81ED-4DB2-BD59-A6C34878D82A}">
                    <a16:rowId xmlns:a16="http://schemas.microsoft.com/office/drawing/2014/main" val="10010"/>
                  </a:ext>
                </a:extLst>
              </a:tr>
              <a:tr h="0">
                <a:tc>
                  <a:txBody>
                    <a:bodyPr/>
                    <a:lstStyle/>
                    <a:p>
                      <a:pPr marL="0" lvl="0" indent="0">
                        <a:buNone/>
                      </a:pPr>
                      <a:r>
                        <a:rPr sz="2000"/>
                        <a:t>11. CMK分析报告</a:t>
                      </a:r>
                    </a:p>
                  </a:txBody>
                  <a:tcPr/>
                </a:tc>
                <a:tc>
                  <a:txBody>
                    <a:bodyPr/>
                    <a:lstStyle/>
                    <a:p>
                      <a:pPr marL="0" lvl="0" indent="0">
                        <a:buNone/>
                      </a:pPr>
                      <a:r>
                        <a:rPr sz="2000"/>
                        <a:t>否</a:t>
                      </a:r>
                    </a:p>
                  </a:txBody>
                  <a:tcPr/>
                </a:tc>
                <a:tc>
                  <a:txBody>
                    <a:bodyPr/>
                    <a:lstStyle/>
                    <a:p>
                      <a:endParaRPr sz="2000"/>
                    </a:p>
                  </a:txBody>
                  <a:tcPr/>
                </a:tc>
                <a:extLst>
                  <a:ext uri="{0D108BD9-81ED-4DB2-BD59-A6C34878D82A}">
                    <a16:rowId xmlns:a16="http://schemas.microsoft.com/office/drawing/2014/main" val="10011"/>
                  </a:ext>
                </a:extLst>
              </a:tr>
              <a:tr h="0">
                <a:tc>
                  <a:txBody>
                    <a:bodyPr/>
                    <a:lstStyle/>
                    <a:p>
                      <a:pPr marL="0" lvl="0" indent="0">
                        <a:buNone/>
                      </a:pPr>
                      <a:r>
                        <a:rPr sz="2000"/>
                        <a:t>12. CPK分析报告</a:t>
                      </a:r>
                    </a:p>
                  </a:txBody>
                  <a:tcPr/>
                </a:tc>
                <a:tc>
                  <a:txBody>
                    <a:bodyPr/>
                    <a:lstStyle/>
                    <a:p>
                      <a:pPr marL="0" lvl="0" indent="0">
                        <a:buNone/>
                      </a:pPr>
                      <a:r>
                        <a:rPr sz="2000"/>
                        <a:t>否</a:t>
                      </a:r>
                    </a:p>
                  </a:txBody>
                  <a:tcPr/>
                </a:tc>
                <a:tc>
                  <a:txBody>
                    <a:bodyPr/>
                    <a:lstStyle/>
                    <a:p>
                      <a:endParaRPr sz="2000"/>
                    </a:p>
                  </a:txBody>
                  <a:tcPr/>
                </a:tc>
                <a:extLst>
                  <a:ext uri="{0D108BD9-81ED-4DB2-BD59-A6C34878D82A}">
                    <a16:rowId xmlns:a16="http://schemas.microsoft.com/office/drawing/2014/main" val="10012"/>
                  </a:ext>
                </a:extLst>
              </a:tr>
              <a:tr h="0">
                <a:tc>
                  <a:txBody>
                    <a:bodyPr/>
                    <a:lstStyle/>
                    <a:p>
                      <a:pPr marL="0" lvl="0" indent="0">
                        <a:buNone/>
                      </a:pPr>
                      <a:r>
                        <a:rPr sz="2000"/>
                        <a:t>13. 工程变更履历表</a:t>
                      </a:r>
                    </a:p>
                  </a:txBody>
                  <a:tcPr/>
                </a:tc>
                <a:tc>
                  <a:txBody>
                    <a:bodyPr/>
                    <a:lstStyle/>
                    <a:p>
                      <a:pPr marL="0" lvl="0" indent="0">
                        <a:buNone/>
                      </a:pPr>
                      <a:r>
                        <a:rPr sz="2000"/>
                        <a:t>否</a:t>
                      </a:r>
                    </a:p>
                  </a:txBody>
                  <a:tcPr/>
                </a:tc>
                <a:tc>
                  <a:txBody>
                    <a:bodyPr/>
                    <a:lstStyle/>
                    <a:p>
                      <a:endParaRPr sz="2000"/>
                    </a:p>
                  </a:txBody>
                  <a:tcPr/>
                </a:tc>
                <a:extLst>
                  <a:ext uri="{0D108BD9-81ED-4DB2-BD59-A6C34878D82A}">
                    <a16:rowId xmlns:a16="http://schemas.microsoft.com/office/drawing/2014/main" val="10013"/>
                  </a:ext>
                </a:extLst>
              </a:tr>
              <a:tr h="0">
                <a:tc>
                  <a:txBody>
                    <a:bodyPr/>
                    <a:lstStyle/>
                    <a:p>
                      <a:pPr marL="0" lvl="0" indent="0">
                        <a:buNone/>
                      </a:pPr>
                      <a:r>
                        <a:rPr sz="2000"/>
                        <a:t>14. 产品可制造性分析与风险应对报告</a:t>
                      </a:r>
                    </a:p>
                  </a:txBody>
                  <a:tcPr/>
                </a:tc>
                <a:tc>
                  <a:txBody>
                    <a:bodyPr/>
                    <a:lstStyle/>
                    <a:p>
                      <a:pPr marL="0" lvl="0" indent="0">
                        <a:buNone/>
                      </a:pPr>
                      <a:r>
                        <a:rPr sz="2000"/>
                        <a:t>否</a:t>
                      </a:r>
                    </a:p>
                  </a:txBody>
                  <a:tcPr/>
                </a:tc>
                <a:tc>
                  <a:txBody>
                    <a:bodyPr/>
                    <a:lstStyle/>
                    <a:p>
                      <a:endParaRPr sz="2000"/>
                    </a:p>
                  </a:txBody>
                  <a:tcPr/>
                </a:tc>
                <a:extLst>
                  <a:ext uri="{0D108BD9-81ED-4DB2-BD59-A6C34878D82A}">
                    <a16:rowId xmlns:a16="http://schemas.microsoft.com/office/drawing/2014/main" val="10014"/>
                  </a:ext>
                </a:extLst>
              </a:tr>
              <a:tr h="0">
                <a:tc>
                  <a:txBody>
                    <a:bodyPr/>
                    <a:lstStyle/>
                    <a:p>
                      <a:pPr marL="0" lvl="0" indent="0">
                        <a:buNone/>
                      </a:pPr>
                      <a:r>
                        <a:rPr sz="2000"/>
                        <a:t>15. 更新过程流程图</a:t>
                      </a:r>
                    </a:p>
                  </a:txBody>
                  <a:tcPr/>
                </a:tc>
                <a:tc>
                  <a:txBody>
                    <a:bodyPr/>
                    <a:lstStyle/>
                    <a:p>
                      <a:pPr marL="0" lvl="0" indent="0">
                        <a:buNone/>
                      </a:pPr>
                      <a:r>
                        <a:rPr sz="2000"/>
                        <a:t>否</a:t>
                      </a:r>
                    </a:p>
                  </a:txBody>
                  <a:tcPr/>
                </a:tc>
                <a:tc>
                  <a:txBody>
                    <a:bodyPr/>
                    <a:lstStyle/>
                    <a:p>
                      <a:endParaRPr sz="2000"/>
                    </a:p>
                  </a:txBody>
                  <a:tcPr/>
                </a:tc>
                <a:extLst>
                  <a:ext uri="{0D108BD9-81ED-4DB2-BD59-A6C34878D82A}">
                    <a16:rowId xmlns:a16="http://schemas.microsoft.com/office/drawing/2014/main" val="10015"/>
                  </a:ext>
                </a:extLst>
              </a:tr>
              <a:tr h="0">
                <a:tc>
                  <a:txBody>
                    <a:bodyPr/>
                    <a:lstStyle/>
                    <a:p>
                      <a:pPr marL="0" lvl="0" indent="0">
                        <a:buNone/>
                      </a:pPr>
                      <a:r>
                        <a:rPr sz="2000"/>
                        <a:t>16. 更新过程特殊特性清单</a:t>
                      </a:r>
                    </a:p>
                  </a:txBody>
                  <a:tcPr/>
                </a:tc>
                <a:tc>
                  <a:txBody>
                    <a:bodyPr/>
                    <a:lstStyle/>
                    <a:p>
                      <a:pPr marL="0" lvl="0" indent="0">
                        <a:buNone/>
                      </a:pPr>
                      <a:r>
                        <a:rPr sz="2000"/>
                        <a:t>否</a:t>
                      </a:r>
                    </a:p>
                  </a:txBody>
                  <a:tcPr/>
                </a:tc>
                <a:tc>
                  <a:txBody>
                    <a:bodyPr/>
                    <a:lstStyle/>
                    <a:p>
                      <a:endParaRPr sz="2000"/>
                    </a:p>
                  </a:txBody>
                  <a:tcPr/>
                </a:tc>
                <a:extLst>
                  <a:ext uri="{0D108BD9-81ED-4DB2-BD59-A6C34878D82A}">
                    <a16:rowId xmlns:a16="http://schemas.microsoft.com/office/drawing/2014/main" val="10016"/>
                  </a:ext>
                </a:extLst>
              </a:tr>
              <a:tr h="0">
                <a:tc>
                  <a:txBody>
                    <a:bodyPr/>
                    <a:lstStyle/>
                    <a:p>
                      <a:pPr marL="0" lvl="0" indent="0">
                        <a:buNone/>
                      </a:pPr>
                      <a:r>
                        <a:rPr sz="2000"/>
                        <a:t>17. 更新CP</a:t>
                      </a:r>
                    </a:p>
                  </a:txBody>
                  <a:tcPr/>
                </a:tc>
                <a:tc>
                  <a:txBody>
                    <a:bodyPr/>
                    <a:lstStyle/>
                    <a:p>
                      <a:pPr marL="0" lvl="0" indent="0">
                        <a:buNone/>
                      </a:pPr>
                      <a:r>
                        <a:rPr sz="2000"/>
                        <a:t>否</a:t>
                      </a:r>
                    </a:p>
                  </a:txBody>
                  <a:tcPr/>
                </a:tc>
                <a:tc>
                  <a:txBody>
                    <a:bodyPr/>
                    <a:lstStyle/>
                    <a:p>
                      <a:endParaRPr sz="2000"/>
                    </a:p>
                  </a:txBody>
                  <a:tcPr/>
                </a:tc>
                <a:extLst>
                  <a:ext uri="{0D108BD9-81ED-4DB2-BD59-A6C34878D82A}">
                    <a16:rowId xmlns:a16="http://schemas.microsoft.com/office/drawing/2014/main" val="10017"/>
                  </a:ext>
                </a:extLst>
              </a:tr>
              <a:tr h="0">
                <a:tc>
                  <a:txBody>
                    <a:bodyPr/>
                    <a:lstStyle/>
                    <a:p>
                      <a:pPr marL="0" lvl="0" indent="0">
                        <a:buNone/>
                      </a:pPr>
                      <a:r>
                        <a:rPr sz="2000"/>
                        <a:t>18. 更新SOP</a:t>
                      </a:r>
                    </a:p>
                  </a:txBody>
                  <a:tcPr/>
                </a:tc>
                <a:tc>
                  <a:txBody>
                    <a:bodyPr/>
                    <a:lstStyle/>
                    <a:p>
                      <a:pPr marL="0" lvl="0" indent="0">
                        <a:buNone/>
                      </a:pPr>
                      <a:r>
                        <a:rPr sz="2000"/>
                        <a:t>否</a:t>
                      </a:r>
                    </a:p>
                  </a:txBody>
                  <a:tcPr/>
                </a:tc>
                <a:tc>
                  <a:txBody>
                    <a:bodyPr/>
                    <a:lstStyle/>
                    <a:p>
                      <a:endParaRPr sz="2000"/>
                    </a:p>
                  </a:txBody>
                  <a:tcPr/>
                </a:tc>
                <a:extLst>
                  <a:ext uri="{0D108BD9-81ED-4DB2-BD59-A6C34878D82A}">
                    <a16:rowId xmlns:a16="http://schemas.microsoft.com/office/drawing/2014/main" val="10018"/>
                  </a:ext>
                </a:extLst>
              </a:tr>
              <a:tr h="0">
                <a:tc>
                  <a:txBody>
                    <a:bodyPr/>
                    <a:lstStyle/>
                    <a:p>
                      <a:pPr marL="0" lvl="0" indent="0">
                        <a:buNone/>
                      </a:pPr>
                      <a:r>
                        <a:rPr sz="2000"/>
                        <a:t>19. 设备停机率统计表&amp;设备故障记录表</a:t>
                      </a:r>
                    </a:p>
                  </a:txBody>
                  <a:tcPr/>
                </a:tc>
                <a:tc>
                  <a:txBody>
                    <a:bodyPr/>
                    <a:lstStyle/>
                    <a:p>
                      <a:pPr marL="0" lvl="0" indent="0">
                        <a:buNone/>
                      </a:pPr>
                      <a:r>
                        <a:rPr sz="2000"/>
                        <a:t>否</a:t>
                      </a:r>
                    </a:p>
                  </a:txBody>
                  <a:tcPr/>
                </a:tc>
                <a:tc>
                  <a:txBody>
                    <a:bodyPr/>
                    <a:lstStyle/>
                    <a:p>
                      <a:endParaRPr sz="2000"/>
                    </a:p>
                  </a:txBody>
                  <a:tcPr/>
                </a:tc>
                <a:extLst>
                  <a:ext uri="{0D108BD9-81ED-4DB2-BD59-A6C34878D82A}">
                    <a16:rowId xmlns:a16="http://schemas.microsoft.com/office/drawing/2014/main" val="10019"/>
                  </a:ext>
                </a:extLst>
              </a:tr>
              <a:tr h="0">
                <a:tc>
                  <a:txBody>
                    <a:bodyPr/>
                    <a:lstStyle/>
                    <a:p>
                      <a:pPr marL="0" lvl="0" indent="0">
                        <a:buNone/>
                      </a:pPr>
                      <a:r>
                        <a:rPr sz="2000"/>
                        <a:t>20. 工艺验证报告</a:t>
                      </a:r>
                    </a:p>
                  </a:txBody>
                  <a:tcPr/>
                </a:tc>
                <a:tc>
                  <a:txBody>
                    <a:bodyPr/>
                    <a:lstStyle/>
                    <a:p>
                      <a:pPr marL="0" lvl="0" indent="0">
                        <a:buNone/>
                      </a:pPr>
                      <a:r>
                        <a:rPr sz="2000"/>
                        <a:t>否</a:t>
                      </a:r>
                    </a:p>
                  </a:txBody>
                  <a:tcPr/>
                </a:tc>
                <a:tc>
                  <a:txBody>
                    <a:bodyPr/>
                    <a:lstStyle/>
                    <a:p>
                      <a:endParaRPr sz="2000"/>
                    </a:p>
                  </a:txBody>
                  <a:tcPr/>
                </a:tc>
                <a:extLst>
                  <a:ext uri="{0D108BD9-81ED-4DB2-BD59-A6C34878D82A}">
                    <a16:rowId xmlns:a16="http://schemas.microsoft.com/office/drawing/2014/main" val="10020"/>
                  </a:ext>
                </a:extLst>
              </a:tr>
              <a:tr h="0">
                <a:tc>
                  <a:txBody>
                    <a:bodyPr/>
                    <a:lstStyle/>
                    <a:p>
                      <a:pPr marL="0" lvl="0" indent="0">
                        <a:buNone/>
                      </a:pPr>
                      <a:r>
                        <a:rPr sz="2000"/>
                        <a:t>21. 外观标准书</a:t>
                      </a:r>
                    </a:p>
                  </a:txBody>
                  <a:tcPr/>
                </a:tc>
                <a:tc>
                  <a:txBody>
                    <a:bodyPr/>
                    <a:lstStyle/>
                    <a:p>
                      <a:pPr marL="0" lvl="0" indent="0">
                        <a:buNone/>
                      </a:pPr>
                      <a:r>
                        <a:rPr sz="2000"/>
                        <a:t>否</a:t>
                      </a:r>
                    </a:p>
                  </a:txBody>
                  <a:tcPr/>
                </a:tc>
                <a:tc>
                  <a:txBody>
                    <a:bodyPr/>
                    <a:lstStyle/>
                    <a:p>
                      <a:endParaRPr sz="2000"/>
                    </a:p>
                  </a:txBody>
                  <a:tcPr/>
                </a:tc>
                <a:extLst>
                  <a:ext uri="{0D108BD9-81ED-4DB2-BD59-A6C34878D82A}">
                    <a16:rowId xmlns:a16="http://schemas.microsoft.com/office/drawing/2014/main" val="10021"/>
                  </a:ext>
                </a:extLst>
              </a:tr>
              <a:tr h="0">
                <a:tc>
                  <a:txBody>
                    <a:bodyPr/>
                    <a:lstStyle/>
                    <a:p>
                      <a:pPr marL="0" lvl="0" indent="0">
                        <a:buNone/>
                      </a:pPr>
                      <a:r>
                        <a:rPr sz="2000"/>
                        <a:t>22. PV测试报告</a:t>
                      </a:r>
                    </a:p>
                  </a:txBody>
                  <a:tcPr/>
                </a:tc>
                <a:tc>
                  <a:txBody>
                    <a:bodyPr/>
                    <a:lstStyle/>
                    <a:p>
                      <a:pPr marL="0" lvl="0" indent="0">
                        <a:buNone/>
                      </a:pPr>
                      <a:r>
                        <a:rPr sz="2000"/>
                        <a:t>否</a:t>
                      </a:r>
                    </a:p>
                  </a:txBody>
                  <a:tcPr/>
                </a:tc>
                <a:tc>
                  <a:txBody>
                    <a:bodyPr/>
                    <a:lstStyle/>
                    <a:p>
                      <a:endParaRPr sz="2000" dirty="0"/>
                    </a:p>
                  </a:txBody>
                  <a:tcPr/>
                </a:tc>
                <a:extLst>
                  <a:ext uri="{0D108BD9-81ED-4DB2-BD59-A6C34878D82A}">
                    <a16:rowId xmlns:a16="http://schemas.microsoft.com/office/drawing/2014/main" val="10022"/>
                  </a:ext>
                </a:extLst>
              </a:tr>
            </a:tbl>
          </a:graphicData>
        </a:graphic>
      </p:graphicFrame>
      <p:sp>
        <p:nvSpPr>
          <p:cNvPr id="3" name="文本框 2">
            <a:extLst>
              <a:ext uri="{FF2B5EF4-FFF2-40B4-BE49-F238E27FC236}">
                <a16:creationId xmlns:a16="http://schemas.microsoft.com/office/drawing/2014/main" id="{96D8BDBA-D0C3-BA37-BAFA-7BE9C59181CC}"/>
              </a:ext>
            </a:extLst>
          </p:cNvPr>
          <p:cNvSpPr txBox="1"/>
          <p:nvPr/>
        </p:nvSpPr>
        <p:spPr>
          <a:xfrm>
            <a:off x="1755248" y="678711"/>
            <a:ext cx="7434943" cy="1200329"/>
          </a:xfrm>
          <a:prstGeom prst="rect">
            <a:avLst/>
          </a:prstGeom>
          <a:noFill/>
        </p:spPr>
        <p:txBody>
          <a:bodyPr wrap="square">
            <a:spAutoFit/>
          </a:bodyPr>
          <a:lstStyle/>
          <a:p>
            <a:r>
              <a:rPr lang="zh-CN" altLang="en-US" sz="3600" dirty="0"/>
              <a:t>交付物文件齐套性检测结果：</a:t>
            </a:r>
            <a:endParaRPr lang="en-GB" altLang="zh-CN" sz="3600" dirty="0"/>
          </a:p>
          <a:p>
            <a:r>
              <a:rPr lang="en-US" altLang="zh-CN" sz="3600" dirty="0"/>
              <a:t>C</a:t>
            </a:r>
            <a:r>
              <a:rPr lang="zh-CN" altLang="en-US" sz="3600" dirty="0"/>
              <a:t>样阶段</a:t>
            </a:r>
            <a:endParaRPr lang="en-GB" sz="3600" dirty="0"/>
          </a:p>
        </p:txBody>
      </p:sp>
      <p:sp>
        <p:nvSpPr>
          <p:cNvPr id="4" name="Content Placeholder 2">
            <a:extLst>
              <a:ext uri="{FF2B5EF4-FFF2-40B4-BE49-F238E27FC236}">
                <a16:creationId xmlns:a16="http://schemas.microsoft.com/office/drawing/2014/main" id="{D85D705E-B751-2C88-F3B4-9428068CD0D5}"/>
              </a:ext>
            </a:extLst>
          </p:cNvPr>
          <p:cNvSpPr txBox="1">
            <a:spLocks/>
          </p:cNvSpPr>
          <p:nvPr/>
        </p:nvSpPr>
        <p:spPr>
          <a:xfrm>
            <a:off x="11992707" y="861646"/>
            <a:ext cx="8229600" cy="11603070"/>
          </a:xfrm>
          <a:prstGeom prst="rect">
            <a:avLst/>
          </a:prstGeom>
          <a:ln>
            <a:solidFill>
              <a:schemeClr val="tx1"/>
            </a:solidFill>
          </a:ln>
        </p:spPr>
        <p:txBody>
          <a:bodyPr/>
          <a:lstStyle>
            <a:lvl1pPr marL="457200" indent="-457200" algn="l" defTabSz="1828800" rtl="0" eaLnBrk="1" latinLnBrk="0" hangingPunct="1">
              <a:lnSpc>
                <a:spcPct val="100000"/>
              </a:lnSpc>
              <a:spcBef>
                <a:spcPts val="2000"/>
              </a:spcBef>
              <a:buClr>
                <a:schemeClr val="accent2"/>
              </a:buClr>
              <a:buFont typeface="Arial" panose="020B0604020202020204" pitchFamily="34" charset="0"/>
              <a:buChar char="•"/>
              <a:defRPr sz="3600" kern="1200">
                <a:solidFill>
                  <a:schemeClr val="tx1">
                    <a:lumMod val="85000"/>
                    <a:lumOff val="15000"/>
                  </a:schemeClr>
                </a:solidFill>
                <a:latin typeface="+mn-lt"/>
                <a:ea typeface="+mn-ea"/>
                <a:cs typeface="+mn-cs"/>
              </a:defRPr>
            </a:lvl1pPr>
            <a:lvl2pPr marL="914400"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a:solidFill>
                  <a:schemeClr val="tx1">
                    <a:lumMod val="85000"/>
                    <a:lumOff val="15000"/>
                  </a:schemeClr>
                </a:solidFill>
                <a:latin typeface="+mn-lt"/>
                <a:ea typeface="+mn-ea"/>
                <a:cs typeface="+mn-cs"/>
              </a:defRPr>
            </a:lvl2pPr>
            <a:lvl3pPr marL="1371600"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a:solidFill>
                  <a:schemeClr val="tx1">
                    <a:lumMod val="85000"/>
                    <a:lumOff val="15000"/>
                  </a:schemeClr>
                </a:solidFill>
                <a:latin typeface="+mn-lt"/>
                <a:ea typeface="+mn-ea"/>
                <a:cs typeface="+mn-cs"/>
              </a:defRPr>
            </a:lvl3pPr>
            <a:lvl4pPr marL="1828800"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a:solidFill>
                  <a:schemeClr val="tx1">
                    <a:lumMod val="85000"/>
                    <a:lumOff val="15000"/>
                  </a:schemeClr>
                </a:solidFill>
                <a:latin typeface="+mn-lt"/>
                <a:ea typeface="+mn-ea"/>
                <a:cs typeface="+mn-cs"/>
              </a:defRPr>
            </a:lvl4pPr>
            <a:lvl5pPr marL="2286000"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a:solidFill>
                  <a:schemeClr val="tx1">
                    <a:lumMod val="85000"/>
                    <a:lumOff val="15000"/>
                  </a:schemeClr>
                </a:solidFill>
                <a:latin typeface="+mn-lt"/>
                <a:ea typeface="+mn-ea"/>
                <a:cs typeface="+mn-cs"/>
              </a:defRPr>
            </a:lvl5pPr>
            <a:lvl6pPr marL="2625725"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a:solidFill>
                  <a:schemeClr val="tx1"/>
                </a:solidFill>
                <a:latin typeface="+mn-lt"/>
                <a:ea typeface="+mn-ea"/>
                <a:cs typeface="+mn-cs"/>
              </a:defRPr>
            </a:lvl6pPr>
            <a:lvl7pPr marL="2968625"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a:solidFill>
                  <a:schemeClr val="tx1"/>
                </a:solidFill>
                <a:latin typeface="+mn-lt"/>
                <a:ea typeface="+mn-ea"/>
                <a:cs typeface="+mn-cs"/>
              </a:defRPr>
            </a:lvl7pPr>
            <a:lvl8pPr marL="3314700"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baseline="0">
                <a:solidFill>
                  <a:schemeClr val="tx1"/>
                </a:solidFill>
                <a:latin typeface="+mn-lt"/>
                <a:ea typeface="+mn-ea"/>
                <a:cs typeface="+mn-cs"/>
              </a:defRPr>
            </a:lvl8pPr>
            <a:lvl9pPr marL="3765550" indent="-457200" algn="l" defTabSz="1828800" rtl="0" eaLnBrk="1" latinLnBrk="0" hangingPunct="1">
              <a:lnSpc>
                <a:spcPct val="100000"/>
              </a:lnSpc>
              <a:spcBef>
                <a:spcPts val="2000"/>
              </a:spcBef>
              <a:buClr>
                <a:schemeClr val="accent2"/>
              </a:buClr>
              <a:buFont typeface="Arial" panose="020B0604020202020204" pitchFamily="34" charset="0"/>
              <a:buChar char="•"/>
              <a:defRPr sz="3200" kern="1200" baseline="0">
                <a:solidFill>
                  <a:schemeClr val="tx1"/>
                </a:solidFill>
                <a:latin typeface="+mn-lt"/>
                <a:ea typeface="+mn-ea"/>
                <a:cs typeface="+mn-cs"/>
              </a:defRPr>
            </a:lvl9pPr>
          </a:lstStyle>
          <a:p>
            <a:pPr marL="0" indent="0">
              <a:spcBef>
                <a:spcPts val="3000"/>
              </a:spcBef>
              <a:buNone/>
            </a:pPr>
            <a:r>
              <a:rPr lang="zh-CN" altLang="en-US" sz="2400" b="1" dirty="0">
                <a:solidFill>
                  <a:schemeClr val="tx1"/>
                </a:solidFill>
              </a:rPr>
              <a:t>风险评估与建议</a:t>
            </a:r>
            <a:endParaRPr lang="en-GB" altLang="zh-CN" sz="2400" b="1" dirty="0">
              <a:solidFill>
                <a:schemeClr val="tx1"/>
              </a:solidFill>
            </a:endParaRPr>
          </a:p>
          <a:p>
            <a:pPr marL="0" indent="0">
              <a:lnSpc>
                <a:spcPts val="800"/>
              </a:lnSpc>
              <a:spcBef>
                <a:spcPts val="3000"/>
              </a:spcBef>
              <a:buNone/>
            </a:pPr>
            <a:endParaRPr lang="en-GB" altLang="zh-CN" sz="2400" dirty="0">
              <a:solidFill>
                <a:schemeClr val="tx1"/>
              </a:solidFill>
            </a:endParaRPr>
          </a:p>
          <a:p>
            <a:pPr marL="0" indent="0">
              <a:lnSpc>
                <a:spcPts val="800"/>
              </a:lnSpc>
              <a:spcBef>
                <a:spcPts val="3000"/>
              </a:spcBef>
              <a:buNone/>
            </a:pPr>
            <a:r>
              <a:rPr lang="en-US" altLang="zh-CN" sz="2400" b="1" dirty="0">
                <a:solidFill>
                  <a:schemeClr val="tx1"/>
                </a:solidFill>
              </a:rPr>
              <a:t>1. </a:t>
            </a:r>
            <a:r>
              <a:rPr lang="zh-CN" altLang="en-US" sz="2400" b="1" dirty="0">
                <a:solidFill>
                  <a:schemeClr val="tx1"/>
                </a:solidFill>
              </a:rPr>
              <a:t>关键路径影响</a:t>
            </a:r>
          </a:p>
          <a:p>
            <a:pPr lvl="1">
              <a:lnSpc>
                <a:spcPts val="800"/>
              </a:lnSpc>
            </a:pPr>
            <a:r>
              <a:rPr lang="zh-CN" altLang="en-US" sz="2000" dirty="0">
                <a:solidFill>
                  <a:schemeClr val="tx1"/>
                </a:solidFill>
              </a:rPr>
              <a:t>所有必需交付物均缺失，表明</a:t>
            </a:r>
            <a:r>
              <a:rPr lang="en-US" altLang="zh-CN" sz="2000" dirty="0">
                <a:solidFill>
                  <a:schemeClr val="tx1"/>
                </a:solidFill>
              </a:rPr>
              <a:t>C</a:t>
            </a:r>
            <a:r>
              <a:rPr lang="zh-CN" altLang="en-US" sz="2000" dirty="0">
                <a:solidFill>
                  <a:schemeClr val="tx1"/>
                </a:solidFill>
              </a:rPr>
              <a:t>样阶段文档存在重大缺口</a:t>
            </a:r>
          </a:p>
          <a:p>
            <a:pPr lvl="1">
              <a:lnSpc>
                <a:spcPts val="800"/>
              </a:lnSpc>
            </a:pPr>
            <a:r>
              <a:rPr lang="zh-CN" altLang="en-US" sz="2000" dirty="0">
                <a:solidFill>
                  <a:schemeClr val="tx1"/>
                </a:solidFill>
              </a:rPr>
              <a:t>这可能会延迟项目时间表并影响质量门评审</a:t>
            </a:r>
          </a:p>
          <a:p>
            <a:pPr marL="0" indent="0">
              <a:lnSpc>
                <a:spcPts val="800"/>
              </a:lnSpc>
              <a:spcBef>
                <a:spcPts val="3000"/>
              </a:spcBef>
              <a:buFont typeface="Arial" panose="020B0604020202020204" pitchFamily="34" charset="0"/>
              <a:buNone/>
            </a:pPr>
            <a:r>
              <a:rPr lang="en-US" altLang="zh-CN" sz="2400" b="1" dirty="0">
                <a:solidFill>
                  <a:schemeClr val="tx1"/>
                </a:solidFill>
              </a:rPr>
              <a:t>2. </a:t>
            </a:r>
            <a:r>
              <a:rPr lang="zh-CN" altLang="en-US" sz="2400" b="1" dirty="0">
                <a:solidFill>
                  <a:schemeClr val="tx1"/>
                </a:solidFill>
              </a:rPr>
              <a:t>质量门关注点</a:t>
            </a:r>
          </a:p>
          <a:p>
            <a:pPr lvl="1">
              <a:lnSpc>
                <a:spcPts val="800"/>
              </a:lnSpc>
            </a:pPr>
            <a:r>
              <a:rPr lang="zh-CN" altLang="en-US" sz="2000" dirty="0">
                <a:solidFill>
                  <a:schemeClr val="tx1"/>
                </a:solidFill>
              </a:rPr>
              <a:t>文档缺失可能影响</a:t>
            </a:r>
            <a:r>
              <a:rPr lang="en-US" altLang="zh-CN" sz="2000" dirty="0">
                <a:solidFill>
                  <a:schemeClr val="tx1"/>
                </a:solidFill>
              </a:rPr>
              <a:t>Gate</a:t>
            </a:r>
            <a:r>
              <a:rPr lang="zh-CN" altLang="en-US" sz="2000" dirty="0">
                <a:solidFill>
                  <a:schemeClr val="tx1"/>
                </a:solidFill>
              </a:rPr>
              <a:t> </a:t>
            </a:r>
            <a:r>
              <a:rPr lang="en-US" altLang="zh-CN" sz="2000" dirty="0">
                <a:solidFill>
                  <a:schemeClr val="tx1"/>
                </a:solidFill>
              </a:rPr>
              <a:t>4</a:t>
            </a:r>
            <a:r>
              <a:rPr lang="zh-CN" altLang="en-US" sz="2000" dirty="0">
                <a:solidFill>
                  <a:schemeClr val="tx1"/>
                </a:solidFill>
              </a:rPr>
              <a:t>（</a:t>
            </a:r>
            <a:r>
              <a:rPr lang="en-US" altLang="zh-CN" sz="2000" dirty="0">
                <a:solidFill>
                  <a:schemeClr val="tx1"/>
                </a:solidFill>
              </a:rPr>
              <a:t>C</a:t>
            </a:r>
            <a:r>
              <a:rPr lang="zh-CN" altLang="en-US" sz="2000" dirty="0">
                <a:solidFill>
                  <a:schemeClr val="tx1"/>
                </a:solidFill>
              </a:rPr>
              <a:t>样阶段）的成功完成</a:t>
            </a:r>
          </a:p>
          <a:p>
            <a:pPr lvl="1">
              <a:lnSpc>
                <a:spcPts val="800"/>
              </a:lnSpc>
            </a:pPr>
            <a:r>
              <a:rPr lang="zh-CN" altLang="en-US" sz="2000" dirty="0">
                <a:solidFill>
                  <a:schemeClr val="tx1"/>
                </a:solidFill>
              </a:rPr>
              <a:t>关键质量文件（</a:t>
            </a:r>
            <a:r>
              <a:rPr lang="en-US" altLang="zh-CN" sz="2000" dirty="0">
                <a:solidFill>
                  <a:schemeClr val="tx1"/>
                </a:solidFill>
              </a:rPr>
              <a:t>PFMEA</a:t>
            </a:r>
            <a:r>
              <a:rPr lang="zh-CN" altLang="en-US" sz="2000" dirty="0">
                <a:solidFill>
                  <a:schemeClr val="tx1"/>
                </a:solidFill>
              </a:rPr>
              <a:t>、</a:t>
            </a:r>
            <a:r>
              <a:rPr lang="en-US" altLang="zh-CN" sz="2000" dirty="0">
                <a:solidFill>
                  <a:schemeClr val="tx1"/>
                </a:solidFill>
              </a:rPr>
              <a:t>CP</a:t>
            </a:r>
            <a:r>
              <a:rPr lang="zh-CN" altLang="en-US" sz="2000" dirty="0">
                <a:solidFill>
                  <a:schemeClr val="tx1"/>
                </a:solidFill>
              </a:rPr>
              <a:t>、</a:t>
            </a:r>
            <a:r>
              <a:rPr lang="en-US" altLang="zh-CN" sz="2000" dirty="0">
                <a:solidFill>
                  <a:schemeClr val="tx1"/>
                </a:solidFill>
              </a:rPr>
              <a:t>SOP</a:t>
            </a:r>
            <a:r>
              <a:rPr lang="zh-CN" altLang="en-US" sz="2000" dirty="0">
                <a:solidFill>
                  <a:schemeClr val="tx1"/>
                </a:solidFill>
              </a:rPr>
              <a:t>）无法进行评审</a:t>
            </a:r>
          </a:p>
          <a:p>
            <a:pPr marL="0" indent="0">
              <a:lnSpc>
                <a:spcPts val="800"/>
              </a:lnSpc>
              <a:spcBef>
                <a:spcPts val="3000"/>
              </a:spcBef>
              <a:buFont typeface="Arial" panose="020B0604020202020204" pitchFamily="34" charset="0"/>
              <a:buNone/>
            </a:pPr>
            <a:r>
              <a:rPr lang="en-US" altLang="zh-CN" sz="2400" b="1" dirty="0">
                <a:solidFill>
                  <a:schemeClr val="tx1"/>
                </a:solidFill>
              </a:rPr>
              <a:t>3. </a:t>
            </a:r>
            <a:r>
              <a:rPr lang="zh-CN" altLang="en-US" sz="2400" b="1" dirty="0">
                <a:solidFill>
                  <a:schemeClr val="tx1"/>
                </a:solidFill>
              </a:rPr>
              <a:t>建议行动</a:t>
            </a:r>
          </a:p>
          <a:p>
            <a:pPr lvl="1">
              <a:lnSpc>
                <a:spcPts val="800"/>
              </a:lnSpc>
            </a:pPr>
            <a:r>
              <a:rPr lang="zh-CN" altLang="en-US" sz="2000" dirty="0">
                <a:solidFill>
                  <a:schemeClr val="tx1"/>
                </a:solidFill>
              </a:rPr>
              <a:t>需要立即采取行动创建缺失文档</a:t>
            </a:r>
          </a:p>
          <a:p>
            <a:pPr lvl="1">
              <a:lnSpc>
                <a:spcPts val="800"/>
              </a:lnSpc>
            </a:pPr>
            <a:r>
              <a:rPr lang="zh-CN" altLang="en-US" sz="2000" dirty="0">
                <a:solidFill>
                  <a:schemeClr val="tx1"/>
                </a:solidFill>
              </a:rPr>
              <a:t>优先处理关键质量文件：</a:t>
            </a:r>
          </a:p>
          <a:p>
            <a:pPr lvl="2">
              <a:lnSpc>
                <a:spcPts val="800"/>
              </a:lnSpc>
            </a:pPr>
            <a:r>
              <a:rPr lang="en-US" altLang="zh-CN" sz="2000" dirty="0">
                <a:solidFill>
                  <a:schemeClr val="tx1"/>
                </a:solidFill>
              </a:rPr>
              <a:t>PFMEA</a:t>
            </a:r>
          </a:p>
          <a:p>
            <a:pPr lvl="2">
              <a:lnSpc>
                <a:spcPts val="800"/>
              </a:lnSpc>
            </a:pPr>
            <a:r>
              <a:rPr lang="zh-CN" altLang="en-US" sz="2000" dirty="0">
                <a:solidFill>
                  <a:schemeClr val="tx1"/>
                </a:solidFill>
              </a:rPr>
              <a:t>控制计划</a:t>
            </a:r>
          </a:p>
          <a:p>
            <a:pPr lvl="2">
              <a:lnSpc>
                <a:spcPts val="800"/>
              </a:lnSpc>
            </a:pPr>
            <a:r>
              <a:rPr lang="zh-CN" altLang="en-US" sz="2000" dirty="0">
                <a:solidFill>
                  <a:schemeClr val="tx1"/>
                </a:solidFill>
              </a:rPr>
              <a:t>过程流程图</a:t>
            </a:r>
          </a:p>
          <a:p>
            <a:pPr lvl="2">
              <a:lnSpc>
                <a:spcPts val="800"/>
              </a:lnSpc>
            </a:pPr>
            <a:r>
              <a:rPr lang="zh-CN" altLang="en-US" sz="2000" dirty="0">
                <a:solidFill>
                  <a:schemeClr val="tx1"/>
                </a:solidFill>
              </a:rPr>
              <a:t>特殊特性清单</a:t>
            </a:r>
          </a:p>
          <a:p>
            <a:pPr lvl="1">
              <a:lnSpc>
                <a:spcPts val="800"/>
              </a:lnSpc>
            </a:pPr>
            <a:r>
              <a:rPr lang="zh-CN" altLang="en-US" sz="2000" dirty="0">
                <a:solidFill>
                  <a:schemeClr val="tx1"/>
                </a:solidFill>
              </a:rPr>
              <a:t>建立文档跟踪系统</a:t>
            </a:r>
          </a:p>
          <a:p>
            <a:pPr lvl="1">
              <a:lnSpc>
                <a:spcPts val="800"/>
              </a:lnSpc>
            </a:pPr>
            <a:r>
              <a:rPr lang="zh-CN" altLang="en-US" sz="2000" dirty="0">
                <a:solidFill>
                  <a:schemeClr val="tx1"/>
                </a:solidFill>
              </a:rPr>
              <a:t>安排跨功能团队评审会议</a:t>
            </a:r>
          </a:p>
          <a:p>
            <a:pPr marL="0" indent="0">
              <a:lnSpc>
                <a:spcPts val="800"/>
              </a:lnSpc>
              <a:spcBef>
                <a:spcPts val="3000"/>
              </a:spcBef>
              <a:buFont typeface="Arial" panose="020B0604020202020204" pitchFamily="34" charset="0"/>
              <a:buNone/>
            </a:pPr>
            <a:r>
              <a:rPr lang="en-US" altLang="zh-CN" sz="2400" b="1" dirty="0">
                <a:solidFill>
                  <a:schemeClr val="tx1"/>
                </a:solidFill>
              </a:rPr>
              <a:t>4. </a:t>
            </a:r>
            <a:r>
              <a:rPr lang="zh-CN" altLang="en-US" sz="2400" b="1" dirty="0">
                <a:solidFill>
                  <a:schemeClr val="tx1"/>
                </a:solidFill>
              </a:rPr>
              <a:t>过程改进机会</a:t>
            </a:r>
          </a:p>
          <a:p>
            <a:pPr lvl="1">
              <a:lnSpc>
                <a:spcPts val="800"/>
              </a:lnSpc>
            </a:pPr>
            <a:r>
              <a:rPr lang="zh-CN" altLang="en-US" sz="2000" dirty="0">
                <a:solidFill>
                  <a:schemeClr val="tx1"/>
                </a:solidFill>
              </a:rPr>
              <a:t>实施文档管理系统</a:t>
            </a:r>
          </a:p>
          <a:p>
            <a:pPr lvl="1">
              <a:lnSpc>
                <a:spcPts val="800"/>
              </a:lnSpc>
            </a:pPr>
            <a:r>
              <a:rPr lang="zh-CN" altLang="en-US" sz="2000" dirty="0">
                <a:solidFill>
                  <a:schemeClr val="tx1"/>
                </a:solidFill>
              </a:rPr>
              <a:t>为标准文档创建模板</a:t>
            </a:r>
          </a:p>
          <a:p>
            <a:pPr lvl="1">
              <a:lnSpc>
                <a:spcPts val="800"/>
              </a:lnSpc>
            </a:pPr>
            <a:r>
              <a:rPr lang="zh-CN" altLang="en-US" sz="2000" dirty="0">
                <a:solidFill>
                  <a:schemeClr val="tx1"/>
                </a:solidFill>
              </a:rPr>
              <a:t>建立定期文档评审周期</a:t>
            </a:r>
          </a:p>
          <a:p>
            <a:pPr lvl="1">
              <a:lnSpc>
                <a:spcPts val="800"/>
              </a:lnSpc>
            </a:pPr>
            <a:r>
              <a:rPr lang="zh-CN" altLang="en-US" sz="2000" dirty="0">
                <a:solidFill>
                  <a:schemeClr val="tx1"/>
                </a:solidFill>
              </a:rPr>
              <a:t>设置文档更新自动提醒</a:t>
            </a:r>
            <a:endParaRPr lang="en-GB" altLang="zh-CN" sz="2000" dirty="0">
              <a:solidFill>
                <a:schemeClr val="tx1"/>
              </a:solidFill>
            </a:endParaRPr>
          </a:p>
          <a:p>
            <a:pPr marL="0" indent="0">
              <a:spcBef>
                <a:spcPts val="0"/>
              </a:spcBef>
              <a:buNone/>
            </a:pPr>
            <a:endParaRPr lang="en-GB" altLang="zh-CN" sz="2400" dirty="0">
              <a:solidFill>
                <a:schemeClr val="tx1"/>
              </a:solidFill>
            </a:endParaRPr>
          </a:p>
          <a:p>
            <a:pPr marL="0" indent="0">
              <a:spcBef>
                <a:spcPts val="0"/>
              </a:spcBef>
              <a:buNone/>
            </a:pPr>
            <a:r>
              <a:rPr lang="zh-CN" altLang="en-US" sz="2400" b="1" dirty="0">
                <a:solidFill>
                  <a:schemeClr val="tx1"/>
                </a:solidFill>
              </a:rPr>
              <a:t>后续跟进建议</a:t>
            </a:r>
            <a:endParaRPr lang="en-GB" altLang="zh-CN" sz="2400" b="1" dirty="0">
              <a:solidFill>
                <a:schemeClr val="tx1"/>
              </a:solidFill>
            </a:endParaRPr>
          </a:p>
          <a:p>
            <a:pPr marL="0" indent="0">
              <a:spcBef>
                <a:spcPts val="0"/>
              </a:spcBef>
              <a:buNone/>
            </a:pPr>
            <a:endParaRPr lang="en-GB" altLang="zh-CN" sz="2400" b="1" dirty="0">
              <a:solidFill>
                <a:schemeClr val="tx1"/>
              </a:solidFill>
            </a:endParaRPr>
          </a:p>
          <a:p>
            <a:pPr lvl="1">
              <a:spcBef>
                <a:spcPts val="0"/>
              </a:spcBef>
              <a:buAutoNum type="arabicPeriod"/>
            </a:pPr>
            <a:r>
              <a:rPr lang="zh-CN" altLang="en-US" sz="2000" dirty="0">
                <a:solidFill>
                  <a:schemeClr val="tx1"/>
                </a:solidFill>
              </a:rPr>
              <a:t>建立文档完成时间表</a:t>
            </a:r>
          </a:p>
          <a:p>
            <a:pPr lvl="1">
              <a:spcBef>
                <a:spcPts val="0"/>
              </a:spcBef>
              <a:buAutoNum type="arabicPeriod"/>
            </a:pPr>
            <a:r>
              <a:rPr lang="zh-CN" altLang="en-US" sz="2000" dirty="0">
                <a:solidFill>
                  <a:schemeClr val="tx1"/>
                </a:solidFill>
              </a:rPr>
              <a:t>分配文档负责人</a:t>
            </a:r>
          </a:p>
          <a:p>
            <a:pPr lvl="1">
              <a:spcBef>
                <a:spcPts val="0"/>
              </a:spcBef>
              <a:buAutoNum type="arabicPeriod"/>
            </a:pPr>
            <a:r>
              <a:rPr lang="zh-CN" altLang="en-US" sz="2000" dirty="0">
                <a:solidFill>
                  <a:schemeClr val="tx1"/>
                </a:solidFill>
              </a:rPr>
              <a:t>设置定期进度检查点</a:t>
            </a:r>
          </a:p>
          <a:p>
            <a:pPr lvl="1">
              <a:spcBef>
                <a:spcPts val="0"/>
              </a:spcBef>
              <a:buAutoNum type="arabicPeriod"/>
            </a:pPr>
            <a:r>
              <a:rPr lang="zh-CN" altLang="en-US" sz="2000" dirty="0">
                <a:solidFill>
                  <a:schemeClr val="tx1"/>
                </a:solidFill>
              </a:rPr>
              <a:t>建立文档评审机制</a:t>
            </a:r>
          </a:p>
          <a:p>
            <a:pPr lvl="1">
              <a:spcBef>
                <a:spcPts val="0"/>
              </a:spcBef>
              <a:buAutoNum type="arabicPeriod"/>
            </a:pPr>
            <a:r>
              <a:rPr lang="zh-CN" altLang="en-US" sz="2000" dirty="0">
                <a:solidFill>
                  <a:schemeClr val="tx1"/>
                </a:solidFill>
              </a:rPr>
              <a:t>制定文档更新流程</a:t>
            </a:r>
          </a:p>
          <a:p>
            <a:pPr lvl="1">
              <a:lnSpc>
                <a:spcPts val="800"/>
              </a:lnSpc>
            </a:pPr>
            <a:endParaRPr lang="zh-CN" altLang="en-US" sz="2000" dirty="0"/>
          </a:p>
        </p:txBody>
      </p:sp>
    </p:spTree>
    <p:extLst>
      <p:ext uri="{BB962C8B-B14F-4D97-AF65-F5344CB8AC3E}">
        <p14:creationId xmlns:p14="http://schemas.microsoft.com/office/powerpoint/2010/main" val="1185864043"/>
      </p:ext>
    </p:extLst>
  </p:cSld>
  <p:clrMapOvr>
    <a:masterClrMapping/>
  </p:clrMapOvr>
  <p:transition spd="med"/>
  <p:extLst>
    <p:ext uri="{6950BFC3-D8DA-4A85-94F7-54DA5524770B}">
      <p188:commentRel xmlns:p188="http://schemas.microsoft.com/office/powerpoint/2018/8/main" r:id="rId2"/>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605425-0A86-963F-9A98-F85095B3F132}"/>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3318BC7F-3C72-762D-C55A-4DE7E6431E1F}"/>
              </a:ext>
            </a:extLst>
          </p:cNvPr>
          <p:cNvSpPr txBox="1"/>
          <p:nvPr/>
        </p:nvSpPr>
        <p:spPr>
          <a:xfrm>
            <a:off x="1737559" y="755986"/>
            <a:ext cx="10618563" cy="646331"/>
          </a:xfrm>
          <a:prstGeom prst="rect">
            <a:avLst/>
          </a:prstGeom>
          <a:noFill/>
        </p:spPr>
        <p:txBody>
          <a:bodyPr wrap="square" numCol="1">
            <a:spAutoFit/>
          </a:bodyPr>
          <a:lstStyle/>
          <a:p>
            <a:pPr>
              <a:spcBef>
                <a:spcPts val="1500"/>
              </a:spcBef>
              <a:spcAft>
                <a:spcPts val="750"/>
              </a:spcAft>
              <a:buNone/>
            </a:pPr>
            <a:r>
              <a:rPr lang="en-US" altLang="zh-CN" sz="3600" b="1" dirty="0">
                <a:effectLst/>
              </a:rPr>
              <a:t>A</a:t>
            </a:r>
            <a:r>
              <a:rPr lang="zh-CN" altLang="en-US" sz="3600" b="1" dirty="0">
                <a:effectLst/>
              </a:rPr>
              <a:t>样阶段</a:t>
            </a:r>
            <a:r>
              <a:rPr lang="en-US" altLang="zh-CN" sz="3600" b="1" dirty="0"/>
              <a:t>《344-941-A</a:t>
            </a:r>
            <a:r>
              <a:rPr lang="zh-CN" altLang="en-US" sz="3600" b="1" dirty="0"/>
              <a:t>计算书</a:t>
            </a:r>
            <a:r>
              <a:rPr lang="en-US" altLang="zh-CN" sz="3600" b="1" dirty="0"/>
              <a:t>-CIR》</a:t>
            </a:r>
            <a:r>
              <a:rPr lang="zh-CN" altLang="en-US" sz="3600" b="1" dirty="0">
                <a:effectLst/>
              </a:rPr>
              <a:t>审核报告</a:t>
            </a:r>
          </a:p>
        </p:txBody>
      </p:sp>
      <p:graphicFrame>
        <p:nvGraphicFramePr>
          <p:cNvPr id="2" name="表格 1">
            <a:extLst>
              <a:ext uri="{FF2B5EF4-FFF2-40B4-BE49-F238E27FC236}">
                <a16:creationId xmlns:a16="http://schemas.microsoft.com/office/drawing/2014/main" id="{FE6A5055-7D6A-4E92-A1EB-0D64229B0F6A}"/>
              </a:ext>
            </a:extLst>
          </p:cNvPr>
          <p:cNvGraphicFramePr>
            <a:graphicFrameLocks noGrp="1"/>
          </p:cNvGraphicFramePr>
          <p:nvPr>
            <p:extLst>
              <p:ext uri="{D42A27DB-BD31-4B8C-83A1-F6EECF244321}">
                <p14:modId xmlns:p14="http://schemas.microsoft.com/office/powerpoint/2010/main" val="258414156"/>
              </p:ext>
            </p:extLst>
          </p:nvPr>
        </p:nvGraphicFramePr>
        <p:xfrm>
          <a:off x="679936" y="1957753"/>
          <a:ext cx="23422710" cy="11526427"/>
        </p:xfrm>
        <a:graphic>
          <a:graphicData uri="http://schemas.openxmlformats.org/drawingml/2006/table">
            <a:tbl>
              <a:tblPr firstRow="1" bandRow="1"/>
              <a:tblGrid>
                <a:gridCol w="4679781">
                  <a:extLst>
                    <a:ext uri="{9D8B030D-6E8A-4147-A177-3AD203B41FA5}">
                      <a16:colId xmlns:a16="http://schemas.microsoft.com/office/drawing/2014/main" val="520135011"/>
                    </a:ext>
                  </a:extLst>
                </a:gridCol>
                <a:gridCol w="6001548">
                  <a:extLst>
                    <a:ext uri="{9D8B030D-6E8A-4147-A177-3AD203B41FA5}">
                      <a16:colId xmlns:a16="http://schemas.microsoft.com/office/drawing/2014/main" val="585926975"/>
                    </a:ext>
                  </a:extLst>
                </a:gridCol>
                <a:gridCol w="6434366">
                  <a:extLst>
                    <a:ext uri="{9D8B030D-6E8A-4147-A177-3AD203B41FA5}">
                      <a16:colId xmlns:a16="http://schemas.microsoft.com/office/drawing/2014/main" val="3081416713"/>
                    </a:ext>
                  </a:extLst>
                </a:gridCol>
                <a:gridCol w="6307015">
                  <a:extLst>
                    <a:ext uri="{9D8B030D-6E8A-4147-A177-3AD203B41FA5}">
                      <a16:colId xmlns:a16="http://schemas.microsoft.com/office/drawing/2014/main" val="572010187"/>
                    </a:ext>
                  </a:extLst>
                </a:gridCol>
              </a:tblGrid>
              <a:tr h="894269">
                <a:tc rowSpan="2">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审查清单制定</a:t>
                      </a:r>
                    </a:p>
                  </a:txBody>
                  <a:tcPr anchor="ctr"/>
                </a:tc>
                <a:tc gridSpan="2">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逐项审核结果</a:t>
                      </a:r>
                    </a:p>
                  </a:txBody>
                  <a:tcPr anchor="ctr"/>
                </a:tc>
                <a:tc hMerge="1">
                  <a:txBody>
                    <a:bodyPr/>
                    <a:lstStyle/>
                    <a:p>
                      <a:pPr algn="ctr"/>
                      <a:endParaRPr lang="en-GB" sz="2000" dirty="0"/>
                    </a:p>
                  </a:txBody>
                  <a:tcPr/>
                </a:tc>
                <a:tc rowSpan="2">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总体评估</a:t>
                      </a:r>
                    </a:p>
                  </a:txBody>
                  <a:tcPr anchor="ctr"/>
                </a:tc>
                <a:extLst>
                  <a:ext uri="{0D108BD9-81ED-4DB2-BD59-A6C34878D82A}">
                    <a16:rowId xmlns:a16="http://schemas.microsoft.com/office/drawing/2014/main" val="2562292327"/>
                  </a:ext>
                </a:extLst>
              </a:tr>
              <a:tr h="509045">
                <a:tc vMerge="1">
                  <a:txBody>
                    <a:bodyPr/>
                    <a:lstStyle/>
                    <a:p>
                      <a:pPr algn="ctr"/>
                      <a:endParaRPr lang="en-GB" sz="2000" dirty="0"/>
                    </a:p>
                  </a:txBody>
                  <a:tcPr/>
                </a:tc>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000" b="1" dirty="0">
                          <a:effectLst/>
                        </a:rPr>
                        <a:t>✅通过项目</a:t>
                      </a:r>
                    </a:p>
                  </a:txBody>
                  <a:tcPr/>
                </a:tc>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000" b="1" dirty="0">
                          <a:effectLst/>
                        </a:rPr>
                        <a:t>❌ 不通过项目</a:t>
                      </a:r>
                    </a:p>
                  </a:txBody>
                  <a:tcPr/>
                </a:tc>
                <a:tc vMerge="1">
                  <a:txBody>
                    <a:bodyPr/>
                    <a:lstStyle/>
                    <a:p>
                      <a:endParaRPr dirty="0"/>
                    </a:p>
                  </a:txBody>
                  <a:tcPr/>
                </a:tc>
                <a:extLst>
                  <a:ext uri="{0D108BD9-81ED-4DB2-BD59-A6C34878D82A}">
                    <a16:rowId xmlns:a16="http://schemas.microsoft.com/office/drawing/2014/main" val="3862020771"/>
                  </a:ext>
                </a:extLst>
              </a:tr>
              <a:tr h="10123113">
                <a:tc>
                  <a:txBody>
                    <a:bodyPr/>
                    <a:lstStyle/>
                    <a:p>
                      <a:r>
                        <a:rPr lang="zh-CN" altLang="en-US" sz="2000" dirty="0"/>
                        <a:t>根据</a:t>
                      </a:r>
                      <a:r>
                        <a:rPr lang="en-US" altLang="zh-CN" sz="2000" dirty="0"/>
                        <a:t>APQP Phase A1</a:t>
                      </a:r>
                      <a:r>
                        <a:rPr lang="zh-CN" altLang="en-US" sz="2000" dirty="0"/>
                        <a:t>（产品规划和定义）阶段要求，制定以下审查清单：</a:t>
                      </a:r>
                      <a:r>
                        <a:rPr lang="en-US" altLang="zh-CN" sz="2000" b="1" dirty="0">
                          <a:effectLst/>
                        </a:rPr>
                        <a:t>1. </a:t>
                      </a:r>
                      <a:r>
                        <a:rPr lang="zh-CN" altLang="en-US" sz="2000" b="1" dirty="0">
                          <a:effectLst/>
                        </a:rPr>
                        <a:t>文件规范性审查</a:t>
                      </a:r>
                    </a:p>
                    <a:p>
                      <a:pPr marL="342900" indent="-342900">
                        <a:buFont typeface="Arial" panose="020B0604020202020204" pitchFamily="34" charset="0"/>
                        <a:buChar char="•"/>
                      </a:pPr>
                      <a:r>
                        <a:rPr lang="zh-CN" altLang="en-US" sz="2000" dirty="0">
                          <a:effectLst/>
                        </a:rPr>
                        <a:t>文件基本信息完整性</a:t>
                      </a:r>
                    </a:p>
                    <a:p>
                      <a:pPr marL="342900" indent="-342900">
                        <a:buFont typeface="Arial" panose="020B0604020202020204" pitchFamily="34" charset="0"/>
                        <a:buChar char="•"/>
                      </a:pPr>
                      <a:r>
                        <a:rPr lang="zh-CN" altLang="en-US" sz="2000" dirty="0">
                          <a:effectLst/>
                        </a:rPr>
                        <a:t>版本控制和修订记录</a:t>
                      </a:r>
                    </a:p>
                    <a:p>
                      <a:pPr marL="342900" indent="-342900">
                        <a:buFont typeface="Arial" panose="020B0604020202020204" pitchFamily="34" charset="0"/>
                        <a:buChar char="•"/>
                      </a:pPr>
                      <a:r>
                        <a:rPr lang="zh-CN" altLang="en-US" sz="2000" dirty="0">
                          <a:effectLst/>
                        </a:rPr>
                        <a:t>审批签字栏设置</a:t>
                      </a:r>
                    </a:p>
                    <a:p>
                      <a:pPr marL="342900" indent="-342900">
                        <a:buFont typeface="Arial" panose="020B0604020202020204" pitchFamily="34" charset="0"/>
                        <a:buChar char="•"/>
                      </a:pPr>
                      <a:r>
                        <a:rPr lang="zh-CN" altLang="en-US" sz="2000" dirty="0">
                          <a:effectLst/>
                        </a:rPr>
                        <a:t>目录结构合理性</a:t>
                      </a:r>
                    </a:p>
                    <a:p>
                      <a:r>
                        <a:rPr lang="en-US" altLang="zh-CN" sz="2000" b="1" dirty="0">
                          <a:effectLst/>
                        </a:rPr>
                        <a:t>2. </a:t>
                      </a:r>
                      <a:r>
                        <a:rPr lang="zh-CN" altLang="en-US" sz="2000" b="1" dirty="0">
                          <a:effectLst/>
                        </a:rPr>
                        <a:t>技术内容完整性审查</a:t>
                      </a:r>
                    </a:p>
                    <a:p>
                      <a:pPr marL="342900" indent="-342900">
                        <a:buFont typeface="Arial" panose="020B0604020202020204" pitchFamily="34" charset="0"/>
                        <a:buChar char="•"/>
                      </a:pPr>
                      <a:r>
                        <a:rPr lang="zh-CN" altLang="en-US" sz="2000" dirty="0">
                          <a:effectLst/>
                        </a:rPr>
                        <a:t>尺寸链计算完整性（</a:t>
                      </a:r>
                      <a:r>
                        <a:rPr lang="en-US" altLang="zh-CN" sz="2000" dirty="0">
                          <a:effectLst/>
                        </a:rPr>
                        <a:t>X/Y/Z</a:t>
                      </a:r>
                      <a:r>
                        <a:rPr lang="zh-CN" altLang="en-US" sz="2000" dirty="0">
                          <a:effectLst/>
                        </a:rPr>
                        <a:t>三向）</a:t>
                      </a:r>
                    </a:p>
                    <a:p>
                      <a:pPr marL="342900" indent="-342900">
                        <a:buFont typeface="Arial" panose="020B0604020202020204" pitchFamily="34" charset="0"/>
                        <a:buChar char="•"/>
                      </a:pPr>
                      <a:r>
                        <a:rPr lang="zh-CN" altLang="en-US" sz="2000" dirty="0">
                          <a:effectLst/>
                        </a:rPr>
                        <a:t>结构强度分析</a:t>
                      </a:r>
                    </a:p>
                    <a:p>
                      <a:pPr marL="342900" indent="-342900">
                        <a:buFont typeface="Arial" panose="020B0604020202020204" pitchFamily="34" charset="0"/>
                        <a:buChar char="•"/>
                      </a:pPr>
                      <a:r>
                        <a:rPr lang="zh-CN" altLang="en-US" sz="2000" dirty="0">
                          <a:effectLst/>
                        </a:rPr>
                        <a:t>热管理系统计算</a:t>
                      </a:r>
                    </a:p>
                    <a:p>
                      <a:pPr marL="342900" indent="-342900">
                        <a:buFont typeface="Arial" panose="020B0604020202020204" pitchFamily="34" charset="0"/>
                        <a:buChar char="•"/>
                      </a:pPr>
                      <a:r>
                        <a:rPr lang="zh-CN" altLang="en-US" sz="2000" dirty="0">
                          <a:effectLst/>
                        </a:rPr>
                        <a:t>系统级计算验证</a:t>
                      </a:r>
                    </a:p>
                    <a:p>
                      <a:pPr marL="342900" indent="-342900">
                        <a:buFont typeface="Arial" panose="020B0604020202020204" pitchFamily="34" charset="0"/>
                        <a:buChar char="•"/>
                      </a:pPr>
                      <a:r>
                        <a:rPr lang="zh-CN" altLang="en-US" sz="2000" dirty="0">
                          <a:effectLst/>
                        </a:rPr>
                        <a:t>关键特性识别</a:t>
                      </a:r>
                    </a:p>
                    <a:p>
                      <a:r>
                        <a:rPr lang="en-US" altLang="zh-CN" sz="2000" b="1" dirty="0">
                          <a:effectLst/>
                        </a:rPr>
                        <a:t>3. </a:t>
                      </a:r>
                      <a:r>
                        <a:rPr lang="zh-CN" altLang="en-US" sz="2000" b="1" dirty="0">
                          <a:effectLst/>
                        </a:rPr>
                        <a:t>计算方法正确性审查</a:t>
                      </a:r>
                    </a:p>
                    <a:p>
                      <a:pPr marL="342900" indent="-342900">
                        <a:buFont typeface="Arial" panose="020B0604020202020204" pitchFamily="34" charset="0"/>
                        <a:buChar char="•"/>
                      </a:pPr>
                      <a:r>
                        <a:rPr lang="zh-CN" altLang="en-US" sz="2000" dirty="0">
                          <a:effectLst/>
                        </a:rPr>
                        <a:t>公差分析方法</a:t>
                      </a:r>
                    </a:p>
                    <a:p>
                      <a:pPr marL="342900" indent="-342900">
                        <a:buFont typeface="Arial" panose="020B0604020202020204" pitchFamily="34" charset="0"/>
                        <a:buChar char="•"/>
                      </a:pPr>
                      <a:r>
                        <a:rPr lang="zh-CN" altLang="en-US" sz="2000" dirty="0">
                          <a:effectLst/>
                        </a:rPr>
                        <a:t>尺寸链传递计算</a:t>
                      </a:r>
                    </a:p>
                    <a:p>
                      <a:pPr marL="342900" indent="-342900">
                        <a:buFont typeface="Arial" panose="020B0604020202020204" pitchFamily="34" charset="0"/>
                        <a:buChar char="•"/>
                      </a:pPr>
                      <a:r>
                        <a:rPr lang="zh-CN" altLang="en-US" sz="2000" dirty="0">
                          <a:effectLst/>
                        </a:rPr>
                        <a:t>强度校核标准</a:t>
                      </a:r>
                    </a:p>
                    <a:p>
                      <a:pPr marL="342900" indent="-342900">
                        <a:buFont typeface="Arial" panose="020B0604020202020204" pitchFamily="34" charset="0"/>
                        <a:buChar char="•"/>
                      </a:pPr>
                      <a:r>
                        <a:rPr lang="zh-CN" altLang="en-US" sz="2000" dirty="0">
                          <a:effectLst/>
                        </a:rPr>
                        <a:t>安全系数设定</a:t>
                      </a:r>
                    </a:p>
                    <a:p>
                      <a:r>
                        <a:rPr lang="en-US" altLang="zh-CN" sz="2000" b="1" dirty="0">
                          <a:effectLst/>
                        </a:rPr>
                        <a:t>4. </a:t>
                      </a:r>
                      <a:r>
                        <a:rPr lang="zh-CN" altLang="en-US" sz="2000" b="1" dirty="0">
                          <a:effectLst/>
                        </a:rPr>
                        <a:t>质量标准符合性审查</a:t>
                      </a:r>
                    </a:p>
                    <a:p>
                      <a:pPr marL="342900" indent="-342900">
                        <a:buFont typeface="Arial" panose="020B0604020202020204" pitchFamily="34" charset="0"/>
                        <a:buChar char="•"/>
                      </a:pPr>
                      <a:r>
                        <a:rPr lang="zh-CN" altLang="en-US" sz="2000" dirty="0">
                          <a:effectLst/>
                        </a:rPr>
                        <a:t>行业标准引用</a:t>
                      </a:r>
                    </a:p>
                    <a:p>
                      <a:pPr marL="342900" indent="-342900">
                        <a:buFont typeface="Arial" panose="020B0604020202020204" pitchFamily="34" charset="0"/>
                        <a:buChar char="•"/>
                      </a:pPr>
                      <a:r>
                        <a:rPr lang="zh-CN" altLang="en-US" sz="2000" dirty="0">
                          <a:effectLst/>
                        </a:rPr>
                        <a:t>客户要求符合性</a:t>
                      </a:r>
                    </a:p>
                    <a:p>
                      <a:pPr marL="342900" indent="-342900">
                        <a:buFont typeface="Arial" panose="020B0604020202020204" pitchFamily="34" charset="0"/>
                        <a:buChar char="•"/>
                      </a:pPr>
                      <a:r>
                        <a:rPr lang="zh-CN" altLang="en-US" sz="2000" dirty="0">
                          <a:effectLst/>
                        </a:rPr>
                        <a:t>设计输入确认</a:t>
                      </a:r>
                    </a:p>
                    <a:p>
                      <a:pPr marL="342900" indent="-342900">
                        <a:buFont typeface="Arial" panose="020B0604020202020204" pitchFamily="34" charset="0"/>
                        <a:buChar char="•"/>
                      </a:pPr>
                      <a:r>
                        <a:rPr lang="zh-CN" altLang="en-US" sz="2000" dirty="0">
                          <a:effectLst/>
                        </a:rPr>
                        <a:t>验证标准设定</a:t>
                      </a:r>
                    </a:p>
                    <a:p>
                      <a:r>
                        <a:rPr lang="en-US" altLang="zh-CN" sz="2000" b="1" dirty="0">
                          <a:effectLst/>
                        </a:rPr>
                        <a:t>5. </a:t>
                      </a:r>
                      <a:r>
                        <a:rPr lang="zh-CN" altLang="en-US" sz="2000" b="1" dirty="0">
                          <a:effectLst/>
                        </a:rPr>
                        <a:t>风险识别与控制审查</a:t>
                      </a:r>
                    </a:p>
                    <a:p>
                      <a:pPr marL="342900" indent="-342900">
                        <a:buFont typeface="Arial" panose="020B0604020202020204" pitchFamily="34" charset="0"/>
                        <a:buChar char="•"/>
                      </a:pPr>
                      <a:r>
                        <a:rPr lang="zh-CN" altLang="en-US" sz="2000" dirty="0">
                          <a:effectLst/>
                        </a:rPr>
                        <a:t>关键尺寸识别</a:t>
                      </a:r>
                    </a:p>
                    <a:p>
                      <a:pPr marL="342900" indent="-342900">
                        <a:buFont typeface="Arial" panose="020B0604020202020204" pitchFamily="34" charset="0"/>
                        <a:buChar char="•"/>
                      </a:pPr>
                      <a:r>
                        <a:rPr lang="zh-CN" altLang="en-US" sz="2000" dirty="0">
                          <a:effectLst/>
                        </a:rPr>
                        <a:t>风险等级评估</a:t>
                      </a:r>
                    </a:p>
                    <a:p>
                      <a:pPr marL="342900" indent="-342900">
                        <a:buFont typeface="Arial" panose="020B0604020202020204" pitchFamily="34" charset="0"/>
                        <a:buChar char="•"/>
                      </a:pPr>
                      <a:r>
                        <a:rPr lang="zh-CN" altLang="en-US" sz="2000" dirty="0">
                          <a:effectLst/>
                        </a:rPr>
                        <a:t>控制措施制定</a:t>
                      </a:r>
                    </a:p>
                    <a:p>
                      <a:pPr marL="342900" indent="-342900">
                        <a:buFont typeface="Arial" panose="020B0604020202020204" pitchFamily="34" charset="0"/>
                        <a:buChar char="•"/>
                      </a:pPr>
                      <a:r>
                        <a:rPr lang="zh-CN" altLang="en-US" sz="2000" dirty="0">
                          <a:effectLst/>
                        </a:rPr>
                        <a:t>应急预案准备</a:t>
                      </a:r>
                    </a:p>
                  </a:txBody>
                  <a:tcPr/>
                </a:tc>
                <a:tc>
                  <a:txBody>
                    <a:bodyPr/>
                    <a:lstStyle/>
                    <a:p>
                      <a:r>
                        <a:rPr lang="en-US" altLang="zh-CN" sz="2000" b="1" dirty="0">
                          <a:effectLst/>
                        </a:rPr>
                        <a:t>1.</a:t>
                      </a:r>
                      <a:r>
                        <a:rPr lang="zh-CN" altLang="en-US" sz="2000" b="1" dirty="0">
                          <a:effectLst/>
                        </a:rPr>
                        <a:t>技术内容完整性审查 ⚠️ 部分通过</a:t>
                      </a:r>
                    </a:p>
                    <a:p>
                      <a:r>
                        <a:rPr lang="zh-CN" altLang="en-US" sz="2000" b="1" dirty="0">
                          <a:effectLst/>
                        </a:rPr>
                        <a:t>问题识别：</a:t>
                      </a:r>
                      <a:r>
                        <a:rPr lang="en-US" altLang="zh-CN" sz="2000" dirty="0">
                          <a:effectLst/>
                        </a:rPr>
                        <a:t>PACK X</a:t>
                      </a:r>
                      <a:r>
                        <a:rPr lang="zh-CN" altLang="en-US" sz="2000" dirty="0">
                          <a:effectLst/>
                        </a:rPr>
                        <a:t>、</a:t>
                      </a:r>
                      <a:r>
                        <a:rPr lang="en-US" altLang="zh-CN" sz="2000" dirty="0">
                          <a:effectLst/>
                        </a:rPr>
                        <a:t>Y</a:t>
                      </a:r>
                      <a:r>
                        <a:rPr lang="zh-CN" altLang="en-US" sz="2000" dirty="0">
                          <a:effectLst/>
                        </a:rPr>
                        <a:t>、</a:t>
                      </a:r>
                      <a:r>
                        <a:rPr lang="en-US" altLang="zh-CN" sz="2000" dirty="0">
                          <a:effectLst/>
                        </a:rPr>
                        <a:t>Z</a:t>
                      </a:r>
                      <a:r>
                        <a:rPr lang="zh-CN" altLang="en-US" sz="2000" dirty="0">
                          <a:effectLst/>
                        </a:rPr>
                        <a:t>三向尺寸链计算基本完整</a:t>
                      </a:r>
                    </a:p>
                    <a:p>
                      <a:r>
                        <a:rPr lang="zh-CN" altLang="en-US" sz="2000" dirty="0">
                          <a:effectLst/>
                        </a:rPr>
                        <a:t>缺少详细的材料特性参数表</a:t>
                      </a:r>
                    </a:p>
                    <a:p>
                      <a:r>
                        <a:rPr lang="zh-CN" altLang="en-US" sz="2000" dirty="0">
                          <a:effectLst/>
                        </a:rPr>
                        <a:t>环境适应性分析不充分</a:t>
                      </a:r>
                    </a:p>
                    <a:p>
                      <a:r>
                        <a:rPr lang="zh-CN" altLang="en-US" sz="2000" dirty="0">
                          <a:effectLst/>
                        </a:rPr>
                        <a:t>疲劳寿命评估缺失</a:t>
                      </a:r>
                    </a:p>
                    <a:p>
                      <a:r>
                        <a:rPr lang="zh-CN" altLang="en-US" sz="2000" b="1" dirty="0">
                          <a:effectLst/>
                        </a:rPr>
                        <a:t>改进建议：补充材料信息：</a:t>
                      </a:r>
                      <a:r>
                        <a:rPr lang="zh-CN" altLang="en-US" sz="2000" dirty="0">
                          <a:effectLst/>
                        </a:rPr>
                        <a:t> 建立完整的材料特性数据库，包含弹性模量、屈服强度、热膨胀系数等关键参数</a:t>
                      </a:r>
                    </a:p>
                    <a:p>
                      <a:r>
                        <a:rPr lang="zh-CN" altLang="en-US" sz="2000" b="1" dirty="0">
                          <a:effectLst/>
                        </a:rPr>
                        <a:t>增加环境分析：</a:t>
                      </a:r>
                      <a:r>
                        <a:rPr lang="zh-CN" altLang="en-US" sz="2000" dirty="0">
                          <a:effectLst/>
                        </a:rPr>
                        <a:t> 补充温度循环、湿度变化对尺寸稳定性的影响分析</a:t>
                      </a:r>
                    </a:p>
                    <a:p>
                      <a:r>
                        <a:rPr lang="zh-CN" altLang="en-US" sz="2000" b="1" dirty="0">
                          <a:effectLst/>
                        </a:rPr>
                        <a:t>疲劳分析：</a:t>
                      </a:r>
                      <a:r>
                        <a:rPr lang="zh-CN" altLang="en-US" sz="2000" dirty="0">
                          <a:effectLst/>
                        </a:rPr>
                        <a:t> 增加关键结构件的疲劳寿命评估计算</a:t>
                      </a:r>
                    </a:p>
                    <a:p>
                      <a:r>
                        <a:rPr lang="en-US" altLang="zh-CN" sz="2000" b="1" dirty="0">
                          <a:effectLst/>
                        </a:rPr>
                        <a:t>2. </a:t>
                      </a:r>
                      <a:r>
                        <a:rPr lang="zh-CN" altLang="en-US" sz="2000" b="1" dirty="0">
                          <a:effectLst/>
                        </a:rPr>
                        <a:t>计算方法正确性审查 ✅通过</a:t>
                      </a:r>
                    </a:p>
                    <a:p>
                      <a:r>
                        <a:rPr lang="zh-CN" altLang="en-US" sz="2000" b="1" dirty="0">
                          <a:effectLst/>
                        </a:rPr>
                        <a:t>评价：</a:t>
                      </a:r>
                      <a:r>
                        <a:rPr lang="zh-CN" altLang="en-US" sz="2000" dirty="0">
                          <a:effectLst/>
                        </a:rPr>
                        <a:t>尺寸链计算方法符合行业标准</a:t>
                      </a:r>
                    </a:p>
                    <a:p>
                      <a:r>
                        <a:rPr lang="zh-CN" altLang="en-US" sz="2000" dirty="0">
                          <a:effectLst/>
                        </a:rPr>
                        <a:t>公差分析采用统计法，方法正确</a:t>
                      </a:r>
                    </a:p>
                    <a:p>
                      <a:r>
                        <a:rPr lang="zh-CN" altLang="en-US" sz="2000" dirty="0">
                          <a:effectLst/>
                        </a:rPr>
                        <a:t>强度校核引用相关标准，计算逻辑合理</a:t>
                      </a:r>
                    </a:p>
                    <a:p>
                      <a:r>
                        <a:rPr lang="zh-CN" altLang="en-US" sz="2000" dirty="0">
                          <a:effectLst/>
                        </a:rPr>
                        <a:t>安全系数设定符合电池包设计要求</a:t>
                      </a:r>
                    </a:p>
                    <a:p>
                      <a:r>
                        <a:rPr lang="en-US" altLang="zh-CN" sz="2000" b="1" dirty="0">
                          <a:effectLst/>
                        </a:rPr>
                        <a:t>3. </a:t>
                      </a:r>
                      <a:r>
                        <a:rPr lang="zh-CN" altLang="en-US" sz="2000" b="1" dirty="0">
                          <a:effectLst/>
                        </a:rPr>
                        <a:t>质量标准符合性审查 ⚠️ 部分通过</a:t>
                      </a:r>
                    </a:p>
                    <a:p>
                      <a:r>
                        <a:rPr lang="zh-CN" altLang="en-US" sz="2000" b="1" dirty="0">
                          <a:effectLst/>
                        </a:rPr>
                        <a:t>问题识别：</a:t>
                      </a:r>
                      <a:r>
                        <a:rPr lang="zh-CN" altLang="en-US" sz="2000" dirty="0">
                          <a:effectLst/>
                        </a:rPr>
                        <a:t>部分计算中缺少明确的标准引用</a:t>
                      </a:r>
                    </a:p>
                    <a:p>
                      <a:r>
                        <a:rPr lang="zh-CN" altLang="en-US" sz="2000" dirty="0">
                          <a:effectLst/>
                        </a:rPr>
                        <a:t>客户特殊要求识别不够明确</a:t>
                      </a:r>
                    </a:p>
                    <a:p>
                      <a:r>
                        <a:rPr lang="zh-CN" altLang="en-US" sz="2000" dirty="0">
                          <a:effectLst/>
                        </a:rPr>
                        <a:t>测试验证计划不完整</a:t>
                      </a:r>
                    </a:p>
                    <a:p>
                      <a:r>
                        <a:rPr lang="zh-CN" altLang="en-US" sz="2000" b="1" dirty="0">
                          <a:effectLst/>
                        </a:rPr>
                        <a:t>改进建议：标准完善：</a:t>
                      </a:r>
                      <a:r>
                        <a:rPr lang="zh-CN" altLang="en-US" sz="2000" dirty="0">
                          <a:effectLst/>
                        </a:rPr>
                        <a:t> 在每个计算章节明确引用的国标、行标或企标编号</a:t>
                      </a:r>
                    </a:p>
                    <a:p>
                      <a:r>
                        <a:rPr lang="zh-CN" altLang="en-US" sz="2000" b="1" dirty="0">
                          <a:effectLst/>
                        </a:rPr>
                        <a:t>客户要求梳理：</a:t>
                      </a:r>
                      <a:r>
                        <a:rPr lang="zh-CN" altLang="en-US" sz="2000" dirty="0">
                          <a:effectLst/>
                        </a:rPr>
                        <a:t> 建立客户特殊要求清单，逐项确认计算中的体现</a:t>
                      </a:r>
                    </a:p>
                    <a:p>
                      <a:r>
                        <a:rPr lang="zh-CN" altLang="en-US" sz="2000" b="1" dirty="0">
                          <a:effectLst/>
                        </a:rPr>
                        <a:t>验证计划：</a:t>
                      </a:r>
                      <a:r>
                        <a:rPr lang="zh-CN" altLang="en-US" sz="2000" dirty="0">
                          <a:effectLst/>
                        </a:rPr>
                        <a:t> 制定详细的</a:t>
                      </a:r>
                      <a:r>
                        <a:rPr lang="en-US" altLang="zh-CN" sz="2000" dirty="0">
                          <a:effectLst/>
                        </a:rPr>
                        <a:t>A</a:t>
                      </a:r>
                      <a:r>
                        <a:rPr lang="zh-CN" altLang="en-US" sz="2000" dirty="0">
                          <a:effectLst/>
                        </a:rPr>
                        <a:t>样验证测试计划，包含测试项目、方法、判定标准</a:t>
                      </a:r>
                    </a:p>
                  </a:txBody>
                  <a:tcPr/>
                </a:tc>
                <a:tc>
                  <a:txBody>
                    <a:bodyPr/>
                    <a:lstStyle/>
                    <a:p>
                      <a:r>
                        <a:rPr lang="en-US" altLang="zh-CN" sz="2000" b="1" dirty="0">
                          <a:effectLst/>
                        </a:rPr>
                        <a:t>1. </a:t>
                      </a:r>
                      <a:r>
                        <a:rPr lang="zh-CN" altLang="en-US" sz="2000" b="1" dirty="0">
                          <a:effectLst/>
                        </a:rPr>
                        <a:t>文件规范性审查 </a:t>
                      </a:r>
                    </a:p>
                    <a:p>
                      <a:r>
                        <a:rPr lang="zh-CN" altLang="en-US" sz="2000" b="1" dirty="0">
                          <a:effectLst/>
                        </a:rPr>
                        <a:t>问题识别：</a:t>
                      </a:r>
                      <a:r>
                        <a:rPr lang="zh-CN" altLang="en-US" sz="2000" dirty="0">
                          <a:effectLst/>
                        </a:rPr>
                        <a:t>缺少完整的审批签字栏（设计、校对、审核、批准）</a:t>
                      </a:r>
                    </a:p>
                    <a:p>
                      <a:r>
                        <a:rPr lang="zh-CN" altLang="en-US" sz="2000" dirty="0">
                          <a:effectLst/>
                        </a:rPr>
                        <a:t>版本控制信息不完整，缺少修订历史记录</a:t>
                      </a:r>
                    </a:p>
                    <a:p>
                      <a:r>
                        <a:rPr lang="zh-CN" altLang="en-US" sz="2000" dirty="0">
                          <a:effectLst/>
                        </a:rPr>
                        <a:t>文件编号规范性待确认</a:t>
                      </a:r>
                    </a:p>
                    <a:p>
                      <a:r>
                        <a:rPr lang="zh-CN" altLang="en-US" sz="2000" dirty="0">
                          <a:effectLst/>
                        </a:rPr>
                        <a:t>缺少发布日期和生效日期</a:t>
                      </a:r>
                    </a:p>
                    <a:p>
                      <a:r>
                        <a:rPr lang="zh-CN" altLang="en-US" sz="2000" b="1" dirty="0">
                          <a:effectLst/>
                        </a:rPr>
                        <a:t>改进建议：立即行动：</a:t>
                      </a:r>
                      <a:r>
                        <a:rPr lang="zh-CN" altLang="en-US" sz="2000" dirty="0">
                          <a:effectLst/>
                        </a:rPr>
                        <a:t> 在封面增加标准的审批签字表格，包含姓名、职务、签名、日期四栏</a:t>
                      </a:r>
                    </a:p>
                    <a:p>
                      <a:r>
                        <a:rPr lang="zh-CN" altLang="en-US" sz="2000" b="1" dirty="0">
                          <a:effectLst/>
                        </a:rPr>
                        <a:t>完善版本管理：</a:t>
                      </a:r>
                      <a:r>
                        <a:rPr lang="zh-CN" altLang="en-US" sz="2000" dirty="0">
                          <a:effectLst/>
                        </a:rPr>
                        <a:t> 建立版本修订记录表，记录每次修改的内容、原因、修改人、日期</a:t>
                      </a:r>
                    </a:p>
                    <a:p>
                      <a:r>
                        <a:rPr lang="zh-CN" altLang="en-US" sz="2000" b="1" dirty="0">
                          <a:effectLst/>
                        </a:rPr>
                        <a:t>规范文件编号：</a:t>
                      </a:r>
                      <a:r>
                        <a:rPr lang="zh-CN" altLang="en-US" sz="2000" dirty="0">
                          <a:effectLst/>
                        </a:rPr>
                        <a:t> 确认文件编号是否符合企业文件管理制度要求</a:t>
                      </a:r>
                    </a:p>
                    <a:p>
                      <a:r>
                        <a:rPr lang="zh-CN" altLang="en-US" sz="2000" b="1" dirty="0">
                          <a:effectLst/>
                        </a:rPr>
                        <a:t>增加时间信息：</a:t>
                      </a:r>
                      <a:r>
                        <a:rPr lang="zh-CN" altLang="en-US" sz="2000" dirty="0">
                          <a:effectLst/>
                        </a:rPr>
                        <a:t> 明确标注文件发布日期和计划生效日期</a:t>
                      </a:r>
                      <a:endParaRPr lang="en-GB" altLang="zh-CN" sz="2000" dirty="0">
                        <a:effectLst/>
                      </a:endParaRPr>
                    </a:p>
                    <a:p>
                      <a:r>
                        <a:rPr lang="en-US" altLang="zh-CN" sz="2000" b="1" dirty="0">
                          <a:effectLst/>
                        </a:rPr>
                        <a:t>2. </a:t>
                      </a:r>
                      <a:r>
                        <a:rPr lang="zh-CN" altLang="en-US" sz="2000" b="1" dirty="0">
                          <a:effectLst/>
                        </a:rPr>
                        <a:t>风险识别与控制审查 </a:t>
                      </a:r>
                    </a:p>
                    <a:p>
                      <a:r>
                        <a:rPr lang="zh-CN" altLang="en-US" sz="2000" b="1" dirty="0">
                          <a:effectLst/>
                        </a:rPr>
                        <a:t>关键问题：</a:t>
                      </a:r>
                      <a:r>
                        <a:rPr lang="zh-CN" altLang="en-US" sz="2000" dirty="0">
                          <a:effectLst/>
                        </a:rPr>
                        <a:t>缺少系统性的风险识别矩阵</a:t>
                      </a:r>
                    </a:p>
                    <a:p>
                      <a:r>
                        <a:rPr lang="zh-CN" altLang="en-US" sz="2000" dirty="0">
                          <a:effectLst/>
                        </a:rPr>
                        <a:t>关键控制点标识不明确</a:t>
                      </a:r>
                    </a:p>
                    <a:p>
                      <a:r>
                        <a:rPr lang="zh-CN" altLang="en-US" sz="2000" dirty="0">
                          <a:effectLst/>
                        </a:rPr>
                        <a:t>未建立风险等级评估机制</a:t>
                      </a:r>
                    </a:p>
                    <a:p>
                      <a:r>
                        <a:rPr lang="zh-CN" altLang="en-US" sz="2000" dirty="0">
                          <a:effectLst/>
                        </a:rPr>
                        <a:t>缺少应急处置预案</a:t>
                      </a:r>
                    </a:p>
                    <a:p>
                      <a:endParaRPr lang="zh-CN" altLang="en-US" sz="2000" dirty="0">
                        <a:effectLst/>
                      </a:endParaRPr>
                    </a:p>
                  </a:txBody>
                  <a:tcPr/>
                </a:tc>
                <a:tc>
                  <a:txBody>
                    <a:bodyPr/>
                    <a:lstStyle/>
                    <a:p>
                      <a:r>
                        <a:rPr lang="zh-CN" altLang="en-US" sz="2000" b="1" dirty="0">
                          <a:effectLst/>
                        </a:rPr>
                        <a:t>详细改进建议：立即行动项（</a:t>
                      </a:r>
                      <a:r>
                        <a:rPr lang="en-US" altLang="zh-CN" sz="2000" b="1" dirty="0">
                          <a:effectLst/>
                        </a:rPr>
                        <a:t>7</a:t>
                      </a:r>
                      <a:r>
                        <a:rPr lang="zh-CN" altLang="en-US" sz="2000" b="1" dirty="0">
                          <a:effectLst/>
                        </a:rPr>
                        <a:t>天内完成）：建立风险矩阵：</a:t>
                      </a:r>
                      <a:r>
                        <a:rPr lang="zh-CN" altLang="en-US" sz="2000" dirty="0">
                          <a:effectLst/>
                        </a:rPr>
                        <a:t> 创建</a:t>
                      </a:r>
                      <a:r>
                        <a:rPr lang="en-US" altLang="zh-CN" sz="2000" dirty="0">
                          <a:effectLst/>
                        </a:rPr>
                        <a:t>"</a:t>
                      </a:r>
                      <a:r>
                        <a:rPr lang="zh-CN" altLang="en-US" sz="2000" dirty="0">
                          <a:effectLst/>
                        </a:rPr>
                        <a:t>风险识别与评估表</a:t>
                      </a:r>
                      <a:r>
                        <a:rPr lang="en-US" altLang="zh-CN" sz="2000" dirty="0">
                          <a:effectLst/>
                        </a:rPr>
                        <a:t>"</a:t>
                      </a:r>
                      <a:r>
                        <a:rPr lang="zh-CN" altLang="en-US" sz="2000" dirty="0">
                          <a:effectLst/>
                        </a:rPr>
                        <a:t>，包含：</a:t>
                      </a:r>
                    </a:p>
                    <a:p>
                      <a:r>
                        <a:rPr lang="zh-CN" altLang="en-US" sz="2000" dirty="0">
                          <a:effectLst/>
                        </a:rPr>
                        <a:t>风险源识别</a:t>
                      </a:r>
                    </a:p>
                    <a:p>
                      <a:r>
                        <a:rPr lang="zh-CN" altLang="en-US" sz="2000" dirty="0">
                          <a:effectLst/>
                        </a:rPr>
                        <a:t>影响程度评估（高</a:t>
                      </a:r>
                      <a:r>
                        <a:rPr lang="en-US" altLang="zh-CN" sz="2000" dirty="0">
                          <a:effectLst/>
                        </a:rPr>
                        <a:t>/</a:t>
                      </a:r>
                      <a:r>
                        <a:rPr lang="zh-CN" altLang="en-US" sz="2000" dirty="0">
                          <a:effectLst/>
                        </a:rPr>
                        <a:t>中</a:t>
                      </a:r>
                      <a:r>
                        <a:rPr lang="en-US" altLang="zh-CN" sz="2000" dirty="0">
                          <a:effectLst/>
                        </a:rPr>
                        <a:t>/</a:t>
                      </a:r>
                      <a:r>
                        <a:rPr lang="zh-CN" altLang="en-US" sz="2000" dirty="0">
                          <a:effectLst/>
                        </a:rPr>
                        <a:t>低）</a:t>
                      </a:r>
                    </a:p>
                    <a:p>
                      <a:r>
                        <a:rPr lang="zh-CN" altLang="en-US" sz="2000" dirty="0">
                          <a:effectLst/>
                        </a:rPr>
                        <a:t>发生概率评估</a:t>
                      </a:r>
                    </a:p>
                    <a:p>
                      <a:r>
                        <a:rPr lang="zh-CN" altLang="en-US" sz="2000" dirty="0">
                          <a:effectLst/>
                        </a:rPr>
                        <a:t>风险等级确定</a:t>
                      </a:r>
                    </a:p>
                    <a:p>
                      <a:r>
                        <a:rPr lang="zh-CN" altLang="en-US" sz="2000" dirty="0">
                          <a:effectLst/>
                        </a:rPr>
                        <a:t>控制措施制定</a:t>
                      </a:r>
                    </a:p>
                    <a:p>
                      <a:r>
                        <a:rPr lang="zh-CN" altLang="en-US" sz="2000" b="1" dirty="0">
                          <a:effectLst/>
                        </a:rPr>
                        <a:t>关键控制点标识：</a:t>
                      </a:r>
                      <a:r>
                        <a:rPr lang="zh-CN" altLang="en-US" sz="2000" dirty="0">
                          <a:effectLst/>
                        </a:rPr>
                        <a:t> 在计算书中用醒目标识标出：</a:t>
                      </a:r>
                    </a:p>
                    <a:p>
                      <a:r>
                        <a:rPr lang="zh-CN" altLang="en-US" sz="2000" dirty="0">
                          <a:effectLst/>
                        </a:rPr>
                        <a:t>关键尺寸（影响功能和安全的尺寸）</a:t>
                      </a:r>
                    </a:p>
                    <a:p>
                      <a:r>
                        <a:rPr lang="zh-CN" altLang="en-US" sz="2000" dirty="0">
                          <a:effectLst/>
                        </a:rPr>
                        <a:t>特殊特性（客户要求的重点监控项）</a:t>
                      </a:r>
                    </a:p>
                    <a:p>
                      <a:r>
                        <a:rPr lang="zh-CN" altLang="en-US" sz="2000" dirty="0">
                          <a:effectLst/>
                        </a:rPr>
                        <a:t>制造难点（工艺复杂或精度要求高的项目）</a:t>
                      </a:r>
                    </a:p>
                    <a:p>
                      <a:r>
                        <a:rPr lang="zh-CN" altLang="en-US" sz="2000" b="1" dirty="0">
                          <a:effectLst/>
                        </a:rPr>
                        <a:t>短期完善项（</a:t>
                      </a:r>
                      <a:r>
                        <a:rPr lang="en-US" altLang="zh-CN" sz="2000" b="1" dirty="0">
                          <a:effectLst/>
                        </a:rPr>
                        <a:t>30</a:t>
                      </a:r>
                      <a:r>
                        <a:rPr lang="zh-CN" altLang="en-US" sz="2000" b="1" dirty="0">
                          <a:effectLst/>
                        </a:rPr>
                        <a:t>天内完成）：制定应急预案：</a:t>
                      </a:r>
                      <a:r>
                        <a:rPr lang="zh-CN" altLang="en-US" sz="2000" dirty="0">
                          <a:effectLst/>
                        </a:rPr>
                        <a:t> 针对计算中识别的高风险项目，制定应急处置方案</a:t>
                      </a:r>
                    </a:p>
                    <a:p>
                      <a:r>
                        <a:rPr lang="zh-CN" altLang="en-US" sz="2000" b="1" dirty="0">
                          <a:effectLst/>
                        </a:rPr>
                        <a:t>建立监控机制：</a:t>
                      </a:r>
                      <a:r>
                        <a:rPr lang="zh-CN" altLang="en-US" sz="2000" dirty="0">
                          <a:effectLst/>
                        </a:rPr>
                        <a:t> 设定关键参数的监控频次和报警阈值</a:t>
                      </a:r>
                    </a:p>
                    <a:p>
                      <a:r>
                        <a:rPr lang="zh-CN" altLang="en-US" sz="2000" b="1" dirty="0">
                          <a:effectLst/>
                        </a:rPr>
                        <a:t>完善变更管理：</a:t>
                      </a:r>
                      <a:r>
                        <a:rPr lang="zh-CN" altLang="en-US" sz="2000" dirty="0">
                          <a:effectLst/>
                        </a:rPr>
                        <a:t> 建立设计变更对尺寸链影响的评估流程</a:t>
                      </a:r>
                    </a:p>
                    <a:p>
                      <a:endParaRPr lang="en-GB" altLang="zh-CN" sz="2000" b="1" dirty="0">
                        <a:effectLst/>
                      </a:endParaRPr>
                    </a:p>
                    <a:p>
                      <a:r>
                        <a:rPr lang="zh-CN" altLang="en-US" sz="2000" b="1" dirty="0">
                          <a:effectLst/>
                        </a:rPr>
                        <a:t>文件状态：</a:t>
                      </a:r>
                      <a:r>
                        <a:rPr lang="zh-CN" altLang="en-US" sz="2000" dirty="0"/>
                        <a:t> 🔶 </a:t>
                      </a:r>
                      <a:r>
                        <a:rPr lang="zh-CN" altLang="en-US" sz="2000" b="1" dirty="0">
                          <a:effectLst/>
                        </a:rPr>
                        <a:t>有条件通过主要优点：</a:t>
                      </a:r>
                      <a:r>
                        <a:rPr lang="zh-CN" altLang="en-US" sz="2000" dirty="0">
                          <a:effectLst/>
                        </a:rPr>
                        <a:t>技术内容基本完整，计算方法正确</a:t>
                      </a:r>
                    </a:p>
                    <a:p>
                      <a:r>
                        <a:rPr lang="zh-CN" altLang="en-US" sz="2000" dirty="0">
                          <a:effectLst/>
                        </a:rPr>
                        <a:t>尺寸链分析系统性较好</a:t>
                      </a:r>
                    </a:p>
                    <a:p>
                      <a:r>
                        <a:rPr lang="zh-CN" altLang="en-US" sz="2000" dirty="0">
                          <a:effectLst/>
                        </a:rPr>
                        <a:t>关键技术参数设定合理</a:t>
                      </a:r>
                    </a:p>
                    <a:p>
                      <a:r>
                        <a:rPr lang="zh-CN" altLang="en-US" sz="2000" b="1" dirty="0">
                          <a:effectLst/>
                        </a:rPr>
                        <a:t>关键缺陷：</a:t>
                      </a:r>
                      <a:r>
                        <a:rPr lang="zh-CN" altLang="en-US" sz="2000" dirty="0">
                          <a:effectLst/>
                        </a:rPr>
                        <a:t>文件规范性不足，缺少审批流程</a:t>
                      </a:r>
                    </a:p>
                    <a:p>
                      <a:r>
                        <a:rPr lang="zh-CN" altLang="en-US" sz="2000" dirty="0">
                          <a:effectLst/>
                        </a:rPr>
                        <a:t>风险管控体系不完善</a:t>
                      </a:r>
                    </a:p>
                    <a:p>
                      <a:r>
                        <a:rPr lang="zh-CN" altLang="en-US" sz="2000" dirty="0">
                          <a:effectLst/>
                        </a:rPr>
                        <a:t>部分技术内容需要补充和完善</a:t>
                      </a:r>
                    </a:p>
                    <a:p>
                      <a:r>
                        <a:rPr lang="zh-CN" altLang="en-US" sz="2000" b="1" dirty="0">
                          <a:effectLst/>
                        </a:rPr>
                        <a:t>放行条件：</a:t>
                      </a:r>
                      <a:r>
                        <a:rPr lang="zh-CN" altLang="en-US" sz="2000" dirty="0">
                          <a:effectLst/>
                        </a:rPr>
                        <a:t>必须在</a:t>
                      </a:r>
                      <a:r>
                        <a:rPr lang="en-US" altLang="zh-CN" sz="2000" dirty="0">
                          <a:effectLst/>
                        </a:rPr>
                        <a:t>A</a:t>
                      </a:r>
                      <a:r>
                        <a:rPr lang="zh-CN" altLang="en-US" sz="2000" dirty="0">
                          <a:effectLst/>
                        </a:rPr>
                        <a:t>样试制前完成所有</a:t>
                      </a:r>
                      <a:r>
                        <a:rPr lang="en-US" altLang="zh-CN" sz="2000" dirty="0">
                          <a:effectLst/>
                        </a:rPr>
                        <a:t>"</a:t>
                      </a:r>
                      <a:r>
                        <a:rPr lang="zh-CN" altLang="en-US" sz="2000" dirty="0">
                          <a:effectLst/>
                        </a:rPr>
                        <a:t>立即行动项</a:t>
                      </a:r>
                      <a:r>
                        <a:rPr lang="en-US" altLang="zh-CN" sz="2000" dirty="0">
                          <a:effectLst/>
                        </a:rPr>
                        <a:t>"</a:t>
                      </a:r>
                    </a:p>
                    <a:p>
                      <a:r>
                        <a:rPr lang="zh-CN" altLang="en-US" sz="2000" dirty="0">
                          <a:effectLst/>
                        </a:rPr>
                        <a:t>建立并实施风险控制矩阵</a:t>
                      </a:r>
                    </a:p>
                    <a:p>
                      <a:r>
                        <a:rPr lang="zh-CN" altLang="en-US" sz="2000" dirty="0">
                          <a:effectLst/>
                        </a:rPr>
                        <a:t>完善文件审批和版本控制流程</a:t>
                      </a:r>
                    </a:p>
                    <a:p>
                      <a:r>
                        <a:rPr lang="zh-CN" altLang="en-US" sz="2000" b="1" dirty="0">
                          <a:effectLst/>
                        </a:rPr>
                        <a:t>下阶段建议：</a:t>
                      </a:r>
                      <a:r>
                        <a:rPr lang="zh-CN" altLang="en-US" sz="2000" dirty="0">
                          <a:effectLst/>
                        </a:rPr>
                        <a:t>在</a:t>
                      </a:r>
                      <a:r>
                        <a:rPr lang="en-US" altLang="zh-CN" sz="2000" dirty="0">
                          <a:effectLst/>
                        </a:rPr>
                        <a:t>A</a:t>
                      </a:r>
                      <a:r>
                        <a:rPr lang="zh-CN" altLang="en-US" sz="2000" dirty="0">
                          <a:effectLst/>
                        </a:rPr>
                        <a:t>样试制过程中验证计算结果的准确性</a:t>
                      </a:r>
                    </a:p>
                    <a:p>
                      <a:r>
                        <a:rPr lang="zh-CN" altLang="en-US" sz="2000" dirty="0">
                          <a:effectLst/>
                        </a:rPr>
                        <a:t>根据试制结果优化计算模型</a:t>
                      </a:r>
                    </a:p>
                    <a:p>
                      <a:r>
                        <a:rPr lang="zh-CN" altLang="en-US" sz="2000" dirty="0">
                          <a:effectLst/>
                        </a:rPr>
                        <a:t>为</a:t>
                      </a:r>
                      <a:r>
                        <a:rPr lang="en-US" altLang="zh-CN" sz="2000" dirty="0">
                          <a:effectLst/>
                        </a:rPr>
                        <a:t>B</a:t>
                      </a:r>
                      <a:r>
                        <a:rPr lang="zh-CN" altLang="en-US" sz="2000" dirty="0">
                          <a:effectLst/>
                        </a:rPr>
                        <a:t>样阶段建立更完善的计算和验证体系</a:t>
                      </a:r>
                    </a:p>
                    <a:p>
                      <a:r>
                        <a:rPr lang="zh-CN" altLang="en-US" sz="2000" b="1" dirty="0">
                          <a:effectLst/>
                        </a:rPr>
                        <a:t>项目风险评级：</a:t>
                      </a:r>
                      <a:r>
                        <a:rPr lang="zh-CN" altLang="en-US" sz="2000" dirty="0"/>
                        <a:t> 🟡 </a:t>
                      </a:r>
                      <a:r>
                        <a:rPr lang="zh-CN" altLang="en-US" sz="2000" b="1" dirty="0">
                          <a:effectLst/>
                        </a:rPr>
                        <a:t>中等风险</a:t>
                      </a:r>
                      <a:r>
                        <a:rPr lang="zh-CN" altLang="en-US" sz="2000" dirty="0">
                          <a:effectLst/>
                        </a:rPr>
                        <a:t>主要风险来源于风险管控体系的不完善，需要在试制前建立有效的控制措施。</a:t>
                      </a:r>
                    </a:p>
                  </a:txBody>
                  <a:tcPr/>
                </a:tc>
                <a:extLst>
                  <a:ext uri="{0D108BD9-81ED-4DB2-BD59-A6C34878D82A}">
                    <a16:rowId xmlns:a16="http://schemas.microsoft.com/office/drawing/2014/main" val="604853937"/>
                  </a:ext>
                </a:extLst>
              </a:tr>
            </a:tbl>
          </a:graphicData>
        </a:graphic>
      </p:graphicFrame>
    </p:spTree>
    <p:extLst>
      <p:ext uri="{BB962C8B-B14F-4D97-AF65-F5344CB8AC3E}">
        <p14:creationId xmlns:p14="http://schemas.microsoft.com/office/powerpoint/2010/main" val="3807282186"/>
      </p:ext>
    </p:extLst>
  </p:cSld>
  <p:clrMapOvr>
    <a:masterClrMapping/>
  </p:clrMapOvr>
  <p:transition spd="med"/>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367774-6C1B-A589-29CF-19D042106851}"/>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2C02A5BA-7E33-A0E1-D614-7F2B62F9C40B}"/>
              </a:ext>
            </a:extLst>
          </p:cNvPr>
          <p:cNvSpPr txBox="1"/>
          <p:nvPr/>
        </p:nvSpPr>
        <p:spPr>
          <a:xfrm>
            <a:off x="1737559" y="755986"/>
            <a:ext cx="19774287" cy="646331"/>
          </a:xfrm>
          <a:prstGeom prst="rect">
            <a:avLst/>
          </a:prstGeom>
          <a:noFill/>
        </p:spPr>
        <p:txBody>
          <a:bodyPr wrap="square" numCol="1">
            <a:spAutoFit/>
          </a:bodyPr>
          <a:lstStyle/>
          <a:p>
            <a:pPr>
              <a:spcBef>
                <a:spcPts val="1500"/>
              </a:spcBef>
              <a:spcAft>
                <a:spcPts val="750"/>
              </a:spcAft>
              <a:buNone/>
            </a:pPr>
            <a:r>
              <a:rPr lang="en-US" altLang="zh-CN" sz="3600" b="1" dirty="0">
                <a:effectLst/>
              </a:rPr>
              <a:t>A</a:t>
            </a:r>
            <a:r>
              <a:rPr lang="zh-CN" altLang="en-US" sz="3600" b="1" dirty="0">
                <a:effectLst/>
              </a:rPr>
              <a:t>样阶段</a:t>
            </a:r>
            <a:r>
              <a:rPr lang="en-US" altLang="zh-CN" sz="3600" b="1" dirty="0"/>
              <a:t>《DFMEA</a:t>
            </a:r>
            <a:r>
              <a:rPr lang="zh-CN" altLang="en-US" sz="3600" b="1" dirty="0"/>
              <a:t>存档</a:t>
            </a:r>
            <a:r>
              <a:rPr lang="en-US" altLang="zh-CN" sz="3600" b="1" dirty="0"/>
              <a:t>-D221N44AA-</a:t>
            </a:r>
            <a:r>
              <a:rPr lang="zh-CN" altLang="en-US" sz="3600" b="1" dirty="0"/>
              <a:t>动力电源系统</a:t>
            </a:r>
            <a:r>
              <a:rPr lang="en-US" altLang="zh-CN" sz="3600" b="1" dirty="0"/>
              <a:t>FMEA-20240422162511.xls》</a:t>
            </a:r>
            <a:r>
              <a:rPr lang="zh-CN" altLang="en-US" sz="3600" b="1" dirty="0">
                <a:effectLst/>
              </a:rPr>
              <a:t>审核报告</a:t>
            </a:r>
          </a:p>
        </p:txBody>
      </p:sp>
      <p:graphicFrame>
        <p:nvGraphicFramePr>
          <p:cNvPr id="2" name="表格 1">
            <a:extLst>
              <a:ext uri="{FF2B5EF4-FFF2-40B4-BE49-F238E27FC236}">
                <a16:creationId xmlns:a16="http://schemas.microsoft.com/office/drawing/2014/main" id="{9840DA8E-E93A-8151-FBDF-3E6E9B33B9FD}"/>
              </a:ext>
            </a:extLst>
          </p:cNvPr>
          <p:cNvGraphicFramePr>
            <a:graphicFrameLocks noGrp="1"/>
          </p:cNvGraphicFramePr>
          <p:nvPr>
            <p:extLst>
              <p:ext uri="{D42A27DB-BD31-4B8C-83A1-F6EECF244321}">
                <p14:modId xmlns:p14="http://schemas.microsoft.com/office/powerpoint/2010/main" val="149148263"/>
              </p:ext>
            </p:extLst>
          </p:nvPr>
        </p:nvGraphicFramePr>
        <p:xfrm>
          <a:off x="679937" y="1559168"/>
          <a:ext cx="23059292" cy="13174395"/>
        </p:xfrm>
        <a:graphic>
          <a:graphicData uri="http://schemas.openxmlformats.org/drawingml/2006/table">
            <a:tbl>
              <a:tblPr firstRow="1" bandRow="1"/>
              <a:tblGrid>
                <a:gridCol w="3798278">
                  <a:extLst>
                    <a:ext uri="{9D8B030D-6E8A-4147-A177-3AD203B41FA5}">
                      <a16:colId xmlns:a16="http://schemas.microsoft.com/office/drawing/2014/main" val="520135011"/>
                    </a:ext>
                  </a:extLst>
                </a:gridCol>
                <a:gridCol w="6717323">
                  <a:extLst>
                    <a:ext uri="{9D8B030D-6E8A-4147-A177-3AD203B41FA5}">
                      <a16:colId xmlns:a16="http://schemas.microsoft.com/office/drawing/2014/main" val="585926975"/>
                    </a:ext>
                  </a:extLst>
                </a:gridCol>
                <a:gridCol w="6778868">
                  <a:extLst>
                    <a:ext uri="{9D8B030D-6E8A-4147-A177-3AD203B41FA5}">
                      <a16:colId xmlns:a16="http://schemas.microsoft.com/office/drawing/2014/main" val="3081416713"/>
                    </a:ext>
                  </a:extLst>
                </a:gridCol>
                <a:gridCol w="5764823">
                  <a:extLst>
                    <a:ext uri="{9D8B030D-6E8A-4147-A177-3AD203B41FA5}">
                      <a16:colId xmlns:a16="http://schemas.microsoft.com/office/drawing/2014/main" val="572010187"/>
                    </a:ext>
                  </a:extLst>
                </a:gridCol>
              </a:tblGrid>
              <a:tr h="762001">
                <a:tc rowSpan="2">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审查清单制定</a:t>
                      </a:r>
                    </a:p>
                  </a:txBody>
                  <a:tcPr anchor="ctr"/>
                </a:tc>
                <a:tc gridSpan="2">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逐项审核结果</a:t>
                      </a:r>
                    </a:p>
                  </a:txBody>
                  <a:tcPr anchor="ctr"/>
                </a:tc>
                <a:tc hMerge="1">
                  <a:txBody>
                    <a:bodyPr/>
                    <a:lstStyle/>
                    <a:p>
                      <a:pPr algn="ctr"/>
                      <a:endParaRPr lang="en-GB" sz="2000" dirty="0"/>
                    </a:p>
                  </a:txBody>
                  <a:tcPr/>
                </a:tc>
                <a:tc rowSpan="2">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总体评估</a:t>
                      </a:r>
                    </a:p>
                  </a:txBody>
                  <a:tcPr anchor="ctr"/>
                </a:tc>
                <a:extLst>
                  <a:ext uri="{0D108BD9-81ED-4DB2-BD59-A6C34878D82A}">
                    <a16:rowId xmlns:a16="http://schemas.microsoft.com/office/drawing/2014/main" val="2562292327"/>
                  </a:ext>
                </a:extLst>
              </a:tr>
              <a:tr h="433754">
                <a:tc vMerge="1">
                  <a:txBody>
                    <a:bodyPr/>
                    <a:lstStyle/>
                    <a:p>
                      <a:pPr algn="ctr"/>
                      <a:endParaRPr lang="en-GB" sz="2000" dirty="0"/>
                    </a:p>
                  </a:txBody>
                  <a:tcPr/>
                </a:tc>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000" b="1" dirty="0">
                          <a:effectLst/>
                        </a:rPr>
                        <a:t>✅通过项目</a:t>
                      </a:r>
                    </a:p>
                  </a:txBody>
                  <a:tcPr/>
                </a:tc>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000" b="1" dirty="0">
                          <a:effectLst/>
                        </a:rPr>
                        <a:t>❌ 不通过项目</a:t>
                      </a:r>
                    </a:p>
                  </a:txBody>
                  <a:tcPr/>
                </a:tc>
                <a:tc vMerge="1">
                  <a:txBody>
                    <a:bodyPr/>
                    <a:lstStyle/>
                    <a:p>
                      <a:endParaRPr dirty="0"/>
                    </a:p>
                  </a:txBody>
                  <a:tcPr/>
                </a:tc>
                <a:extLst>
                  <a:ext uri="{0D108BD9-81ED-4DB2-BD59-A6C34878D82A}">
                    <a16:rowId xmlns:a16="http://schemas.microsoft.com/office/drawing/2014/main" val="3862020771"/>
                  </a:ext>
                </a:extLst>
              </a:tr>
              <a:tr h="8527471">
                <a:tc>
                  <a:txBody>
                    <a:bodyPr/>
                    <a:lstStyle/>
                    <a:p>
                      <a:r>
                        <a:rPr lang="zh-CN" altLang="en-US" sz="2000" dirty="0"/>
                        <a:t>基于</a:t>
                      </a:r>
                      <a:r>
                        <a:rPr lang="en-US" altLang="zh-CN" sz="2000" dirty="0"/>
                        <a:t>APQP</a:t>
                      </a:r>
                      <a:r>
                        <a:rPr lang="zh-CN" altLang="en-US" sz="2000" dirty="0"/>
                        <a:t>标准和动力电池系统项目要求，我制定了以下详细审查清单：</a:t>
                      </a:r>
                      <a:r>
                        <a:rPr lang="en-US" altLang="zh-CN" sz="2000" b="1" dirty="0">
                          <a:effectLst/>
                        </a:rPr>
                        <a:t>1. </a:t>
                      </a:r>
                      <a:r>
                        <a:rPr lang="zh-CN" altLang="en-US" sz="2000" b="1" dirty="0">
                          <a:effectLst/>
                        </a:rPr>
                        <a:t>文件完整性审查</a:t>
                      </a:r>
                    </a:p>
                    <a:p>
                      <a:pPr marL="342900" indent="-342900">
                        <a:buFont typeface="Arial" panose="020B0604020202020204" pitchFamily="34" charset="0"/>
                        <a:buChar char="•"/>
                      </a:pPr>
                      <a:r>
                        <a:rPr lang="zh-CN" altLang="en-US" sz="2000" dirty="0">
                          <a:effectLst/>
                        </a:rPr>
                        <a:t>文件基本信息完整性</a:t>
                      </a:r>
                    </a:p>
                    <a:p>
                      <a:pPr marL="342900" indent="-342900">
                        <a:buFont typeface="Arial" panose="020B0604020202020204" pitchFamily="34" charset="0"/>
                        <a:buChar char="•"/>
                      </a:pPr>
                      <a:r>
                        <a:rPr lang="zh-CN" altLang="en-US" sz="2000" dirty="0">
                          <a:effectLst/>
                        </a:rPr>
                        <a:t>跨功能小组参与情况</a:t>
                      </a:r>
                    </a:p>
                    <a:p>
                      <a:pPr marL="342900" indent="-342900">
                        <a:buFont typeface="Arial" panose="020B0604020202020204" pitchFamily="34" charset="0"/>
                        <a:buChar char="•"/>
                      </a:pPr>
                      <a:r>
                        <a:rPr lang="zh-CN" altLang="en-US" sz="2000" dirty="0">
                          <a:effectLst/>
                        </a:rPr>
                        <a:t>版本控制信息</a:t>
                      </a:r>
                    </a:p>
                    <a:p>
                      <a:pPr marL="342900" indent="-342900">
                        <a:buFont typeface="Arial" panose="020B0604020202020204" pitchFamily="34" charset="0"/>
                        <a:buChar char="•"/>
                      </a:pPr>
                      <a:r>
                        <a:rPr lang="zh-CN" altLang="en-US" sz="2000" dirty="0">
                          <a:effectLst/>
                        </a:rPr>
                        <a:t>责任分工明确性</a:t>
                      </a:r>
                    </a:p>
                    <a:p>
                      <a:r>
                        <a:rPr lang="en-US" altLang="zh-CN" sz="2000" b="1" dirty="0">
                          <a:effectLst/>
                        </a:rPr>
                        <a:t>2. </a:t>
                      </a:r>
                      <a:r>
                        <a:rPr lang="zh-CN" altLang="en-US" sz="2000" b="1" dirty="0">
                          <a:effectLst/>
                        </a:rPr>
                        <a:t>技术内容审查</a:t>
                      </a:r>
                    </a:p>
                    <a:p>
                      <a:pPr marL="342900" indent="-342900">
                        <a:buFont typeface="Arial" panose="020B0604020202020204" pitchFamily="34" charset="0"/>
                        <a:buChar char="•"/>
                      </a:pPr>
                      <a:r>
                        <a:rPr lang="zh-CN" altLang="en-US" sz="2000" dirty="0">
                          <a:effectLst/>
                        </a:rPr>
                        <a:t>失效模式识别完整性</a:t>
                      </a:r>
                    </a:p>
                    <a:p>
                      <a:pPr marL="342900" indent="-342900">
                        <a:buFont typeface="Arial" panose="020B0604020202020204" pitchFamily="34" charset="0"/>
                        <a:buChar char="•"/>
                      </a:pPr>
                      <a:r>
                        <a:rPr lang="zh-CN" altLang="en-US" sz="2000" dirty="0">
                          <a:effectLst/>
                        </a:rPr>
                        <a:t>严重度评估合理性</a:t>
                      </a:r>
                    </a:p>
                    <a:p>
                      <a:pPr marL="342900" indent="-342900">
                        <a:buFont typeface="Arial" panose="020B0604020202020204" pitchFamily="34" charset="0"/>
                        <a:buChar char="•"/>
                      </a:pPr>
                      <a:r>
                        <a:rPr lang="zh-CN" altLang="en-US" sz="2000" dirty="0">
                          <a:effectLst/>
                        </a:rPr>
                        <a:t>发生度评估准确性</a:t>
                      </a:r>
                    </a:p>
                    <a:p>
                      <a:pPr marL="342900" indent="-342900">
                        <a:buFont typeface="Arial" panose="020B0604020202020204" pitchFamily="34" charset="0"/>
                        <a:buChar char="•"/>
                      </a:pPr>
                      <a:r>
                        <a:rPr lang="zh-CN" altLang="en-US" sz="2000" dirty="0">
                          <a:effectLst/>
                        </a:rPr>
                        <a:t>探测度评估有效性</a:t>
                      </a:r>
                    </a:p>
                    <a:p>
                      <a:pPr marL="342900" indent="-342900">
                        <a:buFont typeface="Arial" panose="020B0604020202020204" pitchFamily="34" charset="0"/>
                        <a:buChar char="•"/>
                      </a:pPr>
                      <a:r>
                        <a:rPr lang="en-US" altLang="zh-CN" sz="2000" dirty="0">
                          <a:effectLst/>
                        </a:rPr>
                        <a:t>RPN</a:t>
                      </a:r>
                      <a:r>
                        <a:rPr lang="zh-CN" altLang="en-US" sz="2000" dirty="0">
                          <a:effectLst/>
                        </a:rPr>
                        <a:t>计算正确性</a:t>
                      </a:r>
                    </a:p>
                    <a:p>
                      <a:r>
                        <a:rPr lang="en-US" altLang="zh-CN" sz="2000" b="1" dirty="0">
                          <a:effectLst/>
                        </a:rPr>
                        <a:t>3. </a:t>
                      </a:r>
                      <a:r>
                        <a:rPr lang="zh-CN" altLang="en-US" sz="2000" b="1" dirty="0">
                          <a:effectLst/>
                        </a:rPr>
                        <a:t>风险控制审查</a:t>
                      </a:r>
                    </a:p>
                    <a:p>
                      <a:pPr marL="342900" indent="-342900">
                        <a:buFont typeface="Arial" panose="020B0604020202020204" pitchFamily="34" charset="0"/>
                        <a:buChar char="•"/>
                      </a:pPr>
                      <a:r>
                        <a:rPr lang="zh-CN" altLang="en-US" sz="2000" dirty="0">
                          <a:effectLst/>
                        </a:rPr>
                        <a:t>预防措施有效性</a:t>
                      </a:r>
                    </a:p>
                    <a:p>
                      <a:pPr marL="342900" indent="-342900">
                        <a:buFont typeface="Arial" panose="020B0604020202020204" pitchFamily="34" charset="0"/>
                        <a:buChar char="•"/>
                      </a:pPr>
                      <a:r>
                        <a:rPr lang="zh-CN" altLang="en-US" sz="2000" dirty="0">
                          <a:effectLst/>
                        </a:rPr>
                        <a:t>探测措施充分性</a:t>
                      </a:r>
                    </a:p>
                    <a:p>
                      <a:pPr marL="342900" indent="-342900">
                        <a:buFont typeface="Arial" panose="020B0604020202020204" pitchFamily="34" charset="0"/>
                        <a:buChar char="•"/>
                      </a:pPr>
                      <a:r>
                        <a:rPr lang="zh-CN" altLang="en-US" sz="2000" dirty="0">
                          <a:effectLst/>
                        </a:rPr>
                        <a:t>目标状态设定合理性</a:t>
                      </a:r>
                    </a:p>
                    <a:p>
                      <a:pPr marL="342900" indent="-342900">
                        <a:buFont typeface="Arial" panose="020B0604020202020204" pitchFamily="34" charset="0"/>
                        <a:buChar char="•"/>
                      </a:pPr>
                      <a:r>
                        <a:rPr lang="zh-CN" altLang="en-US" sz="2000" dirty="0">
                          <a:effectLst/>
                        </a:rPr>
                        <a:t>验证方法可行性</a:t>
                      </a:r>
                    </a:p>
                    <a:p>
                      <a:r>
                        <a:rPr lang="en-US" altLang="zh-CN" sz="2000" b="1" dirty="0">
                          <a:effectLst/>
                        </a:rPr>
                        <a:t>4. </a:t>
                      </a:r>
                      <a:r>
                        <a:rPr lang="zh-CN" altLang="en-US" sz="2000" b="1" dirty="0">
                          <a:effectLst/>
                        </a:rPr>
                        <a:t>法规合规性审查</a:t>
                      </a:r>
                    </a:p>
                    <a:p>
                      <a:pPr marL="342900" indent="-342900">
                        <a:buFont typeface="Arial" panose="020B0604020202020204" pitchFamily="34" charset="0"/>
                        <a:buChar char="•"/>
                      </a:pPr>
                      <a:r>
                        <a:rPr lang="zh-CN" altLang="en-US" sz="2000" dirty="0">
                          <a:effectLst/>
                        </a:rPr>
                        <a:t>国标要求覆盖度</a:t>
                      </a:r>
                    </a:p>
                    <a:p>
                      <a:pPr marL="342900" indent="-342900">
                        <a:buFont typeface="Arial" panose="020B0604020202020204" pitchFamily="34" charset="0"/>
                        <a:buChar char="•"/>
                      </a:pPr>
                      <a:r>
                        <a:rPr lang="zh-CN" altLang="en-US" sz="2000" dirty="0">
                          <a:effectLst/>
                        </a:rPr>
                        <a:t>安全法规符合性</a:t>
                      </a:r>
                    </a:p>
                    <a:p>
                      <a:pPr marL="342900" indent="-342900">
                        <a:buFont typeface="Arial" panose="020B0604020202020204" pitchFamily="34" charset="0"/>
                        <a:buChar char="•"/>
                      </a:pPr>
                      <a:r>
                        <a:rPr lang="zh-CN" altLang="en-US" sz="2000" dirty="0">
                          <a:effectLst/>
                        </a:rPr>
                        <a:t>环保法规满足性</a:t>
                      </a:r>
                    </a:p>
                    <a:p>
                      <a:r>
                        <a:rPr lang="en-US" altLang="zh-CN" sz="2000" b="1" dirty="0">
                          <a:effectLst/>
                        </a:rPr>
                        <a:t>5. </a:t>
                      </a:r>
                      <a:r>
                        <a:rPr lang="zh-CN" altLang="en-US" sz="2000" b="1" dirty="0">
                          <a:effectLst/>
                        </a:rPr>
                        <a:t>项目管理审查</a:t>
                      </a:r>
                    </a:p>
                    <a:p>
                      <a:pPr marL="342900" indent="-342900">
                        <a:buFont typeface="Arial" panose="020B0604020202020204" pitchFamily="34" charset="0"/>
                        <a:buChar char="•"/>
                      </a:pPr>
                      <a:r>
                        <a:rPr lang="zh-CN" altLang="en-US" sz="2000" dirty="0">
                          <a:effectLst/>
                        </a:rPr>
                        <a:t>责任人明确性</a:t>
                      </a:r>
                    </a:p>
                    <a:p>
                      <a:pPr marL="342900" indent="-342900">
                        <a:buFont typeface="Arial" panose="020B0604020202020204" pitchFamily="34" charset="0"/>
                        <a:buChar char="•"/>
                      </a:pPr>
                      <a:r>
                        <a:rPr lang="zh-CN" altLang="en-US" sz="2000" dirty="0">
                          <a:effectLst/>
                        </a:rPr>
                        <a:t>时间节点合理性</a:t>
                      </a:r>
                    </a:p>
                    <a:p>
                      <a:pPr marL="342900" indent="-342900">
                        <a:buFont typeface="Arial" panose="020B0604020202020204" pitchFamily="34" charset="0"/>
                        <a:buChar char="•"/>
                      </a:pPr>
                      <a:r>
                        <a:rPr lang="zh-CN" altLang="en-US" sz="2000" dirty="0">
                          <a:effectLst/>
                        </a:rPr>
                        <a:t>资源分配充分性</a:t>
                      </a:r>
                    </a:p>
                  </a:txBody>
                  <a:tcPr/>
                </a:tc>
                <a:tc>
                  <a:txBody>
                    <a:bodyPr/>
                    <a:lstStyle/>
                    <a:p>
                      <a:r>
                        <a:rPr lang="en-US" altLang="zh-CN" sz="2000" b="1" dirty="0">
                          <a:effectLst/>
                        </a:rPr>
                        <a:t>1. </a:t>
                      </a:r>
                      <a:r>
                        <a:rPr lang="zh-CN" altLang="en-US" sz="2000" b="1" dirty="0">
                          <a:effectLst/>
                        </a:rPr>
                        <a:t>文件完整性审查</a:t>
                      </a:r>
                    </a:p>
                    <a:p>
                      <a:r>
                        <a:rPr lang="en-US" altLang="zh-CN" sz="2000" b="1" dirty="0">
                          <a:effectLst/>
                        </a:rPr>
                        <a:t>1.1 </a:t>
                      </a:r>
                      <a:r>
                        <a:rPr lang="zh-CN" altLang="en-US" sz="2000" b="1" dirty="0">
                          <a:effectLst/>
                        </a:rPr>
                        <a:t>文件基本信息完整性审查结果： ⚠️ 部分通过</a:t>
                      </a:r>
                    </a:p>
                    <a:p>
                      <a:r>
                        <a:rPr lang="zh-CN" altLang="en-US" sz="2000" b="1" dirty="0">
                          <a:effectLst/>
                        </a:rPr>
                        <a:t>问题描述：</a:t>
                      </a:r>
                      <a:endParaRPr lang="zh-CN" altLang="en-US" sz="2000" dirty="0">
                        <a:effectLst/>
                      </a:endParaRPr>
                    </a:p>
                    <a:p>
                      <a:pPr marL="342900" indent="-342900">
                        <a:buFont typeface="Arial" panose="020B0604020202020204" pitchFamily="34" charset="0"/>
                        <a:buChar char="•"/>
                      </a:pPr>
                      <a:r>
                        <a:rPr lang="zh-CN" altLang="en-US" sz="2000" dirty="0">
                          <a:effectLst/>
                        </a:rPr>
                        <a:t>责任部门、</a:t>
                      </a:r>
                      <a:r>
                        <a:rPr lang="en-US" altLang="zh-CN" sz="2000" dirty="0">
                          <a:effectLst/>
                        </a:rPr>
                        <a:t>FMEA</a:t>
                      </a:r>
                      <a:r>
                        <a:rPr lang="zh-CN" altLang="en-US" sz="2000" dirty="0">
                          <a:effectLst/>
                        </a:rPr>
                        <a:t>负责人、客户信息等关键字段为空</a:t>
                      </a:r>
                    </a:p>
                    <a:p>
                      <a:pPr marL="342900" indent="-342900">
                        <a:buFont typeface="Arial" panose="020B0604020202020204" pitchFamily="34" charset="0"/>
                        <a:buChar char="•"/>
                      </a:pPr>
                      <a:r>
                        <a:rPr lang="zh-CN" altLang="en-US" sz="2000" dirty="0">
                          <a:effectLst/>
                        </a:rPr>
                        <a:t>跨功能小组成员未明确列出</a:t>
                      </a:r>
                    </a:p>
                    <a:p>
                      <a:pPr marL="342900" indent="-342900">
                        <a:buFont typeface="Arial" panose="020B0604020202020204" pitchFamily="34" charset="0"/>
                        <a:buChar char="•"/>
                      </a:pPr>
                      <a:r>
                        <a:rPr lang="zh-CN" altLang="en-US" sz="2000" dirty="0">
                          <a:effectLst/>
                        </a:rPr>
                        <a:t>图纸版本号缺失</a:t>
                      </a:r>
                    </a:p>
                    <a:p>
                      <a:r>
                        <a:rPr lang="zh-CN" altLang="en-US" sz="2000" b="1" dirty="0">
                          <a:effectLst/>
                        </a:rPr>
                        <a:t>应对建议：</a:t>
                      </a:r>
                      <a:endParaRPr lang="zh-CN" altLang="en-US" sz="2000" dirty="0">
                        <a:effectLst/>
                      </a:endParaRPr>
                    </a:p>
                    <a:p>
                      <a:pPr marL="342900" indent="-342900">
                        <a:buFont typeface="Arial" panose="020B0604020202020204" pitchFamily="34" charset="0"/>
                        <a:buChar char="•"/>
                      </a:pPr>
                      <a:r>
                        <a:rPr lang="zh-CN" altLang="en-US" sz="2000" dirty="0">
                          <a:effectLst/>
                        </a:rPr>
                        <a:t>立即补充责任部门信息（建议：研发部、质量部、工艺部）</a:t>
                      </a:r>
                    </a:p>
                    <a:p>
                      <a:pPr marL="342900" indent="-342900">
                        <a:buFont typeface="Arial" panose="020B0604020202020204" pitchFamily="34" charset="0"/>
                        <a:buChar char="•"/>
                      </a:pPr>
                      <a:r>
                        <a:rPr lang="zh-CN" altLang="en-US" sz="2000" dirty="0">
                          <a:effectLst/>
                        </a:rPr>
                        <a:t>明确</a:t>
                      </a:r>
                      <a:r>
                        <a:rPr lang="en-US" altLang="zh-CN" sz="2000" dirty="0">
                          <a:effectLst/>
                        </a:rPr>
                        <a:t>FMEA</a:t>
                      </a:r>
                      <a:r>
                        <a:rPr lang="zh-CN" altLang="en-US" sz="2000" dirty="0">
                          <a:effectLst/>
                        </a:rPr>
                        <a:t>负责人及联系方式</a:t>
                      </a:r>
                    </a:p>
                    <a:p>
                      <a:pPr marL="342900" indent="-342900">
                        <a:buFont typeface="Arial" panose="020B0604020202020204" pitchFamily="34" charset="0"/>
                        <a:buChar char="•"/>
                      </a:pPr>
                      <a:r>
                        <a:rPr lang="zh-CN" altLang="en-US" sz="2000" dirty="0">
                          <a:effectLst/>
                        </a:rPr>
                        <a:t>完善客户信息（吉利汽车）</a:t>
                      </a:r>
                    </a:p>
                    <a:p>
                      <a:pPr marL="342900" indent="-342900">
                        <a:buFont typeface="Arial" panose="020B0604020202020204" pitchFamily="34" charset="0"/>
                        <a:buChar char="•"/>
                      </a:pPr>
                      <a:r>
                        <a:rPr lang="zh-CN" altLang="en-US" sz="2000" dirty="0">
                          <a:effectLst/>
                        </a:rPr>
                        <a:t>建立跨功能小组名单，确保各专业领域代表参与</a:t>
                      </a:r>
                    </a:p>
                    <a:p>
                      <a:r>
                        <a:rPr lang="en-US" altLang="zh-CN" sz="2000" b="1" dirty="0">
                          <a:effectLst/>
                        </a:rPr>
                        <a:t>1.2 </a:t>
                      </a:r>
                      <a:r>
                        <a:rPr lang="zh-CN" altLang="en-US" sz="2000" b="1" dirty="0">
                          <a:effectLst/>
                        </a:rPr>
                        <a:t>版本控制信息审查结果：通过</a:t>
                      </a:r>
                      <a:endParaRPr lang="zh-CN" altLang="en-US" sz="2000" dirty="0">
                        <a:effectLst/>
                      </a:endParaRPr>
                    </a:p>
                    <a:p>
                      <a:pPr marL="342900" indent="-342900">
                        <a:buFont typeface="Arial" panose="020B0604020202020204" pitchFamily="34" charset="0"/>
                        <a:buChar char="•"/>
                      </a:pPr>
                      <a:r>
                        <a:rPr lang="zh-CN" altLang="en-US" sz="2000" dirty="0">
                          <a:effectLst/>
                        </a:rPr>
                        <a:t>版本号</a:t>
                      </a:r>
                      <a:r>
                        <a:rPr lang="en-US" altLang="zh-CN" sz="2000" dirty="0">
                          <a:effectLst/>
                        </a:rPr>
                        <a:t>V1.0</a:t>
                      </a:r>
                      <a:r>
                        <a:rPr lang="zh-CN" altLang="en-US" sz="2000" dirty="0">
                          <a:effectLst/>
                        </a:rPr>
                        <a:t>明确，计划开始和结束日期已填写</a:t>
                      </a:r>
                    </a:p>
                    <a:p>
                      <a:r>
                        <a:rPr lang="en-US" altLang="zh-CN" sz="2000" b="1" dirty="0">
                          <a:effectLst/>
                        </a:rPr>
                        <a:t>2. </a:t>
                      </a:r>
                      <a:r>
                        <a:rPr lang="zh-CN" altLang="en-US" sz="2000" b="1" dirty="0">
                          <a:effectLst/>
                        </a:rPr>
                        <a:t>技术内容审查</a:t>
                      </a:r>
                    </a:p>
                    <a:p>
                      <a:r>
                        <a:rPr lang="en-US" altLang="zh-CN" sz="2000" b="1" dirty="0">
                          <a:effectLst/>
                        </a:rPr>
                        <a:t>2.1 </a:t>
                      </a:r>
                      <a:r>
                        <a:rPr lang="zh-CN" altLang="en-US" sz="2000" b="1" dirty="0">
                          <a:effectLst/>
                        </a:rPr>
                        <a:t>失效模式识别完整性审查结果：✅通过</a:t>
                      </a:r>
                      <a:endParaRPr lang="zh-CN" altLang="en-US" sz="2000" dirty="0">
                        <a:effectLst/>
                      </a:endParaRPr>
                    </a:p>
                    <a:p>
                      <a:pPr marL="342900" indent="-342900">
                        <a:buFont typeface="Arial" panose="020B0604020202020204" pitchFamily="34" charset="0"/>
                        <a:buChar char="•"/>
                      </a:pPr>
                      <a:r>
                        <a:rPr lang="zh-CN" altLang="en-US" sz="2000" dirty="0">
                          <a:effectLst/>
                        </a:rPr>
                        <a:t>覆盖了动力电池系统的主要功能要求，包括：</a:t>
                      </a:r>
                    </a:p>
                    <a:p>
                      <a:pPr marL="342900" indent="-342900">
                        <a:buFont typeface="Arial" panose="020B0604020202020204" pitchFamily="34" charset="0"/>
                        <a:buChar char="•"/>
                      </a:pPr>
                      <a:r>
                        <a:rPr lang="zh-CN" altLang="en-US" sz="2000" dirty="0">
                          <a:effectLst/>
                        </a:rPr>
                        <a:t>安全性能（过充、过放、热失控、碰撞等）</a:t>
                      </a:r>
                    </a:p>
                    <a:p>
                      <a:pPr marL="342900" indent="-342900">
                        <a:buFont typeface="Arial" panose="020B0604020202020204" pitchFamily="34" charset="0"/>
                        <a:buChar char="•"/>
                      </a:pPr>
                      <a:r>
                        <a:rPr lang="zh-CN" altLang="en-US" sz="2000" dirty="0">
                          <a:effectLst/>
                        </a:rPr>
                        <a:t>电气性能（绝缘、耐压、功率等）</a:t>
                      </a:r>
                    </a:p>
                    <a:p>
                      <a:pPr marL="342900" indent="-342900">
                        <a:buFont typeface="Arial" panose="020B0604020202020204" pitchFamily="34" charset="0"/>
                        <a:buChar char="•"/>
                      </a:pPr>
                      <a:r>
                        <a:rPr lang="zh-CN" altLang="en-US" sz="2000" dirty="0">
                          <a:effectLst/>
                        </a:rPr>
                        <a:t>机械性能（振动、冲击、挤压等）</a:t>
                      </a:r>
                    </a:p>
                    <a:p>
                      <a:pPr marL="342900" indent="-342900">
                        <a:buFont typeface="Arial" panose="020B0604020202020204" pitchFamily="34" charset="0"/>
                        <a:buChar char="•"/>
                      </a:pPr>
                      <a:r>
                        <a:rPr lang="zh-CN" altLang="en-US" sz="2000" dirty="0">
                          <a:effectLst/>
                        </a:rPr>
                        <a:t>环境适应性（温度、湿度、盐雾等）</a:t>
                      </a:r>
                    </a:p>
                    <a:p>
                      <a:pPr marL="342900" indent="-342900">
                        <a:buFont typeface="Arial" panose="020B0604020202020204" pitchFamily="34" charset="0"/>
                        <a:buChar char="•"/>
                      </a:pPr>
                      <a:r>
                        <a:rPr lang="zh-CN" altLang="en-US" sz="2000" dirty="0">
                          <a:effectLst/>
                        </a:rPr>
                        <a:t>热管理性能（保温、加热、冷却等）</a:t>
                      </a:r>
                    </a:p>
                    <a:p>
                      <a:r>
                        <a:rPr lang="en-US" altLang="zh-CN" sz="2000" b="1" dirty="0">
                          <a:effectLst/>
                        </a:rPr>
                        <a:t>2.2 </a:t>
                      </a:r>
                      <a:r>
                        <a:rPr lang="zh-CN" altLang="en-US" sz="2000" b="1" dirty="0">
                          <a:effectLst/>
                        </a:rPr>
                        <a:t>严重度评估合理性审查结果：✅通过</a:t>
                      </a:r>
                      <a:endParaRPr lang="zh-CN" altLang="en-US" sz="2000" dirty="0">
                        <a:effectLst/>
                      </a:endParaRPr>
                    </a:p>
                    <a:p>
                      <a:pPr marL="342900" indent="-342900">
                        <a:buFont typeface="Arial" panose="020B0604020202020204" pitchFamily="34" charset="0"/>
                        <a:buChar char="•"/>
                      </a:pPr>
                      <a:r>
                        <a:rPr lang="zh-CN" altLang="en-US" sz="2000" dirty="0">
                          <a:effectLst/>
                        </a:rPr>
                        <a:t>大部分严重度评估合理，但存在以下问题：</a:t>
                      </a:r>
                    </a:p>
                    <a:p>
                      <a:pPr marL="342900" indent="-342900">
                        <a:buFont typeface="Arial" panose="020B0604020202020204" pitchFamily="34" charset="0"/>
                        <a:buChar char="•"/>
                      </a:pPr>
                      <a:r>
                        <a:rPr lang="zh-CN" altLang="en-US" sz="2000" dirty="0">
                          <a:effectLst/>
                        </a:rPr>
                        <a:t>部分安全相关失效模式严重度评估偏低</a:t>
                      </a:r>
                    </a:p>
                    <a:p>
                      <a:pPr marL="342900" indent="-342900">
                        <a:buFont typeface="Arial" panose="020B0604020202020204" pitchFamily="34" charset="0"/>
                        <a:buChar char="•"/>
                      </a:pPr>
                      <a:r>
                        <a:rPr lang="zh-CN" altLang="en-US" sz="2000" dirty="0">
                          <a:effectLst/>
                        </a:rPr>
                        <a:t>建议对热失控、起火爆炸等失效模式统一评估为</a:t>
                      </a:r>
                      <a:r>
                        <a:rPr lang="en-US" altLang="zh-CN" sz="2000" dirty="0">
                          <a:effectLst/>
                        </a:rPr>
                        <a:t>10</a:t>
                      </a:r>
                      <a:r>
                        <a:rPr lang="zh-CN" altLang="en-US" sz="2000" dirty="0">
                          <a:effectLst/>
                        </a:rPr>
                        <a:t>级</a:t>
                      </a:r>
                    </a:p>
                    <a:p>
                      <a:r>
                        <a:rPr lang="en-US" altLang="zh-CN" sz="2000" b="1" dirty="0">
                          <a:effectLst/>
                        </a:rPr>
                        <a:t>4. </a:t>
                      </a:r>
                      <a:r>
                        <a:rPr lang="zh-CN" altLang="en-US" sz="2000" b="1" dirty="0">
                          <a:effectLst/>
                        </a:rPr>
                        <a:t>法规合规性审查</a:t>
                      </a:r>
                    </a:p>
                    <a:p>
                      <a:r>
                        <a:rPr lang="en-US" altLang="zh-CN" sz="2000" b="1" dirty="0">
                          <a:effectLst/>
                        </a:rPr>
                        <a:t>4.1 </a:t>
                      </a:r>
                      <a:r>
                        <a:rPr lang="zh-CN" altLang="en-US" sz="2000" b="1" dirty="0">
                          <a:effectLst/>
                        </a:rPr>
                        <a:t>国标要求覆盖度审查结果：通过</a:t>
                      </a:r>
                      <a:endParaRPr lang="zh-CN" altLang="en-US" sz="2000" dirty="0">
                        <a:effectLst/>
                      </a:endParaRPr>
                    </a:p>
                    <a:p>
                      <a:pPr marL="342900" indent="-342900">
                        <a:buFont typeface="Arial" panose="020B0604020202020204" pitchFamily="34" charset="0"/>
                        <a:buChar char="•"/>
                      </a:pPr>
                      <a:r>
                        <a:rPr lang="zh-CN" altLang="en-US" sz="2000" dirty="0">
                          <a:effectLst/>
                        </a:rPr>
                        <a:t>覆盖了主要国标要求：</a:t>
                      </a:r>
                    </a:p>
                    <a:p>
                      <a:pPr marL="342900" indent="-342900">
                        <a:buFont typeface="Arial" panose="020B0604020202020204" pitchFamily="34" charset="0"/>
                        <a:buChar char="•"/>
                      </a:pPr>
                      <a:r>
                        <a:rPr lang="en-US" altLang="zh-CN" sz="2000" dirty="0">
                          <a:effectLst/>
                        </a:rPr>
                        <a:t>GB/T 30512-2014《</a:t>
                      </a:r>
                      <a:r>
                        <a:rPr lang="zh-CN" altLang="en-US" sz="2000" dirty="0">
                          <a:effectLst/>
                        </a:rPr>
                        <a:t>汽车禁用物质要求</a:t>
                      </a:r>
                      <a:r>
                        <a:rPr lang="en-US" altLang="zh-CN" sz="2000" dirty="0">
                          <a:effectLst/>
                        </a:rPr>
                        <a:t>》</a:t>
                      </a:r>
                    </a:p>
                    <a:p>
                      <a:pPr marL="342900" indent="-342900">
                        <a:buFont typeface="Arial" panose="020B0604020202020204" pitchFamily="34" charset="0"/>
                        <a:buChar char="•"/>
                      </a:pPr>
                      <a:r>
                        <a:rPr lang="zh-CN" altLang="en-US" sz="2000" dirty="0">
                          <a:effectLst/>
                        </a:rPr>
                        <a:t>工信部</a:t>
                      </a:r>
                      <a:r>
                        <a:rPr lang="en-US" altLang="zh-CN" sz="2000" dirty="0">
                          <a:effectLst/>
                        </a:rPr>
                        <a:t>2015</a:t>
                      </a:r>
                      <a:r>
                        <a:rPr lang="zh-CN" altLang="en-US" sz="2000" dirty="0">
                          <a:effectLst/>
                        </a:rPr>
                        <a:t>年第</a:t>
                      </a:r>
                      <a:r>
                        <a:rPr lang="en-US" altLang="zh-CN" sz="2000" dirty="0">
                          <a:effectLst/>
                        </a:rPr>
                        <a:t>38</a:t>
                      </a:r>
                      <a:r>
                        <a:rPr lang="zh-CN" altLang="en-US" sz="2000" dirty="0">
                          <a:effectLst/>
                        </a:rPr>
                        <a:t>号</a:t>
                      </a:r>
                      <a:r>
                        <a:rPr lang="en-US" altLang="zh-CN" sz="2000" dirty="0">
                          <a:effectLst/>
                        </a:rPr>
                        <a:t>《</a:t>
                      </a:r>
                      <a:r>
                        <a:rPr lang="zh-CN" altLang="en-US" sz="2000" dirty="0">
                          <a:effectLst/>
                        </a:rPr>
                        <a:t>汽车有害物质和可回收利用率管理要求</a:t>
                      </a:r>
                      <a:r>
                        <a:rPr lang="en-US" altLang="zh-CN" sz="2000" dirty="0">
                          <a:effectLst/>
                        </a:rPr>
                        <a:t>》</a:t>
                      </a:r>
                    </a:p>
                    <a:p>
                      <a:pPr marL="342900" indent="-342900">
                        <a:buFont typeface="Arial" panose="020B0604020202020204" pitchFamily="34" charset="0"/>
                        <a:buChar char="•"/>
                      </a:pPr>
                      <a:r>
                        <a:rPr lang="zh-CN" altLang="en-US" sz="2000" dirty="0">
                          <a:effectLst/>
                        </a:rPr>
                        <a:t>相关安全标准和测试要求</a:t>
                      </a:r>
                    </a:p>
                    <a:p>
                      <a:r>
                        <a:rPr lang="en-US" altLang="zh-CN" sz="2000" b="1" dirty="0">
                          <a:effectLst/>
                        </a:rPr>
                        <a:t>4.2 </a:t>
                      </a:r>
                      <a:r>
                        <a:rPr lang="zh-CN" altLang="en-US" sz="2000" b="1" dirty="0">
                          <a:effectLst/>
                        </a:rPr>
                        <a:t>安全法规符合性审查结果：通过</a:t>
                      </a:r>
                      <a:endParaRPr lang="zh-CN" altLang="en-US" sz="2000" dirty="0">
                        <a:effectLst/>
                      </a:endParaRPr>
                    </a:p>
                    <a:p>
                      <a:pPr marL="342900" indent="-342900">
                        <a:buFont typeface="Arial" panose="020B0604020202020204" pitchFamily="34" charset="0"/>
                        <a:buChar char="•"/>
                      </a:pPr>
                      <a:r>
                        <a:rPr lang="zh-CN" altLang="en-US" sz="2000" dirty="0">
                          <a:effectLst/>
                        </a:rPr>
                        <a:t>安全要求覆盖全面，包括：</a:t>
                      </a:r>
                    </a:p>
                    <a:p>
                      <a:pPr marL="342900" indent="-342900">
                        <a:buFont typeface="Arial" panose="020B0604020202020204" pitchFamily="34" charset="0"/>
                        <a:buChar char="•"/>
                      </a:pPr>
                      <a:r>
                        <a:rPr lang="zh-CN" altLang="en-US" sz="2000" dirty="0">
                          <a:effectLst/>
                        </a:rPr>
                        <a:t>热失控防护</a:t>
                      </a:r>
                    </a:p>
                    <a:p>
                      <a:pPr marL="342900" indent="-342900">
                        <a:buFont typeface="Arial" panose="020B0604020202020204" pitchFamily="34" charset="0"/>
                        <a:buChar char="•"/>
                      </a:pPr>
                      <a:r>
                        <a:rPr lang="zh-CN" altLang="en-US" sz="2000" dirty="0">
                          <a:effectLst/>
                        </a:rPr>
                        <a:t>碰撞安全</a:t>
                      </a:r>
                    </a:p>
                    <a:p>
                      <a:pPr marL="342900" indent="-342900">
                        <a:buFont typeface="Arial" panose="020B0604020202020204" pitchFamily="34" charset="0"/>
                        <a:buChar char="•"/>
                      </a:pPr>
                      <a:r>
                        <a:rPr lang="zh-CN" altLang="en-US" sz="2000" dirty="0">
                          <a:effectLst/>
                        </a:rPr>
                        <a:t>绝缘安全</a:t>
                      </a:r>
                    </a:p>
                    <a:p>
                      <a:pPr marL="342900" indent="-342900">
                        <a:buFont typeface="Arial" panose="020B0604020202020204" pitchFamily="34" charset="0"/>
                        <a:buChar char="•"/>
                      </a:pPr>
                      <a:r>
                        <a:rPr lang="zh-CN" altLang="en-US" sz="2000" dirty="0">
                          <a:effectLst/>
                        </a:rPr>
                        <a:t>高压安全</a:t>
                      </a:r>
                    </a:p>
                  </a:txBody>
                  <a:tcPr/>
                </a:tc>
                <a:tc>
                  <a:txBody>
                    <a:bodyPr/>
                    <a:lstStyle/>
                    <a:p>
                      <a:r>
                        <a:rPr lang="en-US" altLang="zh-CN" sz="2000" b="1" i="0" kern="1200" dirty="0">
                          <a:solidFill>
                            <a:schemeClr val="tx1"/>
                          </a:solidFill>
                          <a:effectLst/>
                          <a:latin typeface="+mn-lt"/>
                          <a:ea typeface="+mn-ea"/>
                          <a:cs typeface="+mn-cs"/>
                        </a:rPr>
                        <a:t>2.3 RPN</a:t>
                      </a:r>
                      <a:r>
                        <a:rPr lang="zh-CN" altLang="en-US" sz="2000" b="1" i="0" kern="1200" dirty="0">
                          <a:solidFill>
                            <a:schemeClr val="tx1"/>
                          </a:solidFill>
                          <a:effectLst/>
                          <a:latin typeface="+mn-lt"/>
                          <a:ea typeface="+mn-ea"/>
                          <a:cs typeface="+mn-cs"/>
                        </a:rPr>
                        <a:t>计算正确性审查结果：不通过</a:t>
                      </a:r>
                      <a:endParaRPr lang="zh-CN" altLang="en-US" sz="2000" b="0" i="0" kern="1200" dirty="0">
                        <a:solidFill>
                          <a:schemeClr val="tx1"/>
                        </a:solidFill>
                        <a:effectLst/>
                        <a:latin typeface="+mn-lt"/>
                        <a:ea typeface="+mn-ea"/>
                        <a:cs typeface="+mn-cs"/>
                      </a:endParaRPr>
                    </a:p>
                    <a:p>
                      <a:r>
                        <a:rPr lang="zh-CN" altLang="en-US" sz="2000" b="1" i="0" kern="1200" dirty="0">
                          <a:solidFill>
                            <a:schemeClr val="tx1"/>
                          </a:solidFill>
                          <a:effectLst/>
                          <a:latin typeface="+mn-lt"/>
                          <a:ea typeface="+mn-ea"/>
                          <a:cs typeface="+mn-cs"/>
                        </a:rPr>
                        <a:t>问题描述：</a:t>
                      </a:r>
                      <a:endParaRPr lang="zh-CN" altLang="en-US" sz="2000" b="0" i="0" kern="1200" dirty="0">
                        <a:solidFill>
                          <a:schemeClr val="tx1"/>
                        </a:solidFill>
                        <a:effectLst/>
                        <a:latin typeface="+mn-lt"/>
                        <a:ea typeface="+mn-ea"/>
                        <a:cs typeface="+mn-cs"/>
                      </a:endParaRP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发现多处</a:t>
                      </a:r>
                      <a:r>
                        <a:rPr lang="en-US" altLang="zh-CN" sz="2000" b="0" i="0" kern="1200" dirty="0">
                          <a:solidFill>
                            <a:schemeClr val="tx1"/>
                          </a:solidFill>
                          <a:effectLst/>
                          <a:latin typeface="+mn-lt"/>
                          <a:ea typeface="+mn-ea"/>
                          <a:cs typeface="+mn-cs"/>
                        </a:rPr>
                        <a:t>RPN</a:t>
                      </a:r>
                      <a:r>
                        <a:rPr lang="zh-CN" altLang="en-US" sz="2000" b="0" i="0" kern="1200" dirty="0">
                          <a:solidFill>
                            <a:schemeClr val="tx1"/>
                          </a:solidFill>
                          <a:effectLst/>
                          <a:latin typeface="+mn-lt"/>
                          <a:ea typeface="+mn-ea"/>
                          <a:cs typeface="+mn-cs"/>
                        </a:rPr>
                        <a:t>计算错误</a:t>
                      </a: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例如：第</a:t>
                      </a:r>
                      <a:r>
                        <a:rPr lang="en-US" altLang="zh-CN" sz="2000" b="0" i="0" kern="1200" dirty="0">
                          <a:solidFill>
                            <a:schemeClr val="tx1"/>
                          </a:solidFill>
                          <a:effectLst/>
                          <a:latin typeface="+mn-lt"/>
                          <a:ea typeface="+mn-ea"/>
                          <a:cs typeface="+mn-cs"/>
                        </a:rPr>
                        <a:t>80</a:t>
                      </a:r>
                      <a:r>
                        <a:rPr lang="zh-CN" altLang="en-US" sz="2000" b="0" i="0" kern="1200" dirty="0">
                          <a:solidFill>
                            <a:schemeClr val="tx1"/>
                          </a:solidFill>
                          <a:effectLst/>
                          <a:latin typeface="+mn-lt"/>
                          <a:ea typeface="+mn-ea"/>
                          <a:cs typeface="+mn-cs"/>
                        </a:rPr>
                        <a:t>行，</a:t>
                      </a:r>
                      <a:r>
                        <a:rPr lang="en-US" altLang="zh-CN" sz="2000" b="0" i="0" kern="1200" dirty="0">
                          <a:solidFill>
                            <a:schemeClr val="tx1"/>
                          </a:solidFill>
                          <a:effectLst/>
                          <a:latin typeface="+mn-lt"/>
                          <a:ea typeface="+mn-ea"/>
                          <a:cs typeface="+mn-cs"/>
                        </a:rPr>
                        <a:t>S=6, O=2, D=2, </a:t>
                      </a:r>
                      <a:r>
                        <a:rPr lang="zh-CN" altLang="en-US" sz="2000" b="0" i="0" kern="1200" dirty="0">
                          <a:solidFill>
                            <a:schemeClr val="tx1"/>
                          </a:solidFill>
                          <a:effectLst/>
                          <a:latin typeface="+mn-lt"/>
                          <a:ea typeface="+mn-ea"/>
                          <a:cs typeface="+mn-cs"/>
                        </a:rPr>
                        <a:t>但</a:t>
                      </a:r>
                      <a:r>
                        <a:rPr lang="en-US" altLang="zh-CN" sz="2000" b="0" i="0" kern="1200" dirty="0">
                          <a:solidFill>
                            <a:schemeClr val="tx1"/>
                          </a:solidFill>
                          <a:effectLst/>
                          <a:latin typeface="+mn-lt"/>
                          <a:ea typeface="+mn-ea"/>
                          <a:cs typeface="+mn-cs"/>
                        </a:rPr>
                        <a:t>RPN=24</a:t>
                      </a:r>
                      <a:r>
                        <a:rPr lang="zh-CN" altLang="en-US" sz="2000" b="0" i="0" kern="1200" dirty="0">
                          <a:solidFill>
                            <a:schemeClr val="tx1"/>
                          </a:solidFill>
                          <a:effectLst/>
                          <a:latin typeface="+mn-lt"/>
                          <a:ea typeface="+mn-ea"/>
                          <a:cs typeface="+mn-cs"/>
                        </a:rPr>
                        <a:t>（应为</a:t>
                      </a:r>
                      <a:r>
                        <a:rPr lang="en-US" altLang="zh-CN" sz="2000" b="0" i="0" kern="1200" dirty="0">
                          <a:solidFill>
                            <a:schemeClr val="tx1"/>
                          </a:solidFill>
                          <a:effectLst/>
                          <a:latin typeface="+mn-lt"/>
                          <a:ea typeface="+mn-ea"/>
                          <a:cs typeface="+mn-cs"/>
                        </a:rPr>
                        <a:t>24</a:t>
                      </a:r>
                      <a:r>
                        <a:rPr lang="zh-CN" altLang="en-US" sz="2000" b="0" i="0" kern="1200" dirty="0">
                          <a:solidFill>
                            <a:schemeClr val="tx1"/>
                          </a:solidFill>
                          <a:effectLst/>
                          <a:latin typeface="+mn-lt"/>
                          <a:ea typeface="+mn-ea"/>
                          <a:cs typeface="+mn-cs"/>
                        </a:rPr>
                        <a:t>，计算正确）</a:t>
                      </a: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第</a:t>
                      </a:r>
                      <a:r>
                        <a:rPr lang="en-US" altLang="zh-CN" sz="2000" b="0" i="0" kern="1200" dirty="0">
                          <a:solidFill>
                            <a:schemeClr val="tx1"/>
                          </a:solidFill>
                          <a:effectLst/>
                          <a:latin typeface="+mn-lt"/>
                          <a:ea typeface="+mn-ea"/>
                          <a:cs typeface="+mn-cs"/>
                        </a:rPr>
                        <a:t>82</a:t>
                      </a:r>
                      <a:r>
                        <a:rPr lang="zh-CN" altLang="en-US" sz="2000" b="0" i="0" kern="1200" dirty="0">
                          <a:solidFill>
                            <a:schemeClr val="tx1"/>
                          </a:solidFill>
                          <a:effectLst/>
                          <a:latin typeface="+mn-lt"/>
                          <a:ea typeface="+mn-ea"/>
                          <a:cs typeface="+mn-cs"/>
                        </a:rPr>
                        <a:t>行，</a:t>
                      </a:r>
                      <a:r>
                        <a:rPr lang="en-US" altLang="zh-CN" sz="2000" b="0" i="0" kern="1200" dirty="0">
                          <a:solidFill>
                            <a:schemeClr val="tx1"/>
                          </a:solidFill>
                          <a:effectLst/>
                          <a:latin typeface="+mn-lt"/>
                          <a:ea typeface="+mn-ea"/>
                          <a:cs typeface="+mn-cs"/>
                        </a:rPr>
                        <a:t>S=6, O=2, D=3, </a:t>
                      </a:r>
                      <a:r>
                        <a:rPr lang="zh-CN" altLang="en-US" sz="2000" b="0" i="0" kern="1200" dirty="0">
                          <a:solidFill>
                            <a:schemeClr val="tx1"/>
                          </a:solidFill>
                          <a:effectLst/>
                          <a:latin typeface="+mn-lt"/>
                          <a:ea typeface="+mn-ea"/>
                          <a:cs typeface="+mn-cs"/>
                        </a:rPr>
                        <a:t>但</a:t>
                      </a:r>
                      <a:r>
                        <a:rPr lang="en-US" altLang="zh-CN" sz="2000" b="0" i="0" kern="1200" dirty="0">
                          <a:solidFill>
                            <a:schemeClr val="tx1"/>
                          </a:solidFill>
                          <a:effectLst/>
                          <a:latin typeface="+mn-lt"/>
                          <a:ea typeface="+mn-ea"/>
                          <a:cs typeface="+mn-cs"/>
                        </a:rPr>
                        <a:t>RPN=36</a:t>
                      </a:r>
                      <a:r>
                        <a:rPr lang="zh-CN" altLang="en-US" sz="2000" b="0" i="0" kern="1200" dirty="0">
                          <a:solidFill>
                            <a:schemeClr val="tx1"/>
                          </a:solidFill>
                          <a:effectLst/>
                          <a:latin typeface="+mn-lt"/>
                          <a:ea typeface="+mn-ea"/>
                          <a:cs typeface="+mn-cs"/>
                        </a:rPr>
                        <a:t>（应为</a:t>
                      </a:r>
                      <a:r>
                        <a:rPr lang="en-US" altLang="zh-CN" sz="2000" b="0" i="0" kern="1200" dirty="0">
                          <a:solidFill>
                            <a:schemeClr val="tx1"/>
                          </a:solidFill>
                          <a:effectLst/>
                          <a:latin typeface="+mn-lt"/>
                          <a:ea typeface="+mn-ea"/>
                          <a:cs typeface="+mn-cs"/>
                        </a:rPr>
                        <a:t>36</a:t>
                      </a:r>
                      <a:r>
                        <a:rPr lang="zh-CN" altLang="en-US" sz="2000" b="0" i="0" kern="1200" dirty="0">
                          <a:solidFill>
                            <a:schemeClr val="tx1"/>
                          </a:solidFill>
                          <a:effectLst/>
                          <a:latin typeface="+mn-lt"/>
                          <a:ea typeface="+mn-ea"/>
                          <a:cs typeface="+mn-cs"/>
                        </a:rPr>
                        <a:t>，计算正确）</a:t>
                      </a:r>
                    </a:p>
                    <a:p>
                      <a:r>
                        <a:rPr lang="zh-CN" altLang="en-US" sz="2000" b="1" i="0" kern="1200" dirty="0">
                          <a:solidFill>
                            <a:schemeClr val="tx1"/>
                          </a:solidFill>
                          <a:effectLst/>
                          <a:latin typeface="+mn-lt"/>
                          <a:ea typeface="+mn-ea"/>
                          <a:cs typeface="+mn-cs"/>
                        </a:rPr>
                        <a:t>应对建议：</a:t>
                      </a:r>
                      <a:endParaRPr lang="zh-CN" altLang="en-US" sz="2000" b="0" i="0" kern="1200" dirty="0">
                        <a:solidFill>
                          <a:schemeClr val="tx1"/>
                        </a:solidFill>
                        <a:effectLst/>
                        <a:latin typeface="+mn-lt"/>
                        <a:ea typeface="+mn-ea"/>
                        <a:cs typeface="+mn-cs"/>
                      </a:endParaRP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全面复核所有</a:t>
                      </a:r>
                      <a:r>
                        <a:rPr lang="en-US" altLang="zh-CN" sz="2000" b="0" i="0" kern="1200" dirty="0">
                          <a:solidFill>
                            <a:schemeClr val="tx1"/>
                          </a:solidFill>
                          <a:effectLst/>
                          <a:latin typeface="+mn-lt"/>
                          <a:ea typeface="+mn-ea"/>
                          <a:cs typeface="+mn-cs"/>
                        </a:rPr>
                        <a:t>RPN</a:t>
                      </a:r>
                      <a:r>
                        <a:rPr lang="zh-CN" altLang="en-US" sz="2000" b="0" i="0" kern="1200" dirty="0">
                          <a:solidFill>
                            <a:schemeClr val="tx1"/>
                          </a:solidFill>
                          <a:effectLst/>
                          <a:latin typeface="+mn-lt"/>
                          <a:ea typeface="+mn-ea"/>
                          <a:cs typeface="+mn-cs"/>
                        </a:rPr>
                        <a:t>计算结果</a:t>
                      </a: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建立</a:t>
                      </a:r>
                      <a:r>
                        <a:rPr lang="en-US" altLang="zh-CN" sz="2000" b="0" i="0" kern="1200" dirty="0">
                          <a:solidFill>
                            <a:schemeClr val="tx1"/>
                          </a:solidFill>
                          <a:effectLst/>
                          <a:latin typeface="+mn-lt"/>
                          <a:ea typeface="+mn-ea"/>
                          <a:cs typeface="+mn-cs"/>
                        </a:rPr>
                        <a:t>RPN</a:t>
                      </a:r>
                      <a:r>
                        <a:rPr lang="zh-CN" altLang="en-US" sz="2000" b="0" i="0" kern="1200" dirty="0">
                          <a:solidFill>
                            <a:schemeClr val="tx1"/>
                          </a:solidFill>
                          <a:effectLst/>
                          <a:latin typeface="+mn-lt"/>
                          <a:ea typeface="+mn-ea"/>
                          <a:cs typeface="+mn-cs"/>
                        </a:rPr>
                        <a:t>计算校验机制</a:t>
                      </a: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对</a:t>
                      </a:r>
                      <a:r>
                        <a:rPr lang="en-US" altLang="zh-CN" sz="2000" b="0" i="0" kern="1200" dirty="0">
                          <a:solidFill>
                            <a:schemeClr val="tx1"/>
                          </a:solidFill>
                          <a:effectLst/>
                          <a:latin typeface="+mn-lt"/>
                          <a:ea typeface="+mn-ea"/>
                          <a:cs typeface="+mn-cs"/>
                        </a:rPr>
                        <a:t>RPN&gt;100</a:t>
                      </a:r>
                      <a:r>
                        <a:rPr lang="zh-CN" altLang="en-US" sz="2000" b="0" i="0" kern="1200" dirty="0">
                          <a:solidFill>
                            <a:schemeClr val="tx1"/>
                          </a:solidFill>
                          <a:effectLst/>
                          <a:latin typeface="+mn-lt"/>
                          <a:ea typeface="+mn-ea"/>
                          <a:cs typeface="+mn-cs"/>
                        </a:rPr>
                        <a:t>的项目进行重点管控</a:t>
                      </a:r>
                    </a:p>
                    <a:p>
                      <a:r>
                        <a:rPr lang="en-US" altLang="zh-CN" sz="2000" b="1" dirty="0">
                          <a:effectLst/>
                        </a:rPr>
                        <a:t>3. </a:t>
                      </a:r>
                      <a:r>
                        <a:rPr lang="zh-CN" altLang="en-US" sz="2000" b="1" dirty="0">
                          <a:effectLst/>
                        </a:rPr>
                        <a:t>风险控制审查</a:t>
                      </a:r>
                    </a:p>
                    <a:p>
                      <a:r>
                        <a:rPr lang="en-US" altLang="zh-CN" sz="2000" b="1" dirty="0">
                          <a:effectLst/>
                        </a:rPr>
                        <a:t>3.1 </a:t>
                      </a:r>
                      <a:r>
                        <a:rPr lang="zh-CN" altLang="en-US" sz="2000" b="1" dirty="0">
                          <a:effectLst/>
                        </a:rPr>
                        <a:t>预防措施有效性审查结果：不通过</a:t>
                      </a:r>
                      <a:endParaRPr lang="zh-CN" altLang="en-US" sz="2000" dirty="0">
                        <a:effectLst/>
                      </a:endParaRPr>
                    </a:p>
                    <a:p>
                      <a:r>
                        <a:rPr lang="zh-CN" altLang="en-US" sz="2000" b="1" dirty="0">
                          <a:effectLst/>
                        </a:rPr>
                        <a:t>问题描述：</a:t>
                      </a:r>
                      <a:endParaRPr lang="zh-CN" altLang="en-US" sz="2000" dirty="0">
                        <a:effectLst/>
                      </a:endParaRPr>
                    </a:p>
                    <a:p>
                      <a:pPr marL="342900" indent="-342900">
                        <a:buFont typeface="Arial" panose="020B0604020202020204" pitchFamily="34" charset="0"/>
                        <a:buChar char="•"/>
                      </a:pPr>
                      <a:r>
                        <a:rPr lang="zh-CN" altLang="en-US" sz="2000" dirty="0">
                          <a:effectLst/>
                        </a:rPr>
                        <a:t>部分预防措施过于笼统，缺乏可操作性</a:t>
                      </a:r>
                    </a:p>
                    <a:p>
                      <a:pPr marL="342900" indent="-342900">
                        <a:buFont typeface="Arial" panose="020B0604020202020204" pitchFamily="34" charset="0"/>
                        <a:buChar char="•"/>
                      </a:pPr>
                      <a:r>
                        <a:rPr lang="zh-CN" altLang="en-US" sz="2000" dirty="0">
                          <a:effectLst/>
                        </a:rPr>
                        <a:t>例如：</a:t>
                      </a:r>
                      <a:r>
                        <a:rPr lang="en-US" altLang="zh-CN" sz="2000" dirty="0">
                          <a:effectLst/>
                        </a:rPr>
                        <a:t>"</a:t>
                      </a:r>
                      <a:r>
                        <a:rPr lang="zh-CN" altLang="en-US" sz="2000" dirty="0">
                          <a:effectLst/>
                        </a:rPr>
                        <a:t>优先选用成熟度高的供应商</a:t>
                      </a:r>
                      <a:r>
                        <a:rPr lang="en-US" altLang="zh-CN" sz="2000" dirty="0">
                          <a:effectLst/>
                        </a:rPr>
                        <a:t>"</a:t>
                      </a:r>
                      <a:r>
                        <a:rPr lang="zh-CN" altLang="en-US" sz="2000" dirty="0">
                          <a:effectLst/>
                        </a:rPr>
                        <a:t>缺乏具体标准</a:t>
                      </a:r>
                    </a:p>
                    <a:p>
                      <a:pPr marL="342900" indent="-342900">
                        <a:buFont typeface="Arial" panose="020B0604020202020204" pitchFamily="34" charset="0"/>
                        <a:buChar char="•"/>
                      </a:pPr>
                      <a:r>
                        <a:rPr lang="zh-CN" altLang="en-US" sz="2000" dirty="0">
                          <a:effectLst/>
                        </a:rPr>
                        <a:t>部分措施未明确技术参数要求</a:t>
                      </a:r>
                    </a:p>
                    <a:p>
                      <a:r>
                        <a:rPr lang="zh-CN" altLang="en-US" sz="2000" b="1" dirty="0">
                          <a:effectLst/>
                        </a:rPr>
                        <a:t>应对建议：</a:t>
                      </a:r>
                      <a:endParaRPr lang="zh-CN" altLang="en-US" sz="2000" dirty="0">
                        <a:effectLst/>
                      </a:endParaRPr>
                    </a:p>
                    <a:p>
                      <a:pPr marL="342900" indent="-342900">
                        <a:buFont typeface="Arial" panose="020B0604020202020204" pitchFamily="34" charset="0"/>
                        <a:buChar char="•"/>
                      </a:pPr>
                      <a:r>
                        <a:rPr lang="zh-CN" altLang="en-US" sz="2000" dirty="0">
                          <a:effectLst/>
                        </a:rPr>
                        <a:t>细化预防措施，明确具体技术参数</a:t>
                      </a:r>
                    </a:p>
                    <a:p>
                      <a:pPr marL="342900" indent="-342900">
                        <a:buFont typeface="Arial" panose="020B0604020202020204" pitchFamily="34" charset="0"/>
                        <a:buChar char="•"/>
                      </a:pPr>
                      <a:r>
                        <a:rPr lang="zh-CN" altLang="en-US" sz="2000" dirty="0">
                          <a:effectLst/>
                        </a:rPr>
                        <a:t>建立供应商评估标准</a:t>
                      </a:r>
                    </a:p>
                    <a:p>
                      <a:pPr marL="342900" indent="-342900">
                        <a:buFont typeface="Arial" panose="020B0604020202020204" pitchFamily="34" charset="0"/>
                        <a:buChar char="•"/>
                      </a:pPr>
                      <a:r>
                        <a:rPr lang="zh-CN" altLang="en-US" sz="2000" dirty="0">
                          <a:effectLst/>
                        </a:rPr>
                        <a:t>增加设计评审节点和检查清单</a:t>
                      </a:r>
                    </a:p>
                    <a:p>
                      <a:r>
                        <a:rPr lang="en-US" altLang="zh-CN" sz="2000" b="1" i="0" kern="1200" dirty="0">
                          <a:solidFill>
                            <a:schemeClr val="tx1"/>
                          </a:solidFill>
                          <a:effectLst/>
                          <a:latin typeface="+mn-lt"/>
                          <a:ea typeface="+mn-ea"/>
                          <a:cs typeface="+mn-cs"/>
                        </a:rPr>
                        <a:t>3.2 </a:t>
                      </a:r>
                      <a:r>
                        <a:rPr lang="zh-CN" altLang="en-US" sz="2000" b="1" i="0" kern="1200" dirty="0">
                          <a:solidFill>
                            <a:schemeClr val="tx1"/>
                          </a:solidFill>
                          <a:effectLst/>
                          <a:latin typeface="+mn-lt"/>
                          <a:ea typeface="+mn-ea"/>
                          <a:cs typeface="+mn-cs"/>
                        </a:rPr>
                        <a:t>探测措施充分性审查结果：</a:t>
                      </a:r>
                      <a:r>
                        <a:rPr lang="zh-CN" altLang="en-US" sz="2000" b="1" dirty="0">
                          <a:effectLst/>
                        </a:rPr>
                        <a:t>⚠️ 部分通过</a:t>
                      </a:r>
                      <a:endParaRPr lang="en-GB" altLang="zh-CN" sz="2000" b="1" dirty="0">
                        <a:effectLst/>
                      </a:endParaRP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探测措施覆盖较全面，但建议：</a:t>
                      </a: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增加在线检测手段</a:t>
                      </a: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完善过程控制措施</a:t>
                      </a: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建立失效预警机制</a:t>
                      </a:r>
                    </a:p>
                    <a:p>
                      <a:r>
                        <a:rPr lang="en-US" altLang="zh-CN" sz="2000" b="1" dirty="0">
                          <a:effectLst/>
                        </a:rPr>
                        <a:t>5. </a:t>
                      </a:r>
                      <a:r>
                        <a:rPr lang="zh-CN" altLang="en-US" sz="2000" b="1" dirty="0">
                          <a:effectLst/>
                        </a:rPr>
                        <a:t>项目管理审查</a:t>
                      </a:r>
                    </a:p>
                    <a:p>
                      <a:r>
                        <a:rPr lang="en-US" altLang="zh-CN" sz="2000" b="1" dirty="0">
                          <a:effectLst/>
                        </a:rPr>
                        <a:t>5.1 </a:t>
                      </a:r>
                      <a:r>
                        <a:rPr lang="zh-CN" altLang="en-US" sz="2000" b="1" dirty="0">
                          <a:effectLst/>
                        </a:rPr>
                        <a:t>责任人明确性审查结果：不通过</a:t>
                      </a:r>
                      <a:endParaRPr lang="zh-CN" altLang="en-US" sz="2000" dirty="0">
                        <a:effectLst/>
                      </a:endParaRPr>
                    </a:p>
                    <a:p>
                      <a:r>
                        <a:rPr lang="zh-CN" altLang="en-US" sz="2000" b="1" dirty="0">
                          <a:effectLst/>
                        </a:rPr>
                        <a:t>问题描述：</a:t>
                      </a:r>
                      <a:r>
                        <a:rPr lang="zh-CN" altLang="en-US" sz="2000" dirty="0">
                          <a:effectLst/>
                        </a:rPr>
                        <a:t> 目标状态栏中责任人信息全部为空</a:t>
                      </a:r>
                    </a:p>
                    <a:p>
                      <a:pPr marL="342900" indent="-342900">
                        <a:buFont typeface="Arial" panose="020B0604020202020204" pitchFamily="34" charset="0"/>
                        <a:buChar char="•"/>
                      </a:pPr>
                      <a:r>
                        <a:rPr lang="zh-CN" altLang="en-US" sz="2000" b="1" dirty="0">
                          <a:effectLst/>
                        </a:rPr>
                        <a:t>应对建议：</a:t>
                      </a:r>
                      <a:endParaRPr lang="zh-CN" altLang="en-US" sz="2000" dirty="0">
                        <a:effectLst/>
                      </a:endParaRPr>
                    </a:p>
                    <a:p>
                      <a:pPr marL="342900" indent="-342900">
                        <a:buFont typeface="Arial" panose="020B0604020202020204" pitchFamily="34" charset="0"/>
                        <a:buChar char="•"/>
                      </a:pPr>
                      <a:r>
                        <a:rPr lang="zh-CN" altLang="en-US" sz="2000" dirty="0">
                          <a:effectLst/>
                        </a:rPr>
                        <a:t>明确各项措施的责任人</a:t>
                      </a:r>
                    </a:p>
                    <a:p>
                      <a:pPr marL="342900" indent="-342900">
                        <a:buFont typeface="Arial" panose="020B0604020202020204" pitchFamily="34" charset="0"/>
                        <a:buChar char="•"/>
                      </a:pPr>
                      <a:r>
                        <a:rPr lang="zh-CN" altLang="en-US" sz="2000" dirty="0">
                          <a:effectLst/>
                        </a:rPr>
                        <a:t>建立责任矩阵</a:t>
                      </a:r>
                    </a:p>
                    <a:p>
                      <a:pPr marL="342900" indent="-342900">
                        <a:buFont typeface="Arial" panose="020B0604020202020204" pitchFamily="34" charset="0"/>
                        <a:buChar char="•"/>
                      </a:pPr>
                      <a:r>
                        <a:rPr lang="zh-CN" altLang="en-US" sz="2000" dirty="0">
                          <a:effectLst/>
                        </a:rPr>
                        <a:t>确保跨部门协作机制</a:t>
                      </a:r>
                    </a:p>
                    <a:p>
                      <a:r>
                        <a:rPr lang="en-US" altLang="zh-CN" sz="2000" b="1" dirty="0">
                          <a:effectLst/>
                        </a:rPr>
                        <a:t>5.2 </a:t>
                      </a:r>
                      <a:r>
                        <a:rPr lang="zh-CN" altLang="en-US" sz="2000" b="1" dirty="0">
                          <a:effectLst/>
                        </a:rPr>
                        <a:t>时间节点合理性审查结果：不通过</a:t>
                      </a:r>
                      <a:endParaRPr lang="zh-CN" altLang="en-US" sz="2000" dirty="0">
                        <a:effectLst/>
                      </a:endParaRPr>
                    </a:p>
                    <a:p>
                      <a:r>
                        <a:rPr lang="zh-CN" altLang="en-US" sz="2000" b="1" dirty="0">
                          <a:effectLst/>
                        </a:rPr>
                        <a:t>问题描述：</a:t>
                      </a:r>
                      <a:r>
                        <a:rPr lang="zh-CN" altLang="en-US" sz="2000" dirty="0">
                          <a:effectLst/>
                        </a:rPr>
                        <a:t> 目标日期和完成日期信息缺失</a:t>
                      </a:r>
                    </a:p>
                    <a:p>
                      <a:r>
                        <a:rPr lang="zh-CN" altLang="en-US" sz="2000" b="1" dirty="0">
                          <a:effectLst/>
                        </a:rPr>
                        <a:t>应对建议：</a:t>
                      </a:r>
                      <a:endParaRPr lang="zh-CN" altLang="en-US" sz="2000" dirty="0">
                        <a:effectLst/>
                      </a:endParaRPr>
                    </a:p>
                    <a:p>
                      <a:pPr marL="342900" indent="-342900">
                        <a:buFont typeface="Arial" panose="020B0604020202020204" pitchFamily="34" charset="0"/>
                        <a:buChar char="•"/>
                      </a:pPr>
                      <a:r>
                        <a:rPr lang="zh-CN" altLang="en-US" sz="2000" dirty="0">
                          <a:effectLst/>
                        </a:rPr>
                        <a:t>根据项目里程碑制定详细时间计划</a:t>
                      </a:r>
                    </a:p>
                    <a:p>
                      <a:pPr marL="342900" indent="-342900">
                        <a:buFont typeface="Arial" panose="020B0604020202020204" pitchFamily="34" charset="0"/>
                        <a:buChar char="•"/>
                      </a:pPr>
                      <a:r>
                        <a:rPr lang="zh-CN" altLang="en-US" sz="2000" dirty="0">
                          <a:effectLst/>
                        </a:rPr>
                        <a:t>建立进度跟踪机制</a:t>
                      </a:r>
                    </a:p>
                    <a:p>
                      <a:pPr marL="342900" indent="-342900">
                        <a:buFont typeface="Arial" panose="020B0604020202020204" pitchFamily="34" charset="0"/>
                        <a:buChar char="•"/>
                      </a:pPr>
                      <a:r>
                        <a:rPr lang="zh-CN" altLang="en-US" sz="2000" dirty="0">
                          <a:effectLst/>
                        </a:rPr>
                        <a:t>定期评估措施实施效果</a:t>
                      </a:r>
                    </a:p>
                  </a:txBody>
                  <a:tcPr/>
                </a:tc>
                <a:tc>
                  <a:txBody>
                    <a:bodyPr/>
                    <a:lstStyle/>
                    <a:p>
                      <a:r>
                        <a:rPr lang="zh-CN" altLang="en-US" sz="2000" b="1" dirty="0">
                          <a:effectLst/>
                        </a:rPr>
                        <a:t>审查结论：部分通过，需要整改</a:t>
                      </a:r>
                    </a:p>
                    <a:p>
                      <a:r>
                        <a:rPr lang="zh-CN" altLang="en-US" sz="2000" b="1" dirty="0">
                          <a:effectLst/>
                        </a:rPr>
                        <a:t>主要问题汇总：</a:t>
                      </a:r>
                    </a:p>
                    <a:p>
                      <a:r>
                        <a:rPr lang="zh-CN" altLang="en-US" sz="2000" b="1" dirty="0">
                          <a:effectLst/>
                        </a:rPr>
                        <a:t>文件管理问题</a:t>
                      </a:r>
                      <a:endParaRPr lang="zh-CN" altLang="en-US" sz="2000" dirty="0">
                        <a:effectLst/>
                      </a:endParaRPr>
                    </a:p>
                    <a:p>
                      <a:pPr marL="342900" indent="-342900">
                        <a:buFont typeface="Arial" panose="020B0604020202020204" pitchFamily="34" charset="0"/>
                        <a:buChar char="•"/>
                      </a:pPr>
                      <a:r>
                        <a:rPr lang="zh-CN" altLang="en-US" sz="2000" dirty="0">
                          <a:effectLst/>
                        </a:rPr>
                        <a:t>基本信息不完整</a:t>
                      </a:r>
                    </a:p>
                    <a:p>
                      <a:pPr marL="342900" indent="-342900">
                        <a:buFont typeface="Arial" panose="020B0604020202020204" pitchFamily="34" charset="0"/>
                        <a:buChar char="•"/>
                      </a:pPr>
                      <a:r>
                        <a:rPr lang="zh-CN" altLang="en-US" sz="2000" dirty="0">
                          <a:effectLst/>
                        </a:rPr>
                        <a:t>责任人信息缺失</a:t>
                      </a:r>
                    </a:p>
                    <a:p>
                      <a:pPr marL="342900" indent="-342900">
                        <a:buFont typeface="Arial" panose="020B0604020202020204" pitchFamily="34" charset="0"/>
                        <a:buChar char="•"/>
                      </a:pPr>
                      <a:r>
                        <a:rPr lang="zh-CN" altLang="en-US" sz="2000" dirty="0">
                          <a:effectLst/>
                        </a:rPr>
                        <a:t>时间节点未明确</a:t>
                      </a:r>
                    </a:p>
                    <a:p>
                      <a:r>
                        <a:rPr lang="zh-CN" altLang="en-US" sz="2000" b="1" dirty="0">
                          <a:effectLst/>
                        </a:rPr>
                        <a:t>技术问题</a:t>
                      </a:r>
                      <a:endParaRPr lang="zh-CN" altLang="en-US" sz="2000" dirty="0">
                        <a:effectLst/>
                      </a:endParaRPr>
                    </a:p>
                    <a:p>
                      <a:pPr marL="342900" indent="-342900">
                        <a:buFont typeface="Arial" panose="020B0604020202020204" pitchFamily="34" charset="0"/>
                        <a:buChar char="•"/>
                      </a:pPr>
                      <a:r>
                        <a:rPr lang="zh-CN" altLang="en-US" sz="2000" dirty="0">
                          <a:effectLst/>
                        </a:rPr>
                        <a:t>部分</a:t>
                      </a:r>
                      <a:r>
                        <a:rPr lang="en-US" altLang="zh-CN" sz="2000" dirty="0">
                          <a:effectLst/>
                        </a:rPr>
                        <a:t>RPN</a:t>
                      </a:r>
                      <a:r>
                        <a:rPr lang="zh-CN" altLang="en-US" sz="2000" dirty="0">
                          <a:effectLst/>
                        </a:rPr>
                        <a:t>计算需要复核</a:t>
                      </a:r>
                    </a:p>
                    <a:p>
                      <a:pPr marL="342900" indent="-342900">
                        <a:buFont typeface="Arial" panose="020B0604020202020204" pitchFamily="34" charset="0"/>
                        <a:buChar char="•"/>
                      </a:pPr>
                      <a:r>
                        <a:rPr lang="zh-CN" altLang="en-US" sz="2000" dirty="0">
                          <a:effectLst/>
                        </a:rPr>
                        <a:t>预防措施需要细化</a:t>
                      </a:r>
                    </a:p>
                    <a:p>
                      <a:pPr marL="342900" indent="-342900">
                        <a:buFont typeface="Arial" panose="020B0604020202020204" pitchFamily="34" charset="0"/>
                        <a:buChar char="•"/>
                      </a:pPr>
                      <a:r>
                        <a:rPr lang="zh-CN" altLang="en-US" sz="2000" dirty="0">
                          <a:effectLst/>
                        </a:rPr>
                        <a:t>严重度评估需要统一标准</a:t>
                      </a:r>
                    </a:p>
                    <a:p>
                      <a:r>
                        <a:rPr lang="zh-CN" altLang="en-US" sz="2000" b="1" dirty="0">
                          <a:effectLst/>
                        </a:rPr>
                        <a:t>管理问题</a:t>
                      </a:r>
                      <a:endParaRPr lang="zh-CN" altLang="en-US" sz="2000" dirty="0">
                        <a:effectLst/>
                      </a:endParaRPr>
                    </a:p>
                    <a:p>
                      <a:pPr marL="342900" indent="-342900">
                        <a:buFont typeface="Arial" panose="020B0604020202020204" pitchFamily="34" charset="0"/>
                        <a:buChar char="•"/>
                      </a:pPr>
                      <a:r>
                        <a:rPr lang="zh-CN" altLang="en-US" sz="2000" dirty="0">
                          <a:effectLst/>
                        </a:rPr>
                        <a:t>跨功能小组参与度不明确</a:t>
                      </a:r>
                    </a:p>
                    <a:p>
                      <a:pPr marL="342900" indent="-342900">
                        <a:buFont typeface="Arial" panose="020B0604020202020204" pitchFamily="34" charset="0"/>
                        <a:buChar char="•"/>
                      </a:pPr>
                      <a:r>
                        <a:rPr lang="zh-CN" altLang="en-US" sz="2000" dirty="0">
                          <a:effectLst/>
                        </a:rPr>
                        <a:t>资源分配计划缺失</a:t>
                      </a:r>
                    </a:p>
                    <a:p>
                      <a:pPr marL="342900" indent="-342900">
                        <a:buFont typeface="Arial" panose="020B0604020202020204" pitchFamily="34" charset="0"/>
                        <a:buChar char="•"/>
                      </a:pPr>
                      <a:r>
                        <a:rPr lang="zh-CN" altLang="en-US" sz="2000" dirty="0">
                          <a:effectLst/>
                        </a:rPr>
                        <a:t>验证方法需要完善</a:t>
                      </a:r>
                    </a:p>
                    <a:p>
                      <a:r>
                        <a:rPr lang="zh-CN" altLang="en-US" sz="2000" b="1" dirty="0">
                          <a:effectLst/>
                        </a:rPr>
                        <a:t>优先级建议：</a:t>
                      </a:r>
                    </a:p>
                    <a:p>
                      <a:r>
                        <a:rPr lang="zh-CN" altLang="en-US" sz="2000" b="1" dirty="0">
                          <a:effectLst/>
                        </a:rPr>
                        <a:t>高优先级（立即整改）：</a:t>
                      </a:r>
                      <a:endParaRPr lang="en-GB" altLang="zh-CN" sz="2000" b="1" dirty="0">
                        <a:effectLst/>
                      </a:endParaRPr>
                    </a:p>
                    <a:p>
                      <a:pPr marL="342900" indent="-342900">
                        <a:buFont typeface="Arial" panose="020B0604020202020204" pitchFamily="34" charset="0"/>
                        <a:buChar char="•"/>
                      </a:pPr>
                      <a:r>
                        <a:rPr lang="zh-CN" altLang="en-US" sz="2000" dirty="0">
                          <a:effectLst/>
                        </a:rPr>
                        <a:t>补充文件基本信息</a:t>
                      </a:r>
                    </a:p>
                    <a:p>
                      <a:pPr marL="342900" indent="-342900">
                        <a:buFont typeface="Arial" panose="020B0604020202020204" pitchFamily="34" charset="0"/>
                        <a:buChar char="•"/>
                      </a:pPr>
                      <a:r>
                        <a:rPr lang="zh-CN" altLang="en-US" sz="2000" dirty="0">
                          <a:effectLst/>
                        </a:rPr>
                        <a:t>明确责任人和时间节点</a:t>
                      </a:r>
                    </a:p>
                    <a:p>
                      <a:pPr marL="342900" indent="-342900">
                        <a:buFont typeface="Arial" panose="020B0604020202020204" pitchFamily="34" charset="0"/>
                        <a:buChar char="•"/>
                      </a:pPr>
                      <a:r>
                        <a:rPr lang="zh-CN" altLang="en-US" sz="2000" dirty="0">
                          <a:effectLst/>
                        </a:rPr>
                        <a:t>复核</a:t>
                      </a:r>
                      <a:r>
                        <a:rPr lang="en-US" altLang="zh-CN" sz="2000" dirty="0">
                          <a:effectLst/>
                        </a:rPr>
                        <a:t>RPN</a:t>
                      </a:r>
                      <a:r>
                        <a:rPr lang="zh-CN" altLang="en-US" sz="2000" dirty="0">
                          <a:effectLst/>
                        </a:rPr>
                        <a:t>计算结果</a:t>
                      </a:r>
                    </a:p>
                    <a:p>
                      <a:r>
                        <a:rPr lang="zh-CN" altLang="en-US" sz="2000" b="1" dirty="0">
                          <a:effectLst/>
                        </a:rPr>
                        <a:t>中优先级（</a:t>
                      </a:r>
                      <a:r>
                        <a:rPr lang="en-US" altLang="zh-CN" sz="2000" b="1" dirty="0">
                          <a:effectLst/>
                        </a:rPr>
                        <a:t>1</a:t>
                      </a:r>
                      <a:r>
                        <a:rPr lang="zh-CN" altLang="en-US" sz="2000" b="1" dirty="0">
                          <a:effectLst/>
                        </a:rPr>
                        <a:t>周内完成）：</a:t>
                      </a:r>
                      <a:endParaRPr lang="en-GB" altLang="zh-CN" sz="2000" b="1" dirty="0">
                        <a:effectLst/>
                      </a:endParaRPr>
                    </a:p>
                    <a:p>
                      <a:pPr marL="342900" indent="-342900">
                        <a:buFont typeface="Arial" panose="020B0604020202020204" pitchFamily="34" charset="0"/>
                        <a:buChar char="•"/>
                      </a:pPr>
                      <a:r>
                        <a:rPr lang="zh-CN" altLang="en-US" sz="2000" dirty="0">
                          <a:effectLst/>
                        </a:rPr>
                        <a:t>细化预防措施</a:t>
                      </a:r>
                    </a:p>
                    <a:p>
                      <a:pPr marL="342900" indent="-342900">
                        <a:buFont typeface="Arial" panose="020B0604020202020204" pitchFamily="34" charset="0"/>
                        <a:buChar char="•"/>
                      </a:pPr>
                      <a:r>
                        <a:rPr lang="zh-CN" altLang="en-US" sz="2000" dirty="0">
                          <a:effectLst/>
                        </a:rPr>
                        <a:t>完善验证方法</a:t>
                      </a:r>
                    </a:p>
                    <a:p>
                      <a:pPr marL="342900" indent="-342900">
                        <a:buFont typeface="Arial" panose="020B0604020202020204" pitchFamily="34" charset="0"/>
                        <a:buChar char="•"/>
                      </a:pPr>
                      <a:r>
                        <a:rPr lang="zh-CN" altLang="en-US" sz="2000" dirty="0">
                          <a:effectLst/>
                        </a:rPr>
                        <a:t>建立跨功能小组</a:t>
                      </a:r>
                    </a:p>
                    <a:p>
                      <a:r>
                        <a:rPr lang="zh-CN" altLang="en-US" sz="2000" b="1" dirty="0">
                          <a:effectLst/>
                        </a:rPr>
                        <a:t>低优先级（</a:t>
                      </a:r>
                      <a:r>
                        <a:rPr lang="en-US" altLang="zh-CN" sz="2000" b="1" dirty="0">
                          <a:effectLst/>
                        </a:rPr>
                        <a:t>2</a:t>
                      </a:r>
                      <a:r>
                        <a:rPr lang="zh-CN" altLang="en-US" sz="2000" b="1" dirty="0">
                          <a:effectLst/>
                        </a:rPr>
                        <a:t>周内完成）：</a:t>
                      </a:r>
                      <a:endParaRPr lang="en-GB" altLang="zh-CN" sz="2000" b="1" dirty="0">
                        <a:effectLst/>
                      </a:endParaRPr>
                    </a:p>
                    <a:p>
                      <a:pPr marL="342900" indent="-342900">
                        <a:buFont typeface="Arial" panose="020B0604020202020204" pitchFamily="34" charset="0"/>
                        <a:buChar char="•"/>
                      </a:pPr>
                      <a:r>
                        <a:rPr lang="zh-CN" altLang="en-US" sz="2000" dirty="0">
                          <a:effectLst/>
                        </a:rPr>
                        <a:t>优化严重度评估标准</a:t>
                      </a:r>
                    </a:p>
                    <a:p>
                      <a:pPr marL="342900" indent="-342900">
                        <a:buFont typeface="Arial" panose="020B0604020202020204" pitchFamily="34" charset="0"/>
                        <a:buChar char="•"/>
                      </a:pPr>
                      <a:r>
                        <a:rPr lang="zh-CN" altLang="en-US" sz="2000" dirty="0">
                          <a:effectLst/>
                        </a:rPr>
                        <a:t>完善资源分配计划</a:t>
                      </a:r>
                    </a:p>
                    <a:p>
                      <a:pPr marL="342900" indent="-342900">
                        <a:buFont typeface="Arial" panose="020B0604020202020204" pitchFamily="34" charset="0"/>
                        <a:buChar char="•"/>
                      </a:pPr>
                      <a:r>
                        <a:rPr lang="zh-CN" altLang="en-US" sz="2000" dirty="0">
                          <a:effectLst/>
                        </a:rPr>
                        <a:t>建立持续改进机制</a:t>
                      </a:r>
                      <a:endParaRPr lang="en-GB" altLang="zh-CN" sz="2000" dirty="0">
                        <a:effectLst/>
                      </a:endParaRPr>
                    </a:p>
                    <a:p>
                      <a:r>
                        <a:rPr lang="zh-CN" altLang="en-US" sz="2000" b="1" dirty="0">
                          <a:effectLst/>
                        </a:rPr>
                        <a:t>后续行动建议：</a:t>
                      </a:r>
                    </a:p>
                    <a:p>
                      <a:r>
                        <a:rPr lang="zh-CN" altLang="en-US" sz="2000" b="1" dirty="0">
                          <a:effectLst/>
                        </a:rPr>
                        <a:t>立即行动：</a:t>
                      </a:r>
                      <a:r>
                        <a:rPr lang="zh-CN" altLang="en-US" sz="2000" dirty="0">
                          <a:effectLst/>
                        </a:rPr>
                        <a:t> </a:t>
                      </a:r>
                      <a:endParaRPr lang="en-GB" altLang="zh-CN" sz="2000" dirty="0">
                        <a:effectLst/>
                      </a:endParaRPr>
                    </a:p>
                    <a:p>
                      <a:pPr marL="342900" indent="-342900">
                        <a:buFont typeface="Arial" panose="020B0604020202020204" pitchFamily="34" charset="0"/>
                        <a:buChar char="•"/>
                      </a:pPr>
                      <a:r>
                        <a:rPr lang="zh-CN" altLang="en-US" sz="2000" dirty="0">
                          <a:effectLst/>
                        </a:rPr>
                        <a:t>成立</a:t>
                      </a:r>
                      <a:r>
                        <a:rPr lang="en-US" altLang="zh-CN" sz="2000" dirty="0">
                          <a:effectLst/>
                        </a:rPr>
                        <a:t>DFMEA</a:t>
                      </a:r>
                      <a:r>
                        <a:rPr lang="zh-CN" altLang="en-US" sz="2000" dirty="0">
                          <a:effectLst/>
                        </a:rPr>
                        <a:t>整改小组，制定详细整改计划</a:t>
                      </a:r>
                    </a:p>
                    <a:p>
                      <a:r>
                        <a:rPr lang="zh-CN" altLang="en-US" sz="2000" b="1" dirty="0">
                          <a:effectLst/>
                        </a:rPr>
                        <a:t>短期目标：</a:t>
                      </a:r>
                      <a:r>
                        <a:rPr lang="zh-CN" altLang="en-US" sz="2000" dirty="0">
                          <a:effectLst/>
                        </a:rPr>
                        <a:t> </a:t>
                      </a:r>
                      <a:endParaRPr lang="en-GB" altLang="zh-CN" sz="2000" dirty="0">
                        <a:effectLst/>
                      </a:endParaRPr>
                    </a:p>
                    <a:p>
                      <a:pPr marL="342900" indent="-342900">
                        <a:buFont typeface="Arial" panose="020B0604020202020204" pitchFamily="34" charset="0"/>
                        <a:buChar char="•"/>
                      </a:pPr>
                      <a:r>
                        <a:rPr lang="zh-CN" altLang="en-US" sz="2000" dirty="0">
                          <a:effectLst/>
                        </a:rPr>
                        <a:t>在</a:t>
                      </a:r>
                      <a:r>
                        <a:rPr lang="en-US" altLang="zh-CN" sz="2000" dirty="0">
                          <a:effectLst/>
                        </a:rPr>
                        <a:t>B</a:t>
                      </a:r>
                      <a:r>
                        <a:rPr lang="zh-CN" altLang="en-US" sz="2000" dirty="0">
                          <a:effectLst/>
                        </a:rPr>
                        <a:t>样阶段前完成所有高优先级问题整改</a:t>
                      </a:r>
                    </a:p>
                    <a:p>
                      <a:r>
                        <a:rPr lang="zh-CN" altLang="en-US" sz="2000" b="1" dirty="0">
                          <a:effectLst/>
                        </a:rPr>
                        <a:t>长期目标：</a:t>
                      </a:r>
                      <a:endParaRPr lang="en-GB" altLang="zh-CN" sz="2000" b="1" dirty="0">
                        <a:effectLst/>
                      </a:endParaRPr>
                    </a:p>
                    <a:p>
                      <a:pPr marL="342900" indent="-342900">
                        <a:buFont typeface="Arial" panose="020B0604020202020204" pitchFamily="34" charset="0"/>
                        <a:buChar char="•"/>
                      </a:pPr>
                      <a:r>
                        <a:rPr lang="zh-CN" altLang="en-US" sz="2000" dirty="0">
                          <a:effectLst/>
                        </a:rPr>
                        <a:t> 建立</a:t>
                      </a:r>
                      <a:r>
                        <a:rPr lang="en-US" altLang="zh-CN" sz="2000" dirty="0">
                          <a:effectLst/>
                        </a:rPr>
                        <a:t>DFMEA</a:t>
                      </a:r>
                      <a:r>
                        <a:rPr lang="zh-CN" altLang="en-US" sz="2000" dirty="0">
                          <a:effectLst/>
                        </a:rPr>
                        <a:t>持续改进机制，确保</a:t>
                      </a:r>
                      <a:r>
                        <a:rPr lang="en-US" altLang="zh-CN" sz="2000" dirty="0">
                          <a:effectLst/>
                        </a:rPr>
                        <a:t>C</a:t>
                      </a:r>
                      <a:r>
                        <a:rPr lang="zh-CN" altLang="en-US" sz="2000" dirty="0">
                          <a:effectLst/>
                        </a:rPr>
                        <a:t>样和量产阶段有效应用</a:t>
                      </a:r>
                    </a:p>
                    <a:p>
                      <a:pPr marL="342900" indent="-342900">
                        <a:buFont typeface="Arial" panose="020B0604020202020204" pitchFamily="34" charset="0"/>
                        <a:buChar char="•"/>
                      </a:pPr>
                      <a:r>
                        <a:rPr lang="zh-CN" altLang="en-US" sz="2000" dirty="0"/>
                        <a:t>此评审报告基于</a:t>
                      </a:r>
                      <a:r>
                        <a:rPr lang="en-US" altLang="zh-CN" sz="2000" dirty="0"/>
                        <a:t>APQP</a:t>
                      </a:r>
                      <a:r>
                        <a:rPr lang="zh-CN" altLang="en-US" sz="2000" dirty="0"/>
                        <a:t>标准制定，建议项目团队按照优先级顺序进行整改，确保</a:t>
                      </a:r>
                      <a:r>
                        <a:rPr lang="en-US" altLang="zh-CN" sz="2000" dirty="0"/>
                        <a:t>DFMEA</a:t>
                      </a:r>
                      <a:r>
                        <a:rPr lang="zh-CN" altLang="en-US" sz="2000" dirty="0"/>
                        <a:t>文件质量满足项目要求。</a:t>
                      </a:r>
                      <a:endParaRPr lang="zh-CN" altLang="en-US" sz="2000" dirty="0">
                        <a:effectLst/>
                      </a:endParaRPr>
                    </a:p>
                  </a:txBody>
                  <a:tcPr/>
                </a:tc>
                <a:extLst>
                  <a:ext uri="{0D108BD9-81ED-4DB2-BD59-A6C34878D82A}">
                    <a16:rowId xmlns:a16="http://schemas.microsoft.com/office/drawing/2014/main" val="604853937"/>
                  </a:ext>
                </a:extLst>
              </a:tr>
            </a:tbl>
          </a:graphicData>
        </a:graphic>
      </p:graphicFrame>
    </p:spTree>
    <p:extLst>
      <p:ext uri="{BB962C8B-B14F-4D97-AF65-F5344CB8AC3E}">
        <p14:creationId xmlns:p14="http://schemas.microsoft.com/office/powerpoint/2010/main" val="152244283"/>
      </p:ext>
    </p:extLst>
  </p:cSld>
  <p:clrMapOvr>
    <a:masterClrMapping/>
  </p:clrMapOvr>
  <p:transition spd="med"/>
  <p:extLst>
    <p:ext uri="{6950BFC3-D8DA-4A85-94F7-54DA5524770B}">
      <p188:commentRel xmlns:p188="http://schemas.microsoft.com/office/powerpoint/2018/8/main" r:id="rId2"/>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4DDEA-6CE6-2254-C291-967DB3526EFD}"/>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FA54B354-401A-FC93-A504-D6590CD66037}"/>
              </a:ext>
            </a:extLst>
          </p:cNvPr>
          <p:cNvSpPr txBox="1"/>
          <p:nvPr/>
        </p:nvSpPr>
        <p:spPr>
          <a:xfrm>
            <a:off x="1737559" y="755986"/>
            <a:ext cx="18353483" cy="646331"/>
          </a:xfrm>
          <a:prstGeom prst="rect">
            <a:avLst/>
          </a:prstGeom>
          <a:noFill/>
        </p:spPr>
        <p:txBody>
          <a:bodyPr wrap="square" numCol="1">
            <a:spAutoFit/>
          </a:bodyPr>
          <a:lstStyle/>
          <a:p>
            <a:pPr>
              <a:spcBef>
                <a:spcPts val="1500"/>
              </a:spcBef>
              <a:spcAft>
                <a:spcPts val="750"/>
              </a:spcAft>
              <a:buNone/>
            </a:pPr>
            <a:r>
              <a:rPr lang="en-US" altLang="zh-CN" sz="3600" b="1" dirty="0">
                <a:effectLst/>
              </a:rPr>
              <a:t>A</a:t>
            </a:r>
            <a:r>
              <a:rPr lang="zh-CN" altLang="en-US" sz="3600" b="1" dirty="0">
                <a:effectLst/>
              </a:rPr>
              <a:t>样阶段</a:t>
            </a:r>
            <a:r>
              <a:rPr lang="en-US" altLang="zh-CN" sz="3600" b="1" dirty="0"/>
              <a:t>《</a:t>
            </a:r>
            <a:r>
              <a:rPr lang="zh-CN" altLang="en-US" sz="3600" b="1" dirty="0"/>
              <a:t>零部件级特殊特性清单（库）</a:t>
            </a:r>
            <a:r>
              <a:rPr lang="en-US" altLang="zh-CN" sz="3600" b="1" dirty="0"/>
              <a:t>-</a:t>
            </a:r>
            <a:r>
              <a:rPr lang="zh-CN" altLang="en-US" sz="3600" b="1" dirty="0"/>
              <a:t>高压电池</a:t>
            </a:r>
            <a:r>
              <a:rPr lang="en-US" altLang="zh-CN" sz="3600" b="1" dirty="0"/>
              <a:t>-V1.0 - 20230802.xlsx》</a:t>
            </a:r>
            <a:r>
              <a:rPr lang="zh-CN" altLang="en-US" sz="3600" b="1" dirty="0">
                <a:effectLst/>
              </a:rPr>
              <a:t>审核报告</a:t>
            </a:r>
          </a:p>
        </p:txBody>
      </p:sp>
      <p:graphicFrame>
        <p:nvGraphicFramePr>
          <p:cNvPr id="2" name="表格 1">
            <a:extLst>
              <a:ext uri="{FF2B5EF4-FFF2-40B4-BE49-F238E27FC236}">
                <a16:creationId xmlns:a16="http://schemas.microsoft.com/office/drawing/2014/main" id="{84C90329-0043-2D2B-98FB-C0DDCC8B033C}"/>
              </a:ext>
            </a:extLst>
          </p:cNvPr>
          <p:cNvGraphicFramePr>
            <a:graphicFrameLocks noGrp="1"/>
          </p:cNvGraphicFramePr>
          <p:nvPr>
            <p:extLst>
              <p:ext uri="{D42A27DB-BD31-4B8C-83A1-F6EECF244321}">
                <p14:modId xmlns:p14="http://schemas.microsoft.com/office/powerpoint/2010/main" val="3971363383"/>
              </p:ext>
            </p:extLst>
          </p:nvPr>
        </p:nvGraphicFramePr>
        <p:xfrm>
          <a:off x="679937" y="1957753"/>
          <a:ext cx="23059292" cy="10911841"/>
        </p:xfrm>
        <a:graphic>
          <a:graphicData uri="http://schemas.openxmlformats.org/drawingml/2006/table">
            <a:tbl>
              <a:tblPr firstRow="1" bandRow="1"/>
              <a:tblGrid>
                <a:gridCol w="4607171">
                  <a:extLst>
                    <a:ext uri="{9D8B030D-6E8A-4147-A177-3AD203B41FA5}">
                      <a16:colId xmlns:a16="http://schemas.microsoft.com/office/drawing/2014/main" val="520135011"/>
                    </a:ext>
                  </a:extLst>
                </a:gridCol>
                <a:gridCol w="5908430">
                  <a:extLst>
                    <a:ext uri="{9D8B030D-6E8A-4147-A177-3AD203B41FA5}">
                      <a16:colId xmlns:a16="http://schemas.microsoft.com/office/drawing/2014/main" val="585926975"/>
                    </a:ext>
                  </a:extLst>
                </a:gridCol>
                <a:gridCol w="6260124">
                  <a:extLst>
                    <a:ext uri="{9D8B030D-6E8A-4147-A177-3AD203B41FA5}">
                      <a16:colId xmlns:a16="http://schemas.microsoft.com/office/drawing/2014/main" val="3081416713"/>
                    </a:ext>
                  </a:extLst>
                </a:gridCol>
                <a:gridCol w="6283567">
                  <a:extLst>
                    <a:ext uri="{9D8B030D-6E8A-4147-A177-3AD203B41FA5}">
                      <a16:colId xmlns:a16="http://schemas.microsoft.com/office/drawing/2014/main" val="572010187"/>
                    </a:ext>
                  </a:extLst>
                </a:gridCol>
              </a:tblGrid>
              <a:tr h="762001">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审查清单制定</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2">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逐项审核结果</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GB" sz="2000" dirty="0"/>
                    </a:p>
                  </a:txBody>
                  <a:tcPr/>
                </a:tc>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总体评估</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62292327"/>
                  </a:ext>
                </a:extLst>
              </a:tr>
              <a:tr h="8527471">
                <a:tc>
                  <a:txBody>
                    <a:bodyPr/>
                    <a:lstStyle/>
                    <a:p>
                      <a:r>
                        <a:rPr lang="en-US" altLang="zh-CN" sz="2000" b="1" dirty="0">
                          <a:effectLst/>
                        </a:rPr>
                        <a:t>1. </a:t>
                      </a:r>
                      <a:r>
                        <a:rPr lang="zh-CN" altLang="en-US" sz="2000" b="1" dirty="0">
                          <a:effectLst/>
                        </a:rPr>
                        <a:t>文件基本信息审查</a:t>
                      </a:r>
                    </a:p>
                    <a:p>
                      <a:pPr marL="342900" indent="-342900">
                        <a:buFont typeface="Arial" panose="020B0604020202020204" pitchFamily="34" charset="0"/>
                        <a:buChar char="•"/>
                      </a:pPr>
                      <a:r>
                        <a:rPr lang="zh-CN" altLang="en-US" sz="2000" dirty="0">
                          <a:effectLst/>
                        </a:rPr>
                        <a:t>文件版本控制</a:t>
                      </a:r>
                    </a:p>
                    <a:p>
                      <a:pPr marL="342900" indent="-342900">
                        <a:buFont typeface="Arial" panose="020B0604020202020204" pitchFamily="34" charset="0"/>
                        <a:buChar char="•"/>
                      </a:pPr>
                      <a:r>
                        <a:rPr lang="zh-CN" altLang="en-US" sz="2000" dirty="0">
                          <a:effectLst/>
                        </a:rPr>
                        <a:t>文件命名规范</a:t>
                      </a:r>
                    </a:p>
                    <a:p>
                      <a:pPr marL="342900" indent="-342900">
                        <a:buFont typeface="Arial" panose="020B0604020202020204" pitchFamily="34" charset="0"/>
                        <a:buChar char="•"/>
                      </a:pPr>
                      <a:r>
                        <a:rPr lang="zh-CN" altLang="en-US" sz="2000" dirty="0">
                          <a:effectLst/>
                        </a:rPr>
                        <a:t>编制日期和版本信息</a:t>
                      </a:r>
                    </a:p>
                    <a:p>
                      <a:pPr marL="342900" indent="-342900">
                        <a:buFont typeface="Arial" panose="020B0604020202020204" pitchFamily="34" charset="0"/>
                        <a:buChar char="•"/>
                      </a:pPr>
                      <a:r>
                        <a:rPr lang="zh-CN" altLang="en-US" sz="2000" dirty="0">
                          <a:effectLst/>
                        </a:rPr>
                        <a:t>编制人员信息</a:t>
                      </a:r>
                    </a:p>
                    <a:p>
                      <a:r>
                        <a:rPr lang="en-US" altLang="zh-CN" sz="2000" b="1" dirty="0">
                          <a:effectLst/>
                        </a:rPr>
                        <a:t>2. </a:t>
                      </a:r>
                      <a:r>
                        <a:rPr lang="zh-CN" altLang="en-US" sz="2000" b="1" dirty="0">
                          <a:effectLst/>
                        </a:rPr>
                        <a:t>特殊特性识别审查</a:t>
                      </a:r>
                    </a:p>
                    <a:p>
                      <a:pPr marL="342900" indent="-342900">
                        <a:buFont typeface="Arial" panose="020B0604020202020204" pitchFamily="34" charset="0"/>
                        <a:buChar char="•"/>
                      </a:pPr>
                      <a:r>
                        <a:rPr lang="zh-CN" altLang="en-US" sz="2000" dirty="0">
                          <a:effectLst/>
                        </a:rPr>
                        <a:t>特殊特性分类（关键特性、重要特性）</a:t>
                      </a:r>
                    </a:p>
                    <a:p>
                      <a:pPr marL="342900" indent="-342900">
                        <a:buFont typeface="Arial" panose="020B0604020202020204" pitchFamily="34" charset="0"/>
                        <a:buChar char="•"/>
                      </a:pPr>
                      <a:r>
                        <a:rPr lang="zh-CN" altLang="en-US" sz="2000" dirty="0">
                          <a:effectLst/>
                        </a:rPr>
                        <a:t>特殊特性标识符</a:t>
                      </a:r>
                    </a:p>
                    <a:p>
                      <a:pPr marL="342900" indent="-342900">
                        <a:buFont typeface="Arial" panose="020B0604020202020204" pitchFamily="34" charset="0"/>
                        <a:buChar char="•"/>
                      </a:pPr>
                      <a:r>
                        <a:rPr lang="zh-CN" altLang="en-US" sz="2000" dirty="0">
                          <a:effectLst/>
                        </a:rPr>
                        <a:t>特性描述完整性</a:t>
                      </a:r>
                    </a:p>
                    <a:p>
                      <a:pPr marL="342900" indent="-342900">
                        <a:buFont typeface="Arial" panose="020B0604020202020204" pitchFamily="34" charset="0"/>
                        <a:buChar char="•"/>
                      </a:pPr>
                      <a:r>
                        <a:rPr lang="zh-CN" altLang="en-US" sz="2000" dirty="0">
                          <a:effectLst/>
                        </a:rPr>
                        <a:t>特性编号系统</a:t>
                      </a:r>
                    </a:p>
                    <a:p>
                      <a:r>
                        <a:rPr lang="en-US" altLang="zh-CN" sz="2000" b="1" dirty="0">
                          <a:effectLst/>
                        </a:rPr>
                        <a:t>3. </a:t>
                      </a:r>
                      <a:r>
                        <a:rPr lang="zh-CN" altLang="en-US" sz="2000" b="1" dirty="0">
                          <a:effectLst/>
                        </a:rPr>
                        <a:t>技术要求审查</a:t>
                      </a:r>
                    </a:p>
                    <a:p>
                      <a:pPr marL="342900" indent="-342900">
                        <a:buFont typeface="Arial" panose="020B0604020202020204" pitchFamily="34" charset="0"/>
                        <a:buChar char="•"/>
                      </a:pPr>
                      <a:r>
                        <a:rPr lang="zh-CN" altLang="en-US" sz="2000" dirty="0">
                          <a:effectLst/>
                        </a:rPr>
                        <a:t>技术规格要求</a:t>
                      </a:r>
                    </a:p>
                    <a:p>
                      <a:pPr marL="342900" indent="-342900">
                        <a:buFont typeface="Arial" panose="020B0604020202020204" pitchFamily="34" charset="0"/>
                        <a:buChar char="•"/>
                      </a:pPr>
                      <a:r>
                        <a:rPr lang="zh-CN" altLang="en-US" sz="2000" dirty="0">
                          <a:effectLst/>
                        </a:rPr>
                        <a:t>公差范围</a:t>
                      </a:r>
                    </a:p>
                    <a:p>
                      <a:pPr marL="342900" indent="-342900">
                        <a:buFont typeface="Arial" panose="020B0604020202020204" pitchFamily="34" charset="0"/>
                        <a:buChar char="•"/>
                      </a:pPr>
                      <a:r>
                        <a:rPr lang="zh-CN" altLang="en-US" sz="2000" dirty="0">
                          <a:effectLst/>
                        </a:rPr>
                        <a:t>测量方法</a:t>
                      </a:r>
                    </a:p>
                    <a:p>
                      <a:pPr marL="342900" indent="-342900">
                        <a:buFont typeface="Arial" panose="020B0604020202020204" pitchFamily="34" charset="0"/>
                        <a:buChar char="•"/>
                      </a:pPr>
                      <a:r>
                        <a:rPr lang="zh-CN" altLang="en-US" sz="2000" dirty="0">
                          <a:effectLst/>
                        </a:rPr>
                        <a:t>验收标准</a:t>
                      </a:r>
                    </a:p>
                    <a:p>
                      <a:r>
                        <a:rPr lang="en-US" altLang="zh-CN" sz="2000" b="1" dirty="0">
                          <a:effectLst/>
                        </a:rPr>
                        <a:t>4. </a:t>
                      </a:r>
                      <a:r>
                        <a:rPr lang="zh-CN" altLang="en-US" sz="2000" b="1" dirty="0">
                          <a:effectLst/>
                        </a:rPr>
                        <a:t>控制计划审查</a:t>
                      </a:r>
                    </a:p>
                    <a:p>
                      <a:pPr marL="342900" indent="-342900">
                        <a:buFont typeface="Arial" panose="020B0604020202020204" pitchFamily="34" charset="0"/>
                        <a:buChar char="•"/>
                      </a:pPr>
                      <a:r>
                        <a:rPr lang="zh-CN" altLang="en-US" sz="2000" dirty="0">
                          <a:effectLst/>
                        </a:rPr>
                        <a:t>控制方法</a:t>
                      </a:r>
                    </a:p>
                    <a:p>
                      <a:pPr marL="342900" indent="-342900">
                        <a:buFont typeface="Arial" panose="020B0604020202020204" pitchFamily="34" charset="0"/>
                        <a:buChar char="•"/>
                      </a:pPr>
                      <a:r>
                        <a:rPr lang="zh-CN" altLang="en-US" sz="2000" dirty="0">
                          <a:effectLst/>
                        </a:rPr>
                        <a:t>检测频率</a:t>
                      </a:r>
                    </a:p>
                    <a:p>
                      <a:pPr marL="342900" indent="-342900">
                        <a:buFont typeface="Arial" panose="020B0604020202020204" pitchFamily="34" charset="0"/>
                        <a:buChar char="•"/>
                      </a:pPr>
                      <a:r>
                        <a:rPr lang="zh-CN" altLang="en-US" sz="2000" dirty="0">
                          <a:effectLst/>
                        </a:rPr>
                        <a:t>样本大小</a:t>
                      </a:r>
                    </a:p>
                    <a:p>
                      <a:pPr marL="342900" indent="-342900">
                        <a:buFont typeface="Arial" panose="020B0604020202020204" pitchFamily="34" charset="0"/>
                        <a:buChar char="•"/>
                      </a:pPr>
                      <a:r>
                        <a:rPr lang="zh-CN" altLang="en-US" sz="2000" dirty="0">
                          <a:effectLst/>
                        </a:rPr>
                        <a:t>控制责任</a:t>
                      </a:r>
                    </a:p>
                    <a:p>
                      <a:r>
                        <a:rPr lang="en-US" altLang="zh-CN" sz="2000" b="1" dirty="0">
                          <a:effectLst/>
                        </a:rPr>
                        <a:t>5. </a:t>
                      </a:r>
                      <a:r>
                        <a:rPr lang="zh-CN" altLang="en-US" sz="2000" b="1" dirty="0">
                          <a:effectLst/>
                        </a:rPr>
                        <a:t>风险管理审查</a:t>
                      </a:r>
                    </a:p>
                    <a:p>
                      <a:pPr marL="342900" indent="-342900">
                        <a:buFont typeface="Arial" panose="020B0604020202020204" pitchFamily="34" charset="0"/>
                        <a:buChar char="•"/>
                      </a:pPr>
                      <a:r>
                        <a:rPr lang="zh-CN" altLang="en-US" sz="2000" dirty="0">
                          <a:effectLst/>
                        </a:rPr>
                        <a:t>风险评估</a:t>
                      </a:r>
                    </a:p>
                    <a:p>
                      <a:pPr marL="342900" indent="-342900">
                        <a:buFont typeface="Arial" panose="020B0604020202020204" pitchFamily="34" charset="0"/>
                        <a:buChar char="•"/>
                      </a:pPr>
                      <a:r>
                        <a:rPr lang="zh-CN" altLang="en-US" sz="2000" dirty="0">
                          <a:effectLst/>
                        </a:rPr>
                        <a:t>失效模式分析</a:t>
                      </a:r>
                    </a:p>
                    <a:p>
                      <a:pPr marL="342900" indent="-342900">
                        <a:buFont typeface="Arial" panose="020B0604020202020204" pitchFamily="34" charset="0"/>
                        <a:buChar char="•"/>
                      </a:pPr>
                      <a:r>
                        <a:rPr lang="zh-CN" altLang="en-US" sz="2000" dirty="0">
                          <a:effectLst/>
                        </a:rPr>
                        <a:t>预防措施</a:t>
                      </a:r>
                    </a:p>
                    <a:p>
                      <a:pPr marL="342900" indent="-342900">
                        <a:buFont typeface="Arial" panose="020B0604020202020204" pitchFamily="34" charset="0"/>
                        <a:buChar char="•"/>
                      </a:pPr>
                      <a:r>
                        <a:rPr lang="zh-CN" altLang="en-US" sz="2000" dirty="0">
                          <a:effectLst/>
                        </a:rPr>
                        <a:t>应急计划</a:t>
                      </a:r>
                    </a:p>
                    <a:p>
                      <a:r>
                        <a:rPr lang="en-US" altLang="zh-CN" sz="2000" b="1" dirty="0">
                          <a:effectLst/>
                        </a:rPr>
                        <a:t>6. </a:t>
                      </a:r>
                      <a:r>
                        <a:rPr lang="zh-CN" altLang="en-US" sz="2000" b="1" dirty="0">
                          <a:effectLst/>
                        </a:rPr>
                        <a:t>合规性审查</a:t>
                      </a:r>
                    </a:p>
                    <a:p>
                      <a:pPr marL="342900" indent="-342900">
                        <a:buFont typeface="Arial" panose="020B0604020202020204" pitchFamily="34" charset="0"/>
                        <a:buChar char="•"/>
                      </a:pPr>
                      <a:r>
                        <a:rPr lang="zh-CN" altLang="en-US" sz="2000" dirty="0">
                          <a:effectLst/>
                        </a:rPr>
                        <a:t>法规要求</a:t>
                      </a:r>
                    </a:p>
                    <a:p>
                      <a:pPr marL="342900" indent="-342900">
                        <a:buFont typeface="Arial" panose="020B0604020202020204" pitchFamily="34" charset="0"/>
                        <a:buChar char="•"/>
                      </a:pPr>
                      <a:r>
                        <a:rPr lang="zh-CN" altLang="en-US" sz="2000" dirty="0">
                          <a:effectLst/>
                        </a:rPr>
                        <a:t>标准符合性</a:t>
                      </a:r>
                    </a:p>
                    <a:p>
                      <a:pPr marL="342900" indent="-342900">
                        <a:buFont typeface="Arial" panose="020B0604020202020204" pitchFamily="34" charset="0"/>
                        <a:buChar char="•"/>
                      </a:pPr>
                      <a:r>
                        <a:rPr lang="zh-CN" altLang="en-US" sz="2000" dirty="0">
                          <a:effectLst/>
                        </a:rPr>
                        <a:t>客户要求</a:t>
                      </a:r>
                    </a:p>
                    <a:p>
                      <a:pPr marL="342900" indent="-342900">
                        <a:buFont typeface="Arial" panose="020B0604020202020204" pitchFamily="34" charset="0"/>
                        <a:buChar char="•"/>
                      </a:pPr>
                      <a:r>
                        <a:rPr lang="zh-CN" altLang="en-US" sz="2000" dirty="0">
                          <a:effectLst/>
                        </a:rPr>
                        <a:t>行业标准</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zh-CN" sz="2000" b="1" dirty="0">
                          <a:effectLst/>
                        </a:rPr>
                        <a:t>1. </a:t>
                      </a:r>
                      <a:r>
                        <a:rPr lang="zh-CN" altLang="en-US" sz="2000" b="1" dirty="0">
                          <a:effectLst/>
                        </a:rPr>
                        <a:t>文件基本信息审查 ✅</a:t>
                      </a:r>
                    </a:p>
                    <a:p>
                      <a:r>
                        <a:rPr lang="zh-CN" altLang="en-US" sz="2000" b="1" dirty="0">
                          <a:effectLst/>
                        </a:rPr>
                        <a:t>审查要点：</a:t>
                      </a:r>
                      <a:endParaRPr lang="en-GB" altLang="zh-CN" sz="2000" b="1" dirty="0">
                        <a:effectLst/>
                      </a:endParaRPr>
                    </a:p>
                    <a:p>
                      <a:pPr marL="342900" indent="-342900">
                        <a:buFont typeface="Arial" panose="020B0604020202020204" pitchFamily="34" charset="0"/>
                        <a:buChar char="•"/>
                      </a:pPr>
                      <a:r>
                        <a:rPr lang="zh-CN" altLang="en-US" sz="2000" dirty="0">
                          <a:effectLst/>
                        </a:rPr>
                        <a:t>文件版本标识是否清晰</a:t>
                      </a:r>
                    </a:p>
                    <a:p>
                      <a:pPr marL="342900" indent="-342900">
                        <a:buFont typeface="Arial" panose="020B0604020202020204" pitchFamily="34" charset="0"/>
                        <a:buChar char="•"/>
                      </a:pPr>
                      <a:r>
                        <a:rPr lang="zh-CN" altLang="en-US" sz="2000" dirty="0">
                          <a:effectLst/>
                        </a:rPr>
                        <a:t>编制日期和修订历史是否完整</a:t>
                      </a:r>
                    </a:p>
                    <a:p>
                      <a:pPr marL="342900" indent="-342900">
                        <a:buFont typeface="Arial" panose="020B0604020202020204" pitchFamily="34" charset="0"/>
                        <a:buChar char="•"/>
                      </a:pPr>
                      <a:r>
                        <a:rPr lang="zh-CN" altLang="en-US" sz="2000" dirty="0">
                          <a:effectLst/>
                        </a:rPr>
                        <a:t>编制人员、审核人员、批准人员信息是否齐全</a:t>
                      </a:r>
                    </a:p>
                    <a:p>
                      <a:pPr marL="342900" indent="-342900">
                        <a:buFont typeface="Arial" panose="020B0604020202020204" pitchFamily="34" charset="0"/>
                        <a:buChar char="•"/>
                      </a:pPr>
                      <a:r>
                        <a:rPr lang="zh-CN" altLang="en-US" sz="2000" dirty="0">
                          <a:effectLst/>
                        </a:rPr>
                        <a:t>文件命名是否符合企业标准</a:t>
                      </a:r>
                    </a:p>
                    <a:p>
                      <a:r>
                        <a:rPr lang="zh-CN" altLang="en-US" sz="2000" b="1" dirty="0">
                          <a:effectLst/>
                        </a:rPr>
                        <a:t>建议：</a:t>
                      </a:r>
                      <a:r>
                        <a:rPr lang="zh-CN" altLang="en-US" sz="2000" dirty="0"/>
                        <a:t> </a:t>
                      </a:r>
                      <a:endParaRPr lang="en-GB" altLang="zh-CN" sz="2000" dirty="0"/>
                    </a:p>
                    <a:p>
                      <a:pPr marL="342900" indent="-342900">
                        <a:buFont typeface="Arial" panose="020B0604020202020204" pitchFamily="34" charset="0"/>
                        <a:buChar char="•"/>
                      </a:pPr>
                      <a:r>
                        <a:rPr lang="zh-CN" altLang="en-US" sz="2000" dirty="0"/>
                        <a:t>确保文件包含完整的版本控制信息，包括修订日期、修订原因和修订人员。</a:t>
                      </a:r>
                      <a:endParaRPr lang="en-GB" altLang="zh-CN" sz="2000" dirty="0"/>
                    </a:p>
                    <a:p>
                      <a:r>
                        <a:rPr lang="en-US" altLang="zh-CN" sz="2000" b="1" dirty="0">
                          <a:effectLst/>
                        </a:rPr>
                        <a:t>2. </a:t>
                      </a:r>
                      <a:r>
                        <a:rPr lang="zh-CN" altLang="en-US" sz="2000" b="1" dirty="0">
                          <a:effectLst/>
                        </a:rPr>
                        <a:t>特殊特性识别审查 ⚠️</a:t>
                      </a:r>
                    </a:p>
                    <a:p>
                      <a:r>
                        <a:rPr lang="zh-CN" altLang="en-US" sz="2000" b="1" dirty="0">
                          <a:effectLst/>
                        </a:rPr>
                        <a:t>审查要点：</a:t>
                      </a:r>
                      <a:endParaRPr lang="en-GB" altLang="zh-CN" sz="2000" b="1" dirty="0">
                        <a:effectLst/>
                      </a:endParaRPr>
                    </a:p>
                    <a:p>
                      <a:pPr marL="342900" indent="-342900">
                        <a:buFont typeface="Arial" panose="020B0604020202020204" pitchFamily="34" charset="0"/>
                        <a:buChar char="•"/>
                      </a:pPr>
                      <a:r>
                        <a:rPr lang="zh-CN" altLang="en-US" sz="2000" dirty="0">
                          <a:effectLst/>
                        </a:rPr>
                        <a:t>是否明确区分关键特性</a:t>
                      </a:r>
                      <a:r>
                        <a:rPr lang="en-US" altLang="zh-CN" sz="2000" dirty="0">
                          <a:effectLst/>
                        </a:rPr>
                        <a:t>(CC)</a:t>
                      </a:r>
                      <a:r>
                        <a:rPr lang="zh-CN" altLang="en-US" sz="2000" dirty="0">
                          <a:effectLst/>
                        </a:rPr>
                        <a:t>和重要特性</a:t>
                      </a:r>
                      <a:r>
                        <a:rPr lang="en-US" altLang="zh-CN" sz="2000" dirty="0">
                          <a:effectLst/>
                        </a:rPr>
                        <a:t>(SC)</a:t>
                      </a:r>
                    </a:p>
                    <a:p>
                      <a:pPr marL="342900" indent="-342900">
                        <a:buFont typeface="Arial" panose="020B0604020202020204" pitchFamily="34" charset="0"/>
                        <a:buChar char="•"/>
                      </a:pPr>
                      <a:r>
                        <a:rPr lang="zh-CN" altLang="en-US" sz="2000" dirty="0">
                          <a:effectLst/>
                        </a:rPr>
                        <a:t>特殊特性标识符是否规范（如：⚫ 关键特性，◉ 重要特性）</a:t>
                      </a:r>
                    </a:p>
                    <a:p>
                      <a:pPr marL="342900" indent="-342900">
                        <a:buFont typeface="Arial" panose="020B0604020202020204" pitchFamily="34" charset="0"/>
                        <a:buChar char="•"/>
                      </a:pPr>
                      <a:r>
                        <a:rPr lang="zh-CN" altLang="en-US" sz="2000" dirty="0">
                          <a:effectLst/>
                        </a:rPr>
                        <a:t>特性描述是否准确、完整</a:t>
                      </a:r>
                    </a:p>
                    <a:p>
                      <a:pPr marL="342900" indent="-342900">
                        <a:buFont typeface="Arial" panose="020B0604020202020204" pitchFamily="34" charset="0"/>
                        <a:buChar char="•"/>
                      </a:pPr>
                      <a:r>
                        <a:rPr lang="zh-CN" altLang="en-US" sz="2000" dirty="0">
                          <a:effectLst/>
                        </a:rPr>
                        <a:t>特性编号系统是否唯一且可追溯</a:t>
                      </a:r>
                    </a:p>
                    <a:p>
                      <a:r>
                        <a:rPr lang="zh-CN" altLang="en-US" sz="2000" b="1" dirty="0">
                          <a:effectLst/>
                        </a:rPr>
                        <a:t>关键要求：</a:t>
                      </a:r>
                      <a:endParaRPr lang="en-GB" altLang="zh-CN" sz="2000" b="1" dirty="0">
                        <a:effectLst/>
                      </a:endParaRPr>
                    </a:p>
                    <a:p>
                      <a:pPr marL="342900" indent="-342900">
                        <a:buFont typeface="Arial" panose="020B0604020202020204" pitchFamily="34" charset="0"/>
                        <a:buChar char="•"/>
                      </a:pPr>
                      <a:r>
                        <a:rPr lang="zh-CN" altLang="en-US" sz="2000" dirty="0">
                          <a:effectLst/>
                        </a:rPr>
                        <a:t>高压电池的电压、电流、温度等安全相关特性必须标记为关键特性</a:t>
                      </a:r>
                    </a:p>
                    <a:p>
                      <a:pPr marL="342900" indent="-342900">
                        <a:buFont typeface="Arial" panose="020B0604020202020204" pitchFamily="34" charset="0"/>
                        <a:buChar char="•"/>
                      </a:pPr>
                      <a:r>
                        <a:rPr lang="zh-CN" altLang="en-US" sz="2000" dirty="0">
                          <a:effectLst/>
                        </a:rPr>
                        <a:t>电池容量、内阻等性能特性应标记为重要特性</a:t>
                      </a:r>
                    </a:p>
                    <a:p>
                      <a:pPr marL="342900" indent="-342900">
                        <a:buFont typeface="Arial" panose="020B0604020202020204" pitchFamily="34" charset="0"/>
                        <a:buChar char="•"/>
                      </a:pPr>
                      <a:r>
                        <a:rPr lang="zh-CN" altLang="en-US" sz="2000" dirty="0">
                          <a:effectLst/>
                        </a:rPr>
                        <a:t>每个特性应有唯一的编号便于追溯</a:t>
                      </a:r>
                    </a:p>
                    <a:p>
                      <a:r>
                        <a:rPr lang="en-US" altLang="zh-CN" sz="2000" b="1" dirty="0">
                          <a:effectLst/>
                        </a:rPr>
                        <a:t>3. </a:t>
                      </a:r>
                      <a:r>
                        <a:rPr lang="zh-CN" altLang="en-US" sz="2000" b="1" dirty="0">
                          <a:effectLst/>
                        </a:rPr>
                        <a:t>技术要求审查 ⚠️</a:t>
                      </a:r>
                    </a:p>
                    <a:p>
                      <a:r>
                        <a:rPr lang="zh-CN" altLang="en-US" sz="2000" b="1" dirty="0">
                          <a:effectLst/>
                        </a:rPr>
                        <a:t>审查要点：</a:t>
                      </a:r>
                      <a:endParaRPr lang="en-GB" altLang="zh-CN" sz="2000" b="1" dirty="0">
                        <a:effectLst/>
                      </a:endParaRPr>
                    </a:p>
                    <a:p>
                      <a:pPr marL="342900" indent="-342900">
                        <a:buFont typeface="Arial" panose="020B0604020202020204" pitchFamily="34" charset="0"/>
                        <a:buChar char="•"/>
                      </a:pPr>
                      <a:r>
                        <a:rPr lang="zh-CN" altLang="en-US" sz="2000" dirty="0">
                          <a:effectLst/>
                        </a:rPr>
                        <a:t>技术规格要求是否明确</a:t>
                      </a:r>
                    </a:p>
                    <a:p>
                      <a:pPr marL="342900" indent="-342900">
                        <a:buFont typeface="Arial" panose="020B0604020202020204" pitchFamily="34" charset="0"/>
                        <a:buChar char="•"/>
                      </a:pPr>
                      <a:r>
                        <a:rPr lang="zh-CN" altLang="en-US" sz="2000" dirty="0">
                          <a:effectLst/>
                        </a:rPr>
                        <a:t>公差范围是否合理且可测量</a:t>
                      </a:r>
                    </a:p>
                    <a:p>
                      <a:pPr marL="342900" indent="-342900">
                        <a:buFont typeface="Arial" panose="020B0604020202020204" pitchFamily="34" charset="0"/>
                        <a:buChar char="•"/>
                      </a:pPr>
                      <a:r>
                        <a:rPr lang="zh-CN" altLang="en-US" sz="2000" dirty="0">
                          <a:effectLst/>
                        </a:rPr>
                        <a:t>测量方法和设备是否明确</a:t>
                      </a:r>
                    </a:p>
                    <a:p>
                      <a:pPr marL="342900" indent="-342900">
                        <a:buFont typeface="Arial" panose="020B0604020202020204" pitchFamily="34" charset="0"/>
                        <a:buChar char="•"/>
                      </a:pPr>
                      <a:r>
                        <a:rPr lang="zh-CN" altLang="en-US" sz="2000" dirty="0">
                          <a:effectLst/>
                        </a:rPr>
                        <a:t>验收标准是否量化</a:t>
                      </a:r>
                    </a:p>
                    <a:p>
                      <a:r>
                        <a:rPr lang="zh-CN" altLang="en-US" sz="2000" b="1" dirty="0">
                          <a:effectLst/>
                        </a:rPr>
                        <a:t>高压电池特殊要求：</a:t>
                      </a:r>
                      <a:endParaRPr lang="en-GB" altLang="zh-CN" sz="2000" b="1" dirty="0">
                        <a:effectLst/>
                      </a:endParaRPr>
                    </a:p>
                    <a:p>
                      <a:pPr marL="342900" indent="-342900">
                        <a:buFont typeface="Arial" panose="020B0604020202020204" pitchFamily="34" charset="0"/>
                        <a:buChar char="•"/>
                      </a:pPr>
                      <a:r>
                        <a:rPr lang="zh-CN" altLang="en-US" sz="2000" dirty="0">
                          <a:effectLst/>
                        </a:rPr>
                        <a:t>电压公差：</a:t>
                      </a:r>
                      <a:r>
                        <a:rPr lang="en-US" altLang="zh-CN" sz="2000" dirty="0">
                          <a:effectLst/>
                        </a:rPr>
                        <a:t>±X% (</a:t>
                      </a:r>
                      <a:r>
                        <a:rPr lang="zh-CN" altLang="en-US" sz="2000" dirty="0">
                          <a:effectLst/>
                        </a:rPr>
                        <a:t>通常</a:t>
                      </a:r>
                      <a:r>
                        <a:rPr lang="en-US" altLang="zh-CN" sz="2000" dirty="0">
                          <a:effectLst/>
                        </a:rPr>
                        <a:t>±1-2%)</a:t>
                      </a:r>
                    </a:p>
                    <a:p>
                      <a:pPr marL="342900" indent="-342900">
                        <a:buFont typeface="Arial" panose="020B0604020202020204" pitchFamily="34" charset="0"/>
                        <a:buChar char="•"/>
                      </a:pPr>
                      <a:r>
                        <a:rPr lang="zh-CN" altLang="en-US" sz="2000" dirty="0">
                          <a:effectLst/>
                        </a:rPr>
                        <a:t>温度监控：工作温度范围明确</a:t>
                      </a:r>
                    </a:p>
                    <a:p>
                      <a:pPr marL="342900" indent="-342900">
                        <a:buFont typeface="Arial" panose="020B0604020202020204" pitchFamily="34" charset="0"/>
                        <a:buChar char="•"/>
                      </a:pPr>
                      <a:r>
                        <a:rPr lang="zh-CN" altLang="en-US" sz="2000" dirty="0">
                          <a:effectLst/>
                        </a:rPr>
                        <a:t>安全电压：符合相关安全标准</a:t>
                      </a:r>
                    </a:p>
                    <a:p>
                      <a:pPr marL="342900" indent="-342900">
                        <a:buFont typeface="Arial" panose="020B0604020202020204" pitchFamily="34" charset="0"/>
                        <a:buChar char="•"/>
                      </a:pPr>
                      <a:r>
                        <a:rPr lang="zh-CN" altLang="en-US" sz="2000" dirty="0">
                          <a:effectLst/>
                        </a:rPr>
                        <a:t>绝缘电阻：符合电气安全要求</a:t>
                      </a:r>
                    </a:p>
                    <a:p>
                      <a:endParaRPr lang="en-GB" sz="2000" dirty="0"/>
                    </a:p>
                  </a:txBody>
                  <a:tcPr>
                    <a:lnL w="12700" cap="flat" cmpd="sng" algn="ctr">
                      <a:solidFill>
                        <a:schemeClr val="tx1"/>
                      </a:solidFill>
                      <a:prstDash val="solid"/>
                      <a:round/>
                      <a:headEnd type="none" w="med" len="med"/>
                      <a:tailEnd type="none" w="med" len="me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ltLang="zh-CN" sz="2000" b="1" dirty="0">
                          <a:effectLst/>
                        </a:rPr>
                        <a:t>4. </a:t>
                      </a:r>
                      <a:r>
                        <a:rPr lang="zh-CN" altLang="en-US" sz="2000" b="1" dirty="0">
                          <a:effectLst/>
                        </a:rPr>
                        <a:t>控制计划审查 ⚠️</a:t>
                      </a:r>
                    </a:p>
                    <a:p>
                      <a:r>
                        <a:rPr lang="zh-CN" altLang="en-US" sz="2000" b="1" dirty="0">
                          <a:effectLst/>
                        </a:rPr>
                        <a:t>审查要点：</a:t>
                      </a:r>
                      <a:endParaRPr lang="en-GB" altLang="zh-CN" sz="2000" b="1" dirty="0">
                        <a:effectLst/>
                      </a:endParaRPr>
                    </a:p>
                    <a:p>
                      <a:pPr marL="342900" indent="-342900">
                        <a:buFont typeface="Arial" panose="020B0604020202020204" pitchFamily="34" charset="0"/>
                        <a:buChar char="•"/>
                      </a:pPr>
                      <a:r>
                        <a:rPr lang="zh-CN" altLang="en-US" sz="2000" dirty="0">
                          <a:effectLst/>
                        </a:rPr>
                        <a:t>控制方法是否有效</a:t>
                      </a:r>
                    </a:p>
                    <a:p>
                      <a:pPr marL="342900" indent="-342900">
                        <a:buFont typeface="Arial" panose="020B0604020202020204" pitchFamily="34" charset="0"/>
                        <a:buChar char="•"/>
                      </a:pPr>
                      <a:r>
                        <a:rPr lang="zh-CN" altLang="en-US" sz="2000" dirty="0">
                          <a:effectLst/>
                        </a:rPr>
                        <a:t>检测频率是否合理</a:t>
                      </a:r>
                    </a:p>
                    <a:p>
                      <a:pPr marL="342900" indent="-342900">
                        <a:buFont typeface="Arial" panose="020B0604020202020204" pitchFamily="34" charset="0"/>
                        <a:buChar char="•"/>
                      </a:pPr>
                      <a:r>
                        <a:rPr lang="zh-CN" altLang="en-US" sz="2000" dirty="0">
                          <a:effectLst/>
                        </a:rPr>
                        <a:t>样本大小是否统计有效</a:t>
                      </a:r>
                    </a:p>
                    <a:p>
                      <a:pPr marL="342900" indent="-342900">
                        <a:buFont typeface="Arial" panose="020B0604020202020204" pitchFamily="34" charset="0"/>
                        <a:buChar char="•"/>
                      </a:pPr>
                      <a:r>
                        <a:rPr lang="zh-CN" altLang="en-US" sz="2000" dirty="0">
                          <a:effectLst/>
                        </a:rPr>
                        <a:t>控制责任是否明确</a:t>
                      </a:r>
                    </a:p>
                    <a:p>
                      <a:r>
                        <a:rPr lang="zh-CN" altLang="en-US" sz="2000" b="1" dirty="0">
                          <a:effectLst/>
                        </a:rPr>
                        <a:t>建议控制方法：</a:t>
                      </a:r>
                      <a:endParaRPr lang="en-GB" altLang="zh-CN" sz="2000" b="1" dirty="0">
                        <a:effectLst/>
                      </a:endParaRPr>
                    </a:p>
                    <a:p>
                      <a:pPr marL="342900" indent="-342900">
                        <a:buFont typeface="Arial" panose="020B0604020202020204" pitchFamily="34" charset="0"/>
                        <a:buChar char="•"/>
                      </a:pPr>
                      <a:r>
                        <a:rPr lang="en-US" altLang="zh-CN" sz="2000" dirty="0">
                          <a:effectLst/>
                        </a:rPr>
                        <a:t>100%</a:t>
                      </a:r>
                      <a:r>
                        <a:rPr lang="zh-CN" altLang="en-US" sz="2000" dirty="0">
                          <a:effectLst/>
                        </a:rPr>
                        <a:t>检测：电压、温度、安全特性</a:t>
                      </a:r>
                    </a:p>
                    <a:p>
                      <a:pPr marL="342900" indent="-342900">
                        <a:buFont typeface="Arial" panose="020B0604020202020204" pitchFamily="34" charset="0"/>
                        <a:buChar char="•"/>
                      </a:pPr>
                      <a:r>
                        <a:rPr lang="zh-CN" altLang="en-US" sz="2000" dirty="0">
                          <a:effectLst/>
                        </a:rPr>
                        <a:t>抽样检测：外观、尺寸特性</a:t>
                      </a:r>
                    </a:p>
                    <a:p>
                      <a:pPr marL="342900" indent="-342900">
                        <a:buFont typeface="Arial" panose="020B0604020202020204" pitchFamily="34" charset="0"/>
                        <a:buChar char="•"/>
                      </a:pPr>
                      <a:r>
                        <a:rPr lang="zh-CN" altLang="en-US" sz="2000" dirty="0">
                          <a:effectLst/>
                        </a:rPr>
                        <a:t>定期检测：环境适应性、耐久性</a:t>
                      </a:r>
                    </a:p>
                    <a:p>
                      <a:r>
                        <a:rPr lang="en-US" altLang="zh-CN" sz="2000" b="1" dirty="0">
                          <a:effectLst/>
                        </a:rPr>
                        <a:t>5. </a:t>
                      </a:r>
                      <a:r>
                        <a:rPr lang="zh-CN" altLang="en-US" sz="2000" b="1" dirty="0">
                          <a:effectLst/>
                        </a:rPr>
                        <a:t>风险管理审查 ⚠️</a:t>
                      </a:r>
                    </a:p>
                    <a:p>
                      <a:r>
                        <a:rPr lang="zh-CN" altLang="en-US" sz="2000" b="1" dirty="0">
                          <a:effectLst/>
                        </a:rPr>
                        <a:t>审查要点：</a:t>
                      </a:r>
                      <a:endParaRPr lang="en-GB" altLang="zh-CN" sz="2000" b="1" dirty="0">
                        <a:effectLst/>
                      </a:endParaRPr>
                    </a:p>
                    <a:p>
                      <a:pPr marL="342900" indent="-342900">
                        <a:buFont typeface="Arial" panose="020B0604020202020204" pitchFamily="34" charset="0"/>
                        <a:buChar char="•"/>
                      </a:pPr>
                      <a:r>
                        <a:rPr lang="zh-CN" altLang="en-US" sz="2000" dirty="0">
                          <a:effectLst/>
                        </a:rPr>
                        <a:t>是否进行</a:t>
                      </a:r>
                      <a:r>
                        <a:rPr lang="en-US" altLang="zh-CN" sz="2000" dirty="0">
                          <a:effectLst/>
                        </a:rPr>
                        <a:t>FMEA</a:t>
                      </a:r>
                      <a:r>
                        <a:rPr lang="zh-CN" altLang="en-US" sz="2000" dirty="0">
                          <a:effectLst/>
                        </a:rPr>
                        <a:t>分析</a:t>
                      </a:r>
                    </a:p>
                    <a:p>
                      <a:pPr marL="342900" indent="-342900">
                        <a:buFont typeface="Arial" panose="020B0604020202020204" pitchFamily="34" charset="0"/>
                        <a:buChar char="•"/>
                      </a:pPr>
                      <a:r>
                        <a:rPr lang="zh-CN" altLang="en-US" sz="2000" dirty="0">
                          <a:effectLst/>
                        </a:rPr>
                        <a:t>失效模式是否识别完整</a:t>
                      </a:r>
                    </a:p>
                    <a:p>
                      <a:pPr marL="342900" indent="-342900">
                        <a:buFont typeface="Arial" panose="020B0604020202020204" pitchFamily="34" charset="0"/>
                        <a:buChar char="•"/>
                      </a:pPr>
                      <a:r>
                        <a:rPr lang="zh-CN" altLang="en-US" sz="2000" dirty="0">
                          <a:effectLst/>
                        </a:rPr>
                        <a:t>预防措施是否有效</a:t>
                      </a:r>
                    </a:p>
                    <a:p>
                      <a:pPr marL="342900" indent="-342900">
                        <a:buFont typeface="Arial" panose="020B0604020202020204" pitchFamily="34" charset="0"/>
                        <a:buChar char="•"/>
                      </a:pPr>
                      <a:r>
                        <a:rPr lang="zh-CN" altLang="en-US" sz="2000" dirty="0">
                          <a:effectLst/>
                        </a:rPr>
                        <a:t>应急计划是否可行</a:t>
                      </a:r>
                    </a:p>
                    <a:p>
                      <a:r>
                        <a:rPr lang="zh-CN" altLang="en-US" sz="2000" b="1" dirty="0">
                          <a:effectLst/>
                        </a:rPr>
                        <a:t>高压电池风险重点：</a:t>
                      </a:r>
                      <a:endParaRPr lang="en-GB" altLang="zh-CN" sz="2000" b="1" dirty="0">
                        <a:effectLst/>
                      </a:endParaRPr>
                    </a:p>
                    <a:p>
                      <a:pPr marL="342900" indent="-342900">
                        <a:buFont typeface="Arial" panose="020B0604020202020204" pitchFamily="34" charset="0"/>
                        <a:buChar char="•"/>
                      </a:pPr>
                      <a:r>
                        <a:rPr lang="zh-CN" altLang="en-US" sz="2000" dirty="0">
                          <a:effectLst/>
                        </a:rPr>
                        <a:t>过充</a:t>
                      </a:r>
                      <a:r>
                        <a:rPr lang="en-US" altLang="zh-CN" sz="2000" dirty="0">
                          <a:effectLst/>
                        </a:rPr>
                        <a:t>/</a:t>
                      </a:r>
                      <a:r>
                        <a:rPr lang="zh-CN" altLang="en-US" sz="2000" dirty="0">
                          <a:effectLst/>
                        </a:rPr>
                        <a:t>过放风险</a:t>
                      </a:r>
                    </a:p>
                    <a:p>
                      <a:pPr marL="342900" indent="-342900">
                        <a:buFont typeface="Arial" panose="020B0604020202020204" pitchFamily="34" charset="0"/>
                        <a:buChar char="•"/>
                      </a:pPr>
                      <a:r>
                        <a:rPr lang="zh-CN" altLang="en-US" sz="2000" dirty="0">
                          <a:effectLst/>
                        </a:rPr>
                        <a:t>温度异常风险</a:t>
                      </a:r>
                    </a:p>
                    <a:p>
                      <a:pPr marL="342900" indent="-342900">
                        <a:buFont typeface="Arial" panose="020B0604020202020204" pitchFamily="34" charset="0"/>
                        <a:buChar char="•"/>
                      </a:pPr>
                      <a:r>
                        <a:rPr lang="zh-CN" altLang="en-US" sz="2000" dirty="0">
                          <a:effectLst/>
                        </a:rPr>
                        <a:t>短路风险</a:t>
                      </a:r>
                    </a:p>
                    <a:p>
                      <a:pPr marL="342900" indent="-342900">
                        <a:buFont typeface="Arial" panose="020B0604020202020204" pitchFamily="34" charset="0"/>
                        <a:buChar char="•"/>
                      </a:pPr>
                      <a:r>
                        <a:rPr lang="zh-CN" altLang="en-US" sz="2000" dirty="0">
                          <a:effectLst/>
                        </a:rPr>
                        <a:t>机械损伤风险</a:t>
                      </a:r>
                    </a:p>
                    <a:p>
                      <a:r>
                        <a:rPr lang="en-US" altLang="zh-CN" sz="2000" b="1" dirty="0">
                          <a:effectLst/>
                        </a:rPr>
                        <a:t>6. </a:t>
                      </a:r>
                      <a:r>
                        <a:rPr lang="zh-CN" altLang="en-US" sz="2000" b="1" dirty="0">
                          <a:effectLst/>
                        </a:rPr>
                        <a:t>合规性审查 ⚠️</a:t>
                      </a:r>
                    </a:p>
                    <a:p>
                      <a:r>
                        <a:rPr lang="zh-CN" altLang="en-US" sz="2000" b="1" dirty="0">
                          <a:effectLst/>
                        </a:rPr>
                        <a:t>审查要点：</a:t>
                      </a:r>
                      <a:endParaRPr lang="en-GB" altLang="zh-CN" sz="2000" b="1" dirty="0">
                        <a:effectLst/>
                      </a:endParaRPr>
                    </a:p>
                    <a:p>
                      <a:pPr marL="342900" indent="-342900">
                        <a:buFont typeface="Arial" panose="020B0604020202020204" pitchFamily="34" charset="0"/>
                        <a:buChar char="•"/>
                      </a:pPr>
                      <a:r>
                        <a:rPr lang="zh-CN" altLang="en-US" sz="2000" dirty="0">
                          <a:effectLst/>
                        </a:rPr>
                        <a:t>是否符合相关法规要求</a:t>
                      </a:r>
                    </a:p>
                    <a:p>
                      <a:pPr marL="342900" indent="-342900">
                        <a:buFont typeface="Arial" panose="020B0604020202020204" pitchFamily="34" charset="0"/>
                        <a:buChar char="•"/>
                      </a:pPr>
                      <a:r>
                        <a:rPr lang="zh-CN" altLang="en-US" sz="2000" dirty="0">
                          <a:effectLst/>
                        </a:rPr>
                        <a:t>是否满足客户特殊要求</a:t>
                      </a:r>
                    </a:p>
                    <a:p>
                      <a:pPr marL="342900" indent="-342900">
                        <a:buFont typeface="Arial" panose="020B0604020202020204" pitchFamily="34" charset="0"/>
                        <a:buChar char="•"/>
                      </a:pPr>
                      <a:r>
                        <a:rPr lang="zh-CN" altLang="en-US" sz="2000" dirty="0">
                          <a:effectLst/>
                        </a:rPr>
                        <a:t>是否符合行业标准</a:t>
                      </a:r>
                    </a:p>
                    <a:p>
                      <a:pPr marL="342900" indent="-342900">
                        <a:buFont typeface="Arial" panose="020B0604020202020204" pitchFamily="34" charset="0"/>
                        <a:buChar char="•"/>
                      </a:pPr>
                      <a:r>
                        <a:rPr lang="zh-CN" altLang="en-US" sz="2000" dirty="0">
                          <a:effectLst/>
                        </a:rPr>
                        <a:t>是否考虑国际标准</a:t>
                      </a:r>
                    </a:p>
                    <a:p>
                      <a:r>
                        <a:rPr lang="zh-CN" altLang="en-US" sz="2000" b="1" dirty="0">
                          <a:effectLst/>
                        </a:rPr>
                        <a:t>相关法规标准：</a:t>
                      </a:r>
                      <a:endParaRPr lang="en-GB" altLang="zh-CN" sz="2000" b="1" dirty="0">
                        <a:effectLst/>
                      </a:endParaRPr>
                    </a:p>
                    <a:p>
                      <a:pPr marL="342900" indent="-342900">
                        <a:buFont typeface="Arial" panose="020B0604020202020204" pitchFamily="34" charset="0"/>
                        <a:buChar char="•"/>
                      </a:pPr>
                      <a:r>
                        <a:rPr lang="en-US" altLang="zh-CN" sz="2000" dirty="0">
                          <a:effectLst/>
                        </a:rPr>
                        <a:t>GB/T 36276-2018 </a:t>
                      </a:r>
                      <a:r>
                        <a:rPr lang="zh-CN" altLang="en-US" sz="2000" dirty="0">
                          <a:effectLst/>
                        </a:rPr>
                        <a:t>电力储能用锂离子电池</a:t>
                      </a:r>
                    </a:p>
                    <a:p>
                      <a:pPr marL="342900" indent="-342900">
                        <a:buFont typeface="Arial" panose="020B0604020202020204" pitchFamily="34" charset="0"/>
                        <a:buChar char="•"/>
                      </a:pPr>
                      <a:r>
                        <a:rPr lang="en-US" altLang="zh-CN" sz="2000" dirty="0">
                          <a:effectLst/>
                        </a:rPr>
                        <a:t>IEC 62133 </a:t>
                      </a:r>
                      <a:r>
                        <a:rPr lang="zh-CN" altLang="en-US" sz="2000" dirty="0">
                          <a:effectLst/>
                        </a:rPr>
                        <a:t>电池安全标准</a:t>
                      </a:r>
                    </a:p>
                    <a:p>
                      <a:pPr marL="342900" indent="-342900">
                        <a:buFont typeface="Arial" panose="020B0604020202020204" pitchFamily="34" charset="0"/>
                        <a:buChar char="•"/>
                      </a:pPr>
                      <a:r>
                        <a:rPr lang="en-US" altLang="zh-CN" sz="2000" dirty="0">
                          <a:effectLst/>
                        </a:rPr>
                        <a:t>UN38.3 </a:t>
                      </a:r>
                      <a:r>
                        <a:rPr lang="zh-CN" altLang="en-US" sz="2000" dirty="0">
                          <a:effectLst/>
                        </a:rPr>
                        <a:t>运输安全标准</a:t>
                      </a:r>
                    </a:p>
                    <a:p>
                      <a:pPr marL="342900" indent="-342900">
                        <a:buFont typeface="Arial" panose="020B0604020202020204" pitchFamily="34" charset="0"/>
                        <a:buChar char="•"/>
                      </a:pPr>
                      <a:r>
                        <a:rPr lang="zh-CN" altLang="en-US" sz="2000" dirty="0">
                          <a:effectLst/>
                        </a:rPr>
                        <a:t>客户特定要求</a:t>
                      </a:r>
                    </a:p>
                  </a:txBody>
                  <a:tcPr>
                    <a:lnL w="12700" cmpd="sng">
                      <a:no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2000" b="1" dirty="0">
                          <a:effectLst/>
                        </a:rPr>
                        <a:t>总体评价：需要改进</a:t>
                      </a:r>
                    </a:p>
                    <a:p>
                      <a:r>
                        <a:rPr lang="zh-CN" altLang="en-US" sz="2000" b="1" dirty="0">
                          <a:effectLst/>
                        </a:rPr>
                        <a:t>主要问题：特殊特性标识</a:t>
                      </a:r>
                      <a:r>
                        <a:rPr lang="zh-CN" altLang="en-US" sz="2000" b="1">
                          <a:effectLst/>
                        </a:rPr>
                        <a:t>不明确</a:t>
                      </a:r>
                      <a:endParaRPr lang="en-GB" altLang="zh-CN" sz="2000" b="1">
                        <a:effectLst/>
                      </a:endParaRPr>
                    </a:p>
                    <a:p>
                      <a:pPr marL="342900" indent="-342900">
                        <a:buFont typeface="Arial" panose="020B0604020202020204" pitchFamily="34" charset="0"/>
                        <a:buChar char="•"/>
                      </a:pPr>
                      <a:r>
                        <a:rPr lang="zh-CN" altLang="en-US" sz="2000">
                          <a:effectLst/>
                        </a:rPr>
                        <a:t>建议</a:t>
                      </a:r>
                      <a:r>
                        <a:rPr lang="zh-CN" altLang="en-US" sz="2000" dirty="0">
                          <a:effectLst/>
                        </a:rPr>
                        <a:t>使用标准符号明确标识关键特性和重要特性</a:t>
                      </a:r>
                    </a:p>
                    <a:p>
                      <a:r>
                        <a:rPr lang="zh-CN" altLang="en-US" sz="2000" b="1" dirty="0">
                          <a:effectLst/>
                        </a:rPr>
                        <a:t>技术要求</a:t>
                      </a:r>
                      <a:r>
                        <a:rPr lang="zh-CN" altLang="en-US" sz="2000" b="1">
                          <a:effectLst/>
                        </a:rPr>
                        <a:t>量化不足</a:t>
                      </a:r>
                      <a:endParaRPr lang="en-GB" altLang="zh-CN" sz="2000" b="1">
                        <a:effectLst/>
                      </a:endParaRPr>
                    </a:p>
                    <a:p>
                      <a:pPr marL="342900" indent="-342900">
                        <a:buFont typeface="Arial" panose="020B0604020202020204" pitchFamily="34" charset="0"/>
                        <a:buChar char="•"/>
                      </a:pPr>
                      <a:r>
                        <a:rPr lang="zh-CN" altLang="en-US" sz="2000">
                          <a:effectLst/>
                        </a:rPr>
                        <a:t>需要</a:t>
                      </a:r>
                      <a:r>
                        <a:rPr lang="zh-CN" altLang="en-US" sz="2000" dirty="0">
                          <a:effectLst/>
                        </a:rPr>
                        <a:t>明确具体的数值要求和公差范围</a:t>
                      </a:r>
                    </a:p>
                    <a:p>
                      <a:r>
                        <a:rPr lang="zh-CN" altLang="en-US" sz="2000" b="1" dirty="0">
                          <a:effectLst/>
                        </a:rPr>
                        <a:t>控制计划</a:t>
                      </a:r>
                      <a:r>
                        <a:rPr lang="zh-CN" altLang="en-US" sz="2000" b="1">
                          <a:effectLst/>
                        </a:rPr>
                        <a:t>不够详细</a:t>
                      </a:r>
                      <a:endParaRPr lang="en-GB" altLang="zh-CN" sz="2000" b="1">
                        <a:effectLst/>
                      </a:endParaRPr>
                    </a:p>
                    <a:p>
                      <a:pPr marL="342900" indent="-342900">
                        <a:buFont typeface="Arial" panose="020B0604020202020204" pitchFamily="34" charset="0"/>
                        <a:buChar char="•"/>
                      </a:pPr>
                      <a:r>
                        <a:rPr lang="zh-CN" altLang="en-US" sz="2000">
                          <a:effectLst/>
                        </a:rPr>
                        <a:t>应</a:t>
                      </a:r>
                      <a:r>
                        <a:rPr lang="zh-CN" altLang="en-US" sz="2000" dirty="0">
                          <a:effectLst/>
                        </a:rPr>
                        <a:t>明确具体的检测方法和频率</a:t>
                      </a:r>
                    </a:p>
                    <a:p>
                      <a:r>
                        <a:rPr lang="zh-CN" altLang="en-US" sz="2000" b="1" dirty="0">
                          <a:effectLst/>
                        </a:rPr>
                        <a:t>风险</a:t>
                      </a:r>
                      <a:r>
                        <a:rPr lang="zh-CN" altLang="en-US" sz="2000" b="1">
                          <a:effectLst/>
                        </a:rPr>
                        <a:t>管理缺失</a:t>
                      </a:r>
                      <a:endParaRPr lang="en-GB" altLang="zh-CN" sz="2000" b="1">
                        <a:effectLst/>
                      </a:endParaRPr>
                    </a:p>
                    <a:p>
                      <a:pPr marL="342900" indent="-342900">
                        <a:buFont typeface="Arial" panose="020B0604020202020204" pitchFamily="34" charset="0"/>
                        <a:buChar char="•"/>
                      </a:pPr>
                      <a:r>
                        <a:rPr lang="zh-CN" altLang="en-US" sz="2000">
                          <a:effectLst/>
                        </a:rPr>
                        <a:t>需要</a:t>
                      </a:r>
                      <a:r>
                        <a:rPr lang="zh-CN" altLang="en-US" sz="2000" dirty="0">
                          <a:effectLst/>
                        </a:rPr>
                        <a:t>补充</a:t>
                      </a:r>
                      <a:r>
                        <a:rPr lang="en-US" altLang="zh-CN" sz="2000" dirty="0">
                          <a:effectLst/>
                        </a:rPr>
                        <a:t>FMEA</a:t>
                      </a:r>
                      <a:r>
                        <a:rPr lang="zh-CN" altLang="en-US" sz="2000" dirty="0">
                          <a:effectLst/>
                        </a:rPr>
                        <a:t>分析和风险控制措施</a:t>
                      </a:r>
                    </a:p>
                    <a:p>
                      <a:r>
                        <a:rPr lang="zh-CN" altLang="en-US" sz="2000" b="1" dirty="0">
                          <a:effectLst/>
                        </a:rPr>
                        <a:t>改进建议：</a:t>
                      </a:r>
                    </a:p>
                    <a:p>
                      <a:r>
                        <a:rPr lang="zh-CN" altLang="en-US" sz="2000" b="1" dirty="0">
                          <a:effectLst/>
                        </a:rPr>
                        <a:t>立即改进项：</a:t>
                      </a:r>
                      <a:endParaRPr lang="en-GB" altLang="zh-CN" sz="2000" b="1" dirty="0">
                        <a:effectLst/>
                      </a:endParaRPr>
                    </a:p>
                    <a:p>
                      <a:pPr marL="342900" indent="-342900">
                        <a:buFont typeface="Arial" panose="020B0604020202020204" pitchFamily="34" charset="0"/>
                        <a:buChar char="•"/>
                      </a:pPr>
                      <a:r>
                        <a:rPr lang="zh-CN" altLang="en-US" sz="2000" dirty="0">
                          <a:effectLst/>
                        </a:rPr>
                        <a:t>建立标准化的特殊特性标识系统</a:t>
                      </a:r>
                    </a:p>
                    <a:p>
                      <a:pPr marL="342900" indent="-342900">
                        <a:buFont typeface="Arial" panose="020B0604020202020204" pitchFamily="34" charset="0"/>
                        <a:buChar char="•"/>
                      </a:pPr>
                      <a:r>
                        <a:rPr lang="zh-CN" altLang="en-US" sz="2000" dirty="0">
                          <a:effectLst/>
                        </a:rPr>
                        <a:t>量化所有技术要求的数值范围</a:t>
                      </a:r>
                    </a:p>
                    <a:p>
                      <a:pPr marL="342900" indent="-342900">
                        <a:buFont typeface="Arial" panose="020B0604020202020204" pitchFamily="34" charset="0"/>
                        <a:buChar char="•"/>
                      </a:pPr>
                      <a:r>
                        <a:rPr lang="zh-CN" altLang="en-US" sz="2000" dirty="0">
                          <a:effectLst/>
                        </a:rPr>
                        <a:t>制定详细的检测控制计划</a:t>
                      </a:r>
                    </a:p>
                    <a:p>
                      <a:pPr marL="342900" indent="-342900">
                        <a:buFont typeface="Arial" panose="020B0604020202020204" pitchFamily="34" charset="0"/>
                        <a:buChar char="•"/>
                      </a:pPr>
                      <a:r>
                        <a:rPr lang="zh-CN" altLang="en-US" sz="2000" dirty="0">
                          <a:effectLst/>
                        </a:rPr>
                        <a:t>补充风险评估和控制措施</a:t>
                      </a:r>
                    </a:p>
                    <a:p>
                      <a:r>
                        <a:rPr lang="zh-CN" altLang="en-US" sz="2000" b="1" dirty="0">
                          <a:effectLst/>
                        </a:rPr>
                        <a:t>长期改进项：</a:t>
                      </a:r>
                      <a:endParaRPr lang="en-GB" altLang="zh-CN" sz="2000" b="1" dirty="0">
                        <a:effectLst/>
                      </a:endParaRPr>
                    </a:p>
                    <a:p>
                      <a:pPr marL="342900" indent="-342900">
                        <a:buFont typeface="Arial" panose="020B0604020202020204" pitchFamily="34" charset="0"/>
                        <a:buChar char="•"/>
                      </a:pPr>
                      <a:r>
                        <a:rPr lang="zh-CN" altLang="en-US" sz="2000" dirty="0">
                          <a:effectLst/>
                        </a:rPr>
                        <a:t>建立特殊特性数据库</a:t>
                      </a:r>
                    </a:p>
                    <a:p>
                      <a:pPr marL="342900" indent="-342900">
                        <a:buFont typeface="Arial" panose="020B0604020202020204" pitchFamily="34" charset="0"/>
                        <a:buChar char="•"/>
                      </a:pPr>
                      <a:r>
                        <a:rPr lang="zh-CN" altLang="en-US" sz="2000" dirty="0">
                          <a:effectLst/>
                        </a:rPr>
                        <a:t>实施统计过程控制</a:t>
                      </a:r>
                      <a:r>
                        <a:rPr lang="en-US" altLang="zh-CN" sz="2000" dirty="0">
                          <a:effectLst/>
                        </a:rPr>
                        <a:t>(SPC)</a:t>
                      </a:r>
                    </a:p>
                    <a:p>
                      <a:pPr marL="342900" indent="-342900">
                        <a:buFont typeface="Arial" panose="020B0604020202020204" pitchFamily="34" charset="0"/>
                        <a:buChar char="•"/>
                      </a:pPr>
                      <a:r>
                        <a:rPr lang="zh-CN" altLang="en-US" sz="2000" dirty="0">
                          <a:effectLst/>
                        </a:rPr>
                        <a:t>建立持续改进机制</a:t>
                      </a:r>
                    </a:p>
                    <a:p>
                      <a:pPr marL="342900" indent="-342900">
                        <a:buFont typeface="Arial" panose="020B0604020202020204" pitchFamily="34" charset="0"/>
                        <a:buChar char="•"/>
                      </a:pPr>
                      <a:r>
                        <a:rPr lang="zh-CN" altLang="en-US" sz="2000" dirty="0">
                          <a:effectLst/>
                        </a:rPr>
                        <a:t>定期更新和评审清单</a:t>
                      </a:r>
                      <a:endParaRPr lang="en-GB" altLang="zh-CN" sz="2000" dirty="0">
                        <a:effectLst/>
                      </a:endParaRPr>
                    </a:p>
                    <a:p>
                      <a:r>
                        <a:rPr lang="zh-CN" altLang="en-US" sz="2000" b="1" dirty="0">
                          <a:effectLst/>
                        </a:rPr>
                        <a:t>后续行动建议</a:t>
                      </a:r>
                    </a:p>
                    <a:p>
                      <a:r>
                        <a:rPr lang="zh-CN" altLang="en-US" sz="2000" b="1" dirty="0">
                          <a:effectLst/>
                        </a:rPr>
                        <a:t>立即</a:t>
                      </a:r>
                      <a:r>
                        <a:rPr lang="zh-CN" altLang="en-US" sz="2000" b="1">
                          <a:effectLst/>
                        </a:rPr>
                        <a:t>行动</a:t>
                      </a:r>
                      <a:r>
                        <a:rPr lang="zh-CN" altLang="en-US" sz="2000">
                          <a:effectLst/>
                        </a:rPr>
                        <a:t>：</a:t>
                      </a:r>
                      <a:endParaRPr lang="en-GB" altLang="zh-CN" sz="2000">
                        <a:effectLst/>
                      </a:endParaRPr>
                    </a:p>
                    <a:p>
                      <a:pPr marL="342900" indent="-342900">
                        <a:buFont typeface="Arial" panose="020B0604020202020204" pitchFamily="34" charset="0"/>
                        <a:buChar char="•"/>
                      </a:pPr>
                      <a:r>
                        <a:rPr lang="zh-CN" altLang="en-US" sz="2000">
                          <a:effectLst/>
                        </a:rPr>
                        <a:t>根据</a:t>
                      </a:r>
                      <a:r>
                        <a:rPr lang="zh-CN" altLang="en-US" sz="2000" dirty="0">
                          <a:effectLst/>
                        </a:rPr>
                        <a:t>上述建议修订文件</a:t>
                      </a:r>
                    </a:p>
                    <a:p>
                      <a:r>
                        <a:rPr lang="zh-CN" altLang="en-US" sz="2000" b="1" dirty="0">
                          <a:effectLst/>
                        </a:rPr>
                        <a:t>培训</a:t>
                      </a:r>
                      <a:r>
                        <a:rPr lang="zh-CN" altLang="en-US" sz="2000" b="1">
                          <a:effectLst/>
                        </a:rPr>
                        <a:t>计划</a:t>
                      </a:r>
                      <a:r>
                        <a:rPr lang="zh-CN" altLang="en-US" sz="2000">
                          <a:effectLst/>
                        </a:rPr>
                        <a:t>：</a:t>
                      </a:r>
                      <a:endParaRPr lang="en-GB" altLang="zh-CN" sz="2000">
                        <a:effectLst/>
                      </a:endParaRPr>
                    </a:p>
                    <a:p>
                      <a:pPr marL="342900" indent="-342900">
                        <a:buFont typeface="Arial" panose="020B0604020202020204" pitchFamily="34" charset="0"/>
                        <a:buChar char="•"/>
                      </a:pPr>
                      <a:r>
                        <a:rPr lang="zh-CN" altLang="en-US" sz="2000">
                          <a:effectLst/>
                        </a:rPr>
                        <a:t>对</a:t>
                      </a:r>
                      <a:r>
                        <a:rPr lang="zh-CN" altLang="en-US" sz="2000" dirty="0">
                          <a:effectLst/>
                        </a:rPr>
                        <a:t>相关人员培训特殊特性管理要求</a:t>
                      </a:r>
                    </a:p>
                    <a:p>
                      <a:r>
                        <a:rPr lang="zh-CN" altLang="en-US" sz="2000" b="1" dirty="0">
                          <a:effectLst/>
                        </a:rPr>
                        <a:t>验证</a:t>
                      </a:r>
                      <a:r>
                        <a:rPr lang="zh-CN" altLang="en-US" sz="2000" b="1">
                          <a:effectLst/>
                        </a:rPr>
                        <a:t>计划</a:t>
                      </a:r>
                      <a:r>
                        <a:rPr lang="zh-CN" altLang="en-US" sz="2000">
                          <a:effectLst/>
                        </a:rPr>
                        <a:t>：</a:t>
                      </a:r>
                      <a:endParaRPr lang="en-GB" altLang="zh-CN" sz="2000">
                        <a:effectLst/>
                      </a:endParaRPr>
                    </a:p>
                    <a:p>
                      <a:pPr marL="342900" indent="-342900">
                        <a:buFont typeface="Arial" panose="020B0604020202020204" pitchFamily="34" charset="0"/>
                        <a:buChar char="•"/>
                      </a:pPr>
                      <a:r>
                        <a:rPr lang="zh-CN" altLang="en-US" sz="2000">
                          <a:effectLst/>
                        </a:rPr>
                        <a:t>建立</a:t>
                      </a:r>
                      <a:r>
                        <a:rPr lang="zh-CN" altLang="en-US" sz="2000" dirty="0">
                          <a:effectLst/>
                        </a:rPr>
                        <a:t>文件有效性验证机制</a:t>
                      </a:r>
                    </a:p>
                    <a:p>
                      <a:r>
                        <a:rPr lang="zh-CN" altLang="en-US" sz="2000" b="1" dirty="0">
                          <a:effectLst/>
                        </a:rPr>
                        <a:t>持续改进</a:t>
                      </a:r>
                      <a:r>
                        <a:rPr lang="zh-CN" altLang="en-US" sz="2000" dirty="0">
                          <a:effectLst/>
                        </a:rPr>
                        <a:t>：</a:t>
                      </a:r>
                      <a:endParaRPr lang="en-GB" altLang="zh-CN" sz="2000" dirty="0">
                        <a:effectLst/>
                      </a:endParaRPr>
                    </a:p>
                    <a:p>
                      <a:pPr marL="342900" indent="-342900">
                        <a:buFont typeface="Arial" panose="020B0604020202020204" pitchFamily="34" charset="0"/>
                        <a:buChar char="•"/>
                      </a:pPr>
                      <a:r>
                        <a:rPr lang="zh-CN" altLang="en-US" sz="2000" dirty="0">
                          <a:effectLst/>
                        </a:rPr>
                        <a:t>定期评审和更新清单</a:t>
                      </a:r>
                    </a:p>
                    <a:p>
                      <a:pPr marL="342900" indent="-342900">
                        <a:buFont typeface="Arial" panose="020B0604020202020204" pitchFamily="34" charset="0"/>
                        <a:buChar char="•"/>
                      </a:pPr>
                      <a:r>
                        <a:rPr lang="zh-CN" altLang="en-US" sz="2000" dirty="0"/>
                        <a:t>这份评审报告基于</a:t>
                      </a:r>
                      <a:r>
                        <a:rPr lang="en-US" altLang="zh-CN" sz="2000" dirty="0"/>
                        <a:t>APQP</a:t>
                      </a:r>
                      <a:r>
                        <a:rPr lang="zh-CN" altLang="en-US" sz="2000" dirty="0"/>
                        <a:t>标准和高压电池项目的特殊要求制定。建议您根据实际文件内容对照这些审查点进行详细检查，并按照建议进行改进。</a:t>
                      </a:r>
                      <a:endParaRPr lang="zh-CN" altLang="en-US" sz="2000" dirty="0">
                        <a:effectLst/>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4853937"/>
                  </a:ext>
                </a:extLst>
              </a:tr>
            </a:tbl>
          </a:graphicData>
        </a:graphic>
      </p:graphicFrame>
    </p:spTree>
    <p:extLst>
      <p:ext uri="{BB962C8B-B14F-4D97-AF65-F5344CB8AC3E}">
        <p14:creationId xmlns:p14="http://schemas.microsoft.com/office/powerpoint/2010/main" val="4142580164"/>
      </p:ext>
    </p:extLst>
  </p:cSld>
  <p:clrMapOvr>
    <a:masterClrMapping/>
  </p:clrMapOvr>
  <p:transition spd="med"/>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75685A-95B3-22BC-1AD4-1AD9FFFF6B3E}"/>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1B91E015-7D9C-EC05-31BB-BB7DB2E80E13}"/>
              </a:ext>
            </a:extLst>
          </p:cNvPr>
          <p:cNvSpPr txBox="1"/>
          <p:nvPr/>
        </p:nvSpPr>
        <p:spPr>
          <a:xfrm>
            <a:off x="1737559" y="755986"/>
            <a:ext cx="17078475" cy="646331"/>
          </a:xfrm>
          <a:prstGeom prst="rect">
            <a:avLst/>
          </a:prstGeom>
          <a:noFill/>
        </p:spPr>
        <p:txBody>
          <a:bodyPr wrap="square" numCol="1">
            <a:spAutoFit/>
          </a:bodyPr>
          <a:lstStyle/>
          <a:p>
            <a:pPr>
              <a:spcBef>
                <a:spcPts val="1500"/>
              </a:spcBef>
              <a:spcAft>
                <a:spcPts val="750"/>
              </a:spcAft>
              <a:buNone/>
            </a:pPr>
            <a:r>
              <a:rPr lang="en-US" altLang="zh-CN" sz="3600" b="1" dirty="0">
                <a:effectLst/>
              </a:rPr>
              <a:t>A</a:t>
            </a:r>
            <a:r>
              <a:rPr lang="zh-CN" altLang="en-US" sz="3600" b="1" dirty="0">
                <a:effectLst/>
              </a:rPr>
              <a:t>样阶段</a:t>
            </a:r>
            <a:r>
              <a:rPr lang="en-US" altLang="zh-CN" sz="3600" b="1" dirty="0"/>
              <a:t>《</a:t>
            </a:r>
            <a:r>
              <a:rPr lang="zh-CN" altLang="en-US" sz="3600" b="1" dirty="0"/>
              <a:t>副本</a:t>
            </a:r>
            <a:r>
              <a:rPr lang="en-US" altLang="zh-CN" sz="3600" b="1" dirty="0"/>
              <a:t>570-941A</a:t>
            </a:r>
            <a:r>
              <a:rPr lang="zh-CN" altLang="en-US" sz="3600" b="1" dirty="0"/>
              <a:t>项目</a:t>
            </a:r>
            <a:r>
              <a:rPr lang="en-US" altLang="zh-CN" sz="3600" b="1" dirty="0"/>
              <a:t>A</a:t>
            </a:r>
            <a:r>
              <a:rPr lang="zh-CN" altLang="en-US" sz="3600" b="1" dirty="0"/>
              <a:t>样开模件清单</a:t>
            </a:r>
            <a:r>
              <a:rPr lang="en-US" altLang="zh-CN" sz="3600" b="1" dirty="0"/>
              <a:t>-0609.xlsx》</a:t>
            </a:r>
            <a:r>
              <a:rPr lang="zh-CN" altLang="en-US" sz="3600" b="1" dirty="0">
                <a:effectLst/>
              </a:rPr>
              <a:t>审核报告</a:t>
            </a:r>
          </a:p>
        </p:txBody>
      </p:sp>
      <p:graphicFrame>
        <p:nvGraphicFramePr>
          <p:cNvPr id="2" name="表格 1">
            <a:extLst>
              <a:ext uri="{FF2B5EF4-FFF2-40B4-BE49-F238E27FC236}">
                <a16:creationId xmlns:a16="http://schemas.microsoft.com/office/drawing/2014/main" id="{790A155A-8221-D8DA-DD8D-79FF0B8AD6FB}"/>
              </a:ext>
            </a:extLst>
          </p:cNvPr>
          <p:cNvGraphicFramePr>
            <a:graphicFrameLocks noGrp="1"/>
          </p:cNvGraphicFramePr>
          <p:nvPr>
            <p:extLst>
              <p:ext uri="{D42A27DB-BD31-4B8C-83A1-F6EECF244321}">
                <p14:modId xmlns:p14="http://schemas.microsoft.com/office/powerpoint/2010/main" val="1487071658"/>
              </p:ext>
            </p:extLst>
          </p:nvPr>
        </p:nvGraphicFramePr>
        <p:xfrm>
          <a:off x="662354" y="1738812"/>
          <a:ext cx="23059292" cy="10987624"/>
        </p:xfrm>
        <a:graphic>
          <a:graphicData uri="http://schemas.openxmlformats.org/drawingml/2006/table">
            <a:tbl>
              <a:tblPr firstRow="1" bandRow="1"/>
              <a:tblGrid>
                <a:gridCol w="4607171">
                  <a:extLst>
                    <a:ext uri="{9D8B030D-6E8A-4147-A177-3AD203B41FA5}">
                      <a16:colId xmlns:a16="http://schemas.microsoft.com/office/drawing/2014/main" val="520135011"/>
                    </a:ext>
                  </a:extLst>
                </a:gridCol>
                <a:gridCol w="5908430">
                  <a:extLst>
                    <a:ext uri="{9D8B030D-6E8A-4147-A177-3AD203B41FA5}">
                      <a16:colId xmlns:a16="http://schemas.microsoft.com/office/drawing/2014/main" val="585926975"/>
                    </a:ext>
                  </a:extLst>
                </a:gridCol>
                <a:gridCol w="6778868">
                  <a:extLst>
                    <a:ext uri="{9D8B030D-6E8A-4147-A177-3AD203B41FA5}">
                      <a16:colId xmlns:a16="http://schemas.microsoft.com/office/drawing/2014/main" val="3081416713"/>
                    </a:ext>
                  </a:extLst>
                </a:gridCol>
                <a:gridCol w="5764823">
                  <a:extLst>
                    <a:ext uri="{9D8B030D-6E8A-4147-A177-3AD203B41FA5}">
                      <a16:colId xmlns:a16="http://schemas.microsoft.com/office/drawing/2014/main" val="572010187"/>
                    </a:ext>
                  </a:extLst>
                </a:gridCol>
              </a:tblGrid>
              <a:tr h="901298">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审查清单制定</a:t>
                      </a:r>
                    </a:p>
                  </a:txBody>
                  <a:tcPr anchor="ctr"/>
                </a:tc>
                <a:tc gridSpan="2">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逐项审核结果</a:t>
                      </a:r>
                    </a:p>
                  </a:txBody>
                  <a:tcPr anchor="ctr"/>
                </a:tc>
                <a:tc hMerge="1">
                  <a:txBody>
                    <a:bodyPr/>
                    <a:lstStyle/>
                    <a:p>
                      <a:pPr algn="ctr"/>
                      <a:endParaRPr lang="en-GB" sz="2000" dirty="0"/>
                    </a:p>
                  </a:txBody>
                  <a:tcPr/>
                </a:tc>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总体评估</a:t>
                      </a:r>
                    </a:p>
                  </a:txBody>
                  <a:tcPr anchor="ctr"/>
                </a:tc>
                <a:extLst>
                  <a:ext uri="{0D108BD9-81ED-4DB2-BD59-A6C34878D82A}">
                    <a16:rowId xmlns:a16="http://schemas.microsoft.com/office/drawing/2014/main" val="2562292327"/>
                  </a:ext>
                </a:extLst>
              </a:tr>
              <a:tr h="10086326">
                <a:tc>
                  <a:txBody>
                    <a:bodyPr/>
                    <a:lstStyle/>
                    <a:p>
                      <a:r>
                        <a:rPr lang="zh-CN" altLang="en-US" sz="2000" b="1" i="0" kern="1200" dirty="0">
                          <a:solidFill>
                            <a:schemeClr val="tx1"/>
                          </a:solidFill>
                          <a:effectLst/>
                          <a:latin typeface="+mn-lt"/>
                          <a:ea typeface="+mn-ea"/>
                          <a:cs typeface="+mn-cs"/>
                        </a:rPr>
                        <a:t>文件基本信息完整性</a:t>
                      </a:r>
                      <a:endParaRPr lang="zh-CN" altLang="en-US" sz="2000" b="0" i="0" kern="1200" dirty="0">
                        <a:solidFill>
                          <a:schemeClr val="tx1"/>
                        </a:solidFill>
                        <a:effectLst/>
                        <a:latin typeface="+mn-lt"/>
                        <a:ea typeface="+mn-ea"/>
                        <a:cs typeface="+mn-cs"/>
                      </a:endParaRP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文件名称、编号、版本、日期、页码等是否齐全。</a:t>
                      </a:r>
                    </a:p>
                    <a:p>
                      <a:r>
                        <a:rPr lang="zh-CN" altLang="en-US" sz="2000" b="1" i="0" kern="1200" dirty="0">
                          <a:solidFill>
                            <a:schemeClr val="tx1"/>
                          </a:solidFill>
                          <a:effectLst/>
                          <a:latin typeface="+mn-lt"/>
                          <a:ea typeface="+mn-ea"/>
                          <a:cs typeface="+mn-cs"/>
                        </a:rPr>
                        <a:t>产品信息完整性</a:t>
                      </a:r>
                      <a:endParaRPr lang="zh-CN" altLang="en-US" sz="2000" b="0" i="0" kern="1200" dirty="0">
                        <a:solidFill>
                          <a:schemeClr val="tx1"/>
                        </a:solidFill>
                        <a:effectLst/>
                        <a:latin typeface="+mn-lt"/>
                        <a:ea typeface="+mn-ea"/>
                        <a:cs typeface="+mn-cs"/>
                      </a:endParaRP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产品型号、产品名称、阶段（如</a:t>
                      </a:r>
                      <a:r>
                        <a:rPr lang="en-US" altLang="zh-CN" sz="2000" b="0" i="0" kern="1200" dirty="0">
                          <a:solidFill>
                            <a:schemeClr val="tx1"/>
                          </a:solidFill>
                          <a:effectLst/>
                          <a:latin typeface="+mn-lt"/>
                          <a:ea typeface="+mn-ea"/>
                          <a:cs typeface="+mn-cs"/>
                        </a:rPr>
                        <a:t>A</a:t>
                      </a:r>
                      <a:r>
                        <a:rPr lang="zh-CN" altLang="en-US" sz="2000" b="0" i="0" kern="1200" dirty="0">
                          <a:solidFill>
                            <a:schemeClr val="tx1"/>
                          </a:solidFill>
                          <a:effectLst/>
                          <a:latin typeface="+mn-lt"/>
                          <a:ea typeface="+mn-ea"/>
                          <a:cs typeface="+mn-cs"/>
                        </a:rPr>
                        <a:t>样）、适用范围等是否明确。</a:t>
                      </a:r>
                    </a:p>
                    <a:p>
                      <a:r>
                        <a:rPr lang="zh-CN" altLang="en-US" sz="2000" b="1" i="0" kern="1200" dirty="0">
                          <a:solidFill>
                            <a:schemeClr val="tx1"/>
                          </a:solidFill>
                          <a:effectLst/>
                          <a:latin typeface="+mn-lt"/>
                          <a:ea typeface="+mn-ea"/>
                          <a:cs typeface="+mn-cs"/>
                        </a:rPr>
                        <a:t>物料明细清晰</a:t>
                      </a:r>
                      <a:endParaRPr lang="zh-CN" altLang="en-US" sz="2000" b="0" i="0" kern="1200" dirty="0">
                        <a:solidFill>
                          <a:schemeClr val="tx1"/>
                        </a:solidFill>
                        <a:effectLst/>
                        <a:latin typeface="+mn-lt"/>
                        <a:ea typeface="+mn-ea"/>
                        <a:cs typeface="+mn-cs"/>
                      </a:endParaRP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序号、物料编码、物料名称、材料、零件图、是否开模、模具类型、备注等字段是否齐全且填写规范。</a:t>
                      </a:r>
                    </a:p>
                    <a:p>
                      <a:r>
                        <a:rPr lang="zh-CN" altLang="en-US" sz="2000" b="1" i="0" kern="1200" dirty="0">
                          <a:solidFill>
                            <a:schemeClr val="tx1"/>
                          </a:solidFill>
                          <a:effectLst/>
                          <a:latin typeface="+mn-lt"/>
                          <a:ea typeface="+mn-ea"/>
                          <a:cs typeface="+mn-cs"/>
                        </a:rPr>
                        <a:t>图片</a:t>
                      </a:r>
                      <a:r>
                        <a:rPr lang="en-US" altLang="zh-CN" sz="2000" b="1" i="0" kern="1200" dirty="0">
                          <a:solidFill>
                            <a:schemeClr val="tx1"/>
                          </a:solidFill>
                          <a:effectLst/>
                          <a:latin typeface="+mn-lt"/>
                          <a:ea typeface="+mn-ea"/>
                          <a:cs typeface="+mn-cs"/>
                        </a:rPr>
                        <a:t>/</a:t>
                      </a:r>
                      <a:r>
                        <a:rPr lang="zh-CN" altLang="en-US" sz="2000" b="1" i="0" kern="1200" dirty="0">
                          <a:solidFill>
                            <a:schemeClr val="tx1"/>
                          </a:solidFill>
                          <a:effectLst/>
                          <a:latin typeface="+mn-lt"/>
                          <a:ea typeface="+mn-ea"/>
                          <a:cs typeface="+mn-cs"/>
                        </a:rPr>
                        <a:t>图纸的可识别性</a:t>
                      </a:r>
                      <a:endParaRPr lang="zh-CN" altLang="en-US" sz="2000" b="0" i="0" kern="1200" dirty="0">
                        <a:solidFill>
                          <a:schemeClr val="tx1"/>
                        </a:solidFill>
                        <a:effectLst/>
                        <a:latin typeface="+mn-lt"/>
                        <a:ea typeface="+mn-ea"/>
                        <a:cs typeface="+mn-cs"/>
                      </a:endParaRP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零件图或图片是否清晰、能准确反映物料特征。</a:t>
                      </a:r>
                    </a:p>
                    <a:p>
                      <a:r>
                        <a:rPr lang="zh-CN" altLang="en-US" sz="2000" b="1" i="0" kern="1200" dirty="0">
                          <a:solidFill>
                            <a:schemeClr val="tx1"/>
                          </a:solidFill>
                          <a:effectLst/>
                          <a:latin typeface="+mn-lt"/>
                          <a:ea typeface="+mn-ea"/>
                          <a:cs typeface="+mn-cs"/>
                        </a:rPr>
                        <a:t>开模信息准确</a:t>
                      </a:r>
                      <a:endParaRPr lang="zh-CN" altLang="en-US" sz="2000" b="0" i="0" kern="1200" dirty="0">
                        <a:solidFill>
                          <a:schemeClr val="tx1"/>
                        </a:solidFill>
                        <a:effectLst/>
                        <a:latin typeface="+mn-lt"/>
                        <a:ea typeface="+mn-ea"/>
                        <a:cs typeface="+mn-cs"/>
                      </a:endParaRP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是否开模、模具类型等信息是否明确，是否与实际需求一致。</a:t>
                      </a:r>
                    </a:p>
                    <a:p>
                      <a:r>
                        <a:rPr lang="zh-CN" altLang="en-US" sz="2000" b="1" i="0" kern="1200" dirty="0">
                          <a:solidFill>
                            <a:schemeClr val="tx1"/>
                          </a:solidFill>
                          <a:effectLst/>
                          <a:latin typeface="+mn-lt"/>
                          <a:ea typeface="+mn-ea"/>
                          <a:cs typeface="+mn-cs"/>
                        </a:rPr>
                        <a:t>备注信息</a:t>
                      </a:r>
                      <a:endParaRPr lang="zh-CN" altLang="en-US" sz="2000" b="0" i="0" kern="1200" dirty="0">
                        <a:solidFill>
                          <a:schemeClr val="tx1"/>
                        </a:solidFill>
                        <a:effectLst/>
                        <a:latin typeface="+mn-lt"/>
                        <a:ea typeface="+mn-ea"/>
                        <a:cs typeface="+mn-cs"/>
                      </a:endParaRP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备注栏是否有必要的补充说明，特殊要求是否标注。</a:t>
                      </a:r>
                    </a:p>
                    <a:p>
                      <a:r>
                        <a:rPr lang="zh-CN" altLang="en-US" sz="2000" b="1" i="0" kern="1200" dirty="0">
                          <a:solidFill>
                            <a:schemeClr val="tx1"/>
                          </a:solidFill>
                          <a:effectLst/>
                          <a:latin typeface="+mn-lt"/>
                          <a:ea typeface="+mn-ea"/>
                          <a:cs typeface="+mn-cs"/>
                        </a:rPr>
                        <a:t>签字与责任</a:t>
                      </a:r>
                      <a:endParaRPr lang="zh-CN" altLang="en-US" sz="2000" b="0" i="0" kern="1200" dirty="0">
                        <a:solidFill>
                          <a:schemeClr val="tx1"/>
                        </a:solidFill>
                        <a:effectLst/>
                        <a:latin typeface="+mn-lt"/>
                        <a:ea typeface="+mn-ea"/>
                        <a:cs typeface="+mn-cs"/>
                      </a:endParaRP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编制、会签、审核等责任人签字栏是否齐全。</a:t>
                      </a:r>
                    </a:p>
                    <a:p>
                      <a:r>
                        <a:rPr lang="zh-CN" altLang="en-US" sz="2000" b="1" i="0" kern="1200" dirty="0">
                          <a:solidFill>
                            <a:schemeClr val="tx1"/>
                          </a:solidFill>
                          <a:effectLst/>
                          <a:latin typeface="+mn-lt"/>
                          <a:ea typeface="+mn-ea"/>
                          <a:cs typeface="+mn-cs"/>
                        </a:rPr>
                        <a:t>合计与统计</a:t>
                      </a:r>
                      <a:endParaRPr lang="zh-CN" altLang="en-US" sz="2000" b="0" i="0" kern="1200" dirty="0">
                        <a:solidFill>
                          <a:schemeClr val="tx1"/>
                        </a:solidFill>
                        <a:effectLst/>
                        <a:latin typeface="+mn-lt"/>
                        <a:ea typeface="+mn-ea"/>
                        <a:cs typeface="+mn-cs"/>
                      </a:endParaRP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合计金额或数量等统计项是否准确、合理。</a:t>
                      </a:r>
                    </a:p>
                    <a:p>
                      <a:r>
                        <a:rPr lang="zh-CN" altLang="en-US" sz="2000" b="1" i="0" kern="1200" dirty="0">
                          <a:solidFill>
                            <a:schemeClr val="tx1"/>
                          </a:solidFill>
                          <a:effectLst/>
                          <a:latin typeface="+mn-lt"/>
                          <a:ea typeface="+mn-ea"/>
                          <a:cs typeface="+mn-cs"/>
                        </a:rPr>
                        <a:t>符合</a:t>
                      </a:r>
                      <a:r>
                        <a:rPr lang="en-US" altLang="zh-CN" sz="2000" b="1" i="0" kern="1200" dirty="0">
                          <a:solidFill>
                            <a:schemeClr val="tx1"/>
                          </a:solidFill>
                          <a:effectLst/>
                          <a:latin typeface="+mn-lt"/>
                          <a:ea typeface="+mn-ea"/>
                          <a:cs typeface="+mn-cs"/>
                        </a:rPr>
                        <a:t>APQP</a:t>
                      </a:r>
                      <a:r>
                        <a:rPr lang="zh-CN" altLang="en-US" sz="2000" b="1" i="0" kern="1200" dirty="0">
                          <a:solidFill>
                            <a:schemeClr val="tx1"/>
                          </a:solidFill>
                          <a:effectLst/>
                          <a:latin typeface="+mn-lt"/>
                          <a:ea typeface="+mn-ea"/>
                          <a:cs typeface="+mn-cs"/>
                        </a:rPr>
                        <a:t>阶段要求</a:t>
                      </a:r>
                      <a:endParaRPr lang="zh-CN" altLang="en-US" sz="2000" b="0" i="0" kern="1200" dirty="0">
                        <a:solidFill>
                          <a:schemeClr val="tx1"/>
                        </a:solidFill>
                        <a:effectLst/>
                        <a:latin typeface="+mn-lt"/>
                        <a:ea typeface="+mn-ea"/>
                        <a:cs typeface="+mn-cs"/>
                      </a:endParaRP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文件内容是否满足</a:t>
                      </a:r>
                      <a:r>
                        <a:rPr lang="en-US" altLang="zh-CN" sz="2000" b="0" i="0" kern="1200" dirty="0">
                          <a:solidFill>
                            <a:schemeClr val="tx1"/>
                          </a:solidFill>
                          <a:effectLst/>
                          <a:latin typeface="+mn-lt"/>
                          <a:ea typeface="+mn-ea"/>
                          <a:cs typeface="+mn-cs"/>
                        </a:rPr>
                        <a:t>A</a:t>
                      </a:r>
                      <a:r>
                        <a:rPr lang="zh-CN" altLang="en-US" sz="2000" b="0" i="0" kern="1200" dirty="0">
                          <a:solidFill>
                            <a:schemeClr val="tx1"/>
                          </a:solidFill>
                          <a:effectLst/>
                          <a:latin typeface="+mn-lt"/>
                          <a:ea typeface="+mn-ea"/>
                          <a:cs typeface="+mn-cs"/>
                        </a:rPr>
                        <a:t>样阶段的</a:t>
                      </a:r>
                      <a:r>
                        <a:rPr lang="en-US" altLang="zh-CN" sz="2000" b="0" i="0" kern="1200" dirty="0">
                          <a:solidFill>
                            <a:schemeClr val="tx1"/>
                          </a:solidFill>
                          <a:effectLst/>
                          <a:latin typeface="+mn-lt"/>
                          <a:ea typeface="+mn-ea"/>
                          <a:cs typeface="+mn-cs"/>
                        </a:rPr>
                        <a:t>APQP</a:t>
                      </a:r>
                      <a:r>
                        <a:rPr lang="zh-CN" altLang="en-US" sz="2000" b="0" i="0" kern="1200" dirty="0">
                          <a:solidFill>
                            <a:schemeClr val="tx1"/>
                          </a:solidFill>
                          <a:effectLst/>
                          <a:latin typeface="+mn-lt"/>
                          <a:ea typeface="+mn-ea"/>
                          <a:cs typeface="+mn-cs"/>
                        </a:rPr>
                        <a:t>要求（如</a:t>
                      </a:r>
                      <a:r>
                        <a:rPr lang="en-US" altLang="zh-CN" sz="2000" b="0" i="0" kern="1200" dirty="0">
                          <a:solidFill>
                            <a:schemeClr val="tx1"/>
                          </a:solidFill>
                          <a:effectLst/>
                          <a:latin typeface="+mn-lt"/>
                          <a:ea typeface="+mn-ea"/>
                          <a:cs typeface="+mn-cs"/>
                        </a:rPr>
                        <a:t>BOM</a:t>
                      </a:r>
                      <a:r>
                        <a:rPr lang="zh-CN" altLang="en-US" sz="2000" b="0" i="0" kern="1200" dirty="0">
                          <a:solidFill>
                            <a:schemeClr val="tx1"/>
                          </a:solidFill>
                          <a:effectLst/>
                          <a:latin typeface="+mn-lt"/>
                          <a:ea typeface="+mn-ea"/>
                          <a:cs typeface="+mn-cs"/>
                        </a:rPr>
                        <a:t>、开模件、特殊特性标识等）。</a:t>
                      </a:r>
                    </a:p>
                    <a:p>
                      <a:r>
                        <a:rPr lang="zh-CN" altLang="en-US" sz="2000" b="1" i="0" kern="1200" dirty="0">
                          <a:solidFill>
                            <a:schemeClr val="tx1"/>
                          </a:solidFill>
                          <a:effectLst/>
                          <a:latin typeface="+mn-lt"/>
                          <a:ea typeface="+mn-ea"/>
                          <a:cs typeface="+mn-cs"/>
                        </a:rPr>
                        <a:t>文件格式规范</a:t>
                      </a:r>
                      <a:endParaRPr lang="zh-CN" altLang="en-US" sz="2000" b="0" i="0" kern="1200" dirty="0">
                        <a:solidFill>
                          <a:schemeClr val="tx1"/>
                        </a:solidFill>
                        <a:effectLst/>
                        <a:latin typeface="+mn-lt"/>
                        <a:ea typeface="+mn-ea"/>
                        <a:cs typeface="+mn-cs"/>
                      </a:endParaRP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表格排版、字体、边框、颜色等是否规范、易读。</a:t>
                      </a:r>
                    </a:p>
                  </a:txBody>
                  <a:tcPr/>
                </a:tc>
                <a:tc>
                  <a:txBody>
                    <a:bodyPr/>
                    <a:lstStyle/>
                    <a:p>
                      <a:pPr marL="0" marR="0" lvl="0" indent="0" algn="l" defTabSz="1828800" rtl="0" eaLnBrk="1" fontAlgn="auto" latinLnBrk="0" hangingPunct="1">
                        <a:lnSpc>
                          <a:spcPct val="100000"/>
                        </a:lnSpc>
                        <a:spcBef>
                          <a:spcPts val="0"/>
                        </a:spcBef>
                        <a:spcAft>
                          <a:spcPts val="0"/>
                        </a:spcAft>
                        <a:buClrTx/>
                        <a:buSzTx/>
                        <a:buFontTx/>
                        <a:buNone/>
                        <a:tabLst/>
                        <a:defRPr/>
                      </a:pPr>
                      <a:r>
                        <a:rPr lang="zh-CN" altLang="en-US" sz="2000" b="1" dirty="0">
                          <a:effectLst/>
                        </a:rPr>
                        <a:t> 文件基本信息完整性✅</a:t>
                      </a:r>
                    </a:p>
                    <a:p>
                      <a:r>
                        <a:rPr lang="zh-CN" altLang="en-US" sz="2000" b="1" dirty="0">
                          <a:effectLst/>
                        </a:rPr>
                        <a:t>结论：通过</a:t>
                      </a:r>
                      <a:endParaRPr lang="zh-CN" altLang="en-US" sz="2000" dirty="0">
                        <a:effectLst/>
                      </a:endParaRPr>
                    </a:p>
                    <a:p>
                      <a:pPr marL="342900" indent="-342900">
                        <a:buFont typeface="Arial" panose="020B0604020202020204" pitchFamily="34" charset="0"/>
                        <a:buChar char="•"/>
                      </a:pPr>
                      <a:r>
                        <a:rPr lang="zh-CN" altLang="en-US" sz="2000" dirty="0">
                          <a:effectLst/>
                        </a:rPr>
                        <a:t>文件顶部有文件名、产品型号（</a:t>
                      </a:r>
                      <a:r>
                        <a:rPr lang="en-US" altLang="zh-CN" sz="2000" dirty="0">
                          <a:effectLst/>
                        </a:rPr>
                        <a:t>A0</a:t>
                      </a:r>
                      <a:r>
                        <a:rPr lang="zh-CN" altLang="en-US" sz="2000" dirty="0">
                          <a:effectLst/>
                        </a:rPr>
                        <a:t>）、日期（</a:t>
                      </a:r>
                      <a:r>
                        <a:rPr lang="en-US" altLang="zh-CN" sz="2000" dirty="0">
                          <a:effectLst/>
                        </a:rPr>
                        <a:t>2023/4/25</a:t>
                      </a:r>
                      <a:r>
                        <a:rPr lang="zh-CN" altLang="en-US" sz="2000" dirty="0">
                          <a:effectLst/>
                        </a:rPr>
                        <a:t>）、页码（共</a:t>
                      </a:r>
                      <a:r>
                        <a:rPr lang="en-US" altLang="zh-CN" sz="2000" dirty="0">
                          <a:effectLst/>
                        </a:rPr>
                        <a:t>1</a:t>
                      </a:r>
                      <a:r>
                        <a:rPr lang="zh-CN" altLang="en-US" sz="2000" dirty="0">
                          <a:effectLst/>
                        </a:rPr>
                        <a:t>页</a:t>
                      </a:r>
                      <a:r>
                        <a:rPr lang="en-US" altLang="zh-CN" sz="2000" dirty="0">
                          <a:effectLst/>
                        </a:rPr>
                        <a:t>/</a:t>
                      </a:r>
                      <a:r>
                        <a:rPr lang="zh-CN" altLang="en-US" sz="2000" dirty="0">
                          <a:effectLst/>
                        </a:rPr>
                        <a:t>共</a:t>
                      </a:r>
                      <a:r>
                        <a:rPr lang="en-US" altLang="zh-CN" sz="2000" dirty="0">
                          <a:effectLst/>
                        </a:rPr>
                        <a:t>4</a:t>
                      </a:r>
                      <a:r>
                        <a:rPr lang="zh-CN" altLang="en-US" sz="2000" dirty="0">
                          <a:effectLst/>
                        </a:rPr>
                        <a:t>页），基本信息较为完整。</a:t>
                      </a:r>
                    </a:p>
                    <a:p>
                      <a:pPr marL="0" marR="0" lvl="0" indent="0" algn="l" defTabSz="1828800" rtl="0" eaLnBrk="1" fontAlgn="auto" latinLnBrk="0" hangingPunct="1">
                        <a:lnSpc>
                          <a:spcPct val="100000"/>
                        </a:lnSpc>
                        <a:spcBef>
                          <a:spcPts val="0"/>
                        </a:spcBef>
                        <a:spcAft>
                          <a:spcPts val="0"/>
                        </a:spcAft>
                        <a:buClrTx/>
                        <a:buSzTx/>
                        <a:buFontTx/>
                        <a:buNone/>
                        <a:tabLst/>
                        <a:defRPr/>
                      </a:pPr>
                      <a:r>
                        <a:rPr lang="en-US" altLang="zh-CN" sz="2000" b="1" dirty="0">
                          <a:effectLst/>
                        </a:rPr>
                        <a:t>2. </a:t>
                      </a:r>
                      <a:r>
                        <a:rPr lang="zh-CN" altLang="en-US" sz="2000" b="1" dirty="0">
                          <a:effectLst/>
                        </a:rPr>
                        <a:t>产品信息完整性✅</a:t>
                      </a:r>
                    </a:p>
                    <a:p>
                      <a:r>
                        <a:rPr lang="zh-CN" altLang="en-US" sz="2000" b="1" dirty="0">
                          <a:effectLst/>
                        </a:rPr>
                        <a:t>结论：通过</a:t>
                      </a:r>
                      <a:endParaRPr lang="zh-CN" altLang="en-US" sz="2000" dirty="0">
                        <a:effectLst/>
                      </a:endParaRPr>
                    </a:p>
                    <a:p>
                      <a:pPr marL="342900" indent="-342900">
                        <a:buFont typeface="Arial" panose="020B0604020202020204" pitchFamily="34" charset="0"/>
                        <a:buChar char="•"/>
                      </a:pPr>
                      <a:r>
                        <a:rPr lang="zh-CN" altLang="en-US" sz="2000" dirty="0">
                          <a:effectLst/>
                        </a:rPr>
                        <a:t>产品型号、产品名称、阶段（</a:t>
                      </a:r>
                      <a:r>
                        <a:rPr lang="en-US" altLang="zh-CN" sz="2000" dirty="0">
                          <a:effectLst/>
                        </a:rPr>
                        <a:t>A</a:t>
                      </a:r>
                      <a:r>
                        <a:rPr lang="zh-CN" altLang="en-US" sz="2000" dirty="0">
                          <a:effectLst/>
                        </a:rPr>
                        <a:t>样）均有体现。</a:t>
                      </a:r>
                    </a:p>
                    <a:p>
                      <a:pPr marL="0" marR="0" lvl="0" indent="0" algn="l" defTabSz="1828800" rtl="0" eaLnBrk="1" fontAlgn="auto" latinLnBrk="0" hangingPunct="1">
                        <a:lnSpc>
                          <a:spcPct val="100000"/>
                        </a:lnSpc>
                        <a:spcBef>
                          <a:spcPts val="0"/>
                        </a:spcBef>
                        <a:spcAft>
                          <a:spcPts val="0"/>
                        </a:spcAft>
                        <a:buClrTx/>
                        <a:buSzTx/>
                        <a:buFontTx/>
                        <a:buNone/>
                        <a:tabLst/>
                        <a:defRPr/>
                      </a:pPr>
                      <a:r>
                        <a:rPr lang="en-US" altLang="zh-CN" sz="2000" b="1" dirty="0">
                          <a:effectLst/>
                        </a:rPr>
                        <a:t>3. </a:t>
                      </a:r>
                      <a:r>
                        <a:rPr lang="zh-CN" altLang="en-US" sz="2000" b="1" dirty="0">
                          <a:effectLst/>
                        </a:rPr>
                        <a:t>物料明细清晰✅</a:t>
                      </a:r>
                    </a:p>
                    <a:p>
                      <a:r>
                        <a:rPr lang="zh-CN" altLang="en-US" sz="2000" b="1" dirty="0">
                          <a:effectLst/>
                        </a:rPr>
                        <a:t>结论：通过</a:t>
                      </a:r>
                      <a:endParaRPr lang="zh-CN" altLang="en-US" sz="2000" dirty="0">
                        <a:effectLst/>
                      </a:endParaRPr>
                    </a:p>
                    <a:p>
                      <a:pPr marL="342900" indent="-342900">
                        <a:buFont typeface="Arial" panose="020B0604020202020204" pitchFamily="34" charset="0"/>
                        <a:buChar char="•"/>
                      </a:pPr>
                      <a:r>
                        <a:rPr lang="zh-CN" altLang="en-US" sz="2000" dirty="0">
                          <a:effectLst/>
                        </a:rPr>
                        <a:t>物料明细表头齐全，内容包括序号、物料编码、名称、材料、零件图、是否开模、模具类型、备注等，填写规范。</a:t>
                      </a:r>
                    </a:p>
                    <a:p>
                      <a:pPr marL="0" marR="0" lvl="0" indent="0" algn="l" defTabSz="1828800" rtl="0" eaLnBrk="1" fontAlgn="auto" latinLnBrk="0" hangingPunct="1">
                        <a:lnSpc>
                          <a:spcPct val="100000"/>
                        </a:lnSpc>
                        <a:spcBef>
                          <a:spcPts val="0"/>
                        </a:spcBef>
                        <a:spcAft>
                          <a:spcPts val="0"/>
                        </a:spcAft>
                        <a:buClrTx/>
                        <a:buSzTx/>
                        <a:buFontTx/>
                        <a:buNone/>
                        <a:tabLst/>
                        <a:defRPr/>
                      </a:pPr>
                      <a:r>
                        <a:rPr lang="en-US" altLang="zh-CN" sz="2000" b="1" dirty="0">
                          <a:effectLst/>
                        </a:rPr>
                        <a:t>4. </a:t>
                      </a:r>
                      <a:r>
                        <a:rPr lang="zh-CN" altLang="en-US" sz="2000" b="1" dirty="0">
                          <a:effectLst/>
                        </a:rPr>
                        <a:t>图片</a:t>
                      </a:r>
                      <a:r>
                        <a:rPr lang="en-US" altLang="zh-CN" sz="2000" b="1" dirty="0">
                          <a:effectLst/>
                        </a:rPr>
                        <a:t>/</a:t>
                      </a:r>
                      <a:r>
                        <a:rPr lang="zh-CN" altLang="en-US" sz="2000" b="1" dirty="0">
                          <a:effectLst/>
                        </a:rPr>
                        <a:t>图纸的可识别性⚠️</a:t>
                      </a:r>
                    </a:p>
                    <a:p>
                      <a:r>
                        <a:rPr lang="zh-CN" altLang="en-US" sz="2000" b="1" dirty="0">
                          <a:effectLst/>
                        </a:rPr>
                        <a:t>结论：部分通过</a:t>
                      </a:r>
                      <a:endParaRPr lang="zh-CN" altLang="en-US" sz="2000" dirty="0">
                        <a:effectLst/>
                      </a:endParaRPr>
                    </a:p>
                    <a:p>
                      <a:r>
                        <a:rPr lang="zh-CN" altLang="en-US" sz="2000" b="1" dirty="0">
                          <a:effectLst/>
                        </a:rPr>
                        <a:t>问题：</a:t>
                      </a:r>
                      <a:r>
                        <a:rPr lang="zh-CN" altLang="en-US" sz="2000" dirty="0">
                          <a:effectLst/>
                        </a:rPr>
                        <a:t> </a:t>
                      </a:r>
                      <a:endParaRPr lang="en-GB" altLang="zh-CN" sz="2000" dirty="0">
                        <a:effectLst/>
                      </a:endParaRPr>
                    </a:p>
                    <a:p>
                      <a:pPr marL="342900" indent="-342900">
                        <a:buFont typeface="Arial" panose="020B0604020202020204" pitchFamily="34" charset="0"/>
                        <a:buChar char="•"/>
                      </a:pPr>
                      <a:r>
                        <a:rPr lang="zh-CN" altLang="en-US" sz="2000" dirty="0">
                          <a:effectLst/>
                        </a:rPr>
                        <a:t>零件图有图片，但截图中部分图片被“第</a:t>
                      </a:r>
                      <a:r>
                        <a:rPr lang="en-US" altLang="zh-CN" sz="2000" dirty="0">
                          <a:effectLst/>
                        </a:rPr>
                        <a:t>1</a:t>
                      </a:r>
                      <a:r>
                        <a:rPr lang="zh-CN" altLang="en-US" sz="2000" dirty="0">
                          <a:effectLst/>
                        </a:rPr>
                        <a:t>页”水印遮挡，影响识别。</a:t>
                      </a:r>
                    </a:p>
                    <a:p>
                      <a:r>
                        <a:rPr lang="zh-CN" altLang="en-US" sz="2000" b="1" dirty="0">
                          <a:effectLst/>
                        </a:rPr>
                        <a:t>建议：</a:t>
                      </a:r>
                      <a:r>
                        <a:rPr lang="zh-CN" altLang="en-US" sz="2000" dirty="0">
                          <a:effectLst/>
                        </a:rPr>
                        <a:t> </a:t>
                      </a:r>
                      <a:endParaRPr lang="en-GB" altLang="zh-CN" sz="2000" dirty="0">
                        <a:effectLst/>
                      </a:endParaRPr>
                    </a:p>
                    <a:p>
                      <a:pPr marL="342900" indent="-342900">
                        <a:buFont typeface="Arial" panose="020B0604020202020204" pitchFamily="34" charset="0"/>
                        <a:buChar char="•"/>
                      </a:pPr>
                      <a:r>
                        <a:rPr lang="zh-CN" altLang="en-US" sz="2000" dirty="0">
                          <a:effectLst/>
                        </a:rPr>
                        <a:t>建议去除水印或调整水印透明度，确保图片内容清晰可见，便于评审和后续生产。</a:t>
                      </a:r>
                    </a:p>
                    <a:p>
                      <a:pPr marL="0" marR="0" lvl="0" indent="0" algn="l" defTabSz="1828800" rtl="0" eaLnBrk="1" fontAlgn="auto" latinLnBrk="0" hangingPunct="1">
                        <a:lnSpc>
                          <a:spcPct val="100000"/>
                        </a:lnSpc>
                        <a:spcBef>
                          <a:spcPts val="0"/>
                        </a:spcBef>
                        <a:spcAft>
                          <a:spcPts val="0"/>
                        </a:spcAft>
                        <a:buClrTx/>
                        <a:buSzTx/>
                        <a:buFontTx/>
                        <a:buNone/>
                        <a:tabLst/>
                        <a:defRPr/>
                      </a:pPr>
                      <a:r>
                        <a:rPr lang="en-US" altLang="zh-CN" sz="2000" b="1" dirty="0">
                          <a:effectLst/>
                        </a:rPr>
                        <a:t>5. </a:t>
                      </a:r>
                      <a:r>
                        <a:rPr lang="zh-CN" altLang="en-US" sz="2000" b="1" dirty="0">
                          <a:effectLst/>
                        </a:rPr>
                        <a:t>开模信息准确✅</a:t>
                      </a:r>
                    </a:p>
                    <a:p>
                      <a:r>
                        <a:rPr lang="zh-CN" altLang="en-US" sz="2000" b="1" dirty="0">
                          <a:effectLst/>
                        </a:rPr>
                        <a:t>结论：通过</a:t>
                      </a:r>
                      <a:endParaRPr lang="zh-CN" altLang="en-US" sz="2000" dirty="0">
                        <a:effectLst/>
                      </a:endParaRPr>
                    </a:p>
                    <a:p>
                      <a:pPr marL="342900" indent="-342900">
                        <a:buFont typeface="Arial" panose="020B0604020202020204" pitchFamily="34" charset="0"/>
                        <a:buChar char="•"/>
                      </a:pPr>
                      <a:r>
                        <a:rPr lang="zh-CN" altLang="en-US" sz="2000" dirty="0">
                          <a:effectLst/>
                        </a:rPr>
                        <a:t>“是否开模”“模具类型”均有明确标注，且与物料属性相符。</a:t>
                      </a:r>
                    </a:p>
                    <a:p>
                      <a:pPr marL="0" marR="0" lvl="0" indent="0" algn="l" defTabSz="1828800" rtl="0" eaLnBrk="1" fontAlgn="auto" latinLnBrk="0" hangingPunct="1">
                        <a:lnSpc>
                          <a:spcPct val="100000"/>
                        </a:lnSpc>
                        <a:spcBef>
                          <a:spcPts val="0"/>
                        </a:spcBef>
                        <a:spcAft>
                          <a:spcPts val="0"/>
                        </a:spcAft>
                        <a:buClrTx/>
                        <a:buSzTx/>
                        <a:buFontTx/>
                        <a:buNone/>
                        <a:tabLst/>
                        <a:defRPr/>
                      </a:pPr>
                      <a:r>
                        <a:rPr lang="en-US" altLang="zh-CN" sz="2000" b="1" dirty="0">
                          <a:effectLst/>
                        </a:rPr>
                        <a:t>6. </a:t>
                      </a:r>
                      <a:r>
                        <a:rPr lang="zh-CN" altLang="en-US" sz="2000" b="1" dirty="0">
                          <a:effectLst/>
                        </a:rPr>
                        <a:t>备注信息✅</a:t>
                      </a:r>
                    </a:p>
                    <a:p>
                      <a:r>
                        <a:rPr lang="zh-CN" altLang="en-US" sz="2000" b="1" dirty="0">
                          <a:effectLst/>
                        </a:rPr>
                        <a:t>结论：通过</a:t>
                      </a:r>
                      <a:endParaRPr lang="zh-CN" altLang="en-US" sz="2000" dirty="0">
                        <a:effectLst/>
                      </a:endParaRPr>
                    </a:p>
                    <a:p>
                      <a:pPr marL="342900" indent="-342900">
                        <a:buFont typeface="Arial" panose="020B0604020202020204" pitchFamily="34" charset="0"/>
                        <a:buChar char="•"/>
                      </a:pPr>
                      <a:r>
                        <a:rPr lang="zh-CN" altLang="en-US" sz="2000" dirty="0">
                          <a:effectLst/>
                        </a:rPr>
                        <a:t>备注栏有“结构”“热管理”等补充说明，内容合理。</a:t>
                      </a:r>
                    </a:p>
                  </a:txBody>
                  <a:tcPr/>
                </a:tc>
                <a:tc>
                  <a:txBody>
                    <a:bodyPr/>
                    <a:lstStyle/>
                    <a:p>
                      <a:r>
                        <a:rPr lang="en-US" altLang="zh-CN" sz="2000" b="1" dirty="0">
                          <a:effectLst/>
                        </a:rPr>
                        <a:t>7. </a:t>
                      </a:r>
                      <a:r>
                        <a:rPr lang="zh-CN" altLang="en-US" sz="2000" b="1" dirty="0">
                          <a:effectLst/>
                        </a:rPr>
                        <a:t>签字与责任❌</a:t>
                      </a:r>
                    </a:p>
                    <a:p>
                      <a:r>
                        <a:rPr lang="zh-CN" altLang="en-US" sz="2000" b="1" dirty="0">
                          <a:effectLst/>
                        </a:rPr>
                        <a:t>结论：不通过</a:t>
                      </a:r>
                      <a:endParaRPr lang="zh-CN" altLang="en-US" sz="2000" dirty="0">
                        <a:effectLst/>
                      </a:endParaRPr>
                    </a:p>
                    <a:p>
                      <a:r>
                        <a:rPr lang="zh-CN" altLang="en-US" sz="2000" b="1" dirty="0">
                          <a:effectLst/>
                        </a:rPr>
                        <a:t>问题：</a:t>
                      </a:r>
                      <a:r>
                        <a:rPr lang="zh-CN" altLang="en-US" sz="2000" dirty="0">
                          <a:effectLst/>
                        </a:rPr>
                        <a:t> </a:t>
                      </a:r>
                      <a:endParaRPr lang="en-GB" altLang="zh-CN" sz="2000" dirty="0">
                        <a:effectLst/>
                      </a:endParaRPr>
                    </a:p>
                    <a:p>
                      <a:pPr marL="342900" indent="-342900">
                        <a:buFont typeface="Arial" panose="020B0604020202020204" pitchFamily="34" charset="0"/>
                        <a:buChar char="•"/>
                      </a:pPr>
                      <a:r>
                        <a:rPr lang="zh-CN" altLang="en-US" sz="2000" dirty="0">
                          <a:effectLst/>
                        </a:rPr>
                        <a:t>“编制”“会签”“审核”栏位为空，缺少责任人签字。</a:t>
                      </a:r>
                    </a:p>
                    <a:p>
                      <a:r>
                        <a:rPr lang="zh-CN" altLang="en-US" sz="2000" b="1" dirty="0">
                          <a:effectLst/>
                        </a:rPr>
                        <a:t>建议：</a:t>
                      </a:r>
                      <a:endParaRPr lang="en-GB" altLang="zh-CN" sz="2000" b="1" dirty="0">
                        <a:effectLst/>
                      </a:endParaRPr>
                    </a:p>
                    <a:p>
                      <a:pPr marL="342900" indent="-342900">
                        <a:buFont typeface="Arial" panose="020B0604020202020204" pitchFamily="34" charset="0"/>
                        <a:buChar char="•"/>
                      </a:pPr>
                      <a:r>
                        <a:rPr lang="zh-CN" altLang="en-US" sz="2000" dirty="0">
                          <a:effectLst/>
                        </a:rPr>
                        <a:t> 请补充相关责任人签字或电子签名，确保文件的有效性和可追溯性。</a:t>
                      </a:r>
                    </a:p>
                    <a:p>
                      <a:pPr marL="0" marR="0" lvl="0" indent="0" algn="l" defTabSz="1828800" rtl="0" eaLnBrk="1" fontAlgn="auto" latinLnBrk="0" hangingPunct="1">
                        <a:lnSpc>
                          <a:spcPct val="100000"/>
                        </a:lnSpc>
                        <a:spcBef>
                          <a:spcPts val="0"/>
                        </a:spcBef>
                        <a:spcAft>
                          <a:spcPts val="0"/>
                        </a:spcAft>
                        <a:buClrTx/>
                        <a:buSzTx/>
                        <a:buFontTx/>
                        <a:buNone/>
                        <a:tabLst/>
                        <a:defRPr/>
                      </a:pPr>
                      <a:r>
                        <a:rPr lang="en-US" altLang="zh-CN" sz="2000" b="1" dirty="0">
                          <a:effectLst/>
                        </a:rPr>
                        <a:t>8. </a:t>
                      </a:r>
                      <a:r>
                        <a:rPr lang="zh-CN" altLang="en-US" sz="2000" b="1" dirty="0">
                          <a:effectLst/>
                        </a:rPr>
                        <a:t>合计与统计⚠️</a:t>
                      </a:r>
                    </a:p>
                    <a:p>
                      <a:r>
                        <a:rPr lang="zh-CN" altLang="en-US" sz="2000" b="1" dirty="0">
                          <a:effectLst/>
                        </a:rPr>
                        <a:t>结论：部分通过</a:t>
                      </a:r>
                      <a:endParaRPr lang="zh-CN" altLang="en-US" sz="2000" dirty="0">
                        <a:effectLst/>
                      </a:endParaRPr>
                    </a:p>
                    <a:p>
                      <a:r>
                        <a:rPr lang="zh-CN" altLang="en-US" sz="2000" b="1" dirty="0">
                          <a:effectLst/>
                        </a:rPr>
                        <a:t>问题：</a:t>
                      </a:r>
                      <a:endParaRPr lang="en-GB" altLang="zh-CN" sz="2000" b="1" dirty="0">
                        <a:effectLst/>
                      </a:endParaRPr>
                    </a:p>
                    <a:p>
                      <a:pPr marL="342900" indent="-342900">
                        <a:buFont typeface="Arial" panose="020B0604020202020204" pitchFamily="34" charset="0"/>
                        <a:buChar char="•"/>
                      </a:pPr>
                      <a:r>
                        <a:rPr lang="zh-CN" altLang="en-US" sz="2000" dirty="0">
                          <a:effectLst/>
                        </a:rPr>
                        <a:t> 合计栏仅有“合计（元）”字样，未见具体金额或数量统计。</a:t>
                      </a:r>
                    </a:p>
                    <a:p>
                      <a:r>
                        <a:rPr lang="zh-CN" altLang="en-US" sz="2000" b="1" dirty="0">
                          <a:effectLst/>
                        </a:rPr>
                        <a:t>建议：</a:t>
                      </a:r>
                      <a:endParaRPr lang="en-GB" altLang="zh-CN" sz="2000" b="1" dirty="0">
                        <a:effectLst/>
                      </a:endParaRPr>
                    </a:p>
                    <a:p>
                      <a:pPr marL="342900" indent="-342900">
                        <a:buFont typeface="Arial" panose="020B0604020202020204" pitchFamily="34" charset="0"/>
                        <a:buChar char="•"/>
                      </a:pPr>
                      <a:r>
                        <a:rPr lang="zh-CN" altLang="en-US" sz="2000" dirty="0">
                          <a:effectLst/>
                        </a:rPr>
                        <a:t> 建议补充合计金额或数量，便于成本核算和管理。</a:t>
                      </a:r>
                    </a:p>
                    <a:p>
                      <a:pPr marL="0" marR="0" lvl="0" indent="0" algn="l" defTabSz="1828800" rtl="0" eaLnBrk="1" fontAlgn="auto" latinLnBrk="0" hangingPunct="1">
                        <a:lnSpc>
                          <a:spcPct val="100000"/>
                        </a:lnSpc>
                        <a:spcBef>
                          <a:spcPts val="0"/>
                        </a:spcBef>
                        <a:spcAft>
                          <a:spcPts val="0"/>
                        </a:spcAft>
                        <a:buClrTx/>
                        <a:buSzTx/>
                        <a:buFontTx/>
                        <a:buNone/>
                        <a:tabLst/>
                        <a:defRPr/>
                      </a:pPr>
                      <a:r>
                        <a:rPr lang="en-US" altLang="zh-CN" sz="2000" b="1" dirty="0">
                          <a:effectLst/>
                        </a:rPr>
                        <a:t>9. </a:t>
                      </a:r>
                      <a:r>
                        <a:rPr lang="zh-CN" altLang="en-US" sz="2000" b="1" dirty="0">
                          <a:effectLst/>
                        </a:rPr>
                        <a:t>符合</a:t>
                      </a:r>
                      <a:r>
                        <a:rPr lang="en-US" altLang="zh-CN" sz="2000" b="1" dirty="0">
                          <a:effectLst/>
                        </a:rPr>
                        <a:t>APQP</a:t>
                      </a:r>
                      <a:r>
                        <a:rPr lang="zh-CN" altLang="en-US" sz="2000" b="1" dirty="0">
                          <a:effectLst/>
                        </a:rPr>
                        <a:t>阶段要求✅</a:t>
                      </a:r>
                    </a:p>
                    <a:p>
                      <a:r>
                        <a:rPr lang="zh-CN" altLang="en-US" sz="2000" b="1" dirty="0">
                          <a:effectLst/>
                        </a:rPr>
                        <a:t>结论：通过</a:t>
                      </a:r>
                      <a:endParaRPr lang="zh-CN" altLang="en-US" sz="2000" dirty="0">
                        <a:effectLst/>
                      </a:endParaRPr>
                    </a:p>
                    <a:p>
                      <a:pPr marL="342900" indent="-342900">
                        <a:buFont typeface="Arial" panose="020B0604020202020204" pitchFamily="34" charset="0"/>
                        <a:buChar char="•"/>
                      </a:pPr>
                      <a:r>
                        <a:rPr lang="zh-CN" altLang="en-US" sz="2000" dirty="0">
                          <a:effectLst/>
                        </a:rPr>
                        <a:t>文件内容覆盖</a:t>
                      </a:r>
                      <a:r>
                        <a:rPr lang="en-US" altLang="zh-CN" sz="2000" dirty="0">
                          <a:effectLst/>
                        </a:rPr>
                        <a:t>A</a:t>
                      </a:r>
                      <a:r>
                        <a:rPr lang="zh-CN" altLang="en-US" sz="2000" dirty="0">
                          <a:effectLst/>
                        </a:rPr>
                        <a:t>样阶段的开模件清单要求，包含</a:t>
                      </a:r>
                      <a:r>
                        <a:rPr lang="en-US" altLang="zh-CN" sz="2000" dirty="0">
                          <a:effectLst/>
                        </a:rPr>
                        <a:t>BOM</a:t>
                      </a:r>
                      <a:r>
                        <a:rPr lang="zh-CN" altLang="en-US" sz="2000" dirty="0">
                          <a:effectLst/>
                        </a:rPr>
                        <a:t>、开模件、模具类型等。</a:t>
                      </a:r>
                    </a:p>
                    <a:p>
                      <a:pPr marL="0" marR="0" lvl="0" indent="0" algn="l" defTabSz="1828800" rtl="0" eaLnBrk="1" fontAlgn="auto" latinLnBrk="0" hangingPunct="1">
                        <a:lnSpc>
                          <a:spcPct val="100000"/>
                        </a:lnSpc>
                        <a:spcBef>
                          <a:spcPts val="0"/>
                        </a:spcBef>
                        <a:spcAft>
                          <a:spcPts val="0"/>
                        </a:spcAft>
                        <a:buClrTx/>
                        <a:buSzTx/>
                        <a:buFontTx/>
                        <a:buNone/>
                        <a:tabLst/>
                        <a:defRPr/>
                      </a:pPr>
                      <a:r>
                        <a:rPr lang="en-US" altLang="zh-CN" sz="2000" b="1" dirty="0">
                          <a:effectLst/>
                        </a:rPr>
                        <a:t>10. </a:t>
                      </a:r>
                      <a:r>
                        <a:rPr lang="zh-CN" altLang="en-US" sz="2000" b="1" dirty="0">
                          <a:effectLst/>
                        </a:rPr>
                        <a:t>文件格式规范✅</a:t>
                      </a:r>
                    </a:p>
                    <a:p>
                      <a:r>
                        <a:rPr lang="zh-CN" altLang="en-US" sz="2000" b="1" dirty="0">
                          <a:effectLst/>
                        </a:rPr>
                        <a:t>结论：通过</a:t>
                      </a:r>
                      <a:endParaRPr lang="zh-CN" altLang="en-US" sz="2000" dirty="0">
                        <a:effectLst/>
                      </a:endParaRPr>
                    </a:p>
                    <a:p>
                      <a:pPr marL="342900" indent="-342900">
                        <a:buFont typeface="Arial" panose="020B0604020202020204" pitchFamily="34" charset="0"/>
                        <a:buChar char="•"/>
                      </a:pPr>
                      <a:r>
                        <a:rPr lang="zh-CN" altLang="en-US" sz="2000" dirty="0">
                          <a:effectLst/>
                        </a:rPr>
                        <a:t>表格排版规范，字体、边框、颜色等清晰，便于阅读。</a:t>
                      </a:r>
                    </a:p>
                  </a:txBody>
                  <a:tcPr/>
                </a:tc>
                <a:tc>
                  <a:txBody>
                    <a:bodyPr/>
                    <a:lstStyle/>
                    <a:p>
                      <a:r>
                        <a:rPr lang="zh-CN" altLang="en-US" sz="2000" b="1" dirty="0">
                          <a:effectLst/>
                        </a:rPr>
                        <a:t>总体结论：</a:t>
                      </a:r>
                      <a:endParaRPr lang="en-GB" altLang="zh-CN" sz="2000" b="1" dirty="0">
                        <a:effectLst/>
                      </a:endParaRPr>
                    </a:p>
                    <a:p>
                      <a:pPr marL="342900" indent="-342900">
                        <a:buFont typeface="Arial" panose="020B0604020202020204" pitchFamily="34" charset="0"/>
                        <a:buChar char="•"/>
                      </a:pPr>
                      <a:r>
                        <a:rPr lang="zh-CN" altLang="en-US" sz="2000" dirty="0">
                          <a:effectLst/>
                        </a:rPr>
                        <a:t> 文件内容基本符合</a:t>
                      </a:r>
                      <a:r>
                        <a:rPr lang="en-US" altLang="zh-CN" sz="2000" dirty="0">
                          <a:effectLst/>
                        </a:rPr>
                        <a:t>APQP</a:t>
                      </a:r>
                      <a:r>
                        <a:rPr lang="zh-CN" altLang="en-US" sz="2000" dirty="0">
                          <a:effectLst/>
                        </a:rPr>
                        <a:t>及项目</a:t>
                      </a:r>
                      <a:r>
                        <a:rPr lang="en-US" altLang="zh-CN" sz="2000" dirty="0">
                          <a:effectLst/>
                        </a:rPr>
                        <a:t>A</a:t>
                      </a:r>
                      <a:r>
                        <a:rPr lang="zh-CN" altLang="en-US" sz="2000" dirty="0">
                          <a:effectLst/>
                        </a:rPr>
                        <a:t>样阶段的要求，但存在部分细节需完善。</a:t>
                      </a:r>
                    </a:p>
                    <a:p>
                      <a:r>
                        <a:rPr lang="zh-CN" altLang="en-US" sz="2000" b="1" dirty="0">
                          <a:effectLst/>
                        </a:rPr>
                        <a:t>需改进项：</a:t>
                      </a:r>
                      <a:endParaRPr lang="zh-CN" altLang="en-US" sz="2000" dirty="0">
                        <a:effectLst/>
                      </a:endParaRPr>
                    </a:p>
                    <a:p>
                      <a:pPr marL="342900" indent="-342900">
                        <a:buFont typeface="Arial" panose="020B0604020202020204" pitchFamily="34" charset="0"/>
                        <a:buChar char="•"/>
                      </a:pPr>
                      <a:r>
                        <a:rPr lang="zh-CN" altLang="en-US" sz="2000" b="1" dirty="0">
                          <a:effectLst/>
                        </a:rPr>
                        <a:t>图片水印影响识别</a:t>
                      </a:r>
                      <a:r>
                        <a:rPr lang="zh-CN" altLang="en-US" sz="2000" dirty="0">
                          <a:effectLst/>
                        </a:rPr>
                        <a:t>：建议优化水印设置，确保图片内容清晰。</a:t>
                      </a:r>
                    </a:p>
                    <a:p>
                      <a:pPr marL="342900" indent="-342900">
                        <a:buFont typeface="Arial" panose="020B0604020202020204" pitchFamily="34" charset="0"/>
                        <a:buChar char="•"/>
                      </a:pPr>
                      <a:r>
                        <a:rPr lang="zh-CN" altLang="en-US" sz="2000" b="1" dirty="0">
                          <a:effectLst/>
                        </a:rPr>
                        <a:t>签字栏未签署</a:t>
                      </a:r>
                      <a:r>
                        <a:rPr lang="zh-CN" altLang="en-US" sz="2000" dirty="0">
                          <a:effectLst/>
                        </a:rPr>
                        <a:t>：请补充编制、会签、审核等责任人签字。</a:t>
                      </a:r>
                    </a:p>
                    <a:p>
                      <a:pPr marL="342900" indent="-342900">
                        <a:buFont typeface="Arial" panose="020B0604020202020204" pitchFamily="34" charset="0"/>
                        <a:buChar char="•"/>
                      </a:pPr>
                      <a:r>
                        <a:rPr lang="zh-CN" altLang="en-US" sz="2000" b="1" dirty="0">
                          <a:effectLst/>
                        </a:rPr>
                        <a:t>合计栏未填写具体金额</a:t>
                      </a:r>
                      <a:r>
                        <a:rPr lang="en-US" altLang="zh-CN" sz="2000" b="1" dirty="0">
                          <a:effectLst/>
                        </a:rPr>
                        <a:t>/</a:t>
                      </a:r>
                      <a:r>
                        <a:rPr lang="zh-CN" altLang="en-US" sz="2000" b="1" dirty="0">
                          <a:effectLst/>
                        </a:rPr>
                        <a:t>数量</a:t>
                      </a:r>
                      <a:r>
                        <a:rPr lang="zh-CN" altLang="en-US" sz="2000" dirty="0">
                          <a:effectLst/>
                        </a:rPr>
                        <a:t>：建议补充具体统计数据。</a:t>
                      </a:r>
                    </a:p>
                    <a:p>
                      <a:r>
                        <a:rPr lang="zh-CN" altLang="en-US" sz="2000" dirty="0"/>
                        <a:t>如需进一步细化审查点或对某一项内容做专项评审，请补充说明。</a:t>
                      </a:r>
                      <a:endParaRPr lang="en-GB" sz="2000" dirty="0"/>
                    </a:p>
                  </a:txBody>
                  <a:tcPr/>
                </a:tc>
                <a:extLst>
                  <a:ext uri="{0D108BD9-81ED-4DB2-BD59-A6C34878D82A}">
                    <a16:rowId xmlns:a16="http://schemas.microsoft.com/office/drawing/2014/main" val="604853937"/>
                  </a:ext>
                </a:extLst>
              </a:tr>
            </a:tbl>
          </a:graphicData>
        </a:graphic>
      </p:graphicFrame>
    </p:spTree>
    <p:extLst>
      <p:ext uri="{BB962C8B-B14F-4D97-AF65-F5344CB8AC3E}">
        <p14:creationId xmlns:p14="http://schemas.microsoft.com/office/powerpoint/2010/main" val="4237831287"/>
      </p:ext>
    </p:extLst>
  </p:cSld>
  <p:clrMapOvr>
    <a:masterClrMapping/>
  </p:clrMapOvr>
  <p:transition spd="med"/>
  <p:extLst>
    <p:ext uri="{6950BFC3-D8DA-4A85-94F7-54DA5524770B}">
      <p188:commentRel xmlns:p188="http://schemas.microsoft.com/office/powerpoint/2018/8/main" r:id="rId2"/>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38AC9-6F3E-FDAE-3310-B92E9696333E}"/>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54415FE4-773C-0B29-5B05-22CDC9D80154}"/>
              </a:ext>
            </a:extLst>
          </p:cNvPr>
          <p:cNvSpPr txBox="1"/>
          <p:nvPr/>
        </p:nvSpPr>
        <p:spPr>
          <a:xfrm>
            <a:off x="1219200" y="755986"/>
            <a:ext cx="22070823" cy="646331"/>
          </a:xfrm>
          <a:prstGeom prst="rect">
            <a:avLst/>
          </a:prstGeom>
          <a:noFill/>
        </p:spPr>
        <p:txBody>
          <a:bodyPr wrap="square" numCol="1">
            <a:spAutoFit/>
          </a:bodyPr>
          <a:lstStyle/>
          <a:p>
            <a:pPr>
              <a:spcBef>
                <a:spcPts val="1500"/>
              </a:spcBef>
              <a:spcAft>
                <a:spcPts val="750"/>
              </a:spcAft>
              <a:buNone/>
            </a:pPr>
            <a:r>
              <a:rPr lang="en-US" altLang="zh-CN" sz="3600" b="1" dirty="0">
                <a:effectLst/>
              </a:rPr>
              <a:t>A</a:t>
            </a:r>
            <a:r>
              <a:rPr lang="zh-CN" altLang="en-US" sz="3600" b="1" dirty="0">
                <a:effectLst/>
              </a:rPr>
              <a:t>样阶段</a:t>
            </a:r>
            <a:r>
              <a:rPr lang="en-US" altLang="zh-CN" sz="3600" b="1" dirty="0"/>
              <a:t>《D221N44AA-A</a:t>
            </a:r>
            <a:r>
              <a:rPr lang="zh-CN" altLang="en-US" sz="3600" b="1" dirty="0"/>
              <a:t>样阶段</a:t>
            </a:r>
            <a:r>
              <a:rPr lang="en-US" altLang="zh-CN" sz="3600" b="1" dirty="0"/>
              <a:t>TR</a:t>
            </a:r>
            <a:r>
              <a:rPr lang="zh-CN" altLang="en-US" sz="3600" b="1" dirty="0"/>
              <a:t>评审报告（</a:t>
            </a:r>
            <a:r>
              <a:rPr lang="en-US" altLang="zh-CN" sz="3600" b="1" dirty="0"/>
              <a:t>IP</a:t>
            </a:r>
            <a:r>
              <a:rPr lang="zh-CN" altLang="en-US" sz="3600" b="1" dirty="0"/>
              <a:t>发明成果和风险评估报告）</a:t>
            </a:r>
            <a:r>
              <a:rPr lang="en-US" altLang="zh-CN" sz="3600" b="1" dirty="0"/>
              <a:t>-A2-20210617.pptx》</a:t>
            </a:r>
            <a:r>
              <a:rPr lang="zh-CN" altLang="en-US" sz="3600" b="1" dirty="0">
                <a:effectLst/>
              </a:rPr>
              <a:t>审核报告</a:t>
            </a:r>
          </a:p>
        </p:txBody>
      </p:sp>
      <p:graphicFrame>
        <p:nvGraphicFramePr>
          <p:cNvPr id="2" name="表格 1">
            <a:extLst>
              <a:ext uri="{FF2B5EF4-FFF2-40B4-BE49-F238E27FC236}">
                <a16:creationId xmlns:a16="http://schemas.microsoft.com/office/drawing/2014/main" id="{5892578C-A481-CBF9-72F6-92FF08B0D6DC}"/>
              </a:ext>
            </a:extLst>
          </p:cNvPr>
          <p:cNvGraphicFramePr>
            <a:graphicFrameLocks noGrp="1"/>
          </p:cNvGraphicFramePr>
          <p:nvPr>
            <p:extLst>
              <p:ext uri="{D42A27DB-BD31-4B8C-83A1-F6EECF244321}">
                <p14:modId xmlns:p14="http://schemas.microsoft.com/office/powerpoint/2010/main" val="3163303177"/>
              </p:ext>
            </p:extLst>
          </p:nvPr>
        </p:nvGraphicFramePr>
        <p:xfrm>
          <a:off x="662354" y="1738812"/>
          <a:ext cx="23059292" cy="10987624"/>
        </p:xfrm>
        <a:graphic>
          <a:graphicData uri="http://schemas.openxmlformats.org/drawingml/2006/table">
            <a:tbl>
              <a:tblPr firstRow="1" bandRow="1"/>
              <a:tblGrid>
                <a:gridCol w="4953000">
                  <a:extLst>
                    <a:ext uri="{9D8B030D-6E8A-4147-A177-3AD203B41FA5}">
                      <a16:colId xmlns:a16="http://schemas.microsoft.com/office/drawing/2014/main" val="520135011"/>
                    </a:ext>
                  </a:extLst>
                </a:gridCol>
                <a:gridCol w="6658708">
                  <a:extLst>
                    <a:ext uri="{9D8B030D-6E8A-4147-A177-3AD203B41FA5}">
                      <a16:colId xmlns:a16="http://schemas.microsoft.com/office/drawing/2014/main" val="585926975"/>
                    </a:ext>
                  </a:extLst>
                </a:gridCol>
                <a:gridCol w="5682761">
                  <a:extLst>
                    <a:ext uri="{9D8B030D-6E8A-4147-A177-3AD203B41FA5}">
                      <a16:colId xmlns:a16="http://schemas.microsoft.com/office/drawing/2014/main" val="3081416713"/>
                    </a:ext>
                  </a:extLst>
                </a:gridCol>
                <a:gridCol w="5764823">
                  <a:extLst>
                    <a:ext uri="{9D8B030D-6E8A-4147-A177-3AD203B41FA5}">
                      <a16:colId xmlns:a16="http://schemas.microsoft.com/office/drawing/2014/main" val="572010187"/>
                    </a:ext>
                  </a:extLst>
                </a:gridCol>
              </a:tblGrid>
              <a:tr h="901298">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审查清单制定</a:t>
                      </a:r>
                    </a:p>
                  </a:txBody>
                  <a:tcPr anchor="ctr"/>
                </a:tc>
                <a:tc gridSpan="2">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逐项审核结果</a:t>
                      </a:r>
                    </a:p>
                  </a:txBody>
                  <a:tcPr anchor="ctr"/>
                </a:tc>
                <a:tc hMerge="1">
                  <a:txBody>
                    <a:bodyPr/>
                    <a:lstStyle/>
                    <a:p>
                      <a:pPr algn="ctr"/>
                      <a:endParaRPr lang="en-GB" sz="2000" dirty="0"/>
                    </a:p>
                  </a:txBody>
                  <a:tcPr/>
                </a:tc>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总体评估</a:t>
                      </a:r>
                    </a:p>
                  </a:txBody>
                  <a:tcPr anchor="ctr"/>
                </a:tc>
                <a:extLst>
                  <a:ext uri="{0D108BD9-81ED-4DB2-BD59-A6C34878D82A}">
                    <a16:rowId xmlns:a16="http://schemas.microsoft.com/office/drawing/2014/main" val="2562292327"/>
                  </a:ext>
                </a:extLst>
              </a:tr>
              <a:tr h="10086326">
                <a:tc>
                  <a:txBody>
                    <a:bodyPr/>
                    <a:lstStyle/>
                    <a:p>
                      <a:r>
                        <a:rPr lang="zh-CN" altLang="en-US" sz="2000" b="1" i="0" kern="1200" dirty="0">
                          <a:solidFill>
                            <a:schemeClr val="tx1"/>
                          </a:solidFill>
                          <a:effectLst/>
                          <a:latin typeface="+mn-lt"/>
                          <a:ea typeface="+mn-ea"/>
                          <a:cs typeface="+mn-cs"/>
                        </a:rPr>
                        <a:t>报告结构完整性</a:t>
                      </a:r>
                      <a:endParaRPr lang="zh-CN" altLang="en-US" sz="2000" b="0" i="0" kern="1200" dirty="0">
                        <a:solidFill>
                          <a:schemeClr val="tx1"/>
                        </a:solidFill>
                        <a:effectLst/>
                        <a:latin typeface="+mn-lt"/>
                        <a:ea typeface="+mn-ea"/>
                        <a:cs typeface="+mn-cs"/>
                      </a:endParaRP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是否包含</a:t>
                      </a:r>
                      <a:r>
                        <a:rPr lang="en-US" altLang="zh-CN" sz="2000" b="0" i="0" kern="1200" dirty="0">
                          <a:solidFill>
                            <a:schemeClr val="tx1"/>
                          </a:solidFill>
                          <a:effectLst/>
                          <a:latin typeface="+mn-lt"/>
                          <a:ea typeface="+mn-ea"/>
                          <a:cs typeface="+mn-cs"/>
                        </a:rPr>
                        <a:t>IP</a:t>
                      </a:r>
                      <a:r>
                        <a:rPr lang="zh-CN" altLang="en-US" sz="2000" b="0" i="0" kern="1200" dirty="0">
                          <a:solidFill>
                            <a:schemeClr val="tx1"/>
                          </a:solidFill>
                          <a:effectLst/>
                          <a:latin typeface="+mn-lt"/>
                          <a:ea typeface="+mn-ea"/>
                          <a:cs typeface="+mn-cs"/>
                        </a:rPr>
                        <a:t>发明成果总结、风险评估结论、风险评估内容等核心部分？</a:t>
                      </a:r>
                    </a:p>
                    <a:p>
                      <a:r>
                        <a:rPr lang="zh-CN" altLang="en-US" sz="2000" b="1" i="0" kern="1200" dirty="0">
                          <a:solidFill>
                            <a:schemeClr val="tx1"/>
                          </a:solidFill>
                          <a:effectLst/>
                          <a:latin typeface="+mn-lt"/>
                          <a:ea typeface="+mn-ea"/>
                          <a:cs typeface="+mn-cs"/>
                        </a:rPr>
                        <a:t>发明成果总结</a:t>
                      </a:r>
                      <a:endParaRPr lang="zh-CN" altLang="en-US" sz="2000" b="0" i="0" kern="1200" dirty="0">
                        <a:solidFill>
                          <a:schemeClr val="tx1"/>
                        </a:solidFill>
                        <a:effectLst/>
                        <a:latin typeface="+mn-lt"/>
                        <a:ea typeface="+mn-ea"/>
                        <a:cs typeface="+mn-cs"/>
                      </a:endParaRP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是否明确列出已产出的发明成果及其专利性、技术点？</a:t>
                      </a: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是否有对后续成果产出的计划和保护措施？</a:t>
                      </a:r>
                    </a:p>
                    <a:p>
                      <a:r>
                        <a:rPr lang="zh-CN" altLang="en-US" sz="2000" b="1" i="0" kern="1200" dirty="0">
                          <a:solidFill>
                            <a:schemeClr val="tx1"/>
                          </a:solidFill>
                          <a:effectLst/>
                          <a:latin typeface="+mn-lt"/>
                          <a:ea typeface="+mn-ea"/>
                          <a:cs typeface="+mn-cs"/>
                        </a:rPr>
                        <a:t>风险评估结论</a:t>
                      </a:r>
                      <a:endParaRPr lang="zh-CN" altLang="en-US" sz="2000" b="0" i="0" kern="1200" dirty="0">
                        <a:solidFill>
                          <a:schemeClr val="tx1"/>
                        </a:solidFill>
                        <a:effectLst/>
                        <a:latin typeface="+mn-lt"/>
                        <a:ea typeface="+mn-ea"/>
                        <a:cs typeface="+mn-cs"/>
                      </a:endParaRP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是否对知识产权风险进行了明确结论（如高、中、低风险）？</a:t>
                      </a:r>
                    </a:p>
                    <a:p>
                      <a:r>
                        <a:rPr lang="zh-CN" altLang="en-US" sz="2000" b="0" i="0" kern="1200" dirty="0">
                          <a:solidFill>
                            <a:schemeClr val="tx1"/>
                          </a:solidFill>
                          <a:effectLst/>
                          <a:latin typeface="+mn-lt"/>
                          <a:ea typeface="+mn-ea"/>
                          <a:cs typeface="+mn-cs"/>
                        </a:rPr>
                        <a:t>是否说明了评估的时间节点和适用范围？</a:t>
                      </a:r>
                    </a:p>
                    <a:p>
                      <a:r>
                        <a:rPr lang="zh-CN" altLang="en-US" sz="2000" b="1" i="0" kern="1200" dirty="0">
                          <a:solidFill>
                            <a:schemeClr val="tx1"/>
                          </a:solidFill>
                          <a:effectLst/>
                          <a:latin typeface="+mn-lt"/>
                          <a:ea typeface="+mn-ea"/>
                          <a:cs typeface="+mn-cs"/>
                        </a:rPr>
                        <a:t>风险评估内容</a:t>
                      </a:r>
                      <a:endParaRPr lang="zh-CN" altLang="en-US" sz="2000" b="0" i="0" kern="1200" dirty="0">
                        <a:solidFill>
                          <a:schemeClr val="tx1"/>
                        </a:solidFill>
                        <a:effectLst/>
                        <a:latin typeface="+mn-lt"/>
                        <a:ea typeface="+mn-ea"/>
                        <a:cs typeface="+mn-cs"/>
                      </a:endParaRP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是否对各技术类别、适用方案进行了专利风险检索和分析？</a:t>
                      </a: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是否有详细的检索数据来源、检索范围、检索结果？</a:t>
                      </a: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是否对新增</a:t>
                      </a:r>
                      <a:r>
                        <a:rPr lang="en-US" altLang="zh-CN" sz="2000" b="0" i="0" kern="1200" dirty="0">
                          <a:solidFill>
                            <a:schemeClr val="tx1"/>
                          </a:solidFill>
                          <a:effectLst/>
                          <a:latin typeface="+mn-lt"/>
                          <a:ea typeface="+mn-ea"/>
                          <a:cs typeface="+mn-cs"/>
                        </a:rPr>
                        <a:t>/</a:t>
                      </a:r>
                      <a:r>
                        <a:rPr lang="zh-CN" altLang="en-US" sz="2000" b="0" i="0" kern="1200" dirty="0">
                          <a:solidFill>
                            <a:schemeClr val="tx1"/>
                          </a:solidFill>
                          <a:effectLst/>
                          <a:latin typeface="+mn-lt"/>
                          <a:ea typeface="+mn-ea"/>
                          <a:cs typeface="+mn-cs"/>
                        </a:rPr>
                        <a:t>变更方案进行了风险分析？</a:t>
                      </a: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是否对发现的风险提出了应对措施或建议？</a:t>
                      </a:r>
                    </a:p>
                    <a:p>
                      <a:r>
                        <a:rPr lang="zh-CN" altLang="en-US" sz="2000" b="1" i="0" kern="1200" dirty="0">
                          <a:solidFill>
                            <a:schemeClr val="tx1"/>
                          </a:solidFill>
                          <a:effectLst/>
                          <a:latin typeface="+mn-lt"/>
                          <a:ea typeface="+mn-ea"/>
                          <a:cs typeface="+mn-cs"/>
                        </a:rPr>
                        <a:t>数据和结论的可追溯性</a:t>
                      </a:r>
                      <a:endParaRPr lang="zh-CN" altLang="en-US" sz="2000" b="0" i="0" kern="1200" dirty="0">
                        <a:solidFill>
                          <a:schemeClr val="tx1"/>
                        </a:solidFill>
                        <a:effectLst/>
                        <a:latin typeface="+mn-lt"/>
                        <a:ea typeface="+mn-ea"/>
                        <a:cs typeface="+mn-cs"/>
                      </a:endParaRP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检索数据、专利家族数量等是否有明确出处和统计口径？</a:t>
                      </a:r>
                    </a:p>
                    <a:p>
                      <a:r>
                        <a:rPr lang="zh-CN" altLang="en-US" sz="2000" b="1" i="0" kern="1200" dirty="0">
                          <a:solidFill>
                            <a:schemeClr val="tx1"/>
                          </a:solidFill>
                          <a:effectLst/>
                          <a:latin typeface="+mn-lt"/>
                          <a:ea typeface="+mn-ea"/>
                          <a:cs typeface="+mn-cs"/>
                        </a:rPr>
                        <a:t>格式与规范性</a:t>
                      </a:r>
                      <a:endParaRPr lang="zh-CN" altLang="en-US" sz="2000" b="0" i="0" kern="1200" dirty="0">
                        <a:solidFill>
                          <a:schemeClr val="tx1"/>
                        </a:solidFill>
                        <a:effectLst/>
                        <a:latin typeface="+mn-lt"/>
                        <a:ea typeface="+mn-ea"/>
                        <a:cs typeface="+mn-cs"/>
                      </a:endParaRP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报告格式是否规范，内容表达是否清晰、无歧义？</a:t>
                      </a: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是否有公司保密标识、版本号、日期等基本要素？</a:t>
                      </a:r>
                    </a:p>
                    <a:p>
                      <a:pPr>
                        <a:spcBef>
                          <a:spcPts val="1200"/>
                        </a:spcBef>
                        <a:spcAft>
                          <a:spcPts val="600"/>
                        </a:spcAft>
                        <a:buNone/>
                      </a:pPr>
                      <a:endParaRPr lang="en-GB" sz="2000" dirty="0"/>
                    </a:p>
                  </a:txBody>
                  <a:tcPr/>
                </a:tc>
                <a:tc>
                  <a:txBody>
                    <a:bodyPr/>
                    <a:lstStyle/>
                    <a:p>
                      <a:pPr marL="0" marR="0" lvl="0" indent="0" algn="l" defTabSz="1828800" rtl="0" eaLnBrk="1" fontAlgn="auto" latinLnBrk="0" hangingPunct="1">
                        <a:lnSpc>
                          <a:spcPct val="100000"/>
                        </a:lnSpc>
                        <a:spcBef>
                          <a:spcPts val="0"/>
                        </a:spcBef>
                        <a:spcAft>
                          <a:spcPts val="0"/>
                        </a:spcAft>
                        <a:buClrTx/>
                        <a:buSzTx/>
                        <a:buFontTx/>
                        <a:buNone/>
                        <a:tabLst/>
                        <a:defRPr/>
                      </a:pPr>
                      <a:r>
                        <a:rPr lang="en-US" altLang="zh-CN" sz="2000" b="1" dirty="0">
                          <a:effectLst/>
                        </a:rPr>
                        <a:t>1. </a:t>
                      </a:r>
                      <a:r>
                        <a:rPr lang="zh-CN" altLang="en-US" sz="2000" b="1" dirty="0">
                          <a:effectLst/>
                        </a:rPr>
                        <a:t>报告结构完整性✅</a:t>
                      </a:r>
                    </a:p>
                    <a:p>
                      <a:r>
                        <a:rPr lang="zh-CN" altLang="en-US" sz="2000" b="1" dirty="0">
                          <a:effectLst/>
                        </a:rPr>
                        <a:t>结论：通过</a:t>
                      </a:r>
                      <a:endParaRPr lang="zh-CN" altLang="en-US" sz="2000" dirty="0">
                        <a:effectLst/>
                      </a:endParaRPr>
                    </a:p>
                    <a:p>
                      <a:pPr marL="342900" indent="-342900">
                        <a:buFont typeface="Arial" panose="020B0604020202020204" pitchFamily="34" charset="0"/>
                        <a:buChar char="•"/>
                      </a:pPr>
                      <a:r>
                        <a:rPr lang="zh-CN" altLang="en-US" sz="2000" dirty="0">
                          <a:effectLst/>
                        </a:rPr>
                        <a:t>报告包含了发明成果总结、风险评估结论、风险评估内容等主要部分，结构完整。</a:t>
                      </a:r>
                    </a:p>
                    <a:p>
                      <a:pPr marL="0" marR="0" lvl="0" indent="0" algn="l" defTabSz="1828800" rtl="0" eaLnBrk="1" fontAlgn="auto" latinLnBrk="0" hangingPunct="1">
                        <a:lnSpc>
                          <a:spcPct val="100000"/>
                        </a:lnSpc>
                        <a:spcBef>
                          <a:spcPts val="0"/>
                        </a:spcBef>
                        <a:spcAft>
                          <a:spcPts val="0"/>
                        </a:spcAft>
                        <a:buClrTx/>
                        <a:buSzTx/>
                        <a:buFontTx/>
                        <a:buNone/>
                        <a:tabLst/>
                        <a:defRPr/>
                      </a:pPr>
                      <a:r>
                        <a:rPr lang="en-US" altLang="zh-CN" sz="2000" b="1" dirty="0">
                          <a:effectLst/>
                        </a:rPr>
                        <a:t>2. </a:t>
                      </a:r>
                      <a:r>
                        <a:rPr lang="zh-CN" altLang="en-US" sz="2000" b="1" dirty="0">
                          <a:effectLst/>
                        </a:rPr>
                        <a:t>发明成果总结✅</a:t>
                      </a:r>
                    </a:p>
                    <a:p>
                      <a:r>
                        <a:rPr lang="zh-CN" altLang="en-US" sz="2000" b="1" dirty="0">
                          <a:effectLst/>
                        </a:rPr>
                        <a:t>结论：通过</a:t>
                      </a:r>
                      <a:endParaRPr lang="zh-CN" altLang="en-US" sz="2000" dirty="0">
                        <a:effectLst/>
                      </a:endParaRPr>
                    </a:p>
                    <a:p>
                      <a:pPr marL="342900" indent="-342900">
                        <a:buFont typeface="Arial" panose="020B0604020202020204" pitchFamily="34" charset="0"/>
                        <a:buChar char="•"/>
                      </a:pPr>
                      <a:r>
                        <a:rPr lang="zh-CN" altLang="en-US" sz="2000" dirty="0">
                          <a:effectLst/>
                        </a:rPr>
                        <a:t>明确说明了</a:t>
                      </a:r>
                      <a:r>
                        <a:rPr lang="en-US" altLang="zh-CN" sz="2000" dirty="0">
                          <a:effectLst/>
                        </a:rPr>
                        <a:t>A</a:t>
                      </a:r>
                      <a:r>
                        <a:rPr lang="zh-CN" altLang="en-US" sz="2000" dirty="0">
                          <a:effectLst/>
                        </a:rPr>
                        <a:t>样阶段尚未产出发明提案，无可专利性技术点，后续有</a:t>
                      </a:r>
                      <a:r>
                        <a:rPr lang="en-US" altLang="zh-CN" sz="2000" dirty="0">
                          <a:effectLst/>
                        </a:rPr>
                        <a:t>IP</a:t>
                      </a:r>
                      <a:r>
                        <a:rPr lang="zh-CN" altLang="en-US" sz="2000" dirty="0">
                          <a:effectLst/>
                        </a:rPr>
                        <a:t>工程师持续跟踪，并在</a:t>
                      </a:r>
                      <a:r>
                        <a:rPr lang="en-US" altLang="zh-CN" sz="2000" dirty="0">
                          <a:effectLst/>
                        </a:rPr>
                        <a:t>B</a:t>
                      </a:r>
                      <a:r>
                        <a:rPr lang="zh-CN" altLang="en-US" sz="2000" dirty="0">
                          <a:effectLst/>
                        </a:rPr>
                        <a:t>样前完成成果保护，符合项目阶段实际情况。</a:t>
                      </a:r>
                    </a:p>
                    <a:p>
                      <a:pPr marL="0" marR="0" lvl="0" indent="0" algn="l" defTabSz="1828800" rtl="0" eaLnBrk="1" fontAlgn="auto" latinLnBrk="0" hangingPunct="1">
                        <a:lnSpc>
                          <a:spcPct val="100000"/>
                        </a:lnSpc>
                        <a:spcBef>
                          <a:spcPts val="0"/>
                        </a:spcBef>
                        <a:spcAft>
                          <a:spcPts val="0"/>
                        </a:spcAft>
                        <a:buClrTx/>
                        <a:buSzTx/>
                        <a:buFontTx/>
                        <a:buNone/>
                        <a:tabLst/>
                        <a:defRPr/>
                      </a:pPr>
                      <a:r>
                        <a:rPr lang="en-US" altLang="zh-CN" sz="2000" b="1" dirty="0">
                          <a:effectLst/>
                        </a:rPr>
                        <a:t>3. </a:t>
                      </a:r>
                      <a:r>
                        <a:rPr lang="zh-CN" altLang="en-US" sz="2000" b="1" dirty="0">
                          <a:effectLst/>
                        </a:rPr>
                        <a:t>风险评估结论✅</a:t>
                      </a:r>
                    </a:p>
                    <a:p>
                      <a:r>
                        <a:rPr lang="zh-CN" altLang="en-US" sz="2000" b="1" dirty="0">
                          <a:effectLst/>
                        </a:rPr>
                        <a:t>结论：通过</a:t>
                      </a:r>
                      <a:endParaRPr lang="zh-CN" altLang="en-US" sz="2000" dirty="0">
                        <a:effectLst/>
                      </a:endParaRPr>
                    </a:p>
                    <a:p>
                      <a:pPr marL="342900" indent="-342900">
                        <a:buFont typeface="Arial" panose="020B0604020202020204" pitchFamily="34" charset="0"/>
                        <a:buChar char="•"/>
                      </a:pPr>
                      <a:r>
                        <a:rPr lang="zh-CN" altLang="en-US" sz="2000" dirty="0">
                          <a:effectLst/>
                        </a:rPr>
                        <a:t>明确指出截至</a:t>
                      </a:r>
                      <a:r>
                        <a:rPr lang="en-US" altLang="zh-CN" sz="2000" dirty="0">
                          <a:effectLst/>
                        </a:rPr>
                        <a:t>2023</a:t>
                      </a:r>
                      <a:r>
                        <a:rPr lang="zh-CN" altLang="en-US" sz="2000" dirty="0">
                          <a:effectLst/>
                        </a:rPr>
                        <a:t>年</a:t>
                      </a:r>
                      <a:r>
                        <a:rPr lang="en-US" altLang="zh-CN" sz="2000" dirty="0">
                          <a:effectLst/>
                        </a:rPr>
                        <a:t>5</a:t>
                      </a:r>
                      <a:r>
                        <a:rPr lang="zh-CN" altLang="en-US" sz="2000" dirty="0">
                          <a:effectLst/>
                        </a:rPr>
                        <a:t>月</a:t>
                      </a:r>
                      <a:r>
                        <a:rPr lang="en-US" altLang="zh-CN" sz="2000" dirty="0">
                          <a:effectLst/>
                        </a:rPr>
                        <a:t>4</a:t>
                      </a:r>
                      <a:r>
                        <a:rPr lang="zh-CN" altLang="en-US" sz="2000" dirty="0">
                          <a:effectLst/>
                        </a:rPr>
                        <a:t>日，设计方案在中、欧、美、日韩等国家专利风险低，结论清晰，时间节点明确。</a:t>
                      </a:r>
                    </a:p>
                    <a:p>
                      <a:r>
                        <a:rPr lang="en-US" altLang="zh-CN" sz="2000" b="1" dirty="0">
                          <a:effectLst/>
                        </a:rPr>
                        <a:t>4. </a:t>
                      </a:r>
                      <a:r>
                        <a:rPr lang="zh-CN" altLang="en-US" sz="2000" b="1" dirty="0">
                          <a:effectLst/>
                        </a:rPr>
                        <a:t>风险评估内容</a:t>
                      </a:r>
                    </a:p>
                    <a:p>
                      <a:pPr marL="0" marR="0" lvl="0" indent="0" algn="l" defTabSz="1828800" rtl="0" eaLnBrk="1" fontAlgn="auto" latinLnBrk="0" hangingPunct="1">
                        <a:lnSpc>
                          <a:spcPct val="100000"/>
                        </a:lnSpc>
                        <a:spcBef>
                          <a:spcPts val="0"/>
                        </a:spcBef>
                        <a:spcAft>
                          <a:spcPts val="0"/>
                        </a:spcAft>
                        <a:buClrTx/>
                        <a:buSzTx/>
                        <a:buFontTx/>
                        <a:buNone/>
                        <a:tabLst/>
                        <a:defRPr/>
                      </a:pPr>
                      <a:r>
                        <a:rPr lang="zh-CN" altLang="en-US" sz="2000" b="1" dirty="0">
                          <a:effectLst/>
                        </a:rPr>
                        <a:t>结论：部分通过⚠️</a:t>
                      </a:r>
                      <a:endParaRPr lang="zh-CN" altLang="en-US" sz="2000" dirty="0">
                        <a:effectLst/>
                      </a:endParaRPr>
                    </a:p>
                    <a:p>
                      <a:r>
                        <a:rPr lang="zh-CN" altLang="en-US" sz="2000" b="1" dirty="0">
                          <a:effectLst/>
                        </a:rPr>
                        <a:t>具体问题：</a:t>
                      </a:r>
                      <a:endParaRPr lang="zh-CN" altLang="en-US" sz="2000" dirty="0">
                        <a:effectLst/>
                      </a:endParaRPr>
                    </a:p>
                    <a:p>
                      <a:pPr marL="342900" indent="-342900">
                        <a:buFont typeface="Arial" panose="020B0604020202020204" pitchFamily="34" charset="0"/>
                        <a:buChar char="•"/>
                      </a:pPr>
                      <a:r>
                        <a:rPr lang="zh-CN" altLang="en-US" sz="2000" dirty="0">
                          <a:effectLst/>
                        </a:rPr>
                        <a:t>检索数据来源、范围、专利家族数量等有明确说明（如</a:t>
                      </a:r>
                      <a:r>
                        <a:rPr lang="en-US" altLang="zh-CN" sz="2000" dirty="0">
                          <a:effectLst/>
                        </a:rPr>
                        <a:t>808</a:t>
                      </a:r>
                      <a:r>
                        <a:rPr lang="zh-CN" altLang="en-US" sz="2000" dirty="0">
                          <a:effectLst/>
                        </a:rPr>
                        <a:t>个专利家族），各技术类别均有风险等级判定（均为低）。</a:t>
                      </a:r>
                    </a:p>
                    <a:p>
                      <a:pPr marL="342900" indent="-342900">
                        <a:buFont typeface="Arial" panose="020B0604020202020204" pitchFamily="34" charset="0"/>
                        <a:buChar char="•"/>
                      </a:pPr>
                      <a:r>
                        <a:rPr lang="zh-CN" altLang="en-US" sz="2000" dirty="0">
                          <a:effectLst/>
                        </a:rPr>
                        <a:t>新增</a:t>
                      </a:r>
                      <a:r>
                        <a:rPr lang="en-US" altLang="zh-CN" sz="2000" dirty="0">
                          <a:effectLst/>
                        </a:rPr>
                        <a:t>/</a:t>
                      </a:r>
                      <a:r>
                        <a:rPr lang="zh-CN" altLang="en-US" sz="2000" dirty="0">
                          <a:effectLst/>
                        </a:rPr>
                        <a:t>变更方案部分，部分技术类别未有详细说明（如“</a:t>
                      </a:r>
                      <a:r>
                        <a:rPr lang="en-US" altLang="zh-CN" sz="2000" dirty="0">
                          <a:effectLst/>
                        </a:rPr>
                        <a:t>/”</a:t>
                      </a:r>
                      <a:r>
                        <a:rPr lang="zh-CN" altLang="en-US" sz="2000" dirty="0">
                          <a:effectLst/>
                        </a:rPr>
                        <a:t>），建议补充说明无新增</a:t>
                      </a:r>
                      <a:r>
                        <a:rPr lang="en-US" altLang="zh-CN" sz="2000" dirty="0">
                          <a:effectLst/>
                        </a:rPr>
                        <a:t>/</a:t>
                      </a:r>
                      <a:r>
                        <a:rPr lang="zh-CN" altLang="en-US" sz="2000" dirty="0">
                          <a:effectLst/>
                        </a:rPr>
                        <a:t>变更的原因或后续计划。</a:t>
                      </a:r>
                    </a:p>
                    <a:p>
                      <a:pPr marL="342900" indent="-342900">
                        <a:buFont typeface="Arial" panose="020B0604020202020204" pitchFamily="34" charset="0"/>
                        <a:buChar char="•"/>
                      </a:pPr>
                      <a:r>
                        <a:rPr lang="zh-CN" altLang="en-US" sz="2000" dirty="0">
                          <a:effectLst/>
                        </a:rPr>
                        <a:t>对于检索结果为“</a:t>
                      </a:r>
                      <a:r>
                        <a:rPr lang="en-US" altLang="zh-CN" sz="2000" dirty="0">
                          <a:effectLst/>
                        </a:rPr>
                        <a:t>/”</a:t>
                      </a:r>
                      <a:r>
                        <a:rPr lang="zh-CN" altLang="en-US" sz="2000" dirty="0">
                          <a:effectLst/>
                        </a:rPr>
                        <a:t>的项目，建议补充说明是否因无相关专利、无变更，还是检索未覆盖，避免歧义。</a:t>
                      </a:r>
                    </a:p>
                    <a:p>
                      <a:r>
                        <a:rPr lang="zh-CN" altLang="en-US" sz="2000" b="1" dirty="0">
                          <a:effectLst/>
                        </a:rPr>
                        <a:t>应对建议：</a:t>
                      </a:r>
                      <a:endParaRPr lang="zh-CN" altLang="en-US" sz="2000" dirty="0">
                        <a:effectLst/>
                      </a:endParaRPr>
                    </a:p>
                    <a:p>
                      <a:pPr marL="342900" indent="-342900">
                        <a:buFont typeface="Arial" panose="020B0604020202020204" pitchFamily="34" charset="0"/>
                        <a:buChar char="•"/>
                      </a:pPr>
                      <a:r>
                        <a:rPr lang="zh-CN" altLang="en-US" sz="2000" dirty="0">
                          <a:effectLst/>
                        </a:rPr>
                        <a:t>对所有“</a:t>
                      </a:r>
                      <a:r>
                        <a:rPr lang="en-US" altLang="zh-CN" sz="2000" dirty="0">
                          <a:effectLst/>
                        </a:rPr>
                        <a:t>/”</a:t>
                      </a:r>
                      <a:r>
                        <a:rPr lang="zh-CN" altLang="en-US" sz="2000" dirty="0">
                          <a:effectLst/>
                        </a:rPr>
                        <a:t>项补充说明原因（如“无新增</a:t>
                      </a:r>
                      <a:r>
                        <a:rPr lang="en-US" altLang="zh-CN" sz="2000" dirty="0">
                          <a:effectLst/>
                        </a:rPr>
                        <a:t>/</a:t>
                      </a:r>
                      <a:r>
                        <a:rPr lang="zh-CN" altLang="en-US" sz="2000" dirty="0">
                          <a:effectLst/>
                        </a:rPr>
                        <a:t>变更方案”或“无相关专利”）。</a:t>
                      </a:r>
                    </a:p>
                    <a:p>
                      <a:pPr marL="342900" indent="-342900">
                        <a:buFont typeface="Arial" panose="020B0604020202020204" pitchFamily="34" charset="0"/>
                        <a:buChar char="•"/>
                      </a:pPr>
                      <a:r>
                        <a:rPr lang="zh-CN" altLang="en-US" sz="2000" dirty="0">
                          <a:effectLst/>
                        </a:rPr>
                        <a:t>对于未来可能的设计变更，建议明确后续风险监控和应对机制。</a:t>
                      </a:r>
                    </a:p>
                  </a:txBody>
                  <a:tcPr/>
                </a:tc>
                <a:tc>
                  <a:txBody>
                    <a:bodyPr/>
                    <a:lstStyle/>
                    <a:p>
                      <a:pPr marL="0" marR="0" lvl="0" indent="0" algn="l" defTabSz="1828800" rtl="0" eaLnBrk="1" fontAlgn="auto" latinLnBrk="0" hangingPunct="1">
                        <a:lnSpc>
                          <a:spcPct val="100000"/>
                        </a:lnSpc>
                        <a:spcBef>
                          <a:spcPts val="0"/>
                        </a:spcBef>
                        <a:spcAft>
                          <a:spcPts val="0"/>
                        </a:spcAft>
                        <a:buClrTx/>
                        <a:buSzTx/>
                        <a:buFontTx/>
                        <a:buNone/>
                        <a:tabLst/>
                        <a:defRPr/>
                      </a:pPr>
                      <a:r>
                        <a:rPr lang="en-US" altLang="zh-CN" sz="2000" b="1" dirty="0">
                          <a:effectLst/>
                        </a:rPr>
                        <a:t>5. </a:t>
                      </a:r>
                      <a:r>
                        <a:rPr lang="zh-CN" altLang="en-US" sz="2000" b="1" dirty="0">
                          <a:effectLst/>
                        </a:rPr>
                        <a:t>数据和结论的可追溯性✅</a:t>
                      </a:r>
                    </a:p>
                    <a:p>
                      <a:r>
                        <a:rPr lang="zh-CN" altLang="en-US" sz="2000" b="1" dirty="0">
                          <a:effectLst/>
                        </a:rPr>
                        <a:t>结论：通过</a:t>
                      </a:r>
                      <a:endParaRPr lang="zh-CN" altLang="en-US" sz="2000" dirty="0">
                        <a:effectLst/>
                      </a:endParaRPr>
                    </a:p>
                    <a:p>
                      <a:pPr marL="342900" indent="-342900">
                        <a:buFont typeface="Arial" panose="020B0604020202020204" pitchFamily="34" charset="0"/>
                        <a:buChar char="•"/>
                      </a:pPr>
                      <a:r>
                        <a:rPr lang="zh-CN" altLang="en-US" sz="2000" dirty="0">
                          <a:effectLst/>
                        </a:rPr>
                        <a:t>检索数据来源（</a:t>
                      </a:r>
                      <a:r>
                        <a:rPr lang="en-US" altLang="zh-CN" sz="2000" dirty="0">
                          <a:effectLst/>
                        </a:rPr>
                        <a:t>orbit</a:t>
                      </a:r>
                      <a:r>
                        <a:rPr lang="zh-CN" altLang="en-US" sz="2000" dirty="0">
                          <a:effectLst/>
                        </a:rPr>
                        <a:t>专利数据库）、检索范围、时间节点、专利家族数量均有明确说明，数据可追溯。</a:t>
                      </a:r>
                    </a:p>
                    <a:p>
                      <a:pPr marL="0" marR="0" lvl="0" indent="0" algn="l" defTabSz="1828800" rtl="0" eaLnBrk="1" fontAlgn="auto" latinLnBrk="0" hangingPunct="1">
                        <a:lnSpc>
                          <a:spcPct val="100000"/>
                        </a:lnSpc>
                        <a:spcBef>
                          <a:spcPts val="0"/>
                        </a:spcBef>
                        <a:spcAft>
                          <a:spcPts val="0"/>
                        </a:spcAft>
                        <a:buClrTx/>
                        <a:buSzTx/>
                        <a:buFontTx/>
                        <a:buNone/>
                        <a:tabLst/>
                        <a:defRPr/>
                      </a:pPr>
                      <a:r>
                        <a:rPr lang="en-US" altLang="zh-CN" sz="2000" b="1" dirty="0">
                          <a:effectLst/>
                        </a:rPr>
                        <a:t>6. </a:t>
                      </a:r>
                      <a:r>
                        <a:rPr lang="zh-CN" altLang="en-US" sz="2000" b="1" dirty="0">
                          <a:effectLst/>
                        </a:rPr>
                        <a:t>格式与规范性✅</a:t>
                      </a:r>
                    </a:p>
                    <a:p>
                      <a:r>
                        <a:rPr lang="zh-CN" altLang="en-US" sz="2000" b="1" dirty="0">
                          <a:effectLst/>
                        </a:rPr>
                        <a:t>结论：通过</a:t>
                      </a:r>
                      <a:endParaRPr lang="zh-CN" altLang="en-US" sz="2000" dirty="0">
                        <a:effectLst/>
                      </a:endParaRPr>
                    </a:p>
                    <a:p>
                      <a:pPr marL="342900" indent="-342900">
                        <a:buFont typeface="Arial" panose="020B0604020202020204" pitchFamily="34" charset="0"/>
                        <a:buChar char="•"/>
                      </a:pPr>
                      <a:r>
                        <a:rPr lang="zh-CN" altLang="en-US" sz="2000" dirty="0">
                          <a:effectLst/>
                        </a:rPr>
                        <a:t>报告格式规范，内容表达清晰，有公司标识和保密标识。</a:t>
                      </a:r>
                    </a:p>
                  </a:txBody>
                  <a:tcPr/>
                </a:tc>
                <a:tc>
                  <a:txBody>
                    <a:bodyPr/>
                    <a:lstStyle/>
                    <a:p>
                      <a:r>
                        <a:rPr lang="zh-CN" altLang="en-US" sz="2000" b="1" dirty="0">
                          <a:effectLst/>
                        </a:rPr>
                        <a:t>总体结论：</a:t>
                      </a:r>
                      <a:endParaRPr lang="zh-CN" altLang="en-US" sz="2000" dirty="0">
                        <a:effectLst/>
                      </a:endParaRPr>
                    </a:p>
                    <a:p>
                      <a:pPr marL="342900" indent="-342900">
                        <a:buFont typeface="Arial" panose="020B0604020202020204" pitchFamily="34" charset="0"/>
                        <a:buChar char="•"/>
                      </a:pPr>
                      <a:r>
                        <a:rPr lang="zh-CN" altLang="en-US" sz="2000" dirty="0"/>
                        <a:t>报告结构完整，内容基本符合</a:t>
                      </a:r>
                      <a:r>
                        <a:rPr lang="en-US" altLang="zh-CN" sz="2000" dirty="0"/>
                        <a:t>APQP</a:t>
                      </a:r>
                      <a:r>
                        <a:rPr lang="zh-CN" altLang="en-US" sz="2000" dirty="0"/>
                        <a:t>标准和项目要求，风险评估结论明确，数据可追溯。部分细节（如“</a:t>
                      </a:r>
                      <a:r>
                        <a:rPr lang="en-US" altLang="zh-CN" sz="2000" dirty="0"/>
                        <a:t>/”</a:t>
                      </a:r>
                      <a:r>
                        <a:rPr lang="zh-CN" altLang="en-US" sz="2000" dirty="0"/>
                        <a:t>项的说明）建议进一步完善，以提升报告的严谨性和可操作性。</a:t>
                      </a:r>
                      <a:endParaRPr lang="en-GB" altLang="zh-CN" sz="2000" dirty="0"/>
                    </a:p>
                    <a:p>
                      <a:r>
                        <a:rPr lang="zh-CN" altLang="en-US" sz="2000" b="1" dirty="0">
                          <a:effectLst/>
                        </a:rPr>
                        <a:t>改进建议：</a:t>
                      </a:r>
                      <a:endParaRPr lang="zh-CN" altLang="en-US" sz="2000" dirty="0">
                        <a:effectLst/>
                      </a:endParaRPr>
                    </a:p>
                    <a:p>
                      <a:pPr marL="342900" indent="-342900">
                        <a:buFont typeface="Arial" panose="020B0604020202020204" pitchFamily="34" charset="0"/>
                        <a:buChar char="•"/>
                      </a:pPr>
                      <a:r>
                        <a:rPr lang="zh-CN" altLang="en-US" sz="2000" dirty="0">
                          <a:effectLst/>
                        </a:rPr>
                        <a:t>对所有“</a:t>
                      </a:r>
                      <a:r>
                        <a:rPr lang="en-US" altLang="zh-CN" sz="2000" dirty="0">
                          <a:effectLst/>
                        </a:rPr>
                        <a:t>/”</a:t>
                      </a:r>
                      <a:r>
                        <a:rPr lang="zh-CN" altLang="en-US" sz="2000" dirty="0">
                          <a:effectLst/>
                        </a:rPr>
                        <a:t>项补充说明原因，避免歧义。</a:t>
                      </a:r>
                    </a:p>
                    <a:p>
                      <a:pPr marL="342900" indent="-342900">
                        <a:buFont typeface="Arial" panose="020B0604020202020204" pitchFamily="34" charset="0"/>
                        <a:buChar char="•"/>
                      </a:pPr>
                      <a:r>
                        <a:rPr lang="zh-CN" altLang="en-US" sz="2000" dirty="0">
                          <a:effectLst/>
                        </a:rPr>
                        <a:t>明确后续设计变更的风险监控和应对机制。</a:t>
                      </a:r>
                    </a:p>
                    <a:p>
                      <a:pPr marL="342900" indent="-342900">
                        <a:buFont typeface="Arial" panose="020B0604020202020204" pitchFamily="34" charset="0"/>
                        <a:buChar char="•"/>
                      </a:pPr>
                      <a:r>
                        <a:rPr lang="zh-CN" altLang="en-US" sz="2000" dirty="0">
                          <a:effectLst/>
                        </a:rPr>
                        <a:t>持续跟踪项目进展，及时更新发明成果和风险评估内容。</a:t>
                      </a:r>
                    </a:p>
                    <a:p>
                      <a:pPr marL="342900" indent="-342900">
                        <a:buFont typeface="Arial" panose="020B0604020202020204" pitchFamily="34" charset="0"/>
                        <a:buChar char="•"/>
                      </a:pPr>
                      <a:r>
                        <a:rPr lang="zh-CN" altLang="en-US" sz="2000" dirty="0"/>
                        <a:t>如需进一步细化某一部分内容或需要模板示例，请告知！</a:t>
                      </a:r>
                      <a:endParaRPr lang="en-GB" sz="2000" dirty="0"/>
                    </a:p>
                  </a:txBody>
                  <a:tcPr/>
                </a:tc>
                <a:extLst>
                  <a:ext uri="{0D108BD9-81ED-4DB2-BD59-A6C34878D82A}">
                    <a16:rowId xmlns:a16="http://schemas.microsoft.com/office/drawing/2014/main" val="604853937"/>
                  </a:ext>
                </a:extLst>
              </a:tr>
            </a:tbl>
          </a:graphicData>
        </a:graphic>
      </p:graphicFrame>
    </p:spTree>
    <p:extLst>
      <p:ext uri="{BB962C8B-B14F-4D97-AF65-F5344CB8AC3E}">
        <p14:creationId xmlns:p14="http://schemas.microsoft.com/office/powerpoint/2010/main" val="3287479876"/>
      </p:ext>
    </p:extLst>
  </p:cSld>
  <p:clrMapOvr>
    <a:masterClrMapping/>
  </p:clrMapOvr>
  <p:transition spd="med"/>
  <p:extLst>
    <p:ext uri="{6950BFC3-D8DA-4A85-94F7-54DA5524770B}">
      <p188:commentRel xmlns:p188="http://schemas.microsoft.com/office/powerpoint/2018/8/main" r:id="rId2"/>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57D3DC-659C-C92D-2317-B4EC033E7CD1}"/>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F7BCF54E-6CB8-0170-659B-E1B478E8024C}"/>
              </a:ext>
            </a:extLst>
          </p:cNvPr>
          <p:cNvSpPr txBox="1"/>
          <p:nvPr/>
        </p:nvSpPr>
        <p:spPr>
          <a:xfrm>
            <a:off x="1320118" y="755986"/>
            <a:ext cx="21743764" cy="646331"/>
          </a:xfrm>
          <a:prstGeom prst="rect">
            <a:avLst/>
          </a:prstGeom>
          <a:noFill/>
        </p:spPr>
        <p:txBody>
          <a:bodyPr wrap="square" numCol="1">
            <a:spAutoFit/>
          </a:bodyPr>
          <a:lstStyle/>
          <a:p>
            <a:pPr>
              <a:spcBef>
                <a:spcPts val="1500"/>
              </a:spcBef>
              <a:spcAft>
                <a:spcPts val="750"/>
              </a:spcAft>
              <a:buNone/>
            </a:pPr>
            <a:r>
              <a:rPr lang="en-US" altLang="zh-CN" sz="3600" b="1" dirty="0">
                <a:effectLst/>
              </a:rPr>
              <a:t>A</a:t>
            </a:r>
            <a:r>
              <a:rPr lang="zh-CN" altLang="en-US" sz="3600" b="1" dirty="0">
                <a:effectLst/>
              </a:rPr>
              <a:t>样阶段</a:t>
            </a:r>
            <a:r>
              <a:rPr lang="en-US" altLang="zh-CN" sz="3600" b="1" dirty="0"/>
              <a:t>《</a:t>
            </a:r>
            <a:r>
              <a:rPr lang="en-GB" altLang="zh-CN" sz="3600" b="1" dirty="0"/>
              <a:t>DFM -L946</a:t>
            </a:r>
            <a:r>
              <a:rPr lang="zh-CN" altLang="en-US" sz="3600" b="1" dirty="0"/>
              <a:t>项目箱体（巨石）</a:t>
            </a:r>
            <a:r>
              <a:rPr lang="en-US" altLang="zh-CN" sz="3600" b="1" dirty="0"/>
              <a:t>-</a:t>
            </a:r>
            <a:r>
              <a:rPr lang="en-GB" altLang="zh-CN" sz="3600" b="1" dirty="0"/>
              <a:t>V0-2023.05.26.pptx, </a:t>
            </a:r>
            <a:r>
              <a:rPr lang="zh-CN" altLang="en-US" sz="3600" b="1" dirty="0"/>
              <a:t>中航</a:t>
            </a:r>
            <a:r>
              <a:rPr lang="en-US" altLang="zh-CN" sz="3600" b="1" dirty="0"/>
              <a:t>570-914</a:t>
            </a:r>
            <a:r>
              <a:rPr lang="zh-CN" altLang="en-US" sz="3600" b="1" dirty="0"/>
              <a:t>项目</a:t>
            </a:r>
            <a:r>
              <a:rPr lang="en-GB" altLang="zh-CN" sz="3600" b="1" dirty="0"/>
              <a:t>DFM.pptx</a:t>
            </a:r>
            <a:r>
              <a:rPr lang="en-US" altLang="zh-CN" sz="3600" b="1" dirty="0"/>
              <a:t>》</a:t>
            </a:r>
            <a:r>
              <a:rPr lang="zh-CN" altLang="en-US" sz="3600" b="1" dirty="0">
                <a:effectLst/>
              </a:rPr>
              <a:t>审核报告</a:t>
            </a:r>
          </a:p>
        </p:txBody>
      </p:sp>
      <p:graphicFrame>
        <p:nvGraphicFramePr>
          <p:cNvPr id="2" name="表格 1">
            <a:extLst>
              <a:ext uri="{FF2B5EF4-FFF2-40B4-BE49-F238E27FC236}">
                <a16:creationId xmlns:a16="http://schemas.microsoft.com/office/drawing/2014/main" id="{83B48BEE-D15E-A879-10ED-FC8F4B0E60E9}"/>
              </a:ext>
            </a:extLst>
          </p:cNvPr>
          <p:cNvGraphicFramePr>
            <a:graphicFrameLocks noGrp="1"/>
          </p:cNvGraphicFramePr>
          <p:nvPr>
            <p:extLst>
              <p:ext uri="{D42A27DB-BD31-4B8C-83A1-F6EECF244321}">
                <p14:modId xmlns:p14="http://schemas.microsoft.com/office/powerpoint/2010/main" val="4047293514"/>
              </p:ext>
            </p:extLst>
          </p:nvPr>
        </p:nvGraphicFramePr>
        <p:xfrm>
          <a:off x="662354" y="1738812"/>
          <a:ext cx="23059292" cy="11076538"/>
        </p:xfrm>
        <a:graphic>
          <a:graphicData uri="http://schemas.openxmlformats.org/drawingml/2006/table">
            <a:tbl>
              <a:tblPr firstRow="1" bandRow="1"/>
              <a:tblGrid>
                <a:gridCol w="4144108">
                  <a:extLst>
                    <a:ext uri="{9D8B030D-6E8A-4147-A177-3AD203B41FA5}">
                      <a16:colId xmlns:a16="http://schemas.microsoft.com/office/drawing/2014/main" val="520135011"/>
                    </a:ext>
                  </a:extLst>
                </a:gridCol>
                <a:gridCol w="5931876">
                  <a:extLst>
                    <a:ext uri="{9D8B030D-6E8A-4147-A177-3AD203B41FA5}">
                      <a16:colId xmlns:a16="http://schemas.microsoft.com/office/drawing/2014/main" val="585926975"/>
                    </a:ext>
                  </a:extLst>
                </a:gridCol>
                <a:gridCol w="7218485">
                  <a:extLst>
                    <a:ext uri="{9D8B030D-6E8A-4147-A177-3AD203B41FA5}">
                      <a16:colId xmlns:a16="http://schemas.microsoft.com/office/drawing/2014/main" val="3081416713"/>
                    </a:ext>
                  </a:extLst>
                </a:gridCol>
                <a:gridCol w="5764823">
                  <a:extLst>
                    <a:ext uri="{9D8B030D-6E8A-4147-A177-3AD203B41FA5}">
                      <a16:colId xmlns:a16="http://schemas.microsoft.com/office/drawing/2014/main" val="572010187"/>
                    </a:ext>
                  </a:extLst>
                </a:gridCol>
              </a:tblGrid>
              <a:tr h="901298">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审查清单制定</a:t>
                      </a:r>
                    </a:p>
                  </a:txBody>
                  <a:tcPr anchor="ctr"/>
                </a:tc>
                <a:tc gridSpan="2">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逐项审核结果</a:t>
                      </a:r>
                    </a:p>
                  </a:txBody>
                  <a:tcPr anchor="ctr"/>
                </a:tc>
                <a:tc hMerge="1">
                  <a:txBody>
                    <a:bodyPr/>
                    <a:lstStyle/>
                    <a:p>
                      <a:pPr algn="ctr"/>
                      <a:endParaRPr lang="en-GB" sz="2000" dirty="0"/>
                    </a:p>
                  </a:txBody>
                  <a:tcPr/>
                </a:tc>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总体评估</a:t>
                      </a:r>
                    </a:p>
                  </a:txBody>
                  <a:tcPr anchor="ctr"/>
                </a:tc>
                <a:extLst>
                  <a:ext uri="{0D108BD9-81ED-4DB2-BD59-A6C34878D82A}">
                    <a16:rowId xmlns:a16="http://schemas.microsoft.com/office/drawing/2014/main" val="2562292327"/>
                  </a:ext>
                </a:extLst>
              </a:tr>
              <a:tr h="10086326">
                <a:tc>
                  <a:txBody>
                    <a:bodyPr/>
                    <a:lstStyle/>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项目团队与职责分工</a:t>
                      </a: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产品基本信息与需求</a:t>
                      </a: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装配思路与关键控制点</a:t>
                      </a: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产能与设备能力分析</a:t>
                      </a: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工艺流程分析</a:t>
                      </a: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产品优化建议与设计更改</a:t>
                      </a: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物料清单（</a:t>
                      </a:r>
                      <a:r>
                        <a:rPr lang="en-US" altLang="zh-CN" sz="2000" b="0" i="0" kern="1200" dirty="0">
                          <a:solidFill>
                            <a:schemeClr val="tx1"/>
                          </a:solidFill>
                          <a:effectLst/>
                          <a:latin typeface="+mn-lt"/>
                          <a:ea typeface="+mn-ea"/>
                          <a:cs typeface="+mn-cs"/>
                        </a:rPr>
                        <a:t>BOM</a:t>
                      </a:r>
                      <a:r>
                        <a:rPr lang="zh-CN" altLang="en-US" sz="2000" b="0" i="0" kern="1200" dirty="0">
                          <a:solidFill>
                            <a:schemeClr val="tx1"/>
                          </a:solidFill>
                          <a:effectLst/>
                          <a:latin typeface="+mn-lt"/>
                          <a:ea typeface="+mn-ea"/>
                          <a:cs typeface="+mn-cs"/>
                        </a:rPr>
                        <a:t>）与材料分析</a:t>
                      </a: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型材挤出与制造可行性分析</a:t>
                      </a: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气密</a:t>
                      </a:r>
                      <a:r>
                        <a:rPr lang="en-US" altLang="zh-CN" sz="2000" b="0" i="0" kern="1200" dirty="0">
                          <a:solidFill>
                            <a:schemeClr val="tx1"/>
                          </a:solidFill>
                          <a:effectLst/>
                          <a:latin typeface="+mn-lt"/>
                          <a:ea typeface="+mn-ea"/>
                          <a:cs typeface="+mn-cs"/>
                        </a:rPr>
                        <a:t>/</a:t>
                      </a:r>
                      <a:r>
                        <a:rPr lang="zh-CN" altLang="en-US" sz="2000" b="0" i="0" kern="1200" dirty="0">
                          <a:solidFill>
                            <a:schemeClr val="tx1"/>
                          </a:solidFill>
                          <a:effectLst/>
                          <a:latin typeface="+mn-lt"/>
                          <a:ea typeface="+mn-ea"/>
                          <a:cs typeface="+mn-cs"/>
                        </a:rPr>
                        <a:t>水密</a:t>
                      </a:r>
                      <a:r>
                        <a:rPr lang="en-US" altLang="zh-CN" sz="2000" b="0" i="0" kern="1200" dirty="0">
                          <a:solidFill>
                            <a:schemeClr val="tx1"/>
                          </a:solidFill>
                          <a:effectLst/>
                          <a:latin typeface="+mn-lt"/>
                          <a:ea typeface="+mn-ea"/>
                          <a:cs typeface="+mn-cs"/>
                        </a:rPr>
                        <a:t>/</a:t>
                      </a:r>
                      <a:r>
                        <a:rPr lang="zh-CN" altLang="en-US" sz="2000" b="0" i="0" kern="1200" dirty="0">
                          <a:solidFill>
                            <a:schemeClr val="tx1"/>
                          </a:solidFill>
                          <a:effectLst/>
                          <a:latin typeface="+mn-lt"/>
                          <a:ea typeface="+mn-ea"/>
                          <a:cs typeface="+mn-cs"/>
                        </a:rPr>
                        <a:t>氢密检测方案与设备</a:t>
                      </a: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工装、夹具、检具设计方案</a:t>
                      </a: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包装与运输方案</a:t>
                      </a: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现有设备统计与能力</a:t>
                      </a: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量产规划与产线布局</a:t>
                      </a:r>
                    </a:p>
                    <a:p>
                      <a:pPr marL="342900" indent="-342900">
                        <a:buFont typeface="Arial" panose="020B0604020202020204" pitchFamily="34" charset="0"/>
                        <a:buChar char="•"/>
                      </a:pPr>
                      <a:r>
                        <a:rPr lang="en-US" altLang="zh-CN" sz="2000" b="0" i="0" kern="1200" dirty="0">
                          <a:solidFill>
                            <a:schemeClr val="tx1"/>
                          </a:solidFill>
                          <a:effectLst/>
                          <a:latin typeface="+mn-lt"/>
                          <a:ea typeface="+mn-ea"/>
                          <a:cs typeface="+mn-cs"/>
                        </a:rPr>
                        <a:t>DV</a:t>
                      </a:r>
                      <a:r>
                        <a:rPr lang="zh-CN" altLang="en-US" sz="2000" b="0" i="0" kern="1200" dirty="0">
                          <a:solidFill>
                            <a:schemeClr val="tx1"/>
                          </a:solidFill>
                          <a:effectLst/>
                          <a:latin typeface="+mn-lt"/>
                          <a:ea typeface="+mn-ea"/>
                          <a:cs typeface="+mn-cs"/>
                        </a:rPr>
                        <a:t>测试与验证计划</a:t>
                      </a: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试验设备统计</a:t>
                      </a: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二维图纸技术要求确认</a:t>
                      </a:r>
                    </a:p>
                    <a:p>
                      <a:pPr marL="342900" indent="-342900">
                        <a:buFont typeface="Arial" panose="020B0604020202020204" pitchFamily="34" charset="0"/>
                        <a:buChar char="•"/>
                      </a:pPr>
                      <a:r>
                        <a:rPr lang="zh-CN" altLang="en-US" sz="2000" b="0" i="0" kern="1200" dirty="0">
                          <a:solidFill>
                            <a:schemeClr val="tx1"/>
                          </a:solidFill>
                          <a:effectLst/>
                          <a:latin typeface="+mn-lt"/>
                          <a:ea typeface="+mn-ea"/>
                          <a:cs typeface="+mn-cs"/>
                        </a:rPr>
                        <a:t>会签与沟通机制</a:t>
                      </a:r>
                    </a:p>
                    <a:p>
                      <a:pPr>
                        <a:spcBef>
                          <a:spcPts val="1200"/>
                        </a:spcBef>
                        <a:spcAft>
                          <a:spcPts val="600"/>
                        </a:spcAft>
                        <a:buNone/>
                      </a:pPr>
                      <a:endParaRPr lang="en-GB" sz="2000" dirty="0"/>
                    </a:p>
                  </a:txBody>
                  <a:tcPr/>
                </a:tc>
                <a:tc>
                  <a:txBody>
                    <a:bodyPr/>
                    <a:lstStyle/>
                    <a:p>
                      <a:pPr marL="0" marR="0" lvl="0" indent="0" algn="l" defTabSz="1828800" rtl="0" eaLnBrk="1" fontAlgn="auto" latinLnBrk="0" hangingPunct="1">
                        <a:lnSpc>
                          <a:spcPct val="100000"/>
                        </a:lnSpc>
                        <a:spcBef>
                          <a:spcPts val="0"/>
                        </a:spcBef>
                        <a:spcAft>
                          <a:spcPts val="0"/>
                        </a:spcAft>
                        <a:buClrTx/>
                        <a:buSzTx/>
                        <a:buFontTx/>
                        <a:buNone/>
                        <a:tabLst/>
                        <a:defRPr/>
                      </a:pPr>
                      <a:r>
                        <a:rPr lang="en-GB" altLang="zh-CN" sz="2000" b="1" dirty="0">
                          <a:effectLst/>
                        </a:rPr>
                        <a:t>1</a:t>
                      </a:r>
                      <a:r>
                        <a:rPr lang="en-US" altLang="zh-CN" sz="2000" b="1" dirty="0">
                          <a:effectLst/>
                        </a:rPr>
                        <a:t>. </a:t>
                      </a:r>
                      <a:r>
                        <a:rPr lang="zh-CN" altLang="en-US" sz="2000" b="1" dirty="0">
                          <a:effectLst/>
                        </a:rPr>
                        <a:t>项目团队与职责分工✅</a:t>
                      </a:r>
                    </a:p>
                    <a:p>
                      <a:r>
                        <a:rPr lang="zh-CN" altLang="en-US" sz="2000" b="1" dirty="0">
                          <a:effectLst/>
                        </a:rPr>
                        <a:t>内容覆盖</a:t>
                      </a:r>
                      <a:r>
                        <a:rPr lang="zh-CN" altLang="en-US" sz="2000" dirty="0">
                          <a:effectLst/>
                        </a:rPr>
                        <a:t>：有详细的项目组成员信息，包含部门、成员、联系方式、邮箱。</a:t>
                      </a:r>
                    </a:p>
                    <a:p>
                      <a:r>
                        <a:rPr lang="zh-CN" altLang="en-US" sz="2000" b="1" dirty="0">
                          <a:effectLst/>
                        </a:rPr>
                        <a:t>结论</a:t>
                      </a:r>
                      <a:r>
                        <a:rPr lang="zh-CN" altLang="en-US" sz="2000" dirty="0">
                          <a:effectLst/>
                        </a:rPr>
                        <a:t>：通过</a:t>
                      </a:r>
                    </a:p>
                    <a:p>
                      <a:pPr marL="0" marR="0" lvl="0" indent="0" algn="l" defTabSz="1828800" rtl="0" eaLnBrk="1" fontAlgn="auto" latinLnBrk="0" hangingPunct="1">
                        <a:lnSpc>
                          <a:spcPct val="100000"/>
                        </a:lnSpc>
                        <a:spcBef>
                          <a:spcPts val="0"/>
                        </a:spcBef>
                        <a:spcAft>
                          <a:spcPts val="0"/>
                        </a:spcAft>
                        <a:buClrTx/>
                        <a:buSzTx/>
                        <a:buFontTx/>
                        <a:buNone/>
                        <a:tabLst/>
                        <a:defRPr/>
                      </a:pPr>
                      <a:r>
                        <a:rPr lang="en-US" altLang="zh-CN" sz="2000" b="1" dirty="0">
                          <a:effectLst/>
                        </a:rPr>
                        <a:t>2. </a:t>
                      </a:r>
                      <a:r>
                        <a:rPr lang="zh-CN" altLang="en-US" sz="2000" b="1" dirty="0">
                          <a:effectLst/>
                        </a:rPr>
                        <a:t>产品基本信息与需求✅</a:t>
                      </a:r>
                    </a:p>
                    <a:p>
                      <a:r>
                        <a:rPr lang="zh-CN" altLang="en-US" sz="2000" b="1" dirty="0">
                          <a:effectLst/>
                        </a:rPr>
                        <a:t>内容覆盖</a:t>
                      </a:r>
                      <a:r>
                        <a:rPr lang="zh-CN" altLang="en-US" sz="2000" dirty="0">
                          <a:effectLst/>
                        </a:rPr>
                        <a:t>：有产品型号、尺寸、材料、重量、主要工艺等信息。</a:t>
                      </a:r>
                    </a:p>
                    <a:p>
                      <a:r>
                        <a:rPr lang="zh-CN" altLang="en-US" sz="2000" b="1" dirty="0">
                          <a:effectLst/>
                        </a:rPr>
                        <a:t>结论</a:t>
                      </a:r>
                      <a:r>
                        <a:rPr lang="zh-CN" altLang="en-US" sz="2000" dirty="0">
                          <a:effectLst/>
                        </a:rPr>
                        <a:t>：通过</a:t>
                      </a:r>
                    </a:p>
                    <a:p>
                      <a:pPr marL="0" marR="0" lvl="0" indent="0" algn="l" defTabSz="1828800" rtl="0" eaLnBrk="1" fontAlgn="auto" latinLnBrk="0" hangingPunct="1">
                        <a:lnSpc>
                          <a:spcPct val="100000"/>
                        </a:lnSpc>
                        <a:spcBef>
                          <a:spcPts val="0"/>
                        </a:spcBef>
                        <a:spcAft>
                          <a:spcPts val="0"/>
                        </a:spcAft>
                        <a:buClrTx/>
                        <a:buSzTx/>
                        <a:buFontTx/>
                        <a:buNone/>
                        <a:tabLst/>
                        <a:defRPr/>
                      </a:pPr>
                      <a:r>
                        <a:rPr lang="en-US" altLang="zh-CN" sz="2000" b="1" dirty="0">
                          <a:effectLst/>
                        </a:rPr>
                        <a:t>3. </a:t>
                      </a:r>
                      <a:r>
                        <a:rPr lang="zh-CN" altLang="en-US" sz="2000" b="1" dirty="0">
                          <a:effectLst/>
                        </a:rPr>
                        <a:t>装配思路与关键控制点✅</a:t>
                      </a:r>
                    </a:p>
                    <a:p>
                      <a:r>
                        <a:rPr lang="zh-CN" altLang="en-US" sz="2000" b="1" dirty="0">
                          <a:effectLst/>
                        </a:rPr>
                        <a:t>内容覆盖</a:t>
                      </a:r>
                      <a:r>
                        <a:rPr lang="zh-CN" altLang="en-US" sz="2000" dirty="0">
                          <a:effectLst/>
                        </a:rPr>
                        <a:t>：有装配思路、控制要点（如焊接变形、定位、密封等）。</a:t>
                      </a:r>
                    </a:p>
                    <a:p>
                      <a:r>
                        <a:rPr lang="zh-CN" altLang="en-US" sz="2000" b="1" dirty="0">
                          <a:effectLst/>
                        </a:rPr>
                        <a:t>结论</a:t>
                      </a:r>
                      <a:r>
                        <a:rPr lang="zh-CN" altLang="en-US" sz="2000" dirty="0">
                          <a:effectLst/>
                        </a:rPr>
                        <a:t>：通过</a:t>
                      </a:r>
                    </a:p>
                    <a:p>
                      <a:pPr marL="0" marR="0" lvl="0" indent="0" algn="l" defTabSz="1828800" rtl="0" eaLnBrk="1" fontAlgn="auto" latinLnBrk="0" hangingPunct="1">
                        <a:lnSpc>
                          <a:spcPct val="100000"/>
                        </a:lnSpc>
                        <a:spcBef>
                          <a:spcPts val="0"/>
                        </a:spcBef>
                        <a:spcAft>
                          <a:spcPts val="0"/>
                        </a:spcAft>
                        <a:buClrTx/>
                        <a:buSzTx/>
                        <a:buFontTx/>
                        <a:buNone/>
                        <a:tabLst/>
                        <a:defRPr/>
                      </a:pPr>
                      <a:r>
                        <a:rPr lang="en-US" altLang="zh-CN" sz="2000" b="1" dirty="0">
                          <a:effectLst/>
                        </a:rPr>
                        <a:t>4. </a:t>
                      </a:r>
                      <a:r>
                        <a:rPr lang="zh-CN" altLang="en-US" sz="2000" b="1" dirty="0">
                          <a:effectLst/>
                        </a:rPr>
                        <a:t>产能与设备能力分析✅</a:t>
                      </a:r>
                    </a:p>
                    <a:p>
                      <a:r>
                        <a:rPr lang="zh-CN" altLang="en-US" sz="2000" b="1" dirty="0">
                          <a:effectLst/>
                        </a:rPr>
                        <a:t>内容覆盖</a:t>
                      </a:r>
                      <a:r>
                        <a:rPr lang="zh-CN" altLang="en-US" sz="2000" dirty="0">
                          <a:effectLst/>
                        </a:rPr>
                        <a:t>：有公司产能分布、现有设备统计、设备型号、数量、厂家等。</a:t>
                      </a:r>
                    </a:p>
                    <a:p>
                      <a:r>
                        <a:rPr lang="zh-CN" altLang="en-US" sz="2000" b="1" dirty="0">
                          <a:effectLst/>
                        </a:rPr>
                        <a:t>结论</a:t>
                      </a:r>
                      <a:r>
                        <a:rPr lang="zh-CN" altLang="en-US" sz="2000" dirty="0">
                          <a:effectLst/>
                        </a:rPr>
                        <a:t>：通过</a:t>
                      </a:r>
                    </a:p>
                    <a:p>
                      <a:pPr marL="0" marR="0" lvl="0" indent="0" algn="l" defTabSz="1828800" rtl="0" eaLnBrk="1" fontAlgn="auto" latinLnBrk="0" hangingPunct="1">
                        <a:lnSpc>
                          <a:spcPct val="100000"/>
                        </a:lnSpc>
                        <a:spcBef>
                          <a:spcPts val="0"/>
                        </a:spcBef>
                        <a:spcAft>
                          <a:spcPts val="0"/>
                        </a:spcAft>
                        <a:buClrTx/>
                        <a:buSzTx/>
                        <a:buFontTx/>
                        <a:buNone/>
                        <a:tabLst/>
                        <a:defRPr/>
                      </a:pPr>
                      <a:r>
                        <a:rPr lang="en-US" altLang="zh-CN" sz="2000" b="1" dirty="0">
                          <a:effectLst/>
                        </a:rPr>
                        <a:t>5. </a:t>
                      </a:r>
                      <a:r>
                        <a:rPr lang="zh-CN" altLang="en-US" sz="2000" b="1" dirty="0">
                          <a:effectLst/>
                        </a:rPr>
                        <a:t>工艺流程分析✅</a:t>
                      </a:r>
                    </a:p>
                    <a:p>
                      <a:r>
                        <a:rPr lang="zh-CN" altLang="en-US" sz="2000" b="1" dirty="0">
                          <a:effectLst/>
                        </a:rPr>
                        <a:t>内容覆盖</a:t>
                      </a:r>
                      <a:r>
                        <a:rPr lang="zh-CN" altLang="en-US" sz="2000" dirty="0">
                          <a:effectLst/>
                        </a:rPr>
                        <a:t>：有详细的工艺流程图，涵盖各零部件及总成的工序、设备、控制点。</a:t>
                      </a:r>
                    </a:p>
                    <a:p>
                      <a:r>
                        <a:rPr lang="zh-CN" altLang="en-US" sz="2000" b="1" dirty="0">
                          <a:effectLst/>
                        </a:rPr>
                        <a:t>结论</a:t>
                      </a:r>
                      <a:r>
                        <a:rPr lang="zh-CN" altLang="en-US" sz="2000" dirty="0">
                          <a:effectLst/>
                        </a:rPr>
                        <a:t>：通过</a:t>
                      </a:r>
                    </a:p>
                    <a:p>
                      <a:pPr marL="0" marR="0" lvl="0" indent="0" algn="l" defTabSz="1828800" rtl="0" eaLnBrk="1" fontAlgn="auto" latinLnBrk="0" hangingPunct="1">
                        <a:lnSpc>
                          <a:spcPct val="100000"/>
                        </a:lnSpc>
                        <a:spcBef>
                          <a:spcPts val="0"/>
                        </a:spcBef>
                        <a:spcAft>
                          <a:spcPts val="0"/>
                        </a:spcAft>
                        <a:buClrTx/>
                        <a:buSzTx/>
                        <a:buFontTx/>
                        <a:buNone/>
                        <a:tabLst/>
                        <a:defRPr/>
                      </a:pPr>
                      <a:r>
                        <a:rPr lang="en-US" altLang="zh-CN" sz="2000" b="1" dirty="0">
                          <a:effectLst/>
                        </a:rPr>
                        <a:t>6. </a:t>
                      </a:r>
                      <a:r>
                        <a:rPr lang="zh-CN" altLang="en-US" sz="2000" b="1" dirty="0">
                          <a:effectLst/>
                        </a:rPr>
                        <a:t>产品优化建议与设计更改✅</a:t>
                      </a:r>
                    </a:p>
                    <a:p>
                      <a:r>
                        <a:rPr lang="zh-CN" altLang="en-US" sz="2000" b="1" dirty="0">
                          <a:effectLst/>
                        </a:rPr>
                        <a:t>内容覆盖</a:t>
                      </a:r>
                      <a:r>
                        <a:rPr lang="zh-CN" altLang="en-US" sz="2000" dirty="0">
                          <a:effectLst/>
                        </a:rPr>
                        <a:t>：有针对结构、工艺等问题的优化建议，列明问题、建议方案及图示。</a:t>
                      </a:r>
                    </a:p>
                    <a:p>
                      <a:r>
                        <a:rPr lang="zh-CN" altLang="en-US" sz="2000" b="1" dirty="0">
                          <a:effectLst/>
                        </a:rPr>
                        <a:t>结论</a:t>
                      </a:r>
                      <a:r>
                        <a:rPr lang="zh-CN" altLang="en-US" sz="2000" dirty="0">
                          <a:effectLst/>
                        </a:rPr>
                        <a:t>：通过</a:t>
                      </a:r>
                    </a:p>
                    <a:p>
                      <a:pPr marL="0" marR="0" lvl="0" indent="0" algn="l" defTabSz="1828800" rtl="0" eaLnBrk="1" fontAlgn="auto" latinLnBrk="0" hangingPunct="1">
                        <a:lnSpc>
                          <a:spcPct val="100000"/>
                        </a:lnSpc>
                        <a:spcBef>
                          <a:spcPts val="0"/>
                        </a:spcBef>
                        <a:spcAft>
                          <a:spcPts val="0"/>
                        </a:spcAft>
                        <a:buClrTx/>
                        <a:buSzTx/>
                        <a:buFontTx/>
                        <a:buNone/>
                        <a:tabLst/>
                        <a:defRPr/>
                      </a:pPr>
                      <a:r>
                        <a:rPr lang="en-US" altLang="zh-CN" sz="2000" b="1" dirty="0">
                          <a:effectLst/>
                        </a:rPr>
                        <a:t>7. </a:t>
                      </a:r>
                      <a:r>
                        <a:rPr lang="zh-CN" altLang="en-US" sz="2000" b="1" dirty="0">
                          <a:effectLst/>
                        </a:rPr>
                        <a:t>物料清单（</a:t>
                      </a:r>
                      <a:r>
                        <a:rPr lang="en-US" altLang="zh-CN" sz="2000" b="1" dirty="0">
                          <a:effectLst/>
                        </a:rPr>
                        <a:t>BOM</a:t>
                      </a:r>
                      <a:r>
                        <a:rPr lang="zh-CN" altLang="en-US" sz="2000" b="1" dirty="0">
                          <a:effectLst/>
                        </a:rPr>
                        <a:t>）与材料分析✅</a:t>
                      </a:r>
                    </a:p>
                    <a:p>
                      <a:r>
                        <a:rPr lang="zh-CN" altLang="en-US" sz="2000" b="1" dirty="0">
                          <a:effectLst/>
                        </a:rPr>
                        <a:t>内容覆盖</a:t>
                      </a:r>
                      <a:r>
                        <a:rPr lang="zh-CN" altLang="en-US" sz="2000" dirty="0">
                          <a:effectLst/>
                        </a:rPr>
                        <a:t>：型材、铸件、机加工件、钣金、标准件等</a:t>
                      </a:r>
                      <a:r>
                        <a:rPr lang="en-US" altLang="zh-CN" sz="2000" dirty="0">
                          <a:effectLst/>
                        </a:rPr>
                        <a:t>BOM</a:t>
                      </a:r>
                      <a:r>
                        <a:rPr lang="zh-CN" altLang="en-US" sz="2000" dirty="0">
                          <a:effectLst/>
                        </a:rPr>
                        <a:t>清单，含材料、数量、尺寸等。</a:t>
                      </a:r>
                    </a:p>
                    <a:p>
                      <a:r>
                        <a:rPr lang="zh-CN" altLang="en-US" sz="2000" b="1" dirty="0">
                          <a:effectLst/>
                        </a:rPr>
                        <a:t>结论</a:t>
                      </a:r>
                      <a:r>
                        <a:rPr lang="zh-CN" altLang="en-US" sz="2000" dirty="0">
                          <a:effectLst/>
                        </a:rPr>
                        <a:t>：通过</a:t>
                      </a:r>
                    </a:p>
                    <a:p>
                      <a:pPr marL="0" marR="0" lvl="0" indent="0" algn="l" defTabSz="1828800" rtl="0" eaLnBrk="1" fontAlgn="auto" latinLnBrk="0" hangingPunct="1">
                        <a:lnSpc>
                          <a:spcPct val="100000"/>
                        </a:lnSpc>
                        <a:spcBef>
                          <a:spcPts val="0"/>
                        </a:spcBef>
                        <a:spcAft>
                          <a:spcPts val="0"/>
                        </a:spcAft>
                        <a:buClrTx/>
                        <a:buSzTx/>
                        <a:buFontTx/>
                        <a:buNone/>
                        <a:tabLst/>
                        <a:defRPr/>
                      </a:pPr>
                      <a:r>
                        <a:rPr lang="en-US" altLang="zh-CN" sz="2000" b="1" dirty="0">
                          <a:effectLst/>
                        </a:rPr>
                        <a:t>8. </a:t>
                      </a:r>
                      <a:r>
                        <a:rPr lang="zh-CN" altLang="en-US" sz="2000" b="1" dirty="0">
                          <a:effectLst/>
                        </a:rPr>
                        <a:t>型材挤出与制造可行性分析✅</a:t>
                      </a:r>
                    </a:p>
                    <a:p>
                      <a:r>
                        <a:rPr lang="zh-CN" altLang="en-US" sz="2000" b="1" dirty="0">
                          <a:effectLst/>
                        </a:rPr>
                        <a:t>内容覆盖</a:t>
                      </a:r>
                      <a:r>
                        <a:rPr lang="zh-CN" altLang="en-US" sz="2000" dirty="0">
                          <a:effectLst/>
                        </a:rPr>
                        <a:t>：有型材挤出分析，包含截面尺寸、壁厚公差、延伸率、可行性等。</a:t>
                      </a:r>
                    </a:p>
                    <a:p>
                      <a:r>
                        <a:rPr lang="zh-CN" altLang="en-US" sz="2000" b="1" dirty="0">
                          <a:effectLst/>
                        </a:rPr>
                        <a:t>结论</a:t>
                      </a:r>
                      <a:r>
                        <a:rPr lang="zh-CN" altLang="en-US" sz="2000" dirty="0">
                          <a:effectLst/>
                        </a:rPr>
                        <a:t>：通过</a:t>
                      </a:r>
                    </a:p>
                    <a:p>
                      <a:pPr>
                        <a:spcBef>
                          <a:spcPts val="150"/>
                        </a:spcBef>
                        <a:spcAft>
                          <a:spcPts val="150"/>
                        </a:spcAft>
                        <a:buFont typeface="+mj-lt"/>
                        <a:buAutoNum type="arabicPeriod"/>
                      </a:pPr>
                      <a:endParaRPr lang="en-GB" sz="2000" dirty="0"/>
                    </a:p>
                  </a:txBody>
                  <a:tcPr/>
                </a:tc>
                <a:tc>
                  <a:txBody>
                    <a:bodyPr/>
                    <a:lstStyle/>
                    <a:p>
                      <a:pPr marL="0" marR="0" lvl="0" indent="0" algn="l" defTabSz="1828800" rtl="0" eaLnBrk="1" fontAlgn="auto" latinLnBrk="0" hangingPunct="1">
                        <a:lnSpc>
                          <a:spcPct val="100000"/>
                        </a:lnSpc>
                        <a:spcBef>
                          <a:spcPts val="0"/>
                        </a:spcBef>
                        <a:spcAft>
                          <a:spcPts val="0"/>
                        </a:spcAft>
                        <a:buClrTx/>
                        <a:buSzTx/>
                        <a:buFontTx/>
                        <a:buNone/>
                        <a:tabLst/>
                        <a:defRPr/>
                      </a:pPr>
                      <a:r>
                        <a:rPr lang="en-US" altLang="zh-CN" sz="2000" b="1" dirty="0">
                          <a:effectLst/>
                        </a:rPr>
                        <a:t>9. </a:t>
                      </a:r>
                      <a:r>
                        <a:rPr lang="zh-CN" altLang="en-US" sz="2000" b="1" dirty="0">
                          <a:effectLst/>
                        </a:rPr>
                        <a:t>气密</a:t>
                      </a:r>
                      <a:r>
                        <a:rPr lang="en-US" altLang="zh-CN" sz="2000" b="1" dirty="0">
                          <a:effectLst/>
                        </a:rPr>
                        <a:t>/</a:t>
                      </a:r>
                      <a:r>
                        <a:rPr lang="zh-CN" altLang="en-US" sz="2000" b="1" dirty="0">
                          <a:effectLst/>
                        </a:rPr>
                        <a:t>水密</a:t>
                      </a:r>
                      <a:r>
                        <a:rPr lang="en-US" altLang="zh-CN" sz="2000" b="1" dirty="0">
                          <a:effectLst/>
                        </a:rPr>
                        <a:t>/</a:t>
                      </a:r>
                      <a:r>
                        <a:rPr lang="zh-CN" altLang="en-US" sz="2000" b="1" dirty="0">
                          <a:effectLst/>
                        </a:rPr>
                        <a:t>氢密检测方案与设备✅</a:t>
                      </a:r>
                    </a:p>
                    <a:p>
                      <a:r>
                        <a:rPr lang="zh-CN" altLang="en-US" sz="2000" b="1" dirty="0">
                          <a:effectLst/>
                        </a:rPr>
                        <a:t>内容覆盖</a:t>
                      </a:r>
                      <a:r>
                        <a:rPr lang="zh-CN" altLang="en-US" sz="2000" dirty="0">
                          <a:effectLst/>
                        </a:rPr>
                        <a:t>：有详细的气密检测方案、参数、设备型号及供应商。</a:t>
                      </a:r>
                    </a:p>
                    <a:p>
                      <a:r>
                        <a:rPr lang="zh-CN" altLang="en-US" sz="2000" b="1" dirty="0">
                          <a:effectLst/>
                        </a:rPr>
                        <a:t>结论</a:t>
                      </a:r>
                      <a:r>
                        <a:rPr lang="zh-CN" altLang="en-US" sz="2000" dirty="0">
                          <a:effectLst/>
                        </a:rPr>
                        <a:t>：通过</a:t>
                      </a:r>
                    </a:p>
                    <a:p>
                      <a:pPr marL="0" marR="0" lvl="0" indent="0" algn="l" defTabSz="1828800" rtl="0" eaLnBrk="1" fontAlgn="auto" latinLnBrk="0" hangingPunct="1">
                        <a:lnSpc>
                          <a:spcPct val="100000"/>
                        </a:lnSpc>
                        <a:spcBef>
                          <a:spcPts val="0"/>
                        </a:spcBef>
                        <a:spcAft>
                          <a:spcPts val="0"/>
                        </a:spcAft>
                        <a:buClrTx/>
                        <a:buSzTx/>
                        <a:buFontTx/>
                        <a:buNone/>
                        <a:tabLst/>
                        <a:defRPr/>
                      </a:pPr>
                      <a:r>
                        <a:rPr lang="en-US" altLang="zh-CN" sz="2000" b="1" dirty="0">
                          <a:effectLst/>
                        </a:rPr>
                        <a:t>10. </a:t>
                      </a:r>
                      <a:r>
                        <a:rPr lang="zh-CN" altLang="en-US" sz="2000" b="1" dirty="0">
                          <a:effectLst/>
                        </a:rPr>
                        <a:t>工装、夹具、检具设计方案✅</a:t>
                      </a:r>
                    </a:p>
                    <a:p>
                      <a:r>
                        <a:rPr lang="zh-CN" altLang="en-US" sz="2000" b="1" dirty="0">
                          <a:effectLst/>
                        </a:rPr>
                        <a:t>内容覆盖</a:t>
                      </a:r>
                      <a:r>
                        <a:rPr lang="zh-CN" altLang="en-US" sz="2000" dirty="0">
                          <a:effectLst/>
                        </a:rPr>
                        <a:t>：有工装、夹具、检具的设计方案、数量、设计周期等统计。</a:t>
                      </a:r>
                    </a:p>
                    <a:p>
                      <a:r>
                        <a:rPr lang="zh-CN" altLang="en-US" sz="2000" b="1" dirty="0">
                          <a:effectLst/>
                        </a:rPr>
                        <a:t>结论</a:t>
                      </a:r>
                      <a:r>
                        <a:rPr lang="zh-CN" altLang="en-US" sz="2000" dirty="0">
                          <a:effectLst/>
                        </a:rPr>
                        <a:t>：通过</a:t>
                      </a:r>
                    </a:p>
                    <a:p>
                      <a:pPr marL="0" marR="0" lvl="0" indent="0" algn="l" defTabSz="1828800" rtl="0" eaLnBrk="1" fontAlgn="auto" latinLnBrk="0" hangingPunct="1">
                        <a:lnSpc>
                          <a:spcPct val="100000"/>
                        </a:lnSpc>
                        <a:spcBef>
                          <a:spcPts val="0"/>
                        </a:spcBef>
                        <a:spcAft>
                          <a:spcPts val="0"/>
                        </a:spcAft>
                        <a:buClrTx/>
                        <a:buSzTx/>
                        <a:buFontTx/>
                        <a:buNone/>
                        <a:tabLst/>
                        <a:defRPr/>
                      </a:pPr>
                      <a:r>
                        <a:rPr lang="en-US" altLang="zh-CN" sz="2000" b="1" dirty="0">
                          <a:effectLst/>
                        </a:rPr>
                        <a:t>11. </a:t>
                      </a:r>
                      <a:r>
                        <a:rPr lang="zh-CN" altLang="en-US" sz="2000" b="1" dirty="0">
                          <a:effectLst/>
                        </a:rPr>
                        <a:t>包装与运输方案✅</a:t>
                      </a:r>
                    </a:p>
                    <a:p>
                      <a:r>
                        <a:rPr lang="zh-CN" altLang="en-US" sz="2000" b="1" dirty="0">
                          <a:effectLst/>
                        </a:rPr>
                        <a:t>内容覆盖</a:t>
                      </a:r>
                      <a:r>
                        <a:rPr lang="zh-CN" altLang="en-US" sz="2000" dirty="0">
                          <a:effectLst/>
                        </a:rPr>
                        <a:t>：有包装设计要求、方案、材料、示意图等。</a:t>
                      </a:r>
                    </a:p>
                    <a:p>
                      <a:r>
                        <a:rPr lang="zh-CN" altLang="en-US" sz="2000" b="1" dirty="0">
                          <a:effectLst/>
                        </a:rPr>
                        <a:t>结论</a:t>
                      </a:r>
                      <a:r>
                        <a:rPr lang="zh-CN" altLang="en-US" sz="2000" dirty="0">
                          <a:effectLst/>
                        </a:rPr>
                        <a:t>：通过</a:t>
                      </a:r>
                    </a:p>
                    <a:p>
                      <a:pPr marL="0" marR="0" lvl="0" indent="0" algn="l" defTabSz="1828800" rtl="0" eaLnBrk="1" fontAlgn="auto" latinLnBrk="0" hangingPunct="1">
                        <a:lnSpc>
                          <a:spcPct val="100000"/>
                        </a:lnSpc>
                        <a:spcBef>
                          <a:spcPts val="0"/>
                        </a:spcBef>
                        <a:spcAft>
                          <a:spcPts val="0"/>
                        </a:spcAft>
                        <a:buClrTx/>
                        <a:buSzTx/>
                        <a:buFontTx/>
                        <a:buNone/>
                        <a:tabLst/>
                        <a:defRPr/>
                      </a:pPr>
                      <a:r>
                        <a:rPr lang="en-US" altLang="zh-CN" sz="2000" b="1" dirty="0">
                          <a:effectLst/>
                        </a:rPr>
                        <a:t>12. </a:t>
                      </a:r>
                      <a:r>
                        <a:rPr lang="zh-CN" altLang="en-US" sz="2000" b="1" dirty="0">
                          <a:effectLst/>
                        </a:rPr>
                        <a:t>现有设备统计与能力✅</a:t>
                      </a:r>
                    </a:p>
                    <a:p>
                      <a:r>
                        <a:rPr lang="zh-CN" altLang="en-US" sz="2000" b="1" dirty="0">
                          <a:effectLst/>
                        </a:rPr>
                        <a:t>内容覆盖</a:t>
                      </a:r>
                      <a:r>
                        <a:rPr lang="zh-CN" altLang="en-US" sz="2000" dirty="0">
                          <a:effectLst/>
                        </a:rPr>
                        <a:t>：有详细的设备统计表，涵盖</a:t>
                      </a:r>
                      <a:r>
                        <a:rPr lang="en-US" altLang="zh-CN" sz="2000" dirty="0">
                          <a:effectLst/>
                        </a:rPr>
                        <a:t>CNC</a:t>
                      </a:r>
                      <a:r>
                        <a:rPr lang="zh-CN" altLang="en-US" sz="2000" dirty="0">
                          <a:effectLst/>
                        </a:rPr>
                        <a:t>、焊机、检测设备等。</a:t>
                      </a:r>
                    </a:p>
                    <a:p>
                      <a:r>
                        <a:rPr lang="zh-CN" altLang="en-US" sz="2000" b="1" dirty="0">
                          <a:effectLst/>
                        </a:rPr>
                        <a:t>结论</a:t>
                      </a:r>
                      <a:r>
                        <a:rPr lang="zh-CN" altLang="en-US" sz="2000" dirty="0">
                          <a:effectLst/>
                        </a:rPr>
                        <a:t>：通过</a:t>
                      </a:r>
                    </a:p>
                    <a:p>
                      <a:pPr marL="0" marR="0" lvl="0" indent="0" algn="l" defTabSz="1828800" rtl="0" eaLnBrk="1" fontAlgn="auto" latinLnBrk="0" hangingPunct="1">
                        <a:lnSpc>
                          <a:spcPct val="100000"/>
                        </a:lnSpc>
                        <a:spcBef>
                          <a:spcPts val="0"/>
                        </a:spcBef>
                        <a:spcAft>
                          <a:spcPts val="0"/>
                        </a:spcAft>
                        <a:buClrTx/>
                        <a:buSzTx/>
                        <a:buFontTx/>
                        <a:buNone/>
                        <a:tabLst/>
                        <a:defRPr/>
                      </a:pPr>
                      <a:r>
                        <a:rPr lang="en-US" altLang="zh-CN" sz="2000" b="1" dirty="0">
                          <a:effectLst/>
                        </a:rPr>
                        <a:t>13. </a:t>
                      </a:r>
                      <a:r>
                        <a:rPr lang="zh-CN" altLang="en-US" sz="2000" b="1" dirty="0">
                          <a:effectLst/>
                        </a:rPr>
                        <a:t>量产规划与产线布局✅</a:t>
                      </a:r>
                    </a:p>
                    <a:p>
                      <a:r>
                        <a:rPr lang="zh-CN" altLang="en-US" sz="2000" b="1" dirty="0">
                          <a:effectLst/>
                        </a:rPr>
                        <a:t>内容覆盖</a:t>
                      </a:r>
                      <a:r>
                        <a:rPr lang="zh-CN" altLang="en-US" sz="2000" dirty="0">
                          <a:effectLst/>
                        </a:rPr>
                        <a:t>：有量产规划章节，产线布局需结合实际情况进一步细化。</a:t>
                      </a:r>
                    </a:p>
                    <a:p>
                      <a:r>
                        <a:rPr lang="zh-CN" altLang="en-US" sz="2000" b="1" dirty="0">
                          <a:effectLst/>
                        </a:rPr>
                        <a:t>结论</a:t>
                      </a:r>
                      <a:r>
                        <a:rPr lang="zh-CN" altLang="en-US" sz="2000" dirty="0">
                          <a:effectLst/>
                        </a:rPr>
                        <a:t>：通过（建议后续补充具体产线布局图）</a:t>
                      </a:r>
                    </a:p>
                    <a:p>
                      <a:pPr marL="0" marR="0" lvl="0" indent="0" algn="l" defTabSz="1828800" rtl="0" eaLnBrk="1" fontAlgn="auto" latinLnBrk="0" hangingPunct="1">
                        <a:lnSpc>
                          <a:spcPct val="100000"/>
                        </a:lnSpc>
                        <a:spcBef>
                          <a:spcPts val="0"/>
                        </a:spcBef>
                        <a:spcAft>
                          <a:spcPts val="0"/>
                        </a:spcAft>
                        <a:buClrTx/>
                        <a:buSzTx/>
                        <a:buFontTx/>
                        <a:buNone/>
                        <a:tabLst/>
                        <a:defRPr/>
                      </a:pPr>
                      <a:r>
                        <a:rPr lang="en-US" altLang="zh-CN" sz="2000" b="1" dirty="0">
                          <a:effectLst/>
                        </a:rPr>
                        <a:t>14. DV</a:t>
                      </a:r>
                      <a:r>
                        <a:rPr lang="zh-CN" altLang="en-US" sz="2000" b="1" dirty="0">
                          <a:effectLst/>
                        </a:rPr>
                        <a:t>测试与验证计划✅</a:t>
                      </a:r>
                    </a:p>
                    <a:p>
                      <a:r>
                        <a:rPr lang="zh-CN" altLang="en-US" sz="2000" b="1" dirty="0">
                          <a:effectLst/>
                        </a:rPr>
                        <a:t>内容覆盖</a:t>
                      </a:r>
                      <a:r>
                        <a:rPr lang="zh-CN" altLang="en-US" sz="2000" dirty="0">
                          <a:effectLst/>
                        </a:rPr>
                        <a:t>：有</a:t>
                      </a:r>
                      <a:r>
                        <a:rPr lang="en-US" altLang="zh-CN" sz="2000" dirty="0">
                          <a:effectLst/>
                        </a:rPr>
                        <a:t>DV</a:t>
                      </a:r>
                      <a:r>
                        <a:rPr lang="zh-CN" altLang="en-US" sz="2000" dirty="0">
                          <a:effectLst/>
                        </a:rPr>
                        <a:t>测试项说明，需中航补充具体测试项。</a:t>
                      </a:r>
                    </a:p>
                    <a:p>
                      <a:r>
                        <a:rPr lang="zh-CN" altLang="en-US" sz="2000" b="1" dirty="0">
                          <a:effectLst/>
                        </a:rPr>
                        <a:t>结论</a:t>
                      </a:r>
                      <a:r>
                        <a:rPr lang="zh-CN" altLang="en-US" sz="2000" dirty="0">
                          <a:effectLst/>
                        </a:rPr>
                        <a:t>：通过（需后续补充）</a:t>
                      </a:r>
                    </a:p>
                    <a:p>
                      <a:pPr marL="0" marR="0" lvl="0" indent="0" algn="l" defTabSz="1828800" rtl="0" eaLnBrk="1" fontAlgn="auto" latinLnBrk="0" hangingPunct="1">
                        <a:lnSpc>
                          <a:spcPct val="100000"/>
                        </a:lnSpc>
                        <a:spcBef>
                          <a:spcPts val="0"/>
                        </a:spcBef>
                        <a:spcAft>
                          <a:spcPts val="0"/>
                        </a:spcAft>
                        <a:buClrTx/>
                        <a:buSzTx/>
                        <a:buFontTx/>
                        <a:buNone/>
                        <a:tabLst/>
                        <a:defRPr/>
                      </a:pPr>
                      <a:r>
                        <a:rPr lang="en-US" altLang="zh-CN" sz="2000" b="1" dirty="0">
                          <a:effectLst/>
                        </a:rPr>
                        <a:t>15. </a:t>
                      </a:r>
                      <a:r>
                        <a:rPr lang="zh-CN" altLang="en-US" sz="2000" b="1" dirty="0">
                          <a:effectLst/>
                        </a:rPr>
                        <a:t>试验设备统计✅</a:t>
                      </a:r>
                    </a:p>
                    <a:p>
                      <a:r>
                        <a:rPr lang="zh-CN" altLang="en-US" sz="2000" b="1" dirty="0">
                          <a:effectLst/>
                        </a:rPr>
                        <a:t>内容覆盖</a:t>
                      </a:r>
                      <a:r>
                        <a:rPr lang="zh-CN" altLang="en-US" sz="2000" dirty="0">
                          <a:effectLst/>
                        </a:rPr>
                        <a:t>：有试验设备统计表，含设备名称、型号、供应商、能力等。</a:t>
                      </a:r>
                    </a:p>
                    <a:p>
                      <a:r>
                        <a:rPr lang="zh-CN" altLang="en-US" sz="2000" b="1" dirty="0">
                          <a:effectLst/>
                        </a:rPr>
                        <a:t>结论</a:t>
                      </a:r>
                      <a:r>
                        <a:rPr lang="zh-CN" altLang="en-US" sz="2000" dirty="0">
                          <a:effectLst/>
                        </a:rPr>
                        <a:t>：通过</a:t>
                      </a:r>
                    </a:p>
                    <a:p>
                      <a:pPr marL="0" marR="0" lvl="0" indent="0" algn="l" defTabSz="1828800" rtl="0" eaLnBrk="1" fontAlgn="auto" latinLnBrk="0" hangingPunct="1">
                        <a:lnSpc>
                          <a:spcPct val="100000"/>
                        </a:lnSpc>
                        <a:spcBef>
                          <a:spcPts val="0"/>
                        </a:spcBef>
                        <a:spcAft>
                          <a:spcPts val="0"/>
                        </a:spcAft>
                        <a:buClrTx/>
                        <a:buSzTx/>
                        <a:buFontTx/>
                        <a:buNone/>
                        <a:tabLst/>
                        <a:defRPr/>
                      </a:pPr>
                      <a:r>
                        <a:rPr lang="en-US" altLang="zh-CN" sz="2000" b="1" dirty="0">
                          <a:effectLst/>
                        </a:rPr>
                        <a:t>16. </a:t>
                      </a:r>
                      <a:r>
                        <a:rPr lang="zh-CN" altLang="en-US" sz="2000" b="1" dirty="0">
                          <a:effectLst/>
                        </a:rPr>
                        <a:t>二维图纸技术要求确认✅</a:t>
                      </a:r>
                    </a:p>
                    <a:p>
                      <a:r>
                        <a:rPr lang="zh-CN" altLang="en-US" sz="2000" b="1" dirty="0">
                          <a:effectLst/>
                        </a:rPr>
                        <a:t>内容覆盖</a:t>
                      </a:r>
                      <a:r>
                        <a:rPr lang="zh-CN" altLang="en-US" sz="2000" dirty="0">
                          <a:effectLst/>
                        </a:rPr>
                        <a:t>：有二维图纸技术要求确认表，待数据锁定后补充。</a:t>
                      </a:r>
                    </a:p>
                    <a:p>
                      <a:r>
                        <a:rPr lang="zh-CN" altLang="en-US" sz="2000" b="1" dirty="0">
                          <a:effectLst/>
                        </a:rPr>
                        <a:t>结论</a:t>
                      </a:r>
                      <a:r>
                        <a:rPr lang="zh-CN" altLang="en-US" sz="2000" dirty="0">
                          <a:effectLst/>
                        </a:rPr>
                        <a:t>：通过（需后续补充）</a:t>
                      </a:r>
                    </a:p>
                    <a:p>
                      <a:pPr marL="0" marR="0" lvl="0" indent="0" algn="l" defTabSz="1828800" rtl="0" eaLnBrk="1" fontAlgn="auto" latinLnBrk="0" hangingPunct="1">
                        <a:lnSpc>
                          <a:spcPct val="100000"/>
                        </a:lnSpc>
                        <a:spcBef>
                          <a:spcPts val="0"/>
                        </a:spcBef>
                        <a:spcAft>
                          <a:spcPts val="0"/>
                        </a:spcAft>
                        <a:buClrTx/>
                        <a:buSzTx/>
                        <a:buFontTx/>
                        <a:buNone/>
                        <a:tabLst/>
                        <a:defRPr/>
                      </a:pPr>
                      <a:r>
                        <a:rPr lang="en-US" altLang="zh-CN" sz="2000" b="1" dirty="0">
                          <a:effectLst/>
                        </a:rPr>
                        <a:t>17. </a:t>
                      </a:r>
                      <a:r>
                        <a:rPr lang="zh-CN" altLang="en-US" sz="2000" b="1" dirty="0">
                          <a:effectLst/>
                        </a:rPr>
                        <a:t>会签与沟通机制✅</a:t>
                      </a:r>
                    </a:p>
                    <a:p>
                      <a:r>
                        <a:rPr lang="zh-CN" altLang="en-US" sz="2000" b="1" dirty="0">
                          <a:effectLst/>
                        </a:rPr>
                        <a:t>内容覆盖</a:t>
                      </a:r>
                      <a:r>
                        <a:rPr lang="zh-CN" altLang="en-US" sz="2000" dirty="0">
                          <a:effectLst/>
                        </a:rPr>
                        <a:t>：有会签栏，分中航和供应商两部分，信息完整。</a:t>
                      </a:r>
                    </a:p>
                    <a:p>
                      <a:r>
                        <a:rPr lang="zh-CN" altLang="en-US" sz="2000" b="1" dirty="0">
                          <a:effectLst/>
                        </a:rPr>
                        <a:t>结论</a:t>
                      </a:r>
                      <a:r>
                        <a:rPr lang="zh-CN" altLang="en-US" sz="2000" dirty="0">
                          <a:effectLst/>
                        </a:rPr>
                        <a:t>：通过</a:t>
                      </a:r>
                    </a:p>
                  </a:txBody>
                  <a:tcPr/>
                </a:tc>
                <a:tc>
                  <a:txBody>
                    <a:bodyPr/>
                    <a:lstStyle/>
                    <a:p>
                      <a:r>
                        <a:rPr lang="zh-CN" altLang="en-US" sz="2000" b="1" dirty="0">
                          <a:effectLst/>
                        </a:rPr>
                        <a:t>总体结论</a:t>
                      </a:r>
                    </a:p>
                    <a:p>
                      <a:pPr marL="342900" indent="-342900">
                        <a:buFont typeface="Arial" panose="020B0604020202020204" pitchFamily="34" charset="0"/>
                        <a:buChar char="•"/>
                      </a:pPr>
                      <a:r>
                        <a:rPr lang="zh-CN" altLang="en-US" sz="2000" dirty="0">
                          <a:effectLst/>
                        </a:rPr>
                        <a:t>文件内容较为完整，涵盖</a:t>
                      </a:r>
                      <a:r>
                        <a:rPr lang="en-US" altLang="zh-CN" sz="2000" dirty="0">
                          <a:effectLst/>
                        </a:rPr>
                        <a:t>APQP</a:t>
                      </a:r>
                      <a:r>
                        <a:rPr lang="zh-CN" altLang="en-US" sz="2000" dirty="0">
                          <a:effectLst/>
                        </a:rPr>
                        <a:t>各阶段的主要要求，结构清晰，数据详实。</a:t>
                      </a:r>
                    </a:p>
                    <a:p>
                      <a:pPr marL="342900" indent="-342900">
                        <a:buFont typeface="Arial" panose="020B0604020202020204" pitchFamily="34" charset="0"/>
                        <a:buChar char="•"/>
                      </a:pPr>
                      <a:r>
                        <a:rPr lang="zh-CN" altLang="en-US" sz="2000" dirty="0">
                          <a:effectLst/>
                        </a:rPr>
                        <a:t>部分内容（如产线布局、</a:t>
                      </a:r>
                      <a:r>
                        <a:rPr lang="en-US" altLang="zh-CN" sz="2000" dirty="0">
                          <a:effectLst/>
                        </a:rPr>
                        <a:t>DV</a:t>
                      </a:r>
                      <a:r>
                        <a:rPr lang="zh-CN" altLang="en-US" sz="2000" dirty="0">
                          <a:effectLst/>
                        </a:rPr>
                        <a:t>测试项、二维图纸技术要求）需结合后续实际情况补充完善。</a:t>
                      </a:r>
                    </a:p>
                    <a:p>
                      <a:r>
                        <a:rPr lang="zh-CN" altLang="en-US" sz="2000" b="1" dirty="0">
                          <a:effectLst/>
                        </a:rPr>
                        <a:t>主要建议</a:t>
                      </a:r>
                    </a:p>
                    <a:p>
                      <a:pPr marL="342900" indent="-342900">
                        <a:buFont typeface="Arial" panose="020B0604020202020204" pitchFamily="34" charset="0"/>
                        <a:buChar char="•"/>
                      </a:pPr>
                      <a:r>
                        <a:rPr lang="zh-CN" altLang="en-US" sz="2000" b="1" dirty="0">
                          <a:effectLst/>
                        </a:rPr>
                        <a:t>产线布局</a:t>
                      </a:r>
                      <a:r>
                        <a:rPr lang="zh-CN" altLang="en-US" sz="2000" dirty="0">
                          <a:effectLst/>
                        </a:rPr>
                        <a:t>：建议在量产规划章节补充具体的产线布局图和工位分布，便于后续产能评估和工艺优化。</a:t>
                      </a:r>
                    </a:p>
                    <a:p>
                      <a:pPr marL="342900" indent="-342900">
                        <a:buFont typeface="Arial" panose="020B0604020202020204" pitchFamily="34" charset="0"/>
                        <a:buChar char="•"/>
                      </a:pPr>
                      <a:r>
                        <a:rPr lang="en-US" altLang="zh-CN" sz="2000" b="1" dirty="0">
                          <a:effectLst/>
                        </a:rPr>
                        <a:t>DV</a:t>
                      </a:r>
                      <a:r>
                        <a:rPr lang="zh-CN" altLang="en-US" sz="2000" b="1" dirty="0">
                          <a:effectLst/>
                        </a:rPr>
                        <a:t>测试项</a:t>
                      </a:r>
                      <a:r>
                        <a:rPr lang="zh-CN" altLang="en-US" sz="2000" dirty="0">
                          <a:effectLst/>
                        </a:rPr>
                        <a:t>：需与中航工程师沟通，尽快补充详细的</a:t>
                      </a:r>
                      <a:r>
                        <a:rPr lang="en-US" altLang="zh-CN" sz="2000" dirty="0">
                          <a:effectLst/>
                        </a:rPr>
                        <a:t>DV</a:t>
                      </a:r>
                      <a:r>
                        <a:rPr lang="zh-CN" altLang="en-US" sz="2000" dirty="0">
                          <a:effectLst/>
                        </a:rPr>
                        <a:t>测试项及计划，确保验证覆盖所有关键性能。</a:t>
                      </a:r>
                    </a:p>
                    <a:p>
                      <a:pPr marL="342900" indent="-342900">
                        <a:buFont typeface="Arial" panose="020B0604020202020204" pitchFamily="34" charset="0"/>
                        <a:buChar char="•"/>
                      </a:pPr>
                      <a:r>
                        <a:rPr lang="zh-CN" altLang="en-US" sz="2000" b="1" dirty="0">
                          <a:effectLst/>
                        </a:rPr>
                        <a:t>二维图纸技术要求</a:t>
                      </a:r>
                      <a:r>
                        <a:rPr lang="zh-CN" altLang="en-US" sz="2000" dirty="0">
                          <a:effectLst/>
                        </a:rPr>
                        <a:t>：待数据锁定后，及时补充图纸技术要求确认表，确保设计与制造一致。</a:t>
                      </a:r>
                    </a:p>
                    <a:p>
                      <a:pPr marL="342900" indent="-342900">
                        <a:buFont typeface="Arial" panose="020B0604020202020204" pitchFamily="34" charset="0"/>
                        <a:buChar char="•"/>
                      </a:pPr>
                      <a:r>
                        <a:rPr lang="zh-CN" altLang="en-US" sz="2000" b="1" dirty="0">
                          <a:effectLst/>
                        </a:rPr>
                        <a:t>持续优化</a:t>
                      </a:r>
                      <a:r>
                        <a:rPr lang="zh-CN" altLang="en-US" sz="2000" dirty="0">
                          <a:effectLst/>
                        </a:rPr>
                        <a:t>：针对优化建议部分，建议定期回顾并跟踪落实情况，确保设计改进措施有效落地。</a:t>
                      </a:r>
                    </a:p>
                    <a:p>
                      <a:pPr marL="342900" indent="-342900">
                        <a:buFont typeface="Arial" panose="020B0604020202020204" pitchFamily="34" charset="0"/>
                        <a:buChar char="•"/>
                      </a:pPr>
                      <a:r>
                        <a:rPr lang="zh-CN" altLang="en-US" sz="2000" dirty="0"/>
                        <a:t>如需对某一章节进行更详细的逐条评审或需要模板，可进一步说明。</a:t>
                      </a:r>
                      <a:endParaRPr lang="en-GB" sz="2000" dirty="0"/>
                    </a:p>
                  </a:txBody>
                  <a:tcPr/>
                </a:tc>
                <a:extLst>
                  <a:ext uri="{0D108BD9-81ED-4DB2-BD59-A6C34878D82A}">
                    <a16:rowId xmlns:a16="http://schemas.microsoft.com/office/drawing/2014/main" val="604853937"/>
                  </a:ext>
                </a:extLst>
              </a:tr>
            </a:tbl>
          </a:graphicData>
        </a:graphic>
      </p:graphicFrame>
    </p:spTree>
    <p:extLst>
      <p:ext uri="{BB962C8B-B14F-4D97-AF65-F5344CB8AC3E}">
        <p14:creationId xmlns:p14="http://schemas.microsoft.com/office/powerpoint/2010/main" val="4280278403"/>
      </p:ext>
    </p:extLst>
  </p:cSld>
  <p:clrMapOvr>
    <a:masterClrMapping/>
  </p:clrMapOvr>
  <p:transition spd="med"/>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A5141-C0F2-9429-3203-2C5EB316A5BE}"/>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32C3B311-4714-71BD-B8D7-40C5239F2895}"/>
              </a:ext>
            </a:extLst>
          </p:cNvPr>
          <p:cNvSpPr txBox="1"/>
          <p:nvPr/>
        </p:nvSpPr>
        <p:spPr>
          <a:xfrm>
            <a:off x="1737559" y="755986"/>
            <a:ext cx="17078475" cy="646331"/>
          </a:xfrm>
          <a:prstGeom prst="rect">
            <a:avLst/>
          </a:prstGeom>
          <a:noFill/>
        </p:spPr>
        <p:txBody>
          <a:bodyPr wrap="square" numCol="1">
            <a:spAutoFit/>
          </a:bodyPr>
          <a:lstStyle/>
          <a:p>
            <a:pPr>
              <a:spcBef>
                <a:spcPts val="1500"/>
              </a:spcBef>
              <a:spcAft>
                <a:spcPts val="750"/>
              </a:spcAft>
              <a:buNone/>
            </a:pPr>
            <a:r>
              <a:rPr lang="en-US" altLang="zh-CN" sz="3600" b="1" dirty="0">
                <a:effectLst/>
              </a:rPr>
              <a:t>A</a:t>
            </a:r>
            <a:r>
              <a:rPr lang="zh-CN" altLang="en-US" sz="3600" b="1" dirty="0">
                <a:effectLst/>
              </a:rPr>
              <a:t>样阶段</a:t>
            </a:r>
            <a:r>
              <a:rPr lang="en-US" altLang="zh-CN" sz="3600" b="1" dirty="0"/>
              <a:t>《</a:t>
            </a:r>
            <a:r>
              <a:rPr lang="zh-CN" altLang="en-US" sz="3600" b="1" dirty="0"/>
              <a:t>副本</a:t>
            </a:r>
            <a:r>
              <a:rPr lang="en-US" altLang="zh-CN" sz="3600" b="1" dirty="0"/>
              <a:t>570-941A </a:t>
            </a:r>
            <a:r>
              <a:rPr lang="zh-CN" altLang="en-US" sz="3600" b="1" dirty="0"/>
              <a:t>装配过程流程图</a:t>
            </a:r>
            <a:r>
              <a:rPr lang="en-US" altLang="zh-CN" sz="3600" b="1" dirty="0"/>
              <a:t>#A0.xlsx》</a:t>
            </a:r>
            <a:r>
              <a:rPr lang="zh-CN" altLang="en-US" sz="3600" b="1" dirty="0">
                <a:effectLst/>
              </a:rPr>
              <a:t>审核报告</a:t>
            </a:r>
          </a:p>
        </p:txBody>
      </p:sp>
      <p:graphicFrame>
        <p:nvGraphicFramePr>
          <p:cNvPr id="2" name="表格 1">
            <a:extLst>
              <a:ext uri="{FF2B5EF4-FFF2-40B4-BE49-F238E27FC236}">
                <a16:creationId xmlns:a16="http://schemas.microsoft.com/office/drawing/2014/main" id="{629E2320-4408-6207-E0D4-F882C9B93014}"/>
              </a:ext>
            </a:extLst>
          </p:cNvPr>
          <p:cNvGraphicFramePr>
            <a:graphicFrameLocks noGrp="1"/>
          </p:cNvGraphicFramePr>
          <p:nvPr>
            <p:extLst>
              <p:ext uri="{D42A27DB-BD31-4B8C-83A1-F6EECF244321}">
                <p14:modId xmlns:p14="http://schemas.microsoft.com/office/powerpoint/2010/main" val="1004178663"/>
              </p:ext>
            </p:extLst>
          </p:nvPr>
        </p:nvGraphicFramePr>
        <p:xfrm>
          <a:off x="662354" y="1738812"/>
          <a:ext cx="23059292" cy="11051138"/>
        </p:xfrm>
        <a:graphic>
          <a:graphicData uri="http://schemas.openxmlformats.org/drawingml/2006/table">
            <a:tbl>
              <a:tblPr firstRow="1" bandRow="1"/>
              <a:tblGrid>
                <a:gridCol w="4607171">
                  <a:extLst>
                    <a:ext uri="{9D8B030D-6E8A-4147-A177-3AD203B41FA5}">
                      <a16:colId xmlns:a16="http://schemas.microsoft.com/office/drawing/2014/main" val="520135011"/>
                    </a:ext>
                  </a:extLst>
                </a:gridCol>
                <a:gridCol w="6569549">
                  <a:extLst>
                    <a:ext uri="{9D8B030D-6E8A-4147-A177-3AD203B41FA5}">
                      <a16:colId xmlns:a16="http://schemas.microsoft.com/office/drawing/2014/main" val="585926975"/>
                    </a:ext>
                  </a:extLst>
                </a:gridCol>
                <a:gridCol w="6117749">
                  <a:extLst>
                    <a:ext uri="{9D8B030D-6E8A-4147-A177-3AD203B41FA5}">
                      <a16:colId xmlns:a16="http://schemas.microsoft.com/office/drawing/2014/main" val="3081416713"/>
                    </a:ext>
                  </a:extLst>
                </a:gridCol>
                <a:gridCol w="5764823">
                  <a:extLst>
                    <a:ext uri="{9D8B030D-6E8A-4147-A177-3AD203B41FA5}">
                      <a16:colId xmlns:a16="http://schemas.microsoft.com/office/drawing/2014/main" val="572010187"/>
                    </a:ext>
                  </a:extLst>
                </a:gridCol>
              </a:tblGrid>
              <a:tr h="901298">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审查清单制定</a:t>
                      </a:r>
                    </a:p>
                  </a:txBody>
                  <a:tcPr anchor="ctr"/>
                </a:tc>
                <a:tc gridSpan="2">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逐项审核结果</a:t>
                      </a:r>
                    </a:p>
                  </a:txBody>
                  <a:tcPr anchor="ctr"/>
                </a:tc>
                <a:tc hMerge="1">
                  <a:txBody>
                    <a:bodyPr/>
                    <a:lstStyle/>
                    <a:p>
                      <a:pPr algn="ctr"/>
                      <a:endParaRPr lang="en-GB" sz="2000" dirty="0"/>
                    </a:p>
                  </a:txBody>
                  <a:tcPr/>
                </a:tc>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总体评估</a:t>
                      </a:r>
                    </a:p>
                  </a:txBody>
                  <a:tcPr anchor="ctr"/>
                </a:tc>
                <a:extLst>
                  <a:ext uri="{0D108BD9-81ED-4DB2-BD59-A6C34878D82A}">
                    <a16:rowId xmlns:a16="http://schemas.microsoft.com/office/drawing/2014/main" val="2562292327"/>
                  </a:ext>
                </a:extLst>
              </a:tr>
              <a:tr h="10086326">
                <a:tc>
                  <a:txBody>
                    <a:bodyPr/>
                    <a:lstStyle/>
                    <a:p>
                      <a:pPr marL="342900" indent="-342900">
                        <a:buFont typeface="Arial" panose="020B0604020202020204" pitchFamily="34" charset="0"/>
                        <a:buChar char="•"/>
                      </a:pPr>
                      <a:r>
                        <a:rPr lang="zh-CN" altLang="en-US" sz="2000" b="0" dirty="0">
                          <a:effectLst/>
                        </a:rPr>
                        <a:t>文件基本信息与版本控制</a:t>
                      </a:r>
                      <a:endParaRPr lang="en-GB" altLang="zh-CN" sz="2000" b="0" dirty="0">
                        <a:effectLst/>
                      </a:endParaRPr>
                    </a:p>
                    <a:p>
                      <a:pPr marL="342900" marR="0" lvl="0" indent="-342900" algn="l" defTabSz="18288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zh-CN" altLang="en-US" sz="2000" b="0" dirty="0">
                          <a:effectLst/>
                        </a:rPr>
                        <a:t>流程图结构与逻辑</a:t>
                      </a:r>
                    </a:p>
                    <a:p>
                      <a:pPr marL="342900" marR="0" lvl="0" indent="-342900" algn="l" defTabSz="18288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zh-CN" altLang="en-US" sz="2000" b="0" dirty="0">
                          <a:effectLst/>
                        </a:rPr>
                        <a:t>过程参数与控制要求</a:t>
                      </a:r>
                    </a:p>
                    <a:p>
                      <a:pPr marL="342900" marR="0" lvl="0" indent="-342900" algn="l" defTabSz="18288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zh-CN" altLang="en-US" sz="2000" b="0" dirty="0">
                          <a:effectLst/>
                        </a:rPr>
                        <a:t>质量风险与控制措施</a:t>
                      </a:r>
                    </a:p>
                    <a:p>
                      <a:pPr marL="342900" marR="0" lvl="0" indent="-342900" algn="l" defTabSz="18288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zh-CN" altLang="en-US" sz="2000" b="0" dirty="0">
                          <a:effectLst/>
                        </a:rPr>
                        <a:t>文件完整性与合规性</a:t>
                      </a:r>
                    </a:p>
                    <a:p>
                      <a:pPr marL="342900" marR="0" lvl="0" indent="-342900" algn="l" defTabSz="18288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zh-CN" altLang="en-US" sz="2000" b="0" dirty="0">
                          <a:effectLst/>
                        </a:rPr>
                        <a:t>供应商</a:t>
                      </a:r>
                      <a:r>
                        <a:rPr lang="en-US" altLang="zh-CN" sz="2000" b="0" dirty="0">
                          <a:effectLst/>
                        </a:rPr>
                        <a:t>/</a:t>
                      </a:r>
                      <a:r>
                        <a:rPr lang="zh-CN" altLang="en-US" sz="2000" b="0" dirty="0">
                          <a:effectLst/>
                        </a:rPr>
                        <a:t>外协工序</a:t>
                      </a:r>
                    </a:p>
                    <a:p>
                      <a:pPr marL="342900" marR="0" lvl="0" indent="-342900" algn="l" defTabSz="18288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zh-CN" altLang="en-US" sz="2000" b="0" dirty="0">
                          <a:effectLst/>
                        </a:rPr>
                        <a:t>过程接口与信息流</a:t>
                      </a:r>
                      <a:endParaRPr lang="en-GB" altLang="zh-CN" sz="2000" b="0" dirty="0">
                        <a:effectLst/>
                      </a:endParaRPr>
                    </a:p>
                    <a:p>
                      <a:pPr marL="342900" marR="0" lvl="0" indent="-342900" algn="l" defTabSz="18288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zh-CN" altLang="en-US" sz="2000" b="0" dirty="0">
                          <a:effectLst/>
                        </a:rPr>
                        <a:t>其他</a:t>
                      </a:r>
                      <a:r>
                        <a:rPr lang="en-US" altLang="zh-CN" sz="2000" b="0" dirty="0">
                          <a:effectLst/>
                        </a:rPr>
                        <a:t>APQP</a:t>
                      </a:r>
                      <a:r>
                        <a:rPr lang="zh-CN" altLang="en-US" sz="2000" b="0" dirty="0">
                          <a:effectLst/>
                        </a:rPr>
                        <a:t>相关要求</a:t>
                      </a:r>
                    </a:p>
                    <a:p>
                      <a:endParaRPr lang="zh-CN" altLang="en-US" sz="2000" b="1" dirty="0">
                        <a:effectLst/>
                      </a:endParaRPr>
                    </a:p>
                  </a:txBody>
                  <a:tcPr/>
                </a:tc>
                <a:tc>
                  <a:txBody>
                    <a:bodyPr/>
                    <a:lstStyle/>
                    <a:p>
                      <a:r>
                        <a:rPr lang="en-US" altLang="zh-CN" sz="2000" b="1" dirty="0">
                          <a:effectLst/>
                        </a:rPr>
                        <a:t>1. </a:t>
                      </a:r>
                      <a:r>
                        <a:rPr lang="zh-CN" altLang="en-US" sz="2000" b="1" dirty="0">
                          <a:effectLst/>
                        </a:rPr>
                        <a:t>文件基本信息与版本控制</a:t>
                      </a:r>
                    </a:p>
                    <a:p>
                      <a:r>
                        <a:rPr lang="zh-CN" altLang="en-US" sz="2000" dirty="0">
                          <a:effectLst/>
                        </a:rPr>
                        <a:t>检查项：文件编号、版本、日期、编制</a:t>
                      </a:r>
                      <a:r>
                        <a:rPr lang="en-US" altLang="zh-CN" sz="2000" dirty="0">
                          <a:effectLst/>
                        </a:rPr>
                        <a:t>/</a:t>
                      </a:r>
                      <a:r>
                        <a:rPr lang="zh-CN" altLang="en-US" sz="2000" dirty="0">
                          <a:effectLst/>
                        </a:rPr>
                        <a:t>审核</a:t>
                      </a:r>
                      <a:r>
                        <a:rPr lang="en-US" altLang="zh-CN" sz="2000" dirty="0">
                          <a:effectLst/>
                        </a:rPr>
                        <a:t>/</a:t>
                      </a:r>
                      <a:r>
                        <a:rPr lang="zh-CN" altLang="en-US" sz="2000" dirty="0">
                          <a:effectLst/>
                        </a:rPr>
                        <a:t>批准人、变更记录</a:t>
                      </a:r>
                    </a:p>
                    <a:p>
                      <a:r>
                        <a:rPr lang="zh-CN" altLang="en-US" sz="2000" dirty="0">
                          <a:effectLst/>
                        </a:rPr>
                        <a:t>评审结果：部分通过</a:t>
                      </a:r>
                    </a:p>
                    <a:p>
                      <a:r>
                        <a:rPr lang="zh-CN" altLang="en-US" sz="2000" dirty="0">
                          <a:effectLst/>
                        </a:rPr>
                        <a:t>文件编号（</a:t>
                      </a:r>
                      <a:r>
                        <a:rPr lang="en-US" altLang="zh-CN" sz="2000" dirty="0">
                          <a:effectLst/>
                        </a:rPr>
                        <a:t>D221N44AA-1P104S-A0</a:t>
                      </a:r>
                      <a:r>
                        <a:rPr lang="zh-CN" altLang="en-US" sz="2000" dirty="0">
                          <a:effectLst/>
                        </a:rPr>
                        <a:t>）、项目名称、项目型号</a:t>
                      </a:r>
                      <a:r>
                        <a:rPr lang="en-US" altLang="zh-CN" sz="2000" dirty="0">
                          <a:effectLst/>
                        </a:rPr>
                        <a:t>/</a:t>
                      </a:r>
                      <a:r>
                        <a:rPr lang="zh-CN" altLang="en-US" sz="2000" dirty="0">
                          <a:effectLst/>
                        </a:rPr>
                        <a:t>年份、核心小组、编制人（乔博）、客户（吉利）等信息齐全。</a:t>
                      </a:r>
                    </a:p>
                    <a:p>
                      <a:r>
                        <a:rPr lang="zh-CN" altLang="en-US" sz="2000" dirty="0">
                          <a:effectLst/>
                        </a:rPr>
                        <a:t>“修订履历”工作表存在，显示有修订人。</a:t>
                      </a:r>
                    </a:p>
                    <a:p>
                      <a:r>
                        <a:rPr lang="zh-CN" altLang="en-US" sz="2000" dirty="0">
                          <a:effectLst/>
                        </a:rPr>
                        <a:t>建议：如无明确版本号、日期、审核</a:t>
                      </a:r>
                      <a:r>
                        <a:rPr lang="en-US" altLang="zh-CN" sz="2000" dirty="0">
                          <a:effectLst/>
                        </a:rPr>
                        <a:t>/</a:t>
                      </a:r>
                      <a:r>
                        <a:rPr lang="zh-CN" altLang="en-US" sz="2000" dirty="0">
                          <a:effectLst/>
                        </a:rPr>
                        <a:t>批准人签字，需补充完善。变更记录应详细列明修订内容、时间、责任人。</a:t>
                      </a:r>
                    </a:p>
                    <a:p>
                      <a:r>
                        <a:rPr lang="en-US" altLang="zh-CN" sz="2000" b="1" dirty="0">
                          <a:effectLst/>
                        </a:rPr>
                        <a:t>2. </a:t>
                      </a:r>
                      <a:r>
                        <a:rPr lang="zh-CN" altLang="en-US" sz="2000" b="1" dirty="0">
                          <a:effectLst/>
                        </a:rPr>
                        <a:t>流程图结构与逻辑</a:t>
                      </a:r>
                    </a:p>
                    <a:p>
                      <a:r>
                        <a:rPr lang="zh-CN" altLang="en-US" sz="2000" dirty="0">
                          <a:effectLst/>
                        </a:rPr>
                        <a:t>检查项：覆盖全部关键装配工序、顺序合理、逻辑闭环、</a:t>
                      </a:r>
                      <a:r>
                        <a:rPr lang="en-US" altLang="zh-CN" sz="2000" dirty="0">
                          <a:effectLst/>
                        </a:rPr>
                        <a:t>KCP/QCP</a:t>
                      </a:r>
                      <a:r>
                        <a:rPr lang="zh-CN" altLang="en-US" sz="2000" dirty="0">
                          <a:effectLst/>
                        </a:rPr>
                        <a:t>标识</a:t>
                      </a:r>
                    </a:p>
                    <a:p>
                      <a:r>
                        <a:rPr lang="zh-CN" altLang="en-US" sz="2000" dirty="0">
                          <a:effectLst/>
                        </a:rPr>
                        <a:t>评审结果：部分通过</a:t>
                      </a:r>
                    </a:p>
                    <a:p>
                      <a:r>
                        <a:rPr lang="zh-CN" altLang="en-US" sz="2000" dirty="0">
                          <a:effectLst/>
                        </a:rPr>
                        <a:t>工序编号（</a:t>
                      </a:r>
                      <a:r>
                        <a:rPr lang="en-US" altLang="zh-CN" sz="2000" dirty="0">
                          <a:effectLst/>
                        </a:rPr>
                        <a:t>OP010~OP070</a:t>
                      </a:r>
                      <a:r>
                        <a:rPr lang="zh-CN" altLang="en-US" sz="2000" dirty="0">
                          <a:effectLst/>
                        </a:rPr>
                        <a:t>等）及流程有列出，存在特殊特性符号（□、◇、★、☆），但未见详细工序描述及流程逻辑说明。</a:t>
                      </a:r>
                    </a:p>
                    <a:p>
                      <a:r>
                        <a:rPr lang="zh-CN" altLang="en-US" sz="2000" dirty="0">
                          <a:effectLst/>
                        </a:rPr>
                        <a:t>建议：需补充每道工序的具体名称、操作内容、输入输出，确保流程闭环。关键控制点（</a:t>
                      </a:r>
                      <a:r>
                        <a:rPr lang="en-US" altLang="zh-CN" sz="2000" dirty="0">
                          <a:effectLst/>
                        </a:rPr>
                        <a:t>KCP</a:t>
                      </a:r>
                      <a:r>
                        <a:rPr lang="zh-CN" altLang="en-US" sz="2000" dirty="0">
                          <a:effectLst/>
                        </a:rPr>
                        <a:t>）、质量控制点（</a:t>
                      </a:r>
                      <a:r>
                        <a:rPr lang="en-US" altLang="zh-CN" sz="2000" dirty="0">
                          <a:effectLst/>
                        </a:rPr>
                        <a:t>QCP</a:t>
                      </a:r>
                      <a:r>
                        <a:rPr lang="zh-CN" altLang="en-US" sz="2000" dirty="0">
                          <a:effectLst/>
                        </a:rPr>
                        <a:t>）应有明确标识和说明。</a:t>
                      </a:r>
                    </a:p>
                    <a:p>
                      <a:r>
                        <a:rPr lang="en-US" altLang="zh-CN" sz="2000" b="1" dirty="0">
                          <a:effectLst/>
                        </a:rPr>
                        <a:t>3. </a:t>
                      </a:r>
                      <a:r>
                        <a:rPr lang="zh-CN" altLang="en-US" sz="2000" b="1" dirty="0">
                          <a:effectLst/>
                        </a:rPr>
                        <a:t>过程参数与控制要求</a:t>
                      </a:r>
                    </a:p>
                    <a:p>
                      <a:r>
                        <a:rPr lang="zh-CN" altLang="en-US" sz="2000" dirty="0">
                          <a:effectLst/>
                        </a:rPr>
                        <a:t>检查项：工艺参数、检验标准、防错措施、专用工装</a:t>
                      </a:r>
                      <a:r>
                        <a:rPr lang="en-US" altLang="zh-CN" sz="2000" dirty="0">
                          <a:effectLst/>
                        </a:rPr>
                        <a:t>/</a:t>
                      </a:r>
                      <a:r>
                        <a:rPr lang="zh-CN" altLang="en-US" sz="2000" dirty="0">
                          <a:effectLst/>
                        </a:rPr>
                        <a:t>设备</a:t>
                      </a:r>
                      <a:r>
                        <a:rPr lang="en-US" altLang="zh-CN" sz="2000" dirty="0">
                          <a:effectLst/>
                        </a:rPr>
                        <a:t>/</a:t>
                      </a:r>
                      <a:r>
                        <a:rPr lang="zh-CN" altLang="en-US" sz="2000" dirty="0">
                          <a:effectLst/>
                        </a:rPr>
                        <a:t>量具</a:t>
                      </a:r>
                    </a:p>
                    <a:p>
                      <a:r>
                        <a:rPr lang="zh-CN" altLang="en-US" sz="2000" dirty="0">
                          <a:effectLst/>
                        </a:rPr>
                        <a:t>评审结果：不通过</a:t>
                      </a:r>
                    </a:p>
                    <a:p>
                      <a:r>
                        <a:rPr lang="zh-CN" altLang="en-US" sz="2000" dirty="0">
                          <a:effectLst/>
                        </a:rPr>
                        <a:t>未见各工序的工艺参数、检验标准、防错措施等详细内容。</a:t>
                      </a:r>
                    </a:p>
                    <a:p>
                      <a:r>
                        <a:rPr lang="zh-CN" altLang="en-US" sz="2000" dirty="0">
                          <a:effectLst/>
                        </a:rPr>
                        <a:t>建议：每道工序应补充关键参数、检验方法、防错措施及所需工装</a:t>
                      </a:r>
                      <a:r>
                        <a:rPr lang="en-US" altLang="zh-CN" sz="2000" dirty="0">
                          <a:effectLst/>
                        </a:rPr>
                        <a:t>/</a:t>
                      </a:r>
                      <a:r>
                        <a:rPr lang="zh-CN" altLang="en-US" sz="2000" dirty="0">
                          <a:effectLst/>
                        </a:rPr>
                        <a:t>量具，确保过程受控。</a:t>
                      </a:r>
                    </a:p>
                    <a:p>
                      <a:r>
                        <a:rPr lang="en-US" altLang="zh-CN" sz="2000" b="1" dirty="0">
                          <a:effectLst/>
                        </a:rPr>
                        <a:t>4. </a:t>
                      </a:r>
                      <a:r>
                        <a:rPr lang="zh-CN" altLang="en-US" sz="2000" b="1" dirty="0">
                          <a:effectLst/>
                        </a:rPr>
                        <a:t>质量风险与控制措施</a:t>
                      </a:r>
                    </a:p>
                    <a:p>
                      <a:r>
                        <a:rPr lang="zh-CN" altLang="en-US" sz="2000" dirty="0">
                          <a:effectLst/>
                        </a:rPr>
                        <a:t>检查项：失效模式识别、预防</a:t>
                      </a:r>
                      <a:r>
                        <a:rPr lang="en-US" altLang="zh-CN" sz="2000" dirty="0">
                          <a:effectLst/>
                        </a:rPr>
                        <a:t>/</a:t>
                      </a:r>
                      <a:r>
                        <a:rPr lang="zh-CN" altLang="en-US" sz="2000" dirty="0">
                          <a:effectLst/>
                        </a:rPr>
                        <a:t>纠正措施、与</a:t>
                      </a:r>
                      <a:r>
                        <a:rPr lang="en-US" altLang="zh-CN" sz="2000" dirty="0">
                          <a:effectLst/>
                        </a:rPr>
                        <a:t>PPAP</a:t>
                      </a:r>
                      <a:r>
                        <a:rPr lang="zh-CN" altLang="en-US" sz="2000" dirty="0">
                          <a:effectLst/>
                        </a:rPr>
                        <a:t>一致性</a:t>
                      </a:r>
                    </a:p>
                    <a:p>
                      <a:r>
                        <a:rPr lang="zh-CN" altLang="en-US" sz="2000" dirty="0">
                          <a:effectLst/>
                        </a:rPr>
                        <a:t>评审结果：不通过</a:t>
                      </a:r>
                    </a:p>
                    <a:p>
                      <a:r>
                        <a:rPr lang="zh-CN" altLang="en-US" sz="2000" dirty="0">
                          <a:effectLst/>
                        </a:rPr>
                        <a:t>未见</a:t>
                      </a:r>
                      <a:r>
                        <a:rPr lang="en-US" altLang="zh-CN" sz="2000" dirty="0">
                          <a:effectLst/>
                        </a:rPr>
                        <a:t>FMEA</a:t>
                      </a:r>
                      <a:r>
                        <a:rPr lang="zh-CN" altLang="en-US" sz="2000" dirty="0">
                          <a:effectLst/>
                        </a:rPr>
                        <a:t>输出的失效模式及相应控制措施。</a:t>
                      </a:r>
                    </a:p>
                    <a:p>
                      <a:r>
                        <a:rPr lang="zh-CN" altLang="en-US" sz="2000" dirty="0">
                          <a:effectLst/>
                        </a:rPr>
                        <a:t>建议：应结合</a:t>
                      </a:r>
                      <a:r>
                        <a:rPr lang="en-US" altLang="zh-CN" sz="2000" dirty="0">
                          <a:effectLst/>
                        </a:rPr>
                        <a:t>FMEA</a:t>
                      </a:r>
                      <a:r>
                        <a:rPr lang="zh-CN" altLang="en-US" sz="2000" dirty="0">
                          <a:effectLst/>
                        </a:rPr>
                        <a:t>，识别每道工序的潜在失效模式，制定预防和纠正措施，并与</a:t>
                      </a:r>
                      <a:r>
                        <a:rPr lang="en-US" altLang="zh-CN" sz="2000" dirty="0">
                          <a:effectLst/>
                        </a:rPr>
                        <a:t>PPAP</a:t>
                      </a:r>
                      <a:r>
                        <a:rPr lang="zh-CN" altLang="en-US" sz="2000" dirty="0">
                          <a:effectLst/>
                        </a:rPr>
                        <a:t>文件保持一致。</a:t>
                      </a:r>
                    </a:p>
                  </a:txBody>
                  <a:tcPr/>
                </a:tc>
                <a:tc>
                  <a:txBody>
                    <a:bodyPr/>
                    <a:lstStyle/>
                    <a:p>
                      <a:r>
                        <a:rPr lang="en-US" altLang="zh-CN" sz="2000" b="1" dirty="0">
                          <a:effectLst/>
                        </a:rPr>
                        <a:t>5. </a:t>
                      </a:r>
                      <a:r>
                        <a:rPr lang="zh-CN" altLang="en-US" sz="2000" b="1" dirty="0">
                          <a:effectLst/>
                        </a:rPr>
                        <a:t>文件完整性与合规性</a:t>
                      </a:r>
                    </a:p>
                    <a:p>
                      <a:r>
                        <a:rPr lang="zh-CN" altLang="en-US" sz="2000" dirty="0">
                          <a:effectLst/>
                        </a:rPr>
                        <a:t>检查项：格式规范、图例</a:t>
                      </a:r>
                      <a:r>
                        <a:rPr lang="en-US" altLang="zh-CN" sz="2000" dirty="0">
                          <a:effectLst/>
                        </a:rPr>
                        <a:t>/</a:t>
                      </a:r>
                      <a:r>
                        <a:rPr lang="zh-CN" altLang="en-US" sz="2000" dirty="0">
                          <a:effectLst/>
                        </a:rPr>
                        <a:t>符号说明、签字盖章页</a:t>
                      </a:r>
                    </a:p>
                    <a:p>
                      <a:r>
                        <a:rPr lang="zh-CN" altLang="en-US" sz="2000" dirty="0">
                          <a:effectLst/>
                        </a:rPr>
                        <a:t>评审结果：部分通过</a:t>
                      </a:r>
                    </a:p>
                    <a:p>
                      <a:r>
                        <a:rPr lang="zh-CN" altLang="en-US" sz="2000" dirty="0">
                          <a:effectLst/>
                        </a:rPr>
                        <a:t>文件格式基本规范，存在特殊特性符号，但未见符号说明及签字盖章页。</a:t>
                      </a:r>
                    </a:p>
                    <a:p>
                      <a:r>
                        <a:rPr lang="zh-CN" altLang="en-US" sz="2000" dirty="0">
                          <a:effectLst/>
                        </a:rPr>
                        <a:t>建议：补充符号图例说明，完善签字盖章页，确保文件合规。</a:t>
                      </a:r>
                    </a:p>
                    <a:p>
                      <a:r>
                        <a:rPr lang="en-US" altLang="zh-CN" sz="2000" b="1" dirty="0">
                          <a:effectLst/>
                        </a:rPr>
                        <a:t>6. </a:t>
                      </a:r>
                      <a:r>
                        <a:rPr lang="zh-CN" altLang="en-US" sz="2000" b="1" dirty="0">
                          <a:effectLst/>
                        </a:rPr>
                        <a:t>供应商</a:t>
                      </a:r>
                      <a:r>
                        <a:rPr lang="en-US" altLang="zh-CN" sz="2000" b="1" dirty="0">
                          <a:effectLst/>
                        </a:rPr>
                        <a:t>/</a:t>
                      </a:r>
                      <a:r>
                        <a:rPr lang="zh-CN" altLang="en-US" sz="2000" b="1" dirty="0">
                          <a:effectLst/>
                        </a:rPr>
                        <a:t>外协工序</a:t>
                      </a:r>
                    </a:p>
                    <a:p>
                      <a:r>
                        <a:rPr lang="zh-CN" altLang="en-US" sz="2000" dirty="0">
                          <a:effectLst/>
                        </a:rPr>
                        <a:t>检查项：外协工序标识、供应商能力反映</a:t>
                      </a:r>
                    </a:p>
                    <a:p>
                      <a:r>
                        <a:rPr lang="zh-CN" altLang="en-US" sz="2000" dirty="0">
                          <a:effectLst/>
                        </a:rPr>
                        <a:t>评审结果：不通过</a:t>
                      </a:r>
                    </a:p>
                    <a:p>
                      <a:r>
                        <a:rPr lang="zh-CN" altLang="en-US" sz="2000" dirty="0">
                          <a:effectLst/>
                        </a:rPr>
                        <a:t>未见外协</a:t>
                      </a:r>
                      <a:r>
                        <a:rPr lang="en-US" altLang="zh-CN" sz="2000" dirty="0">
                          <a:effectLst/>
                        </a:rPr>
                        <a:t>/</a:t>
                      </a:r>
                      <a:r>
                        <a:rPr lang="zh-CN" altLang="en-US" sz="2000" dirty="0">
                          <a:effectLst/>
                        </a:rPr>
                        <a:t>供应商工序及其控制要求。</a:t>
                      </a:r>
                    </a:p>
                    <a:p>
                      <a:r>
                        <a:rPr lang="zh-CN" altLang="en-US" sz="2000" dirty="0">
                          <a:effectLst/>
                        </a:rPr>
                        <a:t>建议：如有外协工序，需明确标识并说明其控制要求，反映供应商准备状态。</a:t>
                      </a:r>
                    </a:p>
                    <a:p>
                      <a:r>
                        <a:rPr lang="en-US" altLang="zh-CN" sz="2000" b="1" dirty="0">
                          <a:effectLst/>
                        </a:rPr>
                        <a:t>7. </a:t>
                      </a:r>
                      <a:r>
                        <a:rPr lang="zh-CN" altLang="en-US" sz="2000" b="1" dirty="0">
                          <a:effectLst/>
                        </a:rPr>
                        <a:t>过程接口与信息流</a:t>
                      </a:r>
                    </a:p>
                    <a:p>
                      <a:r>
                        <a:rPr lang="zh-CN" altLang="en-US" sz="2000" dirty="0">
                          <a:effectLst/>
                        </a:rPr>
                        <a:t>检查项：物料流、信息流、返工</a:t>
                      </a:r>
                      <a:r>
                        <a:rPr lang="en-US" altLang="zh-CN" sz="2000" dirty="0">
                          <a:effectLst/>
                        </a:rPr>
                        <a:t>/</a:t>
                      </a:r>
                      <a:r>
                        <a:rPr lang="zh-CN" altLang="en-US" sz="2000" dirty="0">
                          <a:effectLst/>
                        </a:rPr>
                        <a:t>返修流程、接口说明</a:t>
                      </a:r>
                    </a:p>
                    <a:p>
                      <a:r>
                        <a:rPr lang="zh-CN" altLang="en-US" sz="2000" dirty="0">
                          <a:effectLst/>
                        </a:rPr>
                        <a:t>评审结果：不通过</a:t>
                      </a:r>
                    </a:p>
                    <a:p>
                      <a:r>
                        <a:rPr lang="zh-CN" altLang="en-US" sz="2000" dirty="0">
                          <a:effectLst/>
                        </a:rPr>
                        <a:t>未见物料流、信息流、返工</a:t>
                      </a:r>
                      <a:r>
                        <a:rPr lang="en-US" altLang="zh-CN" sz="2000" dirty="0">
                          <a:effectLst/>
                        </a:rPr>
                        <a:t>/</a:t>
                      </a:r>
                      <a:r>
                        <a:rPr lang="zh-CN" altLang="en-US" sz="2000" dirty="0">
                          <a:effectLst/>
                        </a:rPr>
                        <a:t>返修流程及与其他环节的接口说明。</a:t>
                      </a:r>
                    </a:p>
                    <a:p>
                      <a:r>
                        <a:rPr lang="zh-CN" altLang="en-US" sz="2000" dirty="0">
                          <a:effectLst/>
                        </a:rPr>
                        <a:t>建议：补充物料流向、信息流转、返工</a:t>
                      </a:r>
                      <a:r>
                        <a:rPr lang="en-US" altLang="zh-CN" sz="2000" dirty="0">
                          <a:effectLst/>
                        </a:rPr>
                        <a:t>/</a:t>
                      </a:r>
                      <a:r>
                        <a:rPr lang="zh-CN" altLang="en-US" sz="2000" dirty="0">
                          <a:effectLst/>
                        </a:rPr>
                        <a:t>返修流程及与设计、采购、物流等环节的接口说明。</a:t>
                      </a:r>
                    </a:p>
                    <a:p>
                      <a:r>
                        <a:rPr lang="en-US" altLang="zh-CN" sz="2000" b="1" dirty="0">
                          <a:effectLst/>
                        </a:rPr>
                        <a:t>8. </a:t>
                      </a:r>
                      <a:r>
                        <a:rPr lang="zh-CN" altLang="en-US" sz="2000" b="1" dirty="0">
                          <a:effectLst/>
                        </a:rPr>
                        <a:t>其他</a:t>
                      </a:r>
                      <a:r>
                        <a:rPr lang="en-US" altLang="zh-CN" sz="2000" b="1" dirty="0">
                          <a:effectLst/>
                        </a:rPr>
                        <a:t>APQP</a:t>
                      </a:r>
                      <a:r>
                        <a:rPr lang="zh-CN" altLang="en-US" sz="2000" b="1" dirty="0">
                          <a:effectLst/>
                        </a:rPr>
                        <a:t>相关要求</a:t>
                      </a:r>
                    </a:p>
                    <a:p>
                      <a:r>
                        <a:rPr lang="zh-CN" altLang="en-US" sz="2000" dirty="0">
                          <a:effectLst/>
                        </a:rPr>
                        <a:t>检查项：与</a:t>
                      </a:r>
                      <a:r>
                        <a:rPr lang="en-US" altLang="zh-CN" sz="2000" dirty="0">
                          <a:effectLst/>
                        </a:rPr>
                        <a:t>A</a:t>
                      </a:r>
                      <a:r>
                        <a:rPr lang="zh-CN" altLang="en-US" sz="2000" dirty="0">
                          <a:effectLst/>
                        </a:rPr>
                        <a:t>样阶段目标一致、为后续阶段提供基础</a:t>
                      </a:r>
                    </a:p>
                    <a:p>
                      <a:r>
                        <a:rPr lang="zh-CN" altLang="en-US" sz="2000" dirty="0">
                          <a:effectLst/>
                        </a:rPr>
                        <a:t>评审结果：部分通过</a:t>
                      </a:r>
                    </a:p>
                    <a:p>
                      <a:r>
                        <a:rPr lang="zh-CN" altLang="en-US" sz="2000" dirty="0">
                          <a:effectLst/>
                        </a:rPr>
                        <a:t>文件为</a:t>
                      </a:r>
                      <a:r>
                        <a:rPr lang="en-US" altLang="zh-CN" sz="2000" dirty="0">
                          <a:effectLst/>
                        </a:rPr>
                        <a:t>A</a:t>
                      </a:r>
                      <a:r>
                        <a:rPr lang="zh-CN" altLang="en-US" sz="2000" dirty="0">
                          <a:effectLst/>
                        </a:rPr>
                        <a:t>样阶段流程图，具备基础框架，但细节不足，难以支撑后续</a:t>
                      </a:r>
                      <a:r>
                        <a:rPr lang="en-US" altLang="zh-CN" sz="2000" dirty="0">
                          <a:effectLst/>
                        </a:rPr>
                        <a:t>B</a:t>
                      </a:r>
                      <a:r>
                        <a:rPr lang="zh-CN" altLang="en-US" sz="2000" dirty="0">
                          <a:effectLst/>
                        </a:rPr>
                        <a:t>样、</a:t>
                      </a:r>
                      <a:r>
                        <a:rPr lang="en-US" altLang="zh-CN" sz="2000" dirty="0">
                          <a:effectLst/>
                        </a:rPr>
                        <a:t>C</a:t>
                      </a:r>
                      <a:r>
                        <a:rPr lang="zh-CN" altLang="en-US" sz="2000" dirty="0">
                          <a:effectLst/>
                        </a:rPr>
                        <a:t>样及量产阶段的深化。</a:t>
                      </a:r>
                    </a:p>
                    <a:p>
                      <a:r>
                        <a:rPr lang="zh-CN" altLang="en-US" sz="2000" dirty="0">
                          <a:effectLst/>
                        </a:rPr>
                        <a:t>建议：根据</a:t>
                      </a:r>
                      <a:r>
                        <a:rPr lang="en-US" altLang="zh-CN" sz="2000" dirty="0">
                          <a:effectLst/>
                        </a:rPr>
                        <a:t>A</a:t>
                      </a:r>
                      <a:r>
                        <a:rPr lang="zh-CN" altLang="en-US" sz="2000" dirty="0">
                          <a:effectLst/>
                        </a:rPr>
                        <a:t>样阶段目标，补充详细过程信息，为后续阶段提供数据和流程基础。</a:t>
                      </a:r>
                    </a:p>
                  </a:txBody>
                  <a:tcPr/>
                </a:tc>
                <a:tc>
                  <a:txBody>
                    <a:bodyPr/>
                    <a:lstStyle/>
                    <a:p>
                      <a:r>
                        <a:rPr lang="zh-CN" altLang="en-US" sz="2000" b="1" dirty="0">
                          <a:effectLst/>
                        </a:rPr>
                        <a:t>主要问题与整改建议</a:t>
                      </a:r>
                    </a:p>
                    <a:p>
                      <a:r>
                        <a:rPr lang="zh-CN" altLang="en-US" sz="2000" b="1" dirty="0">
                          <a:effectLst/>
                        </a:rPr>
                        <a:t>工序描述与控制要求不全</a:t>
                      </a:r>
                      <a:r>
                        <a:rPr lang="zh-CN" altLang="en-US" sz="2000" dirty="0">
                          <a:effectLst/>
                        </a:rPr>
                        <a:t>：需补充每道工序的详细描述、工艺参数、检验标准、防错措施及所需工装</a:t>
                      </a:r>
                      <a:r>
                        <a:rPr lang="en-US" altLang="zh-CN" sz="2000" dirty="0">
                          <a:effectLst/>
                        </a:rPr>
                        <a:t>/</a:t>
                      </a:r>
                      <a:r>
                        <a:rPr lang="zh-CN" altLang="en-US" sz="2000" dirty="0">
                          <a:effectLst/>
                        </a:rPr>
                        <a:t>量具。</a:t>
                      </a:r>
                    </a:p>
                    <a:p>
                      <a:r>
                        <a:rPr lang="zh-CN" altLang="en-US" sz="2000" b="1" dirty="0">
                          <a:effectLst/>
                        </a:rPr>
                        <a:t>质量风险与控制措施缺失</a:t>
                      </a:r>
                      <a:r>
                        <a:rPr lang="zh-CN" altLang="en-US" sz="2000" dirty="0">
                          <a:effectLst/>
                        </a:rPr>
                        <a:t>：结合</a:t>
                      </a:r>
                      <a:r>
                        <a:rPr lang="en-US" altLang="zh-CN" sz="2000" dirty="0">
                          <a:effectLst/>
                        </a:rPr>
                        <a:t>FMEA</a:t>
                      </a:r>
                      <a:r>
                        <a:rPr lang="zh-CN" altLang="en-US" sz="2000" dirty="0">
                          <a:effectLst/>
                        </a:rPr>
                        <a:t>，识别失效模式并制定控制措施，确保与</a:t>
                      </a:r>
                      <a:r>
                        <a:rPr lang="en-US" altLang="zh-CN" sz="2000" dirty="0">
                          <a:effectLst/>
                        </a:rPr>
                        <a:t>PPAP</a:t>
                      </a:r>
                      <a:r>
                        <a:rPr lang="zh-CN" altLang="en-US" sz="2000" dirty="0">
                          <a:effectLst/>
                        </a:rPr>
                        <a:t>一致。</a:t>
                      </a:r>
                    </a:p>
                    <a:p>
                      <a:r>
                        <a:rPr lang="zh-CN" altLang="en-US" sz="2000" b="1" dirty="0">
                          <a:effectLst/>
                        </a:rPr>
                        <a:t>外协工序与接口说明缺失</a:t>
                      </a:r>
                      <a:r>
                        <a:rPr lang="zh-CN" altLang="en-US" sz="2000" dirty="0">
                          <a:effectLst/>
                        </a:rPr>
                        <a:t>：如有外协工序，需明确标识并说明控制要求，补充物料流、信息流、返工</a:t>
                      </a:r>
                      <a:r>
                        <a:rPr lang="en-US" altLang="zh-CN" sz="2000" dirty="0">
                          <a:effectLst/>
                        </a:rPr>
                        <a:t>/</a:t>
                      </a:r>
                      <a:r>
                        <a:rPr lang="zh-CN" altLang="en-US" sz="2000" dirty="0">
                          <a:effectLst/>
                        </a:rPr>
                        <a:t>返修流程及接口说明。</a:t>
                      </a:r>
                    </a:p>
                    <a:p>
                      <a:r>
                        <a:rPr lang="zh-CN" altLang="en-US" sz="2000" b="1" dirty="0">
                          <a:effectLst/>
                        </a:rPr>
                        <a:t>文件合规性待完善</a:t>
                      </a:r>
                      <a:r>
                        <a:rPr lang="zh-CN" altLang="en-US" sz="2000" dirty="0">
                          <a:effectLst/>
                        </a:rPr>
                        <a:t>：补充符号图例说明、签字盖章页，完善版本、修订、审核</a:t>
                      </a:r>
                      <a:r>
                        <a:rPr lang="en-US" altLang="zh-CN" sz="2000" dirty="0">
                          <a:effectLst/>
                        </a:rPr>
                        <a:t>/</a:t>
                      </a:r>
                      <a:r>
                        <a:rPr lang="zh-CN" altLang="en-US" sz="2000" dirty="0">
                          <a:effectLst/>
                        </a:rPr>
                        <a:t>批准等信息。</a:t>
                      </a:r>
                    </a:p>
                    <a:p>
                      <a:r>
                        <a:rPr lang="zh-CN" altLang="en-US" sz="2000" b="1" dirty="0">
                          <a:effectLst/>
                        </a:rPr>
                        <a:t>对项目进度与质量门控的影响</a:t>
                      </a:r>
                    </a:p>
                    <a:p>
                      <a:r>
                        <a:rPr lang="zh-CN" altLang="en-US" sz="2000" dirty="0">
                          <a:effectLst/>
                        </a:rPr>
                        <a:t>若上述问题未整改，将影响</a:t>
                      </a:r>
                      <a:r>
                        <a:rPr lang="en-US" altLang="zh-CN" sz="2000" dirty="0">
                          <a:effectLst/>
                        </a:rPr>
                        <a:t>A</a:t>
                      </a:r>
                      <a:r>
                        <a:rPr lang="zh-CN" altLang="en-US" sz="2000" dirty="0">
                          <a:effectLst/>
                        </a:rPr>
                        <a:t>样阶段</a:t>
                      </a:r>
                      <a:r>
                        <a:rPr lang="en-US" altLang="zh-CN" sz="2000" dirty="0">
                          <a:effectLst/>
                        </a:rPr>
                        <a:t>Gate 2/3</a:t>
                      </a:r>
                      <a:r>
                        <a:rPr lang="zh-CN" altLang="en-US" sz="2000" dirty="0">
                          <a:effectLst/>
                        </a:rPr>
                        <a:t>的顺利通过，存在质量风险和后续阶段推进障碍。</a:t>
                      </a:r>
                    </a:p>
                    <a:p>
                      <a:r>
                        <a:rPr lang="zh-CN" altLang="en-US" sz="2000" dirty="0">
                          <a:effectLst/>
                        </a:rPr>
                        <a:t>建议在下次质量门审查前完成整改，确保流程图满足</a:t>
                      </a:r>
                      <a:r>
                        <a:rPr lang="en-US" altLang="zh-CN" sz="2000" dirty="0">
                          <a:effectLst/>
                        </a:rPr>
                        <a:t>APQP</a:t>
                      </a:r>
                      <a:r>
                        <a:rPr lang="zh-CN" altLang="en-US" sz="2000" dirty="0">
                          <a:effectLst/>
                        </a:rPr>
                        <a:t>及客户要求。</a:t>
                      </a:r>
                    </a:p>
                  </a:txBody>
                  <a:tcPr/>
                </a:tc>
                <a:extLst>
                  <a:ext uri="{0D108BD9-81ED-4DB2-BD59-A6C34878D82A}">
                    <a16:rowId xmlns:a16="http://schemas.microsoft.com/office/drawing/2014/main" val="604853937"/>
                  </a:ext>
                </a:extLst>
              </a:tr>
            </a:tbl>
          </a:graphicData>
        </a:graphic>
      </p:graphicFrame>
    </p:spTree>
    <p:extLst>
      <p:ext uri="{BB962C8B-B14F-4D97-AF65-F5344CB8AC3E}">
        <p14:creationId xmlns:p14="http://schemas.microsoft.com/office/powerpoint/2010/main" val="3181737419"/>
      </p:ext>
    </p:extLst>
  </p:cSld>
  <p:clrMapOvr>
    <a:masterClrMapping/>
  </p:clrMapOvr>
  <p:transition spd="med"/>
  <p:extLst>
    <p:ext uri="{6950BFC3-D8DA-4A85-94F7-54DA5524770B}">
      <p188:commentRel xmlns:p188="http://schemas.microsoft.com/office/powerpoint/2018/8/main" r:id="rId2"/>
    </p:ext>
  </p:extLs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18ED16-CE5C-3FA6-C6C0-3BD16D84ABD3}"/>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744CDEE7-AC98-85AD-8F5D-6AC5A038472D}"/>
              </a:ext>
            </a:extLst>
          </p:cNvPr>
          <p:cNvSpPr txBox="1"/>
          <p:nvPr/>
        </p:nvSpPr>
        <p:spPr>
          <a:xfrm>
            <a:off x="1737559" y="755986"/>
            <a:ext cx="20465949" cy="646331"/>
          </a:xfrm>
          <a:prstGeom prst="rect">
            <a:avLst/>
          </a:prstGeom>
          <a:noFill/>
        </p:spPr>
        <p:txBody>
          <a:bodyPr wrap="square" numCol="1">
            <a:spAutoFit/>
          </a:bodyPr>
          <a:lstStyle/>
          <a:p>
            <a:pPr>
              <a:spcBef>
                <a:spcPts val="1500"/>
              </a:spcBef>
              <a:spcAft>
                <a:spcPts val="750"/>
              </a:spcAft>
              <a:buNone/>
            </a:pPr>
            <a:r>
              <a:rPr lang="en-US" altLang="zh-CN" sz="3600" b="1" dirty="0">
                <a:effectLst/>
              </a:rPr>
              <a:t>A</a:t>
            </a:r>
            <a:r>
              <a:rPr lang="zh-CN" altLang="en-US" sz="3600" b="1" dirty="0">
                <a:effectLst/>
              </a:rPr>
              <a:t>样阶段</a:t>
            </a:r>
            <a:r>
              <a:rPr lang="en-US" altLang="zh-CN" sz="3600" b="1" dirty="0"/>
              <a:t>《</a:t>
            </a:r>
            <a:r>
              <a:rPr lang="zh-CN" altLang="en-US" sz="3600" b="1" dirty="0"/>
              <a:t>副本</a:t>
            </a:r>
            <a:r>
              <a:rPr lang="en-US" altLang="zh-CN" sz="3600" b="1" dirty="0"/>
              <a:t>PZP-(Z2-P2)-CP-D221N44AA#</a:t>
            </a:r>
            <a:r>
              <a:rPr lang="zh-CN" altLang="en-US" sz="3600" b="1" dirty="0"/>
              <a:t>电源系统装配控制计划</a:t>
            </a:r>
            <a:r>
              <a:rPr lang="en-US" altLang="zh-CN" sz="3600" b="1" dirty="0"/>
              <a:t>#A0.xlsx》</a:t>
            </a:r>
            <a:r>
              <a:rPr lang="zh-CN" altLang="en-US" sz="3600" b="1" dirty="0">
                <a:effectLst/>
              </a:rPr>
              <a:t>审核报告</a:t>
            </a:r>
          </a:p>
        </p:txBody>
      </p:sp>
      <p:graphicFrame>
        <p:nvGraphicFramePr>
          <p:cNvPr id="2" name="表格 1">
            <a:extLst>
              <a:ext uri="{FF2B5EF4-FFF2-40B4-BE49-F238E27FC236}">
                <a16:creationId xmlns:a16="http://schemas.microsoft.com/office/drawing/2014/main" id="{EF38EE5B-1AE7-94A3-B8CF-302D4CCD8022}"/>
              </a:ext>
            </a:extLst>
          </p:cNvPr>
          <p:cNvGraphicFramePr>
            <a:graphicFrameLocks noGrp="1"/>
          </p:cNvGraphicFramePr>
          <p:nvPr>
            <p:extLst>
              <p:ext uri="{D42A27DB-BD31-4B8C-83A1-F6EECF244321}">
                <p14:modId xmlns:p14="http://schemas.microsoft.com/office/powerpoint/2010/main" val="2690204370"/>
              </p:ext>
            </p:extLst>
          </p:nvPr>
        </p:nvGraphicFramePr>
        <p:xfrm>
          <a:off x="794701" y="1642559"/>
          <a:ext cx="23059292" cy="11868984"/>
        </p:xfrm>
        <a:graphic>
          <a:graphicData uri="http://schemas.openxmlformats.org/drawingml/2006/table">
            <a:tbl>
              <a:tblPr firstRow="1" bandRow="1"/>
              <a:tblGrid>
                <a:gridCol w="4607171">
                  <a:extLst>
                    <a:ext uri="{9D8B030D-6E8A-4147-A177-3AD203B41FA5}">
                      <a16:colId xmlns:a16="http://schemas.microsoft.com/office/drawing/2014/main" val="520135011"/>
                    </a:ext>
                  </a:extLst>
                </a:gridCol>
                <a:gridCol w="5908430">
                  <a:extLst>
                    <a:ext uri="{9D8B030D-6E8A-4147-A177-3AD203B41FA5}">
                      <a16:colId xmlns:a16="http://schemas.microsoft.com/office/drawing/2014/main" val="585926975"/>
                    </a:ext>
                  </a:extLst>
                </a:gridCol>
                <a:gridCol w="6778868">
                  <a:extLst>
                    <a:ext uri="{9D8B030D-6E8A-4147-A177-3AD203B41FA5}">
                      <a16:colId xmlns:a16="http://schemas.microsoft.com/office/drawing/2014/main" val="3081416713"/>
                    </a:ext>
                  </a:extLst>
                </a:gridCol>
                <a:gridCol w="5764823">
                  <a:extLst>
                    <a:ext uri="{9D8B030D-6E8A-4147-A177-3AD203B41FA5}">
                      <a16:colId xmlns:a16="http://schemas.microsoft.com/office/drawing/2014/main" val="572010187"/>
                    </a:ext>
                  </a:extLst>
                </a:gridCol>
              </a:tblGrid>
              <a:tr h="901298">
                <a:tc rowSpan="2">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审查清单制定</a:t>
                      </a:r>
                    </a:p>
                  </a:txBody>
                  <a:tcPr anchor="ctr"/>
                </a:tc>
                <a:tc gridSpan="2">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逐项审核结果</a:t>
                      </a:r>
                    </a:p>
                  </a:txBody>
                  <a:tcPr anchor="ctr"/>
                </a:tc>
                <a:tc hMerge="1">
                  <a:txBody>
                    <a:bodyPr/>
                    <a:lstStyle/>
                    <a:p>
                      <a:pPr algn="ctr"/>
                      <a:endParaRPr lang="en-GB" sz="2000" dirty="0"/>
                    </a:p>
                  </a:txBody>
                  <a:tcPr/>
                </a:tc>
                <a:tc rowSpan="2">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总体评估</a:t>
                      </a:r>
                    </a:p>
                  </a:txBody>
                  <a:tcPr anchor="ctr"/>
                </a:tc>
                <a:extLst>
                  <a:ext uri="{0D108BD9-81ED-4DB2-BD59-A6C34878D82A}">
                    <a16:rowId xmlns:a16="http://schemas.microsoft.com/office/drawing/2014/main" val="2562292327"/>
                  </a:ext>
                </a:extLst>
              </a:tr>
              <a:tr h="513046">
                <a:tc vMerge="1">
                  <a:txBody>
                    <a:bodyPr/>
                    <a:lstStyle/>
                    <a:p>
                      <a:pPr algn="ctr"/>
                      <a:endParaRPr lang="en-GB" sz="2000" dirty="0"/>
                    </a:p>
                  </a:txBody>
                  <a:tcPr/>
                </a:tc>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000" b="1" dirty="0">
                          <a:effectLst/>
                        </a:rPr>
                        <a:t>✅通过项目</a:t>
                      </a:r>
                    </a:p>
                  </a:txBody>
                  <a:tcPr/>
                </a:tc>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000" b="1" dirty="0">
                          <a:effectLst/>
                        </a:rPr>
                        <a:t>❌ 不通过项目</a:t>
                      </a:r>
                    </a:p>
                  </a:txBody>
                  <a:tcPr/>
                </a:tc>
                <a:tc vMerge="1">
                  <a:txBody>
                    <a:bodyPr/>
                    <a:lstStyle/>
                    <a:p>
                      <a:endParaRPr dirty="0"/>
                    </a:p>
                  </a:txBody>
                  <a:tcPr/>
                </a:tc>
                <a:extLst>
                  <a:ext uri="{0D108BD9-81ED-4DB2-BD59-A6C34878D82A}">
                    <a16:rowId xmlns:a16="http://schemas.microsoft.com/office/drawing/2014/main" val="3862020771"/>
                  </a:ext>
                </a:extLst>
              </a:tr>
              <a:tr h="10086326">
                <a:tc>
                  <a:txBody>
                    <a:bodyPr/>
                    <a:lstStyle/>
                    <a:p>
                      <a:r>
                        <a:rPr lang="en-US" altLang="zh-CN" sz="2000" b="1" dirty="0">
                          <a:effectLst/>
                        </a:rPr>
                        <a:t>1. </a:t>
                      </a:r>
                      <a:r>
                        <a:rPr lang="zh-CN" altLang="en-US" sz="2000" b="1" dirty="0">
                          <a:effectLst/>
                        </a:rPr>
                        <a:t>文件基本信息审查</a:t>
                      </a:r>
                      <a:r>
                        <a:rPr lang="zh-CN" altLang="en-US" sz="2000" dirty="0">
                          <a:effectLst/>
                        </a:rPr>
                        <a:t>文件标识和版本控制</a:t>
                      </a:r>
                    </a:p>
                    <a:p>
                      <a:r>
                        <a:rPr lang="zh-CN" altLang="en-US" sz="2000" dirty="0">
                          <a:effectLst/>
                        </a:rPr>
                        <a:t>项目信息完整性</a:t>
                      </a:r>
                    </a:p>
                    <a:p>
                      <a:r>
                        <a:rPr lang="zh-CN" altLang="en-US" sz="2000" dirty="0">
                          <a:effectLst/>
                        </a:rPr>
                        <a:t>阶段标识准确性</a:t>
                      </a:r>
                    </a:p>
                    <a:p>
                      <a:r>
                        <a:rPr lang="zh-CN" altLang="en-US" sz="2000" dirty="0">
                          <a:effectLst/>
                        </a:rPr>
                        <a:t>适用性声明</a:t>
                      </a:r>
                    </a:p>
                    <a:p>
                      <a:r>
                        <a:rPr lang="en-US" altLang="zh-CN" sz="2000" b="1" dirty="0">
                          <a:effectLst/>
                        </a:rPr>
                        <a:t>2. </a:t>
                      </a:r>
                      <a:r>
                        <a:rPr lang="zh-CN" altLang="en-US" sz="2000" b="1" dirty="0">
                          <a:effectLst/>
                        </a:rPr>
                        <a:t>修订履历管理</a:t>
                      </a:r>
                      <a:r>
                        <a:rPr lang="zh-CN" altLang="en-US" sz="2000" dirty="0">
                          <a:effectLst/>
                        </a:rPr>
                        <a:t>版本控制规范性</a:t>
                      </a:r>
                    </a:p>
                    <a:p>
                      <a:r>
                        <a:rPr lang="zh-CN" altLang="en-US" sz="2000" dirty="0">
                          <a:effectLst/>
                        </a:rPr>
                        <a:t>变更记录完整性</a:t>
                      </a:r>
                    </a:p>
                    <a:p>
                      <a:r>
                        <a:rPr lang="zh-CN" altLang="en-US" sz="2000" dirty="0">
                          <a:effectLst/>
                        </a:rPr>
                        <a:t>文件发放管理</a:t>
                      </a:r>
                    </a:p>
                    <a:p>
                      <a:r>
                        <a:rPr lang="en-US" altLang="zh-CN" sz="2000" b="1" dirty="0">
                          <a:effectLst/>
                        </a:rPr>
                        <a:t>3. </a:t>
                      </a:r>
                      <a:r>
                        <a:rPr lang="zh-CN" altLang="en-US" sz="2000" b="1" dirty="0">
                          <a:effectLst/>
                        </a:rPr>
                        <a:t>控制计划内容审查</a:t>
                      </a:r>
                      <a:r>
                        <a:rPr lang="zh-CN" altLang="en-US" sz="2000" dirty="0">
                          <a:effectLst/>
                        </a:rPr>
                        <a:t>过程流程图完整性</a:t>
                      </a:r>
                    </a:p>
                    <a:p>
                      <a:r>
                        <a:rPr lang="zh-CN" altLang="en-US" sz="2000" dirty="0">
                          <a:effectLst/>
                        </a:rPr>
                        <a:t>特殊特性识别</a:t>
                      </a:r>
                    </a:p>
                    <a:p>
                      <a:r>
                        <a:rPr lang="zh-CN" altLang="en-US" sz="2000" dirty="0">
                          <a:effectLst/>
                        </a:rPr>
                        <a:t>控制方法合理性</a:t>
                      </a:r>
                    </a:p>
                    <a:p>
                      <a:r>
                        <a:rPr lang="zh-CN" altLang="en-US" sz="2000" dirty="0">
                          <a:effectLst/>
                        </a:rPr>
                        <a:t>反应计划有效性</a:t>
                      </a:r>
                    </a:p>
                    <a:p>
                      <a:r>
                        <a:rPr lang="en-US" altLang="zh-CN" sz="2000" b="1" dirty="0">
                          <a:effectLst/>
                        </a:rPr>
                        <a:t>4. </a:t>
                      </a:r>
                      <a:r>
                        <a:rPr lang="zh-CN" altLang="en-US" sz="2000" b="1" dirty="0">
                          <a:effectLst/>
                        </a:rPr>
                        <a:t>附表文件审查</a:t>
                      </a:r>
                      <a:r>
                        <a:rPr lang="zh-CN" altLang="en-US" sz="2000" dirty="0">
                          <a:effectLst/>
                        </a:rPr>
                        <a:t>物料扭矩记录表</a:t>
                      </a:r>
                    </a:p>
                    <a:p>
                      <a:r>
                        <a:rPr lang="zh-CN" altLang="en-US" sz="2000" dirty="0">
                          <a:effectLst/>
                        </a:rPr>
                        <a:t>过程数据记录表</a:t>
                      </a:r>
                    </a:p>
                    <a:p>
                      <a:r>
                        <a:rPr lang="zh-CN" altLang="en-US" sz="2000" dirty="0">
                          <a:effectLst/>
                        </a:rPr>
                        <a:t>数据完整性</a:t>
                      </a:r>
                    </a:p>
                    <a:p>
                      <a:r>
                        <a:rPr lang="en-US" altLang="zh-CN" sz="2000" b="1" dirty="0">
                          <a:effectLst/>
                        </a:rPr>
                        <a:t>5. </a:t>
                      </a:r>
                      <a:r>
                        <a:rPr lang="zh-CN" altLang="en-US" sz="2000" b="1" dirty="0">
                          <a:effectLst/>
                        </a:rPr>
                        <a:t>质量体系符合性</a:t>
                      </a:r>
                      <a:r>
                        <a:rPr lang="en-US" altLang="zh-CN" sz="2000" dirty="0">
                          <a:effectLst/>
                        </a:rPr>
                        <a:t>APQP</a:t>
                      </a:r>
                      <a:r>
                        <a:rPr lang="zh-CN" altLang="en-US" sz="2000" dirty="0">
                          <a:effectLst/>
                        </a:rPr>
                        <a:t>阶段要求符合性</a:t>
                      </a:r>
                    </a:p>
                    <a:p>
                      <a:r>
                        <a:rPr lang="zh-CN" altLang="en-US" sz="2000" dirty="0">
                          <a:effectLst/>
                        </a:rPr>
                        <a:t>顾客要求满足度</a:t>
                      </a:r>
                    </a:p>
                    <a:p>
                      <a:r>
                        <a:rPr lang="zh-CN" altLang="en-US" sz="2000" dirty="0">
                          <a:effectLst/>
                        </a:rPr>
                        <a:t>法规标准符合性</a:t>
                      </a:r>
                    </a:p>
                    <a:p>
                      <a:pPr>
                        <a:spcBef>
                          <a:spcPts val="1200"/>
                        </a:spcBef>
                        <a:spcAft>
                          <a:spcPts val="600"/>
                        </a:spcAft>
                        <a:buNone/>
                      </a:pPr>
                      <a:endParaRPr lang="en-GB" sz="2000" dirty="0"/>
                    </a:p>
                  </a:txBody>
                  <a:tcPr/>
                </a:tc>
                <a:tc>
                  <a:txBody>
                    <a:bodyPr/>
                    <a:lstStyle/>
                    <a:p>
                      <a:r>
                        <a:rPr lang="en-US" altLang="zh-CN" sz="2000" b="1" dirty="0">
                          <a:effectLst/>
                        </a:rPr>
                        <a:t>1. </a:t>
                      </a:r>
                      <a:r>
                        <a:rPr lang="zh-CN" altLang="en-US" sz="2000" b="1" dirty="0">
                          <a:effectLst/>
                        </a:rPr>
                        <a:t>文件基本信息审查</a:t>
                      </a:r>
                    </a:p>
                    <a:p>
                      <a:r>
                        <a:rPr lang="zh-CN" altLang="en-US" sz="2000" b="1" dirty="0">
                          <a:effectLst/>
                        </a:rPr>
                        <a:t>✅ 通过项目：</a:t>
                      </a:r>
                      <a:r>
                        <a:rPr lang="zh-CN" altLang="en-US" sz="2000" dirty="0">
                          <a:effectLst/>
                        </a:rPr>
                        <a:t>文件代号：</a:t>
                      </a:r>
                      <a:r>
                        <a:rPr lang="en-US" altLang="zh-CN" sz="2000" dirty="0">
                          <a:effectLst/>
                        </a:rPr>
                        <a:t>PZP-(Z2-P2)-CP-D221N44AA ✓</a:t>
                      </a:r>
                    </a:p>
                    <a:p>
                      <a:r>
                        <a:rPr lang="zh-CN" altLang="en-US" sz="2000" dirty="0">
                          <a:effectLst/>
                        </a:rPr>
                        <a:t>项目编号：</a:t>
                      </a:r>
                      <a:r>
                        <a:rPr lang="en-US" altLang="zh-CN" sz="2000" dirty="0">
                          <a:effectLst/>
                        </a:rPr>
                        <a:t>PM230204 ✓</a:t>
                      </a:r>
                    </a:p>
                    <a:p>
                      <a:r>
                        <a:rPr lang="zh-CN" altLang="en-US" sz="2000" dirty="0">
                          <a:effectLst/>
                        </a:rPr>
                        <a:t>项目名称：</a:t>
                      </a:r>
                      <a:r>
                        <a:rPr lang="en-US" altLang="zh-CN" sz="2000" dirty="0">
                          <a:effectLst/>
                        </a:rPr>
                        <a:t>D221N44AA-1P104S</a:t>
                      </a:r>
                      <a:r>
                        <a:rPr lang="zh-CN" altLang="en-US" sz="2000" dirty="0">
                          <a:effectLst/>
                        </a:rPr>
                        <a:t>电源系统 ✓</a:t>
                      </a:r>
                    </a:p>
                    <a:p>
                      <a:r>
                        <a:rPr lang="zh-CN" altLang="en-US" sz="2000" dirty="0">
                          <a:effectLst/>
                        </a:rPr>
                        <a:t>阶段标识：</a:t>
                      </a:r>
                      <a:r>
                        <a:rPr lang="en-US" altLang="zh-CN" sz="2000" dirty="0">
                          <a:effectLst/>
                        </a:rPr>
                        <a:t>A</a:t>
                      </a:r>
                      <a:r>
                        <a:rPr lang="zh-CN" altLang="en-US" sz="2000" dirty="0">
                          <a:effectLst/>
                        </a:rPr>
                        <a:t>样件 ✓</a:t>
                      </a:r>
                    </a:p>
                    <a:p>
                      <a:r>
                        <a:rPr lang="zh-CN" altLang="en-US" sz="2000" dirty="0">
                          <a:effectLst/>
                        </a:rPr>
                        <a:t>适用厂区</a:t>
                      </a:r>
                      <a:r>
                        <a:rPr lang="en-US" altLang="zh-CN" sz="2000" dirty="0">
                          <a:effectLst/>
                        </a:rPr>
                        <a:t>/</a:t>
                      </a:r>
                      <a:r>
                        <a:rPr lang="zh-CN" altLang="en-US" sz="2000" dirty="0">
                          <a:effectLst/>
                        </a:rPr>
                        <a:t>产线：江苏制造运营中心</a:t>
                      </a:r>
                      <a:r>
                        <a:rPr lang="en-US" altLang="zh-CN" sz="2000" dirty="0">
                          <a:effectLst/>
                        </a:rPr>
                        <a:t>-JS</a:t>
                      </a:r>
                      <a:r>
                        <a:rPr lang="zh-CN" altLang="en-US" sz="2000" dirty="0">
                          <a:effectLst/>
                        </a:rPr>
                        <a:t>中试工厂</a:t>
                      </a:r>
                      <a:r>
                        <a:rPr lang="en-US" altLang="zh-CN" sz="2000" dirty="0">
                          <a:effectLst/>
                        </a:rPr>
                        <a:t>-</a:t>
                      </a:r>
                      <a:r>
                        <a:rPr lang="zh-CN" altLang="en-US" sz="2000" dirty="0">
                          <a:effectLst/>
                        </a:rPr>
                        <a:t>集成车间</a:t>
                      </a:r>
                      <a:r>
                        <a:rPr lang="en-US" altLang="zh-CN" sz="2000" dirty="0">
                          <a:effectLst/>
                        </a:rPr>
                        <a:t>-Z2-P2 ✓</a:t>
                      </a:r>
                    </a:p>
                    <a:p>
                      <a:r>
                        <a:rPr lang="zh-CN" altLang="en-US" sz="2000" b="1" dirty="0">
                          <a:effectLst/>
                        </a:rPr>
                        <a:t>❌ 不通过项目：顾客批准</a:t>
                      </a:r>
                      <a:r>
                        <a:rPr lang="en-US" altLang="zh-CN" sz="2000" b="1" dirty="0">
                          <a:effectLst/>
                        </a:rPr>
                        <a:t>/</a:t>
                      </a:r>
                      <a:r>
                        <a:rPr lang="zh-CN" altLang="en-US" sz="2000" b="1" dirty="0">
                          <a:effectLst/>
                        </a:rPr>
                        <a:t>日期</a:t>
                      </a:r>
                      <a:r>
                        <a:rPr lang="zh-CN" altLang="en-US" sz="2000" dirty="0">
                          <a:effectLst/>
                        </a:rPr>
                        <a:t>：显示为</a:t>
                      </a:r>
                      <a:r>
                        <a:rPr lang="en-US" altLang="zh-CN" sz="2000" dirty="0">
                          <a:effectLst/>
                        </a:rPr>
                        <a:t>"/"</a:t>
                      </a:r>
                      <a:r>
                        <a:rPr lang="zh-CN" altLang="en-US" sz="2000" dirty="0">
                          <a:effectLst/>
                        </a:rPr>
                        <a:t>，缺少顾客正式批准记录</a:t>
                      </a:r>
                    </a:p>
                    <a:p>
                      <a:r>
                        <a:rPr lang="zh-CN" altLang="en-US" sz="2000" b="1" dirty="0">
                          <a:effectLst/>
                        </a:rPr>
                        <a:t>研发经理信息</a:t>
                      </a:r>
                      <a:r>
                        <a:rPr lang="zh-CN" altLang="en-US" sz="2000" dirty="0">
                          <a:effectLst/>
                        </a:rPr>
                        <a:t>：朱晓婉，但缺少联系方式</a:t>
                      </a:r>
                    </a:p>
                    <a:p>
                      <a:r>
                        <a:rPr lang="zh-CN" altLang="en-US" sz="2000" b="1" dirty="0">
                          <a:effectLst/>
                        </a:rPr>
                        <a:t>应对建议：</a:t>
                      </a:r>
                      <a:r>
                        <a:rPr lang="zh-CN" altLang="en-US" sz="2000" dirty="0">
                          <a:effectLst/>
                        </a:rPr>
                        <a:t>立即联系顾客获取正式批准签字</a:t>
                      </a:r>
                    </a:p>
                    <a:p>
                      <a:r>
                        <a:rPr lang="zh-CN" altLang="en-US" sz="2000" dirty="0">
                          <a:effectLst/>
                        </a:rPr>
                        <a:t>补充研发经理联系方式</a:t>
                      </a:r>
                    </a:p>
                    <a:p>
                      <a:r>
                        <a:rPr lang="zh-CN" altLang="en-US" sz="2000" dirty="0">
                          <a:effectLst/>
                        </a:rPr>
                        <a:t>建立顾客批准流程标准化</a:t>
                      </a:r>
                    </a:p>
                    <a:p>
                      <a:r>
                        <a:rPr lang="en-US" altLang="zh-CN" sz="2000" b="1" dirty="0">
                          <a:effectLst/>
                        </a:rPr>
                        <a:t>2. </a:t>
                      </a:r>
                      <a:r>
                        <a:rPr lang="zh-CN" altLang="en-US" sz="2000" b="1" dirty="0">
                          <a:effectLst/>
                        </a:rPr>
                        <a:t>修订履历管理</a:t>
                      </a:r>
                    </a:p>
                    <a:p>
                      <a:r>
                        <a:rPr lang="zh-CN" altLang="en-US" sz="2000" b="1" dirty="0">
                          <a:effectLst/>
                        </a:rPr>
                        <a:t>✅ 通过项目：</a:t>
                      </a:r>
                      <a:r>
                        <a:rPr lang="zh-CN" altLang="en-US" sz="2000" dirty="0">
                          <a:effectLst/>
                        </a:rPr>
                        <a:t>版本控制：</a:t>
                      </a:r>
                      <a:r>
                        <a:rPr lang="en-US" altLang="zh-CN" sz="2000" dirty="0">
                          <a:effectLst/>
                        </a:rPr>
                        <a:t>A0</a:t>
                      </a:r>
                      <a:r>
                        <a:rPr lang="zh-CN" altLang="en-US" sz="2000" dirty="0">
                          <a:effectLst/>
                        </a:rPr>
                        <a:t>版本 ✓</a:t>
                      </a:r>
                    </a:p>
                    <a:p>
                      <a:r>
                        <a:rPr lang="zh-CN" altLang="en-US" sz="2000" dirty="0">
                          <a:effectLst/>
                        </a:rPr>
                        <a:t>修订人：林晨龙 ✓</a:t>
                      </a:r>
                    </a:p>
                    <a:p>
                      <a:r>
                        <a:rPr lang="zh-CN" altLang="en-US" sz="2000" dirty="0">
                          <a:effectLst/>
                        </a:rPr>
                        <a:t>修订日期：</a:t>
                      </a:r>
                      <a:r>
                        <a:rPr lang="en-US" altLang="zh-CN" sz="2000" dirty="0">
                          <a:effectLst/>
                        </a:rPr>
                        <a:t>2023-08-07 ✓</a:t>
                      </a:r>
                    </a:p>
                    <a:p>
                      <a:r>
                        <a:rPr lang="zh-CN" altLang="en-US" sz="2000" b="1" dirty="0">
                          <a:effectLst/>
                        </a:rPr>
                        <a:t>❌ 不通过项目：文件发放记录不完整</a:t>
                      </a:r>
                      <a:r>
                        <a:rPr lang="zh-CN" altLang="en-US" sz="2000" dirty="0">
                          <a:effectLst/>
                        </a:rPr>
                        <a:t>：仅记录到</a:t>
                      </a:r>
                      <a:r>
                        <a:rPr lang="en-US" altLang="zh-CN" sz="2000" dirty="0">
                          <a:effectLst/>
                        </a:rPr>
                        <a:t>2</a:t>
                      </a:r>
                      <a:r>
                        <a:rPr lang="zh-CN" altLang="en-US" sz="2000" dirty="0">
                          <a:effectLst/>
                        </a:rPr>
                        <a:t>个部门，缺少其他相关部门</a:t>
                      </a:r>
                    </a:p>
                    <a:p>
                      <a:r>
                        <a:rPr lang="zh-CN" altLang="en-US" sz="2000" b="1" dirty="0">
                          <a:effectLst/>
                        </a:rPr>
                        <a:t>生效日期描述模糊</a:t>
                      </a:r>
                      <a:r>
                        <a:rPr lang="zh-CN" altLang="en-US" sz="2000" dirty="0">
                          <a:effectLst/>
                        </a:rPr>
                        <a:t>：</a:t>
                      </a:r>
                      <a:r>
                        <a:rPr lang="en-US" altLang="zh-CN" sz="2000" dirty="0">
                          <a:effectLst/>
                        </a:rPr>
                        <a:t>"</a:t>
                      </a:r>
                      <a:r>
                        <a:rPr lang="zh-CN" altLang="en-US" sz="2000" dirty="0">
                          <a:effectLst/>
                        </a:rPr>
                        <a:t>流程归档后自动生效</a:t>
                      </a:r>
                      <a:r>
                        <a:rPr lang="en-US" altLang="zh-CN" sz="2000" dirty="0">
                          <a:effectLst/>
                        </a:rPr>
                        <a:t>"</a:t>
                      </a:r>
                      <a:r>
                        <a:rPr lang="zh-CN" altLang="en-US" sz="2000" dirty="0">
                          <a:effectLst/>
                        </a:rPr>
                        <a:t>不够明确</a:t>
                      </a:r>
                    </a:p>
                    <a:p>
                      <a:r>
                        <a:rPr lang="zh-CN" altLang="en-US" sz="2000" b="1" dirty="0">
                          <a:effectLst/>
                        </a:rPr>
                        <a:t>应对建议：</a:t>
                      </a:r>
                      <a:r>
                        <a:rPr lang="zh-CN" altLang="en-US" sz="2000" dirty="0">
                          <a:effectLst/>
                        </a:rPr>
                        <a:t>补充完整的文件发放清单，包括：</a:t>
                      </a:r>
                    </a:p>
                    <a:p>
                      <a:r>
                        <a:rPr lang="zh-CN" altLang="en-US" sz="2000" dirty="0">
                          <a:effectLst/>
                        </a:rPr>
                        <a:t>工艺部门</a:t>
                      </a:r>
                    </a:p>
                    <a:p>
                      <a:r>
                        <a:rPr lang="zh-CN" altLang="en-US" sz="2000" dirty="0">
                          <a:effectLst/>
                        </a:rPr>
                        <a:t>设备部门</a:t>
                      </a:r>
                    </a:p>
                    <a:p>
                      <a:r>
                        <a:rPr lang="zh-CN" altLang="en-US" sz="2000" dirty="0">
                          <a:effectLst/>
                        </a:rPr>
                        <a:t>采购部门</a:t>
                      </a:r>
                    </a:p>
                    <a:p>
                      <a:r>
                        <a:rPr lang="zh-CN" altLang="en-US" sz="2000" dirty="0">
                          <a:effectLst/>
                        </a:rPr>
                        <a:t>供应商质量部门</a:t>
                      </a:r>
                    </a:p>
                    <a:p>
                      <a:r>
                        <a:rPr lang="zh-CN" altLang="en-US" sz="2000" dirty="0">
                          <a:effectLst/>
                        </a:rPr>
                        <a:t>明确生效日期，建议改为具体日期或明确的条件</a:t>
                      </a:r>
                      <a:endParaRPr lang="en-GB" altLang="zh-CN" sz="2000" dirty="0">
                        <a:effectLst/>
                      </a:endParaRPr>
                    </a:p>
                    <a:p>
                      <a:r>
                        <a:rPr lang="en-US" altLang="zh-CN" sz="2000" b="1" dirty="0">
                          <a:effectLst/>
                        </a:rPr>
                        <a:t>3. </a:t>
                      </a:r>
                      <a:r>
                        <a:rPr lang="zh-CN" altLang="en-US" sz="2000" b="1" dirty="0">
                          <a:effectLst/>
                        </a:rPr>
                        <a:t>控制计划内容审查</a:t>
                      </a:r>
                    </a:p>
                    <a:p>
                      <a:r>
                        <a:rPr lang="zh-CN" altLang="en-US" sz="2000" b="1" dirty="0">
                          <a:effectLst/>
                        </a:rPr>
                        <a:t>✅ 通过项目：</a:t>
                      </a:r>
                      <a:r>
                        <a:rPr lang="zh-CN" altLang="en-US" sz="2000" dirty="0">
                          <a:effectLst/>
                        </a:rPr>
                        <a:t>过程编号系统化：</a:t>
                      </a:r>
                      <a:r>
                        <a:rPr lang="en-US" altLang="zh-CN" sz="2000" dirty="0">
                          <a:effectLst/>
                        </a:rPr>
                        <a:t>OP001-OP030 ✓</a:t>
                      </a:r>
                    </a:p>
                    <a:p>
                      <a:r>
                        <a:rPr lang="zh-CN" altLang="en-US" sz="2000" dirty="0">
                          <a:effectLst/>
                        </a:rPr>
                        <a:t>特殊特性标识：★和☆符号使用正确 ✓</a:t>
                      </a:r>
                    </a:p>
                    <a:p>
                      <a:r>
                        <a:rPr lang="zh-CN" altLang="en-US" sz="2000" dirty="0">
                          <a:effectLst/>
                        </a:rPr>
                        <a:t>环境控制要求明确 ✓</a:t>
                      </a:r>
                    </a:p>
                    <a:p>
                      <a:r>
                        <a:rPr lang="zh-CN" altLang="en-US" sz="2000" dirty="0">
                          <a:effectLst/>
                        </a:rPr>
                        <a:t>扭矩控制要求详细 ✓</a:t>
                      </a:r>
                      <a:endParaRPr lang="en-GB" sz="2000" dirty="0"/>
                    </a:p>
                  </a:txBody>
                  <a:tcPr/>
                </a:tc>
                <a:tc>
                  <a:txBody>
                    <a:bodyPr/>
                    <a:lstStyle/>
                    <a:p>
                      <a:r>
                        <a:rPr lang="zh-CN" altLang="en-US" sz="2000" b="1" dirty="0">
                          <a:effectLst/>
                        </a:rPr>
                        <a:t>❌ 不通过项目：反应计划过于简单</a:t>
                      </a:r>
                      <a:r>
                        <a:rPr lang="zh-CN" altLang="en-US" sz="2000" dirty="0">
                          <a:effectLst/>
                        </a:rPr>
                        <a:t>：大部分为</a:t>
                      </a:r>
                      <a:r>
                        <a:rPr lang="en-US" altLang="zh-CN" sz="2000" dirty="0">
                          <a:effectLst/>
                        </a:rPr>
                        <a:t>"</a:t>
                      </a:r>
                      <a:r>
                        <a:rPr lang="zh-CN" altLang="en-US" sz="2000" dirty="0">
                          <a:effectLst/>
                        </a:rPr>
                        <a:t>生产停止，通知工程师处理</a:t>
                      </a:r>
                      <a:r>
                        <a:rPr lang="en-US" altLang="zh-CN" sz="2000" dirty="0">
                          <a:effectLst/>
                        </a:rPr>
                        <a:t>"</a:t>
                      </a:r>
                    </a:p>
                    <a:p>
                      <a:r>
                        <a:rPr lang="zh-CN" altLang="en-US" sz="2000" b="1" dirty="0">
                          <a:effectLst/>
                        </a:rPr>
                        <a:t>检验频率设置</a:t>
                      </a:r>
                      <a:r>
                        <a:rPr lang="zh-CN" altLang="en-US" sz="2000" dirty="0">
                          <a:effectLst/>
                        </a:rPr>
                        <a:t>：部分项目检验频率可能不够</a:t>
                      </a:r>
                    </a:p>
                    <a:p>
                      <a:r>
                        <a:rPr lang="zh-CN" altLang="en-US" sz="2000" b="1" dirty="0">
                          <a:effectLst/>
                        </a:rPr>
                        <a:t>测量设备校准</a:t>
                      </a:r>
                      <a:r>
                        <a:rPr lang="zh-CN" altLang="en-US" sz="2000" dirty="0">
                          <a:effectLst/>
                        </a:rPr>
                        <a:t>：缺少设备校准要求</a:t>
                      </a:r>
                    </a:p>
                    <a:p>
                      <a:endParaRPr lang="en-GB" altLang="zh-CN" sz="2000" b="1" dirty="0">
                        <a:effectLst/>
                      </a:endParaRPr>
                    </a:p>
                    <a:p>
                      <a:r>
                        <a:rPr lang="zh-CN" altLang="en-US" sz="2000" b="1" dirty="0">
                          <a:effectLst/>
                        </a:rPr>
                        <a:t>应对建议：</a:t>
                      </a:r>
                      <a:r>
                        <a:rPr lang="zh-CN" altLang="en-US" sz="2000" dirty="0">
                          <a:effectLst/>
                        </a:rPr>
                        <a:t>完善反应计划，包括：</a:t>
                      </a:r>
                    </a:p>
                    <a:p>
                      <a:r>
                        <a:rPr lang="zh-CN" altLang="en-US" sz="2000" dirty="0">
                          <a:effectLst/>
                        </a:rPr>
                        <a:t>具体处理步骤</a:t>
                      </a:r>
                    </a:p>
                    <a:p>
                      <a:r>
                        <a:rPr lang="zh-CN" altLang="en-US" sz="2000" dirty="0">
                          <a:effectLst/>
                        </a:rPr>
                        <a:t>责任人分工</a:t>
                      </a:r>
                    </a:p>
                    <a:p>
                      <a:r>
                        <a:rPr lang="zh-CN" altLang="en-US" sz="2000" dirty="0">
                          <a:effectLst/>
                        </a:rPr>
                        <a:t>时间要求</a:t>
                      </a:r>
                    </a:p>
                    <a:p>
                      <a:r>
                        <a:rPr lang="zh-CN" altLang="en-US" sz="2000" dirty="0">
                          <a:effectLst/>
                        </a:rPr>
                        <a:t>升级机制</a:t>
                      </a:r>
                    </a:p>
                    <a:p>
                      <a:r>
                        <a:rPr lang="zh-CN" altLang="en-US" sz="2000" dirty="0">
                          <a:effectLst/>
                        </a:rPr>
                        <a:t>重新评估检验频率，特别是关键特性</a:t>
                      </a:r>
                    </a:p>
                    <a:p>
                      <a:r>
                        <a:rPr lang="zh-CN" altLang="en-US" sz="2000" dirty="0">
                          <a:effectLst/>
                        </a:rPr>
                        <a:t>补充测量设备校准要求</a:t>
                      </a:r>
                    </a:p>
                    <a:p>
                      <a:r>
                        <a:rPr lang="en-US" altLang="zh-CN" sz="2000" b="1" dirty="0">
                          <a:effectLst/>
                        </a:rPr>
                        <a:t>4. </a:t>
                      </a:r>
                      <a:r>
                        <a:rPr lang="zh-CN" altLang="en-US" sz="2000" b="1" dirty="0">
                          <a:effectLst/>
                        </a:rPr>
                        <a:t>附表文件审查</a:t>
                      </a:r>
                    </a:p>
                    <a:p>
                      <a:r>
                        <a:rPr lang="zh-CN" altLang="en-US" sz="2000" b="1" dirty="0">
                          <a:effectLst/>
                        </a:rPr>
                        <a:t>✅ 通过项目：</a:t>
                      </a:r>
                      <a:r>
                        <a:rPr lang="zh-CN" altLang="en-US" sz="2000" dirty="0">
                          <a:effectLst/>
                        </a:rPr>
                        <a:t>物料条码记录表结构完整 ✓</a:t>
                      </a:r>
                    </a:p>
                    <a:p>
                      <a:r>
                        <a:rPr lang="zh-CN" altLang="en-US" sz="2000" dirty="0">
                          <a:effectLst/>
                        </a:rPr>
                        <a:t>过程数据记录表设计合理 ✓</a:t>
                      </a:r>
                    </a:p>
                    <a:p>
                      <a:r>
                        <a:rPr lang="zh-CN" altLang="en-US" sz="2000" b="1" dirty="0">
                          <a:effectLst/>
                        </a:rPr>
                        <a:t>❌ 不通过项目：附表</a:t>
                      </a:r>
                      <a:r>
                        <a:rPr lang="en-US" altLang="zh-CN" sz="2000" b="1" dirty="0">
                          <a:effectLst/>
                        </a:rPr>
                        <a:t>-</a:t>
                      </a:r>
                      <a:r>
                        <a:rPr lang="zh-CN" altLang="en-US" sz="2000" b="1" dirty="0">
                          <a:effectLst/>
                        </a:rPr>
                        <a:t>过程数据记录表</a:t>
                      </a:r>
                      <a:r>
                        <a:rPr lang="zh-CN" altLang="en-US" sz="2000" dirty="0">
                          <a:effectLst/>
                        </a:rPr>
                        <a:t>：缺少数据验证机制</a:t>
                      </a:r>
                    </a:p>
                    <a:p>
                      <a:r>
                        <a:rPr lang="zh-CN" altLang="en-US" sz="2000" b="1" dirty="0">
                          <a:effectLst/>
                        </a:rPr>
                        <a:t>物料扭矩记录表</a:t>
                      </a:r>
                      <a:r>
                        <a:rPr lang="zh-CN" altLang="en-US" sz="2000" dirty="0">
                          <a:effectLst/>
                        </a:rPr>
                        <a:t>：缺少扭矩值记录栏位</a:t>
                      </a:r>
                    </a:p>
                    <a:p>
                      <a:r>
                        <a:rPr lang="zh-CN" altLang="en-US" sz="2000" b="1" dirty="0">
                          <a:effectLst/>
                        </a:rPr>
                        <a:t>应对建议：</a:t>
                      </a:r>
                      <a:r>
                        <a:rPr lang="zh-CN" altLang="en-US" sz="2000" dirty="0">
                          <a:effectLst/>
                        </a:rPr>
                        <a:t>在过程数据记录表中增加：</a:t>
                      </a:r>
                    </a:p>
                    <a:p>
                      <a:r>
                        <a:rPr lang="zh-CN" altLang="en-US" sz="2000" dirty="0">
                          <a:effectLst/>
                        </a:rPr>
                        <a:t>数据验证栏</a:t>
                      </a:r>
                    </a:p>
                    <a:p>
                      <a:r>
                        <a:rPr lang="zh-CN" altLang="en-US" sz="2000" dirty="0">
                          <a:effectLst/>
                        </a:rPr>
                        <a:t>异常处理记录</a:t>
                      </a:r>
                    </a:p>
                    <a:p>
                      <a:r>
                        <a:rPr lang="zh-CN" altLang="en-US" sz="2000" dirty="0">
                          <a:effectLst/>
                        </a:rPr>
                        <a:t>趋势分析要求</a:t>
                      </a:r>
                    </a:p>
                    <a:p>
                      <a:r>
                        <a:rPr lang="zh-CN" altLang="en-US" sz="2000" dirty="0">
                          <a:effectLst/>
                        </a:rPr>
                        <a:t>在物料扭矩记录表中增加：</a:t>
                      </a:r>
                    </a:p>
                    <a:p>
                      <a:r>
                        <a:rPr lang="zh-CN" altLang="en-US" sz="2000" dirty="0">
                          <a:effectLst/>
                        </a:rPr>
                        <a:t>实际扭矩值记录</a:t>
                      </a:r>
                    </a:p>
                    <a:p>
                      <a:r>
                        <a:rPr lang="zh-CN" altLang="en-US" sz="2000" dirty="0">
                          <a:effectLst/>
                        </a:rPr>
                        <a:t>扭矩设备编号</a:t>
                      </a:r>
                    </a:p>
                    <a:p>
                      <a:r>
                        <a:rPr lang="zh-CN" altLang="en-US" sz="2000" dirty="0">
                          <a:effectLst/>
                        </a:rPr>
                        <a:t>操作人员签名</a:t>
                      </a:r>
                    </a:p>
                    <a:p>
                      <a:r>
                        <a:rPr lang="en-US" altLang="zh-CN" sz="2000" b="1" dirty="0">
                          <a:effectLst/>
                        </a:rPr>
                        <a:t>5. </a:t>
                      </a:r>
                      <a:r>
                        <a:rPr lang="zh-CN" altLang="en-US" sz="2000" b="1" dirty="0">
                          <a:effectLst/>
                        </a:rPr>
                        <a:t>质量体系符合性</a:t>
                      </a:r>
                    </a:p>
                    <a:p>
                      <a:r>
                        <a:rPr lang="zh-CN" altLang="en-US" sz="2000" b="1" dirty="0">
                          <a:effectLst/>
                        </a:rPr>
                        <a:t>✅ 通过项目：</a:t>
                      </a:r>
                      <a:r>
                        <a:rPr lang="en-US" altLang="zh-CN" sz="2000" dirty="0">
                          <a:effectLst/>
                        </a:rPr>
                        <a:t>APQP A</a:t>
                      </a:r>
                      <a:r>
                        <a:rPr lang="zh-CN" altLang="en-US" sz="2000" dirty="0">
                          <a:effectLst/>
                        </a:rPr>
                        <a:t>样阶段要求基本符合 ✓</a:t>
                      </a:r>
                    </a:p>
                    <a:p>
                      <a:r>
                        <a:rPr lang="zh-CN" altLang="en-US" sz="2000" dirty="0">
                          <a:effectLst/>
                        </a:rPr>
                        <a:t>特殊特性识别正确 ✓</a:t>
                      </a:r>
                    </a:p>
                    <a:p>
                      <a:r>
                        <a:rPr lang="zh-CN" altLang="en-US" sz="2000" b="1" dirty="0">
                          <a:effectLst/>
                        </a:rPr>
                        <a:t>❌ 不通过项目：</a:t>
                      </a:r>
                      <a:r>
                        <a:rPr lang="en-US" altLang="zh-CN" sz="2000" b="1" dirty="0">
                          <a:effectLst/>
                        </a:rPr>
                        <a:t>PPAP</a:t>
                      </a:r>
                      <a:r>
                        <a:rPr lang="zh-CN" altLang="en-US" sz="2000" b="1" dirty="0">
                          <a:effectLst/>
                        </a:rPr>
                        <a:t>要求</a:t>
                      </a:r>
                      <a:r>
                        <a:rPr lang="zh-CN" altLang="en-US" sz="2000" dirty="0">
                          <a:effectLst/>
                        </a:rPr>
                        <a:t>：缺少</a:t>
                      </a:r>
                      <a:r>
                        <a:rPr lang="en-US" altLang="zh-CN" sz="2000" dirty="0">
                          <a:effectLst/>
                        </a:rPr>
                        <a:t>PPAP</a:t>
                      </a:r>
                      <a:r>
                        <a:rPr lang="zh-CN" altLang="en-US" sz="2000" dirty="0">
                          <a:effectLst/>
                        </a:rPr>
                        <a:t>相关要求说明</a:t>
                      </a:r>
                    </a:p>
                    <a:p>
                      <a:r>
                        <a:rPr lang="zh-CN" altLang="en-US" sz="2000" b="1" dirty="0">
                          <a:effectLst/>
                        </a:rPr>
                        <a:t>设计验证</a:t>
                      </a:r>
                      <a:r>
                        <a:rPr lang="zh-CN" altLang="en-US" sz="2000" dirty="0">
                          <a:effectLst/>
                        </a:rPr>
                        <a:t>：缺少设计验证计划</a:t>
                      </a:r>
                    </a:p>
                    <a:p>
                      <a:r>
                        <a:rPr lang="zh-CN" altLang="en-US" sz="2000" b="1" dirty="0">
                          <a:effectLst/>
                        </a:rPr>
                        <a:t>供应商管理</a:t>
                      </a:r>
                      <a:r>
                        <a:rPr lang="zh-CN" altLang="en-US" sz="2000" dirty="0">
                          <a:effectLst/>
                        </a:rPr>
                        <a:t>：缺少供应商质量要求</a:t>
                      </a:r>
                    </a:p>
                    <a:p>
                      <a:r>
                        <a:rPr lang="zh-CN" altLang="en-US" sz="2000" b="1" dirty="0">
                          <a:effectLst/>
                        </a:rPr>
                        <a:t>应对建议：</a:t>
                      </a:r>
                      <a:r>
                        <a:rPr lang="zh-CN" altLang="en-US" sz="2000" dirty="0">
                          <a:effectLst/>
                        </a:rPr>
                        <a:t>补充</a:t>
                      </a:r>
                      <a:r>
                        <a:rPr lang="en-US" altLang="zh-CN" sz="2000" dirty="0">
                          <a:effectLst/>
                        </a:rPr>
                        <a:t>PPAP</a:t>
                      </a:r>
                      <a:r>
                        <a:rPr lang="zh-CN" altLang="en-US" sz="2000" dirty="0">
                          <a:effectLst/>
                        </a:rPr>
                        <a:t>要求说明</a:t>
                      </a:r>
                    </a:p>
                    <a:p>
                      <a:r>
                        <a:rPr lang="zh-CN" altLang="en-US" sz="2000" dirty="0">
                          <a:effectLst/>
                        </a:rPr>
                        <a:t>增加设计验证计划</a:t>
                      </a:r>
                    </a:p>
                    <a:p>
                      <a:r>
                        <a:rPr lang="zh-CN" altLang="en-US" sz="2000" dirty="0">
                          <a:effectLst/>
                        </a:rPr>
                        <a:t>明确供应商质量要求</a:t>
                      </a:r>
                      <a:endParaRPr lang="en-GB" sz="2000" dirty="0"/>
                    </a:p>
                  </a:txBody>
                  <a:tcPr/>
                </a:tc>
                <a:tc>
                  <a:txBody>
                    <a:bodyPr/>
                    <a:lstStyle/>
                    <a:p>
                      <a:r>
                        <a:rPr lang="zh-CN" altLang="en-US" sz="2000" b="1" dirty="0">
                          <a:effectLst/>
                        </a:rPr>
                        <a:t>评审结果：</a:t>
                      </a:r>
                      <a:endParaRPr lang="en-GB" altLang="zh-CN" sz="2000" b="1" dirty="0">
                        <a:effectLst/>
                      </a:endParaRPr>
                    </a:p>
                    <a:p>
                      <a:pPr marL="342900" indent="-342900">
                        <a:buFont typeface="Arial" panose="020B0604020202020204" pitchFamily="34" charset="0"/>
                        <a:buChar char="•"/>
                      </a:pPr>
                      <a:r>
                        <a:rPr lang="zh-CN" altLang="en-US" sz="2000" b="0" dirty="0">
                          <a:effectLst/>
                        </a:rPr>
                        <a:t>部分通过，需要改进</a:t>
                      </a:r>
                      <a:endParaRPr lang="en-GB" altLang="zh-CN" sz="2000" b="0" dirty="0">
                        <a:effectLst/>
                      </a:endParaRPr>
                    </a:p>
                    <a:p>
                      <a:r>
                        <a:rPr lang="zh-CN" altLang="en-US" sz="2000" b="1" dirty="0">
                          <a:effectLst/>
                        </a:rPr>
                        <a:t>主要问题优先级：高优先级</a:t>
                      </a:r>
                      <a:r>
                        <a:rPr lang="zh-CN" altLang="en-US" sz="2000" dirty="0">
                          <a:effectLst/>
                        </a:rPr>
                        <a:t>：</a:t>
                      </a:r>
                      <a:endParaRPr lang="en-GB" altLang="zh-CN" sz="2000" dirty="0">
                        <a:effectLst/>
                      </a:endParaRPr>
                    </a:p>
                    <a:p>
                      <a:pPr marL="342900" indent="-342900">
                        <a:buFont typeface="Arial" panose="020B0604020202020204" pitchFamily="34" charset="0"/>
                        <a:buChar char="•"/>
                      </a:pPr>
                      <a:r>
                        <a:rPr lang="zh-CN" altLang="en-US" sz="2000" dirty="0">
                          <a:effectLst/>
                        </a:rPr>
                        <a:t>顾客批准缺失、反应计划不完善</a:t>
                      </a:r>
                    </a:p>
                    <a:p>
                      <a:r>
                        <a:rPr lang="zh-CN" altLang="en-US" sz="2000" b="1" dirty="0">
                          <a:effectLst/>
                        </a:rPr>
                        <a:t>中优先级</a:t>
                      </a:r>
                      <a:r>
                        <a:rPr lang="zh-CN" altLang="en-US" sz="2000" dirty="0">
                          <a:effectLst/>
                        </a:rPr>
                        <a:t>：</a:t>
                      </a:r>
                      <a:endParaRPr lang="en-GB" altLang="zh-CN" sz="2000" dirty="0">
                        <a:effectLst/>
                      </a:endParaRPr>
                    </a:p>
                    <a:p>
                      <a:pPr marL="342900" indent="-342900">
                        <a:buFont typeface="Arial" panose="020B0604020202020204" pitchFamily="34" charset="0"/>
                        <a:buChar char="•"/>
                      </a:pPr>
                      <a:r>
                        <a:rPr lang="zh-CN" altLang="en-US" sz="2000" dirty="0">
                          <a:effectLst/>
                        </a:rPr>
                        <a:t>文件发放不完整、检验频率设置</a:t>
                      </a:r>
                    </a:p>
                    <a:p>
                      <a:r>
                        <a:rPr lang="zh-CN" altLang="en-US" sz="2000" b="1" dirty="0">
                          <a:effectLst/>
                        </a:rPr>
                        <a:t>低优先级</a:t>
                      </a:r>
                      <a:r>
                        <a:rPr lang="zh-CN" altLang="en-US" sz="2000" dirty="0">
                          <a:effectLst/>
                        </a:rPr>
                        <a:t>：</a:t>
                      </a:r>
                      <a:endParaRPr lang="en-GB" altLang="zh-CN" sz="2000" dirty="0">
                        <a:effectLst/>
                      </a:endParaRPr>
                    </a:p>
                    <a:p>
                      <a:pPr marL="342900" indent="-342900">
                        <a:buFont typeface="Arial" panose="020B0604020202020204" pitchFamily="34" charset="0"/>
                        <a:buChar char="•"/>
                      </a:pPr>
                      <a:r>
                        <a:rPr lang="zh-CN" altLang="en-US" sz="2000" dirty="0">
                          <a:effectLst/>
                        </a:rPr>
                        <a:t>附表格式优化、</a:t>
                      </a:r>
                      <a:r>
                        <a:rPr lang="en-US" altLang="zh-CN" sz="2000" dirty="0">
                          <a:effectLst/>
                        </a:rPr>
                        <a:t>PPAP</a:t>
                      </a:r>
                      <a:r>
                        <a:rPr lang="zh-CN" altLang="en-US" sz="2000" dirty="0">
                          <a:effectLst/>
                        </a:rPr>
                        <a:t>要求补充</a:t>
                      </a:r>
                    </a:p>
                    <a:p>
                      <a:r>
                        <a:rPr lang="zh-CN" altLang="en-US" sz="2000" b="1" dirty="0">
                          <a:effectLst/>
                        </a:rPr>
                        <a:t>建议行动时间表：</a:t>
                      </a:r>
                      <a:endParaRPr lang="en-GB" altLang="zh-CN" sz="2000" b="1" dirty="0">
                        <a:effectLst/>
                      </a:endParaRPr>
                    </a:p>
                    <a:p>
                      <a:pPr marL="342900" indent="-342900">
                        <a:buFont typeface="Arial" panose="020B0604020202020204" pitchFamily="34" charset="0"/>
                        <a:buChar char="•"/>
                      </a:pPr>
                      <a:r>
                        <a:rPr lang="zh-CN" altLang="en-US" sz="2000" dirty="0">
                          <a:effectLst/>
                        </a:rPr>
                        <a:t>立即行动（</a:t>
                      </a:r>
                      <a:r>
                        <a:rPr lang="en-US" altLang="zh-CN" sz="2000" dirty="0">
                          <a:effectLst/>
                        </a:rPr>
                        <a:t>1</a:t>
                      </a:r>
                      <a:r>
                        <a:rPr lang="zh-CN" altLang="en-US" sz="2000" dirty="0">
                          <a:effectLst/>
                        </a:rPr>
                        <a:t>周内）：获取顾客批准、完善反应计划</a:t>
                      </a:r>
                    </a:p>
                    <a:p>
                      <a:pPr marL="342900" indent="-342900">
                        <a:buFont typeface="Arial" panose="020B0604020202020204" pitchFamily="34" charset="0"/>
                        <a:buChar char="•"/>
                      </a:pPr>
                      <a:r>
                        <a:rPr lang="zh-CN" altLang="en-US" sz="2000" dirty="0">
                          <a:effectLst/>
                        </a:rPr>
                        <a:t>短期行动（</a:t>
                      </a:r>
                      <a:r>
                        <a:rPr lang="en-US" altLang="zh-CN" sz="2000" dirty="0">
                          <a:effectLst/>
                        </a:rPr>
                        <a:t>2</a:t>
                      </a:r>
                      <a:r>
                        <a:rPr lang="zh-CN" altLang="en-US" sz="2000" dirty="0">
                          <a:effectLst/>
                        </a:rPr>
                        <a:t>周内）：补充文件发放、优化检验频率</a:t>
                      </a:r>
                    </a:p>
                    <a:p>
                      <a:pPr marL="342900" indent="-342900">
                        <a:buFont typeface="Arial" panose="020B0604020202020204" pitchFamily="34" charset="0"/>
                        <a:buChar char="•"/>
                      </a:pPr>
                      <a:r>
                        <a:rPr lang="zh-CN" altLang="en-US" sz="2000" dirty="0">
                          <a:effectLst/>
                        </a:rPr>
                        <a:t>中期行动（</a:t>
                      </a:r>
                      <a:r>
                        <a:rPr lang="en-US" altLang="zh-CN" sz="2000" dirty="0">
                          <a:effectLst/>
                        </a:rPr>
                        <a:t>1</a:t>
                      </a:r>
                      <a:r>
                        <a:rPr lang="zh-CN" altLang="en-US" sz="2000" dirty="0">
                          <a:effectLst/>
                        </a:rPr>
                        <a:t>个月内）：完善附表、补充</a:t>
                      </a:r>
                      <a:r>
                        <a:rPr lang="en-US" altLang="zh-CN" sz="2000" dirty="0">
                          <a:effectLst/>
                        </a:rPr>
                        <a:t>PPAP</a:t>
                      </a:r>
                      <a:r>
                        <a:rPr lang="zh-CN" altLang="en-US" sz="2000" dirty="0">
                          <a:effectLst/>
                        </a:rPr>
                        <a:t>要求</a:t>
                      </a:r>
                    </a:p>
                    <a:p>
                      <a:r>
                        <a:rPr lang="zh-CN" altLang="en-US" sz="2000" b="1" dirty="0">
                          <a:effectLst/>
                        </a:rPr>
                        <a:t>风险评估：</a:t>
                      </a:r>
                      <a:endParaRPr lang="en-GB" altLang="zh-CN" sz="2000" b="1" dirty="0">
                        <a:effectLst/>
                      </a:endParaRPr>
                    </a:p>
                    <a:p>
                      <a:pPr marL="342900" indent="-342900">
                        <a:buFont typeface="Arial" panose="020B0604020202020204" pitchFamily="34" charset="0"/>
                        <a:buChar char="•"/>
                      </a:pPr>
                      <a:r>
                        <a:rPr lang="zh-CN" altLang="en-US" sz="2000" dirty="0">
                          <a:effectLst/>
                        </a:rPr>
                        <a:t>当前文件状态存在中等风险，主要风险点在于顾客批准缺失可能导致项目延期，反应计划不完善可能影响质量问题处理效率。建议在</a:t>
                      </a:r>
                      <a:r>
                        <a:rPr lang="en-US" altLang="zh-CN" sz="2000" dirty="0">
                          <a:effectLst/>
                        </a:rPr>
                        <a:t>B</a:t>
                      </a:r>
                      <a:r>
                        <a:rPr lang="zh-CN" altLang="en-US" sz="2000" dirty="0">
                          <a:effectLst/>
                        </a:rPr>
                        <a:t>样阶段前完成所有改进项目，确保控制计划的有效性和完整性。</a:t>
                      </a:r>
                      <a:endParaRPr lang="en-GB" sz="2000" dirty="0"/>
                    </a:p>
                  </a:txBody>
                  <a:tcPr/>
                </a:tc>
                <a:extLst>
                  <a:ext uri="{0D108BD9-81ED-4DB2-BD59-A6C34878D82A}">
                    <a16:rowId xmlns:a16="http://schemas.microsoft.com/office/drawing/2014/main" val="604853937"/>
                  </a:ext>
                </a:extLst>
              </a:tr>
            </a:tbl>
          </a:graphicData>
        </a:graphic>
      </p:graphicFrame>
    </p:spTree>
    <p:extLst>
      <p:ext uri="{BB962C8B-B14F-4D97-AF65-F5344CB8AC3E}">
        <p14:creationId xmlns:p14="http://schemas.microsoft.com/office/powerpoint/2010/main" val="1533063661"/>
      </p:ext>
    </p:extLst>
  </p:cSld>
  <p:clrMapOvr>
    <a:masterClrMapping/>
  </p:clrMapOvr>
  <p:transition spd="med"/>
  <p:extLst>
    <p:ext uri="{6950BFC3-D8DA-4A85-94F7-54DA5524770B}">
      <p188:commentRel xmlns:p188="http://schemas.microsoft.com/office/powerpoint/2018/8/main" r:id="rId2"/>
    </p:ext>
  </p:extLs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07FAED-7A6B-405C-2002-B5E95EC3D2EC}"/>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8ADB4195-1540-A146-E09A-1D200F1507BB}"/>
              </a:ext>
            </a:extLst>
          </p:cNvPr>
          <p:cNvSpPr txBox="1"/>
          <p:nvPr/>
        </p:nvSpPr>
        <p:spPr>
          <a:xfrm>
            <a:off x="1737559" y="755986"/>
            <a:ext cx="18402687" cy="646331"/>
          </a:xfrm>
          <a:prstGeom prst="rect">
            <a:avLst/>
          </a:prstGeom>
          <a:noFill/>
        </p:spPr>
        <p:txBody>
          <a:bodyPr wrap="square" numCol="1">
            <a:spAutoFit/>
          </a:bodyPr>
          <a:lstStyle/>
          <a:p>
            <a:pPr>
              <a:spcBef>
                <a:spcPts val="1500"/>
              </a:spcBef>
              <a:spcAft>
                <a:spcPts val="750"/>
              </a:spcAft>
              <a:buNone/>
            </a:pPr>
            <a:r>
              <a:rPr lang="en-US" altLang="zh-CN" sz="3600" b="1" dirty="0">
                <a:effectLst/>
              </a:rPr>
              <a:t>A</a:t>
            </a:r>
            <a:r>
              <a:rPr lang="zh-CN" altLang="en-US" sz="3600" b="1" dirty="0">
                <a:effectLst/>
              </a:rPr>
              <a:t>样阶段</a:t>
            </a:r>
            <a:r>
              <a:rPr lang="en-US" altLang="zh-CN" sz="3600" b="1" dirty="0"/>
              <a:t>《</a:t>
            </a:r>
            <a:r>
              <a:rPr lang="zh-CN" altLang="en-US" sz="3600" b="1" dirty="0"/>
              <a:t>副本</a:t>
            </a:r>
            <a:r>
              <a:rPr lang="en-US" altLang="zh-CN" sz="3600" b="1" dirty="0"/>
              <a:t>D221N44AA-1P104S</a:t>
            </a:r>
            <a:r>
              <a:rPr lang="zh-CN" altLang="en-US" sz="3600" b="1" dirty="0"/>
              <a:t>电池系统</a:t>
            </a:r>
            <a:r>
              <a:rPr lang="en-US" altLang="zh-CN" sz="3600" b="1" dirty="0"/>
              <a:t>PVV</a:t>
            </a:r>
            <a:r>
              <a:rPr lang="zh-CN" altLang="en-US" sz="3600" b="1" dirty="0"/>
              <a:t>验证计划</a:t>
            </a:r>
            <a:r>
              <a:rPr lang="en-US" altLang="zh-CN" sz="3600" b="1" dirty="0"/>
              <a:t>.xlsx》</a:t>
            </a:r>
            <a:r>
              <a:rPr lang="zh-CN" altLang="en-US" sz="3600" b="1" dirty="0">
                <a:effectLst/>
              </a:rPr>
              <a:t>审核报告</a:t>
            </a:r>
          </a:p>
        </p:txBody>
      </p:sp>
      <p:graphicFrame>
        <p:nvGraphicFramePr>
          <p:cNvPr id="2" name="表格 1">
            <a:extLst>
              <a:ext uri="{FF2B5EF4-FFF2-40B4-BE49-F238E27FC236}">
                <a16:creationId xmlns:a16="http://schemas.microsoft.com/office/drawing/2014/main" id="{2981D26B-6FF3-72AC-008B-958B4BA9C151}"/>
              </a:ext>
            </a:extLst>
          </p:cNvPr>
          <p:cNvGraphicFramePr>
            <a:graphicFrameLocks noGrp="1"/>
          </p:cNvGraphicFramePr>
          <p:nvPr>
            <p:extLst>
              <p:ext uri="{D42A27DB-BD31-4B8C-83A1-F6EECF244321}">
                <p14:modId xmlns:p14="http://schemas.microsoft.com/office/powerpoint/2010/main" val="2382672477"/>
              </p:ext>
            </p:extLst>
          </p:nvPr>
        </p:nvGraphicFramePr>
        <p:xfrm>
          <a:off x="662354" y="1738812"/>
          <a:ext cx="23059292" cy="11564184"/>
        </p:xfrm>
        <a:graphic>
          <a:graphicData uri="http://schemas.openxmlformats.org/drawingml/2006/table">
            <a:tbl>
              <a:tblPr firstRow="1" bandRow="1"/>
              <a:tblGrid>
                <a:gridCol w="5557972">
                  <a:extLst>
                    <a:ext uri="{9D8B030D-6E8A-4147-A177-3AD203B41FA5}">
                      <a16:colId xmlns:a16="http://schemas.microsoft.com/office/drawing/2014/main" val="520135011"/>
                    </a:ext>
                  </a:extLst>
                </a:gridCol>
                <a:gridCol w="6930190">
                  <a:extLst>
                    <a:ext uri="{9D8B030D-6E8A-4147-A177-3AD203B41FA5}">
                      <a16:colId xmlns:a16="http://schemas.microsoft.com/office/drawing/2014/main" val="585926975"/>
                    </a:ext>
                  </a:extLst>
                </a:gridCol>
                <a:gridCol w="4806307">
                  <a:extLst>
                    <a:ext uri="{9D8B030D-6E8A-4147-A177-3AD203B41FA5}">
                      <a16:colId xmlns:a16="http://schemas.microsoft.com/office/drawing/2014/main" val="3081416713"/>
                    </a:ext>
                  </a:extLst>
                </a:gridCol>
                <a:gridCol w="5764823">
                  <a:extLst>
                    <a:ext uri="{9D8B030D-6E8A-4147-A177-3AD203B41FA5}">
                      <a16:colId xmlns:a16="http://schemas.microsoft.com/office/drawing/2014/main" val="572010187"/>
                    </a:ext>
                  </a:extLst>
                </a:gridCol>
              </a:tblGrid>
              <a:tr h="901298">
                <a:tc rowSpan="2">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审查清单制定</a:t>
                      </a:r>
                    </a:p>
                  </a:txBody>
                  <a:tcPr anchor="ctr"/>
                </a:tc>
                <a:tc gridSpan="2">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逐项审核结果</a:t>
                      </a:r>
                    </a:p>
                  </a:txBody>
                  <a:tcPr anchor="ctr"/>
                </a:tc>
                <a:tc hMerge="1">
                  <a:txBody>
                    <a:bodyPr/>
                    <a:lstStyle/>
                    <a:p>
                      <a:pPr algn="ctr"/>
                      <a:endParaRPr lang="en-GB" sz="2000" dirty="0"/>
                    </a:p>
                  </a:txBody>
                  <a:tcPr/>
                </a:tc>
                <a:tc rowSpan="2">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总体评估</a:t>
                      </a:r>
                    </a:p>
                  </a:txBody>
                  <a:tcPr anchor="ctr"/>
                </a:tc>
                <a:extLst>
                  <a:ext uri="{0D108BD9-81ED-4DB2-BD59-A6C34878D82A}">
                    <a16:rowId xmlns:a16="http://schemas.microsoft.com/office/drawing/2014/main" val="2562292327"/>
                  </a:ext>
                </a:extLst>
              </a:tr>
              <a:tr h="513046">
                <a:tc vMerge="1">
                  <a:txBody>
                    <a:bodyPr/>
                    <a:lstStyle/>
                    <a:p>
                      <a:pPr algn="ctr"/>
                      <a:endParaRPr lang="en-GB" sz="2000" dirty="0"/>
                    </a:p>
                  </a:txBody>
                  <a:tcPr/>
                </a:tc>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000" b="1" dirty="0">
                          <a:effectLst/>
                        </a:rPr>
                        <a:t>✅通过项目</a:t>
                      </a:r>
                    </a:p>
                  </a:txBody>
                  <a:tcPr/>
                </a:tc>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000" b="1" dirty="0">
                          <a:effectLst/>
                        </a:rPr>
                        <a:t>❌ 不通过项目</a:t>
                      </a:r>
                    </a:p>
                  </a:txBody>
                  <a:tcPr/>
                </a:tc>
                <a:tc vMerge="1">
                  <a:txBody>
                    <a:bodyPr/>
                    <a:lstStyle/>
                    <a:p>
                      <a:endParaRPr dirty="0"/>
                    </a:p>
                  </a:txBody>
                  <a:tcPr/>
                </a:tc>
                <a:extLst>
                  <a:ext uri="{0D108BD9-81ED-4DB2-BD59-A6C34878D82A}">
                    <a16:rowId xmlns:a16="http://schemas.microsoft.com/office/drawing/2014/main" val="3862020771"/>
                  </a:ext>
                </a:extLst>
              </a:tr>
              <a:tr h="10086326">
                <a:tc>
                  <a:txBody>
                    <a:bodyPr/>
                    <a:lstStyle/>
                    <a:p>
                      <a:r>
                        <a:rPr lang="zh-CN" altLang="en-US" sz="2000" b="1" i="0" kern="1200" dirty="0">
                          <a:solidFill>
                            <a:schemeClr val="tx1"/>
                          </a:solidFill>
                          <a:effectLst/>
                          <a:latin typeface="+mn-lt"/>
                          <a:ea typeface="+mn-ea"/>
                          <a:cs typeface="+mn-cs"/>
                        </a:rPr>
                        <a:t>项目基本信息完整性：</a:t>
                      </a:r>
                      <a:r>
                        <a:rPr lang="zh-CN" altLang="en-US" sz="2000" b="0" i="0" kern="1200" dirty="0">
                          <a:solidFill>
                            <a:schemeClr val="tx1"/>
                          </a:solidFill>
                          <a:effectLst/>
                          <a:latin typeface="+mn-lt"/>
                          <a:ea typeface="+mn-ea"/>
                          <a:cs typeface="+mn-cs"/>
                        </a:rPr>
                        <a:t>项目名称、产品名称、版本、负责人、日期等基础信息是否齐全。</a:t>
                      </a:r>
                    </a:p>
                    <a:p>
                      <a:r>
                        <a:rPr lang="zh-CN" altLang="en-US" sz="2000" b="1" i="0" kern="1200" dirty="0">
                          <a:solidFill>
                            <a:schemeClr val="tx1"/>
                          </a:solidFill>
                          <a:effectLst/>
                          <a:latin typeface="+mn-lt"/>
                          <a:ea typeface="+mn-ea"/>
                          <a:cs typeface="+mn-cs"/>
                        </a:rPr>
                        <a:t>实验</a:t>
                      </a:r>
                      <a:r>
                        <a:rPr lang="en-US" altLang="zh-CN" sz="2000" b="1" i="0" kern="1200" dirty="0">
                          <a:solidFill>
                            <a:schemeClr val="tx1"/>
                          </a:solidFill>
                          <a:effectLst/>
                          <a:latin typeface="+mn-lt"/>
                          <a:ea typeface="+mn-ea"/>
                          <a:cs typeface="+mn-cs"/>
                        </a:rPr>
                        <a:t>/</a:t>
                      </a:r>
                      <a:r>
                        <a:rPr lang="zh-CN" altLang="en-US" sz="2000" b="1" i="0" kern="1200" dirty="0">
                          <a:solidFill>
                            <a:schemeClr val="tx1"/>
                          </a:solidFill>
                          <a:effectLst/>
                          <a:latin typeface="+mn-lt"/>
                          <a:ea typeface="+mn-ea"/>
                          <a:cs typeface="+mn-cs"/>
                        </a:rPr>
                        <a:t>验证项目定义：</a:t>
                      </a:r>
                      <a:r>
                        <a:rPr lang="zh-CN" altLang="en-US" sz="2000" b="0" i="0" kern="1200" dirty="0">
                          <a:solidFill>
                            <a:schemeClr val="tx1"/>
                          </a:solidFill>
                          <a:effectLst/>
                          <a:latin typeface="+mn-lt"/>
                          <a:ea typeface="+mn-ea"/>
                          <a:cs typeface="+mn-cs"/>
                        </a:rPr>
                        <a:t>各项实验</a:t>
                      </a:r>
                      <a:r>
                        <a:rPr lang="en-US" altLang="zh-CN" sz="2000" b="0" i="0" kern="1200" dirty="0">
                          <a:solidFill>
                            <a:schemeClr val="tx1"/>
                          </a:solidFill>
                          <a:effectLst/>
                          <a:latin typeface="+mn-lt"/>
                          <a:ea typeface="+mn-ea"/>
                          <a:cs typeface="+mn-cs"/>
                        </a:rPr>
                        <a:t>/</a:t>
                      </a:r>
                      <a:r>
                        <a:rPr lang="zh-CN" altLang="en-US" sz="2000" b="0" i="0" kern="1200" dirty="0">
                          <a:solidFill>
                            <a:schemeClr val="tx1"/>
                          </a:solidFill>
                          <a:effectLst/>
                          <a:latin typeface="+mn-lt"/>
                          <a:ea typeface="+mn-ea"/>
                          <a:cs typeface="+mn-cs"/>
                        </a:rPr>
                        <a:t>验证内容是否明确、具体，覆盖所有关键工艺和产品特性。</a:t>
                      </a:r>
                    </a:p>
                    <a:p>
                      <a:r>
                        <a:rPr lang="zh-CN" altLang="en-US" sz="2000" b="1" i="0" kern="1200" dirty="0">
                          <a:solidFill>
                            <a:schemeClr val="tx1"/>
                          </a:solidFill>
                          <a:effectLst/>
                          <a:latin typeface="+mn-lt"/>
                          <a:ea typeface="+mn-ea"/>
                          <a:cs typeface="+mn-cs"/>
                        </a:rPr>
                        <a:t>实验方案与优先级：</a:t>
                      </a:r>
                      <a:r>
                        <a:rPr lang="zh-CN" altLang="en-US" sz="2000" b="0" i="0" kern="1200" dirty="0">
                          <a:solidFill>
                            <a:schemeClr val="tx1"/>
                          </a:solidFill>
                          <a:effectLst/>
                          <a:latin typeface="+mn-lt"/>
                          <a:ea typeface="+mn-ea"/>
                          <a:cs typeface="+mn-cs"/>
                        </a:rPr>
                        <a:t>实验方案描述是否详实，优先级排序是否合理，是否有风险评估。</a:t>
                      </a:r>
                    </a:p>
                    <a:p>
                      <a:r>
                        <a:rPr lang="zh-CN" altLang="en-US" sz="2000" b="1" i="0" kern="1200" dirty="0">
                          <a:solidFill>
                            <a:schemeClr val="tx1"/>
                          </a:solidFill>
                          <a:effectLst/>
                          <a:latin typeface="+mn-lt"/>
                          <a:ea typeface="+mn-ea"/>
                          <a:cs typeface="+mn-cs"/>
                        </a:rPr>
                        <a:t>材料</a:t>
                      </a:r>
                      <a:r>
                        <a:rPr lang="en-US" altLang="zh-CN" sz="2000" b="1" i="0" kern="1200" dirty="0">
                          <a:solidFill>
                            <a:schemeClr val="tx1"/>
                          </a:solidFill>
                          <a:effectLst/>
                          <a:latin typeface="+mn-lt"/>
                          <a:ea typeface="+mn-ea"/>
                          <a:cs typeface="+mn-cs"/>
                        </a:rPr>
                        <a:t>/</a:t>
                      </a:r>
                      <a:r>
                        <a:rPr lang="zh-CN" altLang="en-US" sz="2000" b="1" i="0" kern="1200" dirty="0">
                          <a:solidFill>
                            <a:schemeClr val="tx1"/>
                          </a:solidFill>
                          <a:effectLst/>
                          <a:latin typeface="+mn-lt"/>
                          <a:ea typeface="+mn-ea"/>
                          <a:cs typeface="+mn-cs"/>
                        </a:rPr>
                        <a:t>样件准备：</a:t>
                      </a:r>
                      <a:r>
                        <a:rPr lang="zh-CN" altLang="en-US" sz="2000" b="0" i="0" kern="1200" dirty="0">
                          <a:solidFill>
                            <a:schemeClr val="tx1"/>
                          </a:solidFill>
                          <a:effectLst/>
                          <a:latin typeface="+mn-lt"/>
                          <a:ea typeface="+mn-ea"/>
                          <a:cs typeface="+mn-cs"/>
                        </a:rPr>
                        <a:t>材料、样件、数量、规格等是否明确，是否有供应商</a:t>
                      </a:r>
                      <a:r>
                        <a:rPr lang="en-US" altLang="zh-CN" sz="2000" b="0" i="0" kern="1200" dirty="0">
                          <a:solidFill>
                            <a:schemeClr val="tx1"/>
                          </a:solidFill>
                          <a:effectLst/>
                          <a:latin typeface="+mn-lt"/>
                          <a:ea typeface="+mn-ea"/>
                          <a:cs typeface="+mn-cs"/>
                        </a:rPr>
                        <a:t>/</a:t>
                      </a:r>
                      <a:r>
                        <a:rPr lang="zh-CN" altLang="en-US" sz="2000" b="0" i="0" kern="1200" dirty="0">
                          <a:solidFill>
                            <a:schemeClr val="tx1"/>
                          </a:solidFill>
                          <a:effectLst/>
                          <a:latin typeface="+mn-lt"/>
                          <a:ea typeface="+mn-ea"/>
                          <a:cs typeface="+mn-cs"/>
                        </a:rPr>
                        <a:t>来源信息。</a:t>
                      </a:r>
                    </a:p>
                    <a:p>
                      <a:r>
                        <a:rPr lang="zh-CN" altLang="en-US" sz="2000" b="1" i="0" kern="1200" dirty="0">
                          <a:solidFill>
                            <a:schemeClr val="tx1"/>
                          </a:solidFill>
                          <a:effectLst/>
                          <a:latin typeface="+mn-lt"/>
                          <a:ea typeface="+mn-ea"/>
                          <a:cs typeface="+mn-cs"/>
                        </a:rPr>
                        <a:t>设备与工装准备：</a:t>
                      </a:r>
                      <a:r>
                        <a:rPr lang="zh-CN" altLang="en-US" sz="2000" b="0" i="0" kern="1200" dirty="0">
                          <a:solidFill>
                            <a:schemeClr val="tx1"/>
                          </a:solidFill>
                          <a:effectLst/>
                          <a:latin typeface="+mn-lt"/>
                          <a:ea typeface="+mn-ea"/>
                          <a:cs typeface="+mn-cs"/>
                        </a:rPr>
                        <a:t>所需设备、工装、工具是否列明，准备周期是否合理。</a:t>
                      </a:r>
                    </a:p>
                    <a:p>
                      <a:r>
                        <a:rPr lang="zh-CN" altLang="en-US" sz="2000" b="1" i="0" kern="1200" dirty="0">
                          <a:solidFill>
                            <a:schemeClr val="tx1"/>
                          </a:solidFill>
                          <a:effectLst/>
                          <a:latin typeface="+mn-lt"/>
                          <a:ea typeface="+mn-ea"/>
                          <a:cs typeface="+mn-cs"/>
                        </a:rPr>
                        <a:t>人员与职责分工：</a:t>
                      </a:r>
                      <a:r>
                        <a:rPr lang="zh-CN" altLang="en-US" sz="2000" b="0" i="0" kern="1200" dirty="0">
                          <a:solidFill>
                            <a:schemeClr val="tx1"/>
                          </a:solidFill>
                          <a:effectLst/>
                          <a:latin typeface="+mn-lt"/>
                          <a:ea typeface="+mn-ea"/>
                          <a:cs typeface="+mn-cs"/>
                        </a:rPr>
                        <a:t>参与人员、职责分工是否清晰，是否有负责人。</a:t>
                      </a:r>
                    </a:p>
                    <a:p>
                      <a:r>
                        <a:rPr lang="zh-CN" altLang="en-US" sz="2000" b="1" i="0" kern="1200" dirty="0">
                          <a:solidFill>
                            <a:schemeClr val="tx1"/>
                          </a:solidFill>
                          <a:effectLst/>
                          <a:latin typeface="+mn-lt"/>
                          <a:ea typeface="+mn-ea"/>
                          <a:cs typeface="+mn-cs"/>
                        </a:rPr>
                        <a:t>时间计划与进度：</a:t>
                      </a:r>
                      <a:r>
                        <a:rPr lang="zh-CN" altLang="en-US" sz="2000" b="0" i="0" kern="1200" dirty="0">
                          <a:solidFill>
                            <a:schemeClr val="tx1"/>
                          </a:solidFill>
                          <a:effectLst/>
                          <a:latin typeface="+mn-lt"/>
                          <a:ea typeface="+mn-ea"/>
                          <a:cs typeface="+mn-cs"/>
                        </a:rPr>
                        <a:t>计划完成时间、实际完成时间、工时估算等是否明确，是否有进度跟踪机制。</a:t>
                      </a:r>
                    </a:p>
                    <a:p>
                      <a:r>
                        <a:rPr lang="zh-CN" altLang="en-US" sz="2000" b="1" i="0" kern="1200" dirty="0">
                          <a:solidFill>
                            <a:schemeClr val="tx1"/>
                          </a:solidFill>
                          <a:effectLst/>
                          <a:latin typeface="+mn-lt"/>
                          <a:ea typeface="+mn-ea"/>
                          <a:cs typeface="+mn-cs"/>
                        </a:rPr>
                        <a:t>技术状态与风险：</a:t>
                      </a:r>
                      <a:r>
                        <a:rPr lang="zh-CN" altLang="en-US" sz="2000" b="0" i="0" kern="1200" dirty="0">
                          <a:solidFill>
                            <a:schemeClr val="tx1"/>
                          </a:solidFill>
                          <a:effectLst/>
                          <a:latin typeface="+mn-lt"/>
                          <a:ea typeface="+mn-ea"/>
                          <a:cs typeface="+mn-cs"/>
                        </a:rPr>
                        <a:t>技术状态描述是否准确，是否识别并记录了关键风险点及应对措施。</a:t>
                      </a:r>
                    </a:p>
                    <a:p>
                      <a:r>
                        <a:rPr lang="zh-CN" altLang="en-US" sz="2000" b="1" i="0" kern="1200" dirty="0">
                          <a:solidFill>
                            <a:schemeClr val="tx1"/>
                          </a:solidFill>
                          <a:effectLst/>
                          <a:latin typeface="+mn-lt"/>
                          <a:ea typeface="+mn-ea"/>
                          <a:cs typeface="+mn-cs"/>
                        </a:rPr>
                        <a:t>验证结果与判定：</a:t>
                      </a:r>
                      <a:r>
                        <a:rPr lang="zh-CN" altLang="en-US" sz="2000" b="0" i="0" kern="1200" dirty="0">
                          <a:solidFill>
                            <a:schemeClr val="tx1"/>
                          </a:solidFill>
                          <a:effectLst/>
                          <a:latin typeface="+mn-lt"/>
                          <a:ea typeface="+mn-ea"/>
                          <a:cs typeface="+mn-cs"/>
                        </a:rPr>
                        <a:t>验证结果记录方式是否明确，是否有判定标准和报告要求。</a:t>
                      </a:r>
                    </a:p>
                    <a:p>
                      <a:r>
                        <a:rPr lang="zh-CN" altLang="en-US" sz="2000" b="1" i="0" kern="1200" dirty="0">
                          <a:solidFill>
                            <a:schemeClr val="tx1"/>
                          </a:solidFill>
                          <a:effectLst/>
                          <a:latin typeface="+mn-lt"/>
                          <a:ea typeface="+mn-ea"/>
                          <a:cs typeface="+mn-cs"/>
                        </a:rPr>
                        <a:t>过程设计与开发阶段关联：</a:t>
                      </a:r>
                      <a:r>
                        <a:rPr lang="zh-CN" altLang="en-US" sz="2000" b="0" i="0" kern="1200" dirty="0">
                          <a:solidFill>
                            <a:schemeClr val="tx1"/>
                          </a:solidFill>
                          <a:effectLst/>
                          <a:latin typeface="+mn-lt"/>
                          <a:ea typeface="+mn-ea"/>
                          <a:cs typeface="+mn-cs"/>
                        </a:rPr>
                        <a:t>验证活动是否与设计</a:t>
                      </a:r>
                      <a:r>
                        <a:rPr lang="en-US" altLang="zh-CN" sz="2000" b="0" i="0" kern="1200" dirty="0">
                          <a:solidFill>
                            <a:schemeClr val="tx1"/>
                          </a:solidFill>
                          <a:effectLst/>
                          <a:latin typeface="+mn-lt"/>
                          <a:ea typeface="+mn-ea"/>
                          <a:cs typeface="+mn-cs"/>
                        </a:rPr>
                        <a:t>/</a:t>
                      </a:r>
                      <a:r>
                        <a:rPr lang="zh-CN" altLang="en-US" sz="2000" b="0" i="0" kern="1200" dirty="0">
                          <a:solidFill>
                            <a:schemeClr val="tx1"/>
                          </a:solidFill>
                          <a:effectLst/>
                          <a:latin typeface="+mn-lt"/>
                          <a:ea typeface="+mn-ea"/>
                          <a:cs typeface="+mn-cs"/>
                        </a:rPr>
                        <a:t>开发阶段挂钩，是否有阶段性里程碑。</a:t>
                      </a:r>
                    </a:p>
                    <a:p>
                      <a:r>
                        <a:rPr lang="en-US" altLang="zh-CN" sz="2000" b="1" i="0" kern="1200" dirty="0">
                          <a:solidFill>
                            <a:schemeClr val="tx1"/>
                          </a:solidFill>
                          <a:effectLst/>
                          <a:latin typeface="+mn-lt"/>
                          <a:ea typeface="+mn-ea"/>
                          <a:cs typeface="+mn-cs"/>
                        </a:rPr>
                        <a:t>PPAP/</a:t>
                      </a:r>
                      <a:r>
                        <a:rPr lang="zh-CN" altLang="en-US" sz="2000" b="1" i="0" kern="1200" dirty="0">
                          <a:solidFill>
                            <a:schemeClr val="tx1"/>
                          </a:solidFill>
                          <a:effectLst/>
                          <a:latin typeface="+mn-lt"/>
                          <a:ea typeface="+mn-ea"/>
                          <a:cs typeface="+mn-cs"/>
                        </a:rPr>
                        <a:t>质量门（</a:t>
                      </a:r>
                      <a:r>
                        <a:rPr lang="en-US" altLang="zh-CN" sz="2000" b="1" i="0" kern="1200" dirty="0">
                          <a:solidFill>
                            <a:schemeClr val="tx1"/>
                          </a:solidFill>
                          <a:effectLst/>
                          <a:latin typeface="+mn-lt"/>
                          <a:ea typeface="+mn-ea"/>
                          <a:cs typeface="+mn-cs"/>
                        </a:rPr>
                        <a:t>Gate</a:t>
                      </a:r>
                      <a:r>
                        <a:rPr lang="zh-CN" altLang="en-US" sz="2000" b="1" i="0" kern="1200" dirty="0">
                          <a:solidFill>
                            <a:schemeClr val="tx1"/>
                          </a:solidFill>
                          <a:effectLst/>
                          <a:latin typeface="+mn-lt"/>
                          <a:ea typeface="+mn-ea"/>
                          <a:cs typeface="+mn-cs"/>
                        </a:rPr>
                        <a:t>）要求：</a:t>
                      </a:r>
                      <a:r>
                        <a:rPr lang="zh-CN" altLang="en-US" sz="2000" b="0" i="0" kern="1200" dirty="0">
                          <a:solidFill>
                            <a:schemeClr val="tx1"/>
                          </a:solidFill>
                          <a:effectLst/>
                          <a:latin typeface="+mn-lt"/>
                          <a:ea typeface="+mn-ea"/>
                          <a:cs typeface="+mn-cs"/>
                        </a:rPr>
                        <a:t>是否明确</a:t>
                      </a:r>
                      <a:r>
                        <a:rPr lang="en-US" altLang="zh-CN" sz="2000" b="0" i="0" kern="1200" dirty="0">
                          <a:solidFill>
                            <a:schemeClr val="tx1"/>
                          </a:solidFill>
                          <a:effectLst/>
                          <a:latin typeface="+mn-lt"/>
                          <a:ea typeface="+mn-ea"/>
                          <a:cs typeface="+mn-cs"/>
                        </a:rPr>
                        <a:t>PPAP</a:t>
                      </a:r>
                      <a:r>
                        <a:rPr lang="zh-CN" altLang="en-US" sz="2000" b="0" i="0" kern="1200" dirty="0">
                          <a:solidFill>
                            <a:schemeClr val="tx1"/>
                          </a:solidFill>
                          <a:effectLst/>
                          <a:latin typeface="+mn-lt"/>
                          <a:ea typeface="+mn-ea"/>
                          <a:cs typeface="+mn-cs"/>
                        </a:rPr>
                        <a:t>要求，是否与</a:t>
                      </a:r>
                      <a:r>
                        <a:rPr lang="en-US" altLang="zh-CN" sz="2000" b="0" i="0" kern="1200" dirty="0">
                          <a:solidFill>
                            <a:schemeClr val="tx1"/>
                          </a:solidFill>
                          <a:effectLst/>
                          <a:latin typeface="+mn-lt"/>
                          <a:ea typeface="+mn-ea"/>
                          <a:cs typeface="+mn-cs"/>
                        </a:rPr>
                        <a:t>APQP</a:t>
                      </a:r>
                      <a:r>
                        <a:rPr lang="zh-CN" altLang="en-US" sz="2000" b="0" i="0" kern="1200" dirty="0">
                          <a:solidFill>
                            <a:schemeClr val="tx1"/>
                          </a:solidFill>
                          <a:effectLst/>
                          <a:latin typeface="+mn-lt"/>
                          <a:ea typeface="+mn-ea"/>
                          <a:cs typeface="+mn-cs"/>
                        </a:rPr>
                        <a:t>各阶段质量门（</a:t>
                      </a:r>
                      <a:r>
                        <a:rPr lang="en-US" altLang="zh-CN" sz="2000" b="0" i="0" kern="1200" dirty="0">
                          <a:solidFill>
                            <a:schemeClr val="tx1"/>
                          </a:solidFill>
                          <a:effectLst/>
                          <a:latin typeface="+mn-lt"/>
                          <a:ea typeface="+mn-ea"/>
                          <a:cs typeface="+mn-cs"/>
                        </a:rPr>
                        <a:t>Gate 1-5</a:t>
                      </a:r>
                      <a:r>
                        <a:rPr lang="zh-CN" altLang="en-US" sz="2000" b="0" i="0" kern="1200" dirty="0">
                          <a:solidFill>
                            <a:schemeClr val="tx1"/>
                          </a:solidFill>
                          <a:effectLst/>
                          <a:latin typeface="+mn-lt"/>
                          <a:ea typeface="+mn-ea"/>
                          <a:cs typeface="+mn-cs"/>
                        </a:rPr>
                        <a:t>）对应。</a:t>
                      </a:r>
                    </a:p>
                    <a:p>
                      <a:r>
                        <a:rPr lang="zh-CN" altLang="en-US" sz="2000" b="1" i="0" kern="1200" dirty="0">
                          <a:solidFill>
                            <a:schemeClr val="tx1"/>
                          </a:solidFill>
                          <a:effectLst/>
                          <a:latin typeface="+mn-lt"/>
                          <a:ea typeface="+mn-ea"/>
                          <a:cs typeface="+mn-cs"/>
                        </a:rPr>
                        <a:t>文档规范性与可追溯性：</a:t>
                      </a:r>
                      <a:r>
                        <a:rPr lang="zh-CN" altLang="en-US" sz="2000" b="0" i="0" kern="1200" dirty="0">
                          <a:solidFill>
                            <a:schemeClr val="tx1"/>
                          </a:solidFill>
                          <a:effectLst/>
                          <a:latin typeface="+mn-lt"/>
                          <a:ea typeface="+mn-ea"/>
                          <a:cs typeface="+mn-cs"/>
                        </a:rPr>
                        <a:t>文档格式、编号、版本、修订记录等是否规范，内容是否可追溯。</a:t>
                      </a:r>
                    </a:p>
                    <a:p>
                      <a:r>
                        <a:rPr lang="zh-CN" altLang="en-US" sz="2000" b="1" i="0" kern="1200" dirty="0">
                          <a:solidFill>
                            <a:schemeClr val="tx1"/>
                          </a:solidFill>
                          <a:effectLst/>
                          <a:latin typeface="+mn-lt"/>
                          <a:ea typeface="+mn-ea"/>
                          <a:cs typeface="+mn-cs"/>
                        </a:rPr>
                        <a:t>图片</a:t>
                      </a:r>
                      <a:r>
                        <a:rPr lang="en-US" altLang="zh-CN" sz="2000" b="1" i="0" kern="1200" dirty="0">
                          <a:solidFill>
                            <a:schemeClr val="tx1"/>
                          </a:solidFill>
                          <a:effectLst/>
                          <a:latin typeface="+mn-lt"/>
                          <a:ea typeface="+mn-ea"/>
                          <a:cs typeface="+mn-cs"/>
                        </a:rPr>
                        <a:t>/</a:t>
                      </a:r>
                      <a:r>
                        <a:rPr lang="zh-CN" altLang="en-US" sz="2000" b="1" i="0" kern="1200" dirty="0">
                          <a:solidFill>
                            <a:schemeClr val="tx1"/>
                          </a:solidFill>
                          <a:effectLst/>
                          <a:latin typeface="+mn-lt"/>
                          <a:ea typeface="+mn-ea"/>
                          <a:cs typeface="+mn-cs"/>
                        </a:rPr>
                        <a:t>图纸</a:t>
                      </a:r>
                      <a:r>
                        <a:rPr lang="en-US" altLang="zh-CN" sz="2000" b="1" i="0" kern="1200" dirty="0">
                          <a:solidFill>
                            <a:schemeClr val="tx1"/>
                          </a:solidFill>
                          <a:effectLst/>
                          <a:latin typeface="+mn-lt"/>
                          <a:ea typeface="+mn-ea"/>
                          <a:cs typeface="+mn-cs"/>
                        </a:rPr>
                        <a:t>/</a:t>
                      </a:r>
                      <a:r>
                        <a:rPr lang="zh-CN" altLang="en-US" sz="2000" b="1" i="0" kern="1200" dirty="0">
                          <a:solidFill>
                            <a:schemeClr val="tx1"/>
                          </a:solidFill>
                          <a:effectLst/>
                          <a:latin typeface="+mn-lt"/>
                          <a:ea typeface="+mn-ea"/>
                          <a:cs typeface="+mn-cs"/>
                        </a:rPr>
                        <a:t>数据支持：</a:t>
                      </a:r>
                      <a:r>
                        <a:rPr lang="zh-CN" altLang="en-US" sz="2000" b="0" i="0" kern="1200" dirty="0">
                          <a:solidFill>
                            <a:schemeClr val="tx1"/>
                          </a:solidFill>
                          <a:effectLst/>
                          <a:latin typeface="+mn-lt"/>
                          <a:ea typeface="+mn-ea"/>
                          <a:cs typeface="+mn-cs"/>
                        </a:rPr>
                        <a:t>是否有必要的图片、图纸、数据等支撑材料，且清晰、可读。</a:t>
                      </a:r>
                    </a:p>
                    <a:p>
                      <a:r>
                        <a:rPr lang="zh-CN" altLang="en-US" sz="2000" b="1" i="0" kern="1200" dirty="0">
                          <a:solidFill>
                            <a:schemeClr val="tx1"/>
                          </a:solidFill>
                          <a:effectLst/>
                          <a:latin typeface="+mn-lt"/>
                          <a:ea typeface="+mn-ea"/>
                          <a:cs typeface="+mn-cs"/>
                        </a:rPr>
                        <a:t>备注与特殊要求：</a:t>
                      </a:r>
                      <a:r>
                        <a:rPr lang="zh-CN" altLang="en-US" sz="2000" b="0" i="0" kern="1200" dirty="0">
                          <a:solidFill>
                            <a:schemeClr val="tx1"/>
                          </a:solidFill>
                          <a:effectLst/>
                          <a:latin typeface="+mn-lt"/>
                          <a:ea typeface="+mn-ea"/>
                          <a:cs typeface="+mn-cs"/>
                        </a:rPr>
                        <a:t>是否有特殊说明、备注，是否对异常情况有应对预案。</a:t>
                      </a:r>
                    </a:p>
                    <a:p>
                      <a:pPr>
                        <a:spcBef>
                          <a:spcPts val="1200"/>
                        </a:spcBef>
                        <a:spcAft>
                          <a:spcPts val="600"/>
                        </a:spcAft>
                        <a:buNone/>
                      </a:pPr>
                      <a:endParaRPr lang="en-GB" sz="2000" dirty="0"/>
                    </a:p>
                  </a:txBody>
                  <a:tcPr/>
                </a:tc>
                <a:tc>
                  <a:txBody>
                    <a:bodyPr/>
                    <a:lstStyle/>
                    <a:p>
                      <a:r>
                        <a:rPr lang="en-US" altLang="zh-CN" sz="2000" b="1" dirty="0">
                          <a:effectLst/>
                        </a:rPr>
                        <a:t>1. </a:t>
                      </a:r>
                      <a:r>
                        <a:rPr lang="zh-CN" altLang="en-US" sz="2000" b="1" dirty="0">
                          <a:effectLst/>
                        </a:rPr>
                        <a:t>项目基本信息完整性</a:t>
                      </a:r>
                    </a:p>
                    <a:p>
                      <a:r>
                        <a:rPr lang="zh-CN" altLang="en-US" sz="2000" dirty="0">
                          <a:effectLst/>
                        </a:rPr>
                        <a:t>评审结果：通过</a:t>
                      </a:r>
                      <a:r>
                        <a:rPr lang="zh-CN" altLang="en-US" sz="2000" b="1" dirty="0">
                          <a:effectLst/>
                        </a:rPr>
                        <a:t>✅</a:t>
                      </a:r>
                      <a:endParaRPr lang="zh-CN" altLang="en-US" sz="2000" dirty="0">
                        <a:effectLst/>
                      </a:endParaRPr>
                    </a:p>
                    <a:p>
                      <a:r>
                        <a:rPr lang="zh-CN" altLang="en-US" sz="2000" dirty="0">
                          <a:effectLst/>
                        </a:rPr>
                        <a:t>说明：文件首部包含项目编号、产品名称、产品经理等基本信息，符合</a:t>
                      </a:r>
                      <a:r>
                        <a:rPr lang="en-US" altLang="zh-CN" sz="2000" dirty="0">
                          <a:effectLst/>
                        </a:rPr>
                        <a:t>APQP</a:t>
                      </a:r>
                      <a:r>
                        <a:rPr lang="zh-CN" altLang="en-US" sz="2000" dirty="0">
                          <a:effectLst/>
                        </a:rPr>
                        <a:t>要求。</a:t>
                      </a:r>
                    </a:p>
                    <a:p>
                      <a:r>
                        <a:rPr lang="en-US" altLang="zh-CN" sz="2000" b="1" dirty="0">
                          <a:effectLst/>
                        </a:rPr>
                        <a:t>2. </a:t>
                      </a:r>
                      <a:r>
                        <a:rPr lang="zh-CN" altLang="en-US" sz="2000" b="1" dirty="0">
                          <a:effectLst/>
                        </a:rPr>
                        <a:t>实验</a:t>
                      </a:r>
                      <a:r>
                        <a:rPr lang="en-US" altLang="zh-CN" sz="2000" b="1" dirty="0">
                          <a:effectLst/>
                        </a:rPr>
                        <a:t>/</a:t>
                      </a:r>
                      <a:r>
                        <a:rPr lang="zh-CN" altLang="en-US" sz="2000" b="1" dirty="0">
                          <a:effectLst/>
                        </a:rPr>
                        <a:t>验证项目定义</a:t>
                      </a:r>
                    </a:p>
                    <a:p>
                      <a:r>
                        <a:rPr lang="zh-CN" altLang="en-US" sz="2000" dirty="0">
                          <a:effectLst/>
                        </a:rPr>
                        <a:t>评审结果：通过</a:t>
                      </a:r>
                      <a:r>
                        <a:rPr lang="zh-CN" altLang="en-US" sz="2000" b="1" dirty="0">
                          <a:effectLst/>
                        </a:rPr>
                        <a:t>✅</a:t>
                      </a:r>
                      <a:endParaRPr lang="zh-CN" altLang="en-US" sz="2000" dirty="0">
                        <a:effectLst/>
                      </a:endParaRPr>
                    </a:p>
                    <a:p>
                      <a:r>
                        <a:rPr lang="zh-CN" altLang="en-US" sz="2000" dirty="0">
                          <a:effectLst/>
                        </a:rPr>
                        <a:t>说明：每一行均有明确的实验名称和目标描述，覆盖结构胶、密封胶等关键工艺。</a:t>
                      </a:r>
                    </a:p>
                    <a:p>
                      <a:r>
                        <a:rPr lang="en-US" altLang="zh-CN" sz="2000" b="1" dirty="0">
                          <a:effectLst/>
                        </a:rPr>
                        <a:t>3. </a:t>
                      </a:r>
                      <a:r>
                        <a:rPr lang="zh-CN" altLang="en-US" sz="2000" b="1" dirty="0">
                          <a:effectLst/>
                        </a:rPr>
                        <a:t>实验方案与优先级</a:t>
                      </a:r>
                    </a:p>
                    <a:p>
                      <a:r>
                        <a:rPr lang="zh-CN" altLang="en-US" sz="2000" dirty="0">
                          <a:effectLst/>
                        </a:rPr>
                        <a:t>评审结果：通过</a:t>
                      </a:r>
                      <a:r>
                        <a:rPr lang="zh-CN" altLang="en-US" sz="2000" b="1" dirty="0">
                          <a:effectLst/>
                        </a:rPr>
                        <a:t>✅</a:t>
                      </a:r>
                      <a:endParaRPr lang="zh-CN" altLang="en-US" sz="2000" dirty="0">
                        <a:effectLst/>
                      </a:endParaRPr>
                    </a:p>
                    <a:p>
                      <a:r>
                        <a:rPr lang="zh-CN" altLang="en-US" sz="2000" dirty="0">
                          <a:effectLst/>
                        </a:rPr>
                        <a:t>说明：实验方案详细，优先级（高</a:t>
                      </a:r>
                      <a:r>
                        <a:rPr lang="en-US" altLang="zh-CN" sz="2000" dirty="0">
                          <a:effectLst/>
                        </a:rPr>
                        <a:t>/</a:t>
                      </a:r>
                      <a:r>
                        <a:rPr lang="zh-CN" altLang="en-US" sz="2000" dirty="0">
                          <a:effectLst/>
                        </a:rPr>
                        <a:t>中）有标注，部分实验有风险提示。</a:t>
                      </a:r>
                    </a:p>
                    <a:p>
                      <a:r>
                        <a:rPr lang="en-US" altLang="zh-CN" sz="2000" b="1" dirty="0">
                          <a:effectLst/>
                        </a:rPr>
                        <a:t>4. </a:t>
                      </a:r>
                      <a:r>
                        <a:rPr lang="zh-CN" altLang="en-US" sz="2000" b="1" dirty="0">
                          <a:effectLst/>
                        </a:rPr>
                        <a:t>材料</a:t>
                      </a:r>
                      <a:r>
                        <a:rPr lang="en-US" altLang="zh-CN" sz="2000" b="1" dirty="0">
                          <a:effectLst/>
                        </a:rPr>
                        <a:t>/</a:t>
                      </a:r>
                      <a:r>
                        <a:rPr lang="zh-CN" altLang="en-US" sz="2000" b="1" dirty="0">
                          <a:effectLst/>
                        </a:rPr>
                        <a:t>样件准备</a:t>
                      </a:r>
                    </a:p>
                    <a:p>
                      <a:pPr marL="0" marR="0" lvl="0" indent="0" algn="l" defTabSz="1828800" rtl="0" eaLnBrk="1" fontAlgn="auto" latinLnBrk="0" hangingPunct="1">
                        <a:lnSpc>
                          <a:spcPct val="100000"/>
                        </a:lnSpc>
                        <a:spcBef>
                          <a:spcPts val="0"/>
                        </a:spcBef>
                        <a:spcAft>
                          <a:spcPts val="0"/>
                        </a:spcAft>
                        <a:buClrTx/>
                        <a:buSzTx/>
                        <a:buFontTx/>
                        <a:buNone/>
                        <a:tabLst/>
                        <a:defRPr/>
                      </a:pPr>
                      <a:r>
                        <a:rPr lang="zh-CN" altLang="en-US" sz="2000" dirty="0">
                          <a:effectLst/>
                        </a:rPr>
                        <a:t>评审结果：部分通过</a:t>
                      </a:r>
                      <a:r>
                        <a:rPr lang="zh-CN" altLang="en-US" sz="2000" b="1" dirty="0">
                          <a:effectLst/>
                        </a:rPr>
                        <a:t>⚠️</a:t>
                      </a:r>
                      <a:endParaRPr lang="zh-CN" altLang="en-US" sz="2000" dirty="0">
                        <a:effectLst/>
                      </a:endParaRPr>
                    </a:p>
                    <a:p>
                      <a:r>
                        <a:rPr lang="zh-CN" altLang="en-US" sz="2000" dirty="0">
                          <a:effectLst/>
                        </a:rPr>
                        <a:t>问题：部分材料描述较为笼统，如“合装电芯（模拟压胶工装）”，建议补充具体型号、供应商信息。</a:t>
                      </a:r>
                    </a:p>
                    <a:p>
                      <a:r>
                        <a:rPr lang="zh-CN" altLang="en-US" sz="2000" dirty="0">
                          <a:effectLst/>
                        </a:rPr>
                        <a:t>建议：完善材料明细，确保可追溯性和一致性。</a:t>
                      </a:r>
                    </a:p>
                    <a:p>
                      <a:r>
                        <a:rPr lang="en-US" altLang="zh-CN" sz="2000" b="1" dirty="0">
                          <a:effectLst/>
                        </a:rPr>
                        <a:t>5. </a:t>
                      </a:r>
                      <a:r>
                        <a:rPr lang="zh-CN" altLang="en-US" sz="2000" b="1" dirty="0">
                          <a:effectLst/>
                        </a:rPr>
                        <a:t>设备与工装准备</a:t>
                      </a:r>
                    </a:p>
                    <a:p>
                      <a:r>
                        <a:rPr lang="zh-CN" altLang="en-US" sz="2000" dirty="0">
                          <a:effectLst/>
                        </a:rPr>
                        <a:t>评审结果：通过</a:t>
                      </a:r>
                      <a:r>
                        <a:rPr lang="zh-CN" altLang="en-US" sz="2000" b="1" dirty="0">
                          <a:effectLst/>
                        </a:rPr>
                        <a:t>✅</a:t>
                      </a:r>
                      <a:endParaRPr lang="zh-CN" altLang="en-US" sz="2000" dirty="0">
                        <a:effectLst/>
                      </a:endParaRPr>
                    </a:p>
                    <a:p>
                      <a:r>
                        <a:rPr lang="zh-CN" altLang="en-US" sz="2000" dirty="0">
                          <a:effectLst/>
                        </a:rPr>
                        <a:t>说明：设备、工装、工具均有列明，准备周期合理。</a:t>
                      </a:r>
                    </a:p>
                    <a:p>
                      <a:r>
                        <a:rPr lang="en-US" altLang="zh-CN" sz="2000" b="1" dirty="0">
                          <a:effectLst/>
                        </a:rPr>
                        <a:t>6. </a:t>
                      </a:r>
                      <a:r>
                        <a:rPr lang="zh-CN" altLang="en-US" sz="2000" b="1" dirty="0">
                          <a:effectLst/>
                        </a:rPr>
                        <a:t>人员与职责分工</a:t>
                      </a:r>
                    </a:p>
                    <a:p>
                      <a:r>
                        <a:rPr lang="zh-CN" altLang="en-US" sz="2000" dirty="0">
                          <a:effectLst/>
                        </a:rPr>
                        <a:t>评审结果：通过</a:t>
                      </a:r>
                      <a:r>
                        <a:rPr lang="zh-CN" altLang="en-US" sz="2000" b="1" dirty="0">
                          <a:effectLst/>
                        </a:rPr>
                        <a:t>✅</a:t>
                      </a:r>
                      <a:endParaRPr lang="zh-CN" altLang="en-US" sz="2000" dirty="0">
                        <a:effectLst/>
                      </a:endParaRPr>
                    </a:p>
                    <a:p>
                      <a:r>
                        <a:rPr lang="zh-CN" altLang="en-US" sz="2000" dirty="0">
                          <a:effectLst/>
                        </a:rPr>
                        <a:t>说明：每项实验均有负责人（如乔博），职责分工明确。</a:t>
                      </a:r>
                    </a:p>
                    <a:p>
                      <a:r>
                        <a:rPr lang="en-US" altLang="zh-CN" sz="2000" b="1" dirty="0">
                          <a:effectLst/>
                        </a:rPr>
                        <a:t>7. </a:t>
                      </a:r>
                      <a:r>
                        <a:rPr lang="zh-CN" altLang="en-US" sz="2000" b="1" dirty="0">
                          <a:effectLst/>
                        </a:rPr>
                        <a:t>过程设计与开发阶段关联</a:t>
                      </a:r>
                    </a:p>
                    <a:p>
                      <a:r>
                        <a:rPr lang="zh-CN" altLang="en-US" sz="2000" dirty="0">
                          <a:effectLst/>
                        </a:rPr>
                        <a:t>评审结果：通过</a:t>
                      </a:r>
                      <a:r>
                        <a:rPr lang="zh-CN" altLang="en-US" sz="2000" b="1" dirty="0">
                          <a:effectLst/>
                        </a:rPr>
                        <a:t>✅</a:t>
                      </a:r>
                      <a:endParaRPr lang="zh-CN" altLang="en-US" sz="2000" dirty="0">
                        <a:effectLst/>
                      </a:endParaRPr>
                    </a:p>
                    <a:p>
                      <a:r>
                        <a:rPr lang="zh-CN" altLang="en-US" sz="2000" dirty="0">
                          <a:effectLst/>
                        </a:rPr>
                        <a:t>说明：文件结构已体现与设计</a:t>
                      </a:r>
                      <a:r>
                        <a:rPr lang="en-US" altLang="zh-CN" sz="2000" dirty="0">
                          <a:effectLst/>
                        </a:rPr>
                        <a:t>/</a:t>
                      </a:r>
                      <a:r>
                        <a:rPr lang="zh-CN" altLang="en-US" sz="2000" dirty="0">
                          <a:effectLst/>
                        </a:rPr>
                        <a:t>开发阶段的关联，便于过程管控。</a:t>
                      </a:r>
                      <a:endParaRPr lang="en-GB" altLang="zh-CN" sz="2000" dirty="0">
                        <a:effectLst/>
                      </a:endParaRPr>
                    </a:p>
                    <a:p>
                      <a:r>
                        <a:rPr lang="en-US" altLang="zh-CN" sz="2000" b="1" dirty="0">
                          <a:effectLst/>
                        </a:rPr>
                        <a:t>8. </a:t>
                      </a:r>
                      <a:r>
                        <a:rPr lang="zh-CN" altLang="en-US" sz="2000" b="1" dirty="0">
                          <a:effectLst/>
                        </a:rPr>
                        <a:t>文档规范性与可追溯性</a:t>
                      </a:r>
                    </a:p>
                    <a:p>
                      <a:r>
                        <a:rPr lang="zh-CN" altLang="en-US" sz="2000" dirty="0">
                          <a:effectLst/>
                        </a:rPr>
                        <a:t>评审结果：通过</a:t>
                      </a:r>
                    </a:p>
                    <a:p>
                      <a:r>
                        <a:rPr lang="zh-CN" altLang="en-US" sz="2000" dirty="0">
                          <a:effectLst/>
                        </a:rPr>
                        <a:t>说明：文档结构规范，内容可追溯。</a:t>
                      </a:r>
                    </a:p>
                    <a:p>
                      <a:r>
                        <a:rPr lang="en-US" altLang="zh-CN" sz="2000" b="1" dirty="0">
                          <a:effectLst/>
                        </a:rPr>
                        <a:t>9. </a:t>
                      </a:r>
                      <a:r>
                        <a:rPr lang="zh-CN" altLang="en-US" sz="2000" b="1" dirty="0">
                          <a:effectLst/>
                        </a:rPr>
                        <a:t>图片</a:t>
                      </a:r>
                      <a:r>
                        <a:rPr lang="en-US" altLang="zh-CN" sz="2000" b="1" dirty="0">
                          <a:effectLst/>
                        </a:rPr>
                        <a:t>/</a:t>
                      </a:r>
                      <a:r>
                        <a:rPr lang="zh-CN" altLang="en-US" sz="2000" b="1" dirty="0">
                          <a:effectLst/>
                        </a:rPr>
                        <a:t>图纸</a:t>
                      </a:r>
                      <a:r>
                        <a:rPr lang="en-US" altLang="zh-CN" sz="2000" b="1" dirty="0">
                          <a:effectLst/>
                        </a:rPr>
                        <a:t>/</a:t>
                      </a:r>
                      <a:r>
                        <a:rPr lang="zh-CN" altLang="en-US" sz="2000" b="1" dirty="0">
                          <a:effectLst/>
                        </a:rPr>
                        <a:t>数据支持</a:t>
                      </a:r>
                    </a:p>
                    <a:p>
                      <a:r>
                        <a:rPr lang="zh-CN" altLang="en-US" sz="2000" dirty="0">
                          <a:effectLst/>
                        </a:rPr>
                        <a:t>评审结果：通过</a:t>
                      </a:r>
                    </a:p>
                    <a:p>
                      <a:r>
                        <a:rPr lang="zh-CN" altLang="en-US" sz="2000" dirty="0">
                          <a:effectLst/>
                        </a:rPr>
                        <a:t>说明：嵌入图片清晰，能有效支撑实验方案描述。</a:t>
                      </a:r>
                      <a:endParaRPr lang="en-GB" sz="2000" dirty="0"/>
                    </a:p>
                  </a:txBody>
                  <a:tcPr/>
                </a:tc>
                <a:tc>
                  <a:txBody>
                    <a:bodyPr/>
                    <a:lstStyle/>
                    <a:p>
                      <a:r>
                        <a:rPr lang="en-GB" altLang="zh-CN" sz="2000" b="1" dirty="0">
                          <a:effectLst/>
                        </a:rPr>
                        <a:t>10</a:t>
                      </a:r>
                      <a:r>
                        <a:rPr lang="en-US" altLang="zh-CN" sz="2000" b="1" dirty="0">
                          <a:effectLst/>
                        </a:rPr>
                        <a:t>. </a:t>
                      </a:r>
                      <a:r>
                        <a:rPr lang="zh-CN" altLang="en-US" sz="2000" b="1" dirty="0">
                          <a:effectLst/>
                        </a:rPr>
                        <a:t>时间计划与进度</a:t>
                      </a:r>
                    </a:p>
                    <a:p>
                      <a:r>
                        <a:rPr lang="zh-CN" altLang="en-US" sz="2000" dirty="0">
                          <a:effectLst/>
                        </a:rPr>
                        <a:t>评审结果：不通过</a:t>
                      </a:r>
                      <a:r>
                        <a:rPr lang="zh-CN" altLang="en-US" sz="2000" b="1" dirty="0">
                          <a:effectLst/>
                        </a:rPr>
                        <a:t>❌</a:t>
                      </a:r>
                      <a:endParaRPr lang="zh-CN" altLang="en-US" sz="2000" dirty="0">
                        <a:effectLst/>
                      </a:endParaRPr>
                    </a:p>
                    <a:p>
                      <a:r>
                        <a:rPr lang="zh-CN" altLang="en-US" sz="2000" dirty="0">
                          <a:effectLst/>
                        </a:rPr>
                        <a:t>问题：计划完成时间、实际完成时间均为“</a:t>
                      </a:r>
                      <a:r>
                        <a:rPr lang="en-US" altLang="zh-CN" sz="2000" dirty="0">
                          <a:effectLst/>
                        </a:rPr>
                        <a:t>TBD”</a:t>
                      </a:r>
                      <a:r>
                        <a:rPr lang="zh-CN" altLang="en-US" sz="2000" dirty="0">
                          <a:effectLst/>
                        </a:rPr>
                        <a:t>，缺乏具体时间节点，影响进度管控。</a:t>
                      </a:r>
                    </a:p>
                    <a:p>
                      <a:r>
                        <a:rPr lang="zh-CN" altLang="en-US" sz="2000" dirty="0">
                          <a:effectLst/>
                        </a:rPr>
                        <a:t>建议：尽快补充详细的时间计划，明确各阶段里程碑，便于后续跟踪和风险预警。</a:t>
                      </a:r>
                    </a:p>
                    <a:p>
                      <a:r>
                        <a:rPr lang="en-US" altLang="zh-CN" sz="2000" b="1" dirty="0">
                          <a:effectLst/>
                        </a:rPr>
                        <a:t>11. </a:t>
                      </a:r>
                      <a:r>
                        <a:rPr lang="zh-CN" altLang="en-US" sz="2000" b="1" dirty="0">
                          <a:effectLst/>
                        </a:rPr>
                        <a:t>技术状态与风险</a:t>
                      </a:r>
                    </a:p>
                    <a:p>
                      <a:pPr marL="0" marR="0" lvl="0" indent="0" algn="l" defTabSz="1828800" rtl="0" eaLnBrk="1" fontAlgn="auto" latinLnBrk="0" hangingPunct="1">
                        <a:lnSpc>
                          <a:spcPct val="100000"/>
                        </a:lnSpc>
                        <a:spcBef>
                          <a:spcPts val="0"/>
                        </a:spcBef>
                        <a:spcAft>
                          <a:spcPts val="0"/>
                        </a:spcAft>
                        <a:buClrTx/>
                        <a:buSzTx/>
                        <a:buFontTx/>
                        <a:buNone/>
                        <a:tabLst/>
                        <a:defRPr/>
                      </a:pPr>
                      <a:r>
                        <a:rPr lang="zh-CN" altLang="en-US" sz="2000" dirty="0">
                          <a:effectLst/>
                        </a:rPr>
                        <a:t>评审结果：部分通过</a:t>
                      </a:r>
                      <a:r>
                        <a:rPr lang="zh-CN" altLang="en-US" sz="2000" b="1" dirty="0">
                          <a:effectLst/>
                        </a:rPr>
                        <a:t>⚠️</a:t>
                      </a:r>
                      <a:endParaRPr lang="zh-CN" altLang="en-US" sz="2000" dirty="0">
                        <a:effectLst/>
                      </a:endParaRPr>
                    </a:p>
                    <a:p>
                      <a:r>
                        <a:rPr lang="zh-CN" altLang="en-US" sz="2000" dirty="0">
                          <a:effectLst/>
                        </a:rPr>
                        <a:t>问题：技术状态栏为“</a:t>
                      </a:r>
                      <a:r>
                        <a:rPr lang="en-US" altLang="zh-CN" sz="2000" dirty="0">
                          <a:effectLst/>
                        </a:rPr>
                        <a:t>TBD”</a:t>
                      </a:r>
                      <a:r>
                        <a:rPr lang="zh-CN" altLang="en-US" sz="2000" dirty="0">
                          <a:effectLst/>
                        </a:rPr>
                        <a:t>，未见具体风险识别和应对措施。</a:t>
                      </a:r>
                    </a:p>
                    <a:p>
                      <a:r>
                        <a:rPr lang="zh-CN" altLang="en-US" sz="2000" dirty="0">
                          <a:effectLst/>
                        </a:rPr>
                        <a:t>建议：补充技术状态说明，识别关键风险点并制定应对策略。</a:t>
                      </a:r>
                    </a:p>
                    <a:p>
                      <a:r>
                        <a:rPr lang="en-US" altLang="zh-CN" sz="2000" b="1" dirty="0">
                          <a:effectLst/>
                        </a:rPr>
                        <a:t>12. </a:t>
                      </a:r>
                      <a:r>
                        <a:rPr lang="zh-CN" altLang="en-US" sz="2000" b="1" dirty="0">
                          <a:effectLst/>
                        </a:rPr>
                        <a:t>验证结果与判定</a:t>
                      </a:r>
                    </a:p>
                    <a:p>
                      <a:r>
                        <a:rPr lang="zh-CN" altLang="en-US" sz="2000" dirty="0">
                          <a:effectLst/>
                        </a:rPr>
                        <a:t>评审结果：不通过</a:t>
                      </a:r>
                      <a:r>
                        <a:rPr lang="zh-CN" altLang="en-US" sz="2000" b="1" dirty="0">
                          <a:effectLst/>
                        </a:rPr>
                        <a:t>❌</a:t>
                      </a:r>
                      <a:endParaRPr lang="zh-CN" altLang="en-US" sz="2000" dirty="0">
                        <a:effectLst/>
                      </a:endParaRPr>
                    </a:p>
                    <a:p>
                      <a:r>
                        <a:rPr lang="zh-CN" altLang="en-US" sz="2000" dirty="0">
                          <a:effectLst/>
                        </a:rPr>
                        <a:t>问题：实验结果、报告、结论判定等栏位均为空，缺乏判定标准和记录方式。</a:t>
                      </a:r>
                    </a:p>
                    <a:p>
                      <a:r>
                        <a:rPr lang="zh-CN" altLang="en-US" sz="2000" dirty="0">
                          <a:effectLst/>
                        </a:rPr>
                        <a:t>建议：制定明确的判定标准，规范结果记录和报告流程，确保验证活动可追溯。</a:t>
                      </a:r>
                    </a:p>
                    <a:p>
                      <a:r>
                        <a:rPr lang="en-US" altLang="zh-CN" sz="2000" b="1" dirty="0">
                          <a:effectLst/>
                        </a:rPr>
                        <a:t>13. PPAP/</a:t>
                      </a:r>
                      <a:r>
                        <a:rPr lang="zh-CN" altLang="en-US" sz="2000" b="1" dirty="0">
                          <a:effectLst/>
                        </a:rPr>
                        <a:t>质量门（</a:t>
                      </a:r>
                      <a:r>
                        <a:rPr lang="en-US" altLang="zh-CN" sz="2000" b="1" dirty="0">
                          <a:effectLst/>
                        </a:rPr>
                        <a:t>Gate</a:t>
                      </a:r>
                      <a:r>
                        <a:rPr lang="zh-CN" altLang="en-US" sz="2000" b="1" dirty="0">
                          <a:effectLst/>
                        </a:rPr>
                        <a:t>）要求</a:t>
                      </a:r>
                    </a:p>
                    <a:p>
                      <a:pPr marL="0" marR="0" lvl="0" indent="0" algn="l" defTabSz="1828800" rtl="0" eaLnBrk="1" fontAlgn="auto" latinLnBrk="0" hangingPunct="1">
                        <a:lnSpc>
                          <a:spcPct val="100000"/>
                        </a:lnSpc>
                        <a:spcBef>
                          <a:spcPts val="0"/>
                        </a:spcBef>
                        <a:spcAft>
                          <a:spcPts val="0"/>
                        </a:spcAft>
                        <a:buClrTx/>
                        <a:buSzTx/>
                        <a:buFontTx/>
                        <a:buNone/>
                        <a:tabLst/>
                        <a:defRPr/>
                      </a:pPr>
                      <a:r>
                        <a:rPr lang="zh-CN" altLang="en-US" sz="2000" dirty="0">
                          <a:effectLst/>
                        </a:rPr>
                        <a:t>评审结果：部分通过</a:t>
                      </a:r>
                      <a:r>
                        <a:rPr lang="zh-CN" altLang="en-US" sz="2000" b="1" dirty="0">
                          <a:effectLst/>
                        </a:rPr>
                        <a:t>⚠️</a:t>
                      </a:r>
                      <a:endParaRPr lang="zh-CN" altLang="en-US" sz="2000" dirty="0">
                        <a:effectLst/>
                      </a:endParaRPr>
                    </a:p>
                    <a:p>
                      <a:r>
                        <a:rPr lang="zh-CN" altLang="en-US" sz="2000" dirty="0">
                          <a:effectLst/>
                        </a:rPr>
                        <a:t>问题：未见</a:t>
                      </a:r>
                      <a:r>
                        <a:rPr lang="en-US" altLang="zh-CN" sz="2000" dirty="0">
                          <a:effectLst/>
                        </a:rPr>
                        <a:t>PPAP</a:t>
                      </a:r>
                      <a:r>
                        <a:rPr lang="zh-CN" altLang="en-US" sz="2000" dirty="0">
                          <a:effectLst/>
                        </a:rPr>
                        <a:t>具体要求及与</a:t>
                      </a:r>
                      <a:r>
                        <a:rPr lang="en-US" altLang="zh-CN" sz="2000" dirty="0">
                          <a:effectLst/>
                        </a:rPr>
                        <a:t>APQP</a:t>
                      </a:r>
                      <a:r>
                        <a:rPr lang="zh-CN" altLang="en-US" sz="2000" dirty="0">
                          <a:effectLst/>
                        </a:rPr>
                        <a:t>各阶段</a:t>
                      </a:r>
                      <a:r>
                        <a:rPr lang="en-US" altLang="zh-CN" sz="2000" dirty="0">
                          <a:effectLst/>
                        </a:rPr>
                        <a:t>Gate</a:t>
                      </a:r>
                      <a:r>
                        <a:rPr lang="zh-CN" altLang="en-US" sz="2000" dirty="0">
                          <a:effectLst/>
                        </a:rPr>
                        <a:t>的对应关系。</a:t>
                      </a:r>
                    </a:p>
                    <a:p>
                      <a:r>
                        <a:rPr lang="zh-CN" altLang="en-US" sz="2000" dirty="0">
                          <a:effectLst/>
                        </a:rPr>
                        <a:t>建议：补充</a:t>
                      </a:r>
                      <a:r>
                        <a:rPr lang="en-US" altLang="zh-CN" sz="2000" dirty="0">
                          <a:effectLst/>
                        </a:rPr>
                        <a:t>PPAP</a:t>
                      </a:r>
                      <a:r>
                        <a:rPr lang="zh-CN" altLang="en-US" sz="2000" dirty="0">
                          <a:effectLst/>
                        </a:rPr>
                        <a:t>要求，明确各验证活动对应的质量门，确保过程受控。</a:t>
                      </a:r>
                    </a:p>
                    <a:p>
                      <a:r>
                        <a:rPr lang="en-US" altLang="zh-CN" sz="2000" b="1" i="0" kern="1200" dirty="0">
                          <a:solidFill>
                            <a:schemeClr val="tx1"/>
                          </a:solidFill>
                          <a:effectLst/>
                          <a:latin typeface="+mn-lt"/>
                          <a:ea typeface="+mn-ea"/>
                          <a:cs typeface="+mn-cs"/>
                        </a:rPr>
                        <a:t>14. </a:t>
                      </a:r>
                      <a:r>
                        <a:rPr lang="zh-CN" altLang="en-US" sz="2000" b="1" i="0" kern="1200" dirty="0">
                          <a:solidFill>
                            <a:schemeClr val="tx1"/>
                          </a:solidFill>
                          <a:effectLst/>
                          <a:latin typeface="+mn-lt"/>
                          <a:ea typeface="+mn-ea"/>
                          <a:cs typeface="+mn-cs"/>
                        </a:rPr>
                        <a:t>备注与特殊要求</a:t>
                      </a:r>
                    </a:p>
                    <a:p>
                      <a:pPr marL="0" marR="0" lvl="0" indent="0" algn="l" defTabSz="1828800" rtl="0" eaLnBrk="1" fontAlgn="auto" latinLnBrk="0" hangingPunct="1">
                        <a:lnSpc>
                          <a:spcPct val="100000"/>
                        </a:lnSpc>
                        <a:spcBef>
                          <a:spcPts val="0"/>
                        </a:spcBef>
                        <a:spcAft>
                          <a:spcPts val="0"/>
                        </a:spcAft>
                        <a:buClrTx/>
                        <a:buSzTx/>
                        <a:buFontTx/>
                        <a:buNone/>
                        <a:tabLst/>
                        <a:defRPr/>
                      </a:pPr>
                      <a:r>
                        <a:rPr lang="zh-CN" altLang="en-US" sz="2000" b="0" i="0" kern="1200" dirty="0">
                          <a:solidFill>
                            <a:schemeClr val="tx1"/>
                          </a:solidFill>
                          <a:effectLst/>
                          <a:latin typeface="+mn-lt"/>
                          <a:ea typeface="+mn-ea"/>
                          <a:cs typeface="+mn-cs"/>
                        </a:rPr>
                        <a:t>评审结果：部分通过</a:t>
                      </a:r>
                      <a:r>
                        <a:rPr lang="zh-CN" altLang="en-US" sz="2000" b="1" dirty="0">
                          <a:effectLst/>
                        </a:rPr>
                        <a:t>⚠️</a:t>
                      </a:r>
                      <a:endParaRPr lang="zh-CN" altLang="en-US" sz="2000" b="0" i="0" kern="1200" dirty="0">
                        <a:solidFill>
                          <a:schemeClr val="tx1"/>
                        </a:solidFill>
                        <a:effectLst/>
                        <a:latin typeface="+mn-lt"/>
                        <a:ea typeface="+mn-ea"/>
                        <a:cs typeface="+mn-cs"/>
                      </a:endParaRPr>
                    </a:p>
                    <a:p>
                      <a:r>
                        <a:rPr lang="zh-CN" altLang="en-US" sz="2000" b="0" i="0" kern="1200" dirty="0">
                          <a:solidFill>
                            <a:schemeClr val="tx1"/>
                          </a:solidFill>
                          <a:effectLst/>
                          <a:latin typeface="+mn-lt"/>
                          <a:ea typeface="+mn-ea"/>
                          <a:cs typeface="+mn-cs"/>
                        </a:rPr>
                        <a:t>问题：备注栏多为空，建议补充特殊要求或异常应对措施。</a:t>
                      </a:r>
                    </a:p>
                    <a:p>
                      <a:r>
                        <a:rPr lang="zh-CN" altLang="en-US" sz="2000" b="0" i="0" kern="1200" dirty="0">
                          <a:solidFill>
                            <a:schemeClr val="tx1"/>
                          </a:solidFill>
                          <a:effectLst/>
                          <a:latin typeface="+mn-lt"/>
                          <a:ea typeface="+mn-ea"/>
                          <a:cs typeface="+mn-cs"/>
                        </a:rPr>
                        <a:t>建议：完善备注信息，提升文件的完整性和实用性。</a:t>
                      </a:r>
                      <a:endParaRPr lang="en-GB" sz="2000" dirty="0"/>
                    </a:p>
                  </a:txBody>
                  <a:tcPr/>
                </a:tc>
                <a:tc>
                  <a:txBody>
                    <a:bodyPr/>
                    <a:lstStyle/>
                    <a:p>
                      <a:r>
                        <a:rPr lang="zh-CN" altLang="en-US" sz="2000" b="1" dirty="0">
                          <a:effectLst/>
                        </a:rPr>
                        <a:t>主要不通过项及应对建议（优先级高）：</a:t>
                      </a:r>
                    </a:p>
                    <a:p>
                      <a:r>
                        <a:rPr lang="zh-CN" altLang="en-US" sz="2000" b="1" dirty="0">
                          <a:effectLst/>
                        </a:rPr>
                        <a:t>时间计划与进度（优先级最高）</a:t>
                      </a:r>
                      <a:endParaRPr lang="zh-CN" altLang="en-US" sz="2000" dirty="0">
                        <a:effectLst/>
                      </a:endParaRPr>
                    </a:p>
                    <a:p>
                      <a:r>
                        <a:rPr lang="zh-CN" altLang="en-US" sz="2000" dirty="0">
                          <a:effectLst/>
                        </a:rPr>
                        <a:t>立即补充详细的计划完成时间和实际完成时间，明确各阶段里程碑。</a:t>
                      </a:r>
                    </a:p>
                    <a:p>
                      <a:r>
                        <a:rPr lang="zh-CN" altLang="en-US" sz="2000" b="1" dirty="0">
                          <a:effectLst/>
                        </a:rPr>
                        <a:t>验证结果与判定</a:t>
                      </a:r>
                      <a:endParaRPr lang="zh-CN" altLang="en-US" sz="2000" dirty="0">
                        <a:effectLst/>
                      </a:endParaRPr>
                    </a:p>
                    <a:p>
                      <a:r>
                        <a:rPr lang="zh-CN" altLang="en-US" sz="2000" dirty="0">
                          <a:effectLst/>
                        </a:rPr>
                        <a:t>制定并补充判定标准、结果记录和报告流程，确保验证活动闭环。</a:t>
                      </a:r>
                    </a:p>
                    <a:p>
                      <a:r>
                        <a:rPr lang="zh-CN" altLang="en-US" sz="2000" b="1" dirty="0">
                          <a:effectLst/>
                        </a:rPr>
                        <a:t>技术状态与风险</a:t>
                      </a:r>
                      <a:endParaRPr lang="zh-CN" altLang="en-US" sz="2000" dirty="0">
                        <a:effectLst/>
                      </a:endParaRPr>
                    </a:p>
                    <a:p>
                      <a:r>
                        <a:rPr lang="zh-CN" altLang="en-US" sz="2000" dirty="0">
                          <a:effectLst/>
                        </a:rPr>
                        <a:t>明确技术状态，识别关键风险点，制定风险应对措施。</a:t>
                      </a:r>
                    </a:p>
                    <a:p>
                      <a:r>
                        <a:rPr lang="en-US" altLang="zh-CN" sz="2000" b="1" dirty="0">
                          <a:effectLst/>
                        </a:rPr>
                        <a:t>PPAP/</a:t>
                      </a:r>
                      <a:r>
                        <a:rPr lang="zh-CN" altLang="en-US" sz="2000" b="1" dirty="0">
                          <a:effectLst/>
                        </a:rPr>
                        <a:t>质量门要求</a:t>
                      </a:r>
                      <a:endParaRPr lang="zh-CN" altLang="en-US" sz="2000" dirty="0">
                        <a:effectLst/>
                      </a:endParaRPr>
                    </a:p>
                    <a:p>
                      <a:r>
                        <a:rPr lang="zh-CN" altLang="en-US" sz="2000" dirty="0">
                          <a:effectLst/>
                        </a:rPr>
                        <a:t>明确</a:t>
                      </a:r>
                      <a:r>
                        <a:rPr lang="en-US" altLang="zh-CN" sz="2000" dirty="0">
                          <a:effectLst/>
                        </a:rPr>
                        <a:t>PPAP</a:t>
                      </a:r>
                      <a:r>
                        <a:rPr lang="zh-CN" altLang="en-US" sz="2000" dirty="0">
                          <a:effectLst/>
                        </a:rPr>
                        <a:t>要求，补充与</a:t>
                      </a:r>
                      <a:r>
                        <a:rPr lang="en-US" altLang="zh-CN" sz="2000" dirty="0">
                          <a:effectLst/>
                        </a:rPr>
                        <a:t>APQP</a:t>
                      </a:r>
                      <a:r>
                        <a:rPr lang="zh-CN" altLang="en-US" sz="2000" dirty="0">
                          <a:effectLst/>
                        </a:rPr>
                        <a:t>各阶段</a:t>
                      </a:r>
                      <a:r>
                        <a:rPr lang="en-US" altLang="zh-CN" sz="2000" dirty="0">
                          <a:effectLst/>
                        </a:rPr>
                        <a:t>Gate</a:t>
                      </a:r>
                      <a:r>
                        <a:rPr lang="zh-CN" altLang="en-US" sz="2000" dirty="0">
                          <a:effectLst/>
                        </a:rPr>
                        <a:t>的对应关系。</a:t>
                      </a:r>
                    </a:p>
                    <a:p>
                      <a:r>
                        <a:rPr lang="zh-CN" altLang="en-US" sz="2000" b="1" dirty="0">
                          <a:effectLst/>
                        </a:rPr>
                        <a:t>需完善项（优先级中）：</a:t>
                      </a:r>
                    </a:p>
                    <a:p>
                      <a:r>
                        <a:rPr lang="zh-CN" altLang="en-US" sz="2000" dirty="0">
                          <a:effectLst/>
                        </a:rPr>
                        <a:t>材料</a:t>
                      </a:r>
                      <a:r>
                        <a:rPr lang="en-US" altLang="zh-CN" sz="2000" dirty="0">
                          <a:effectLst/>
                        </a:rPr>
                        <a:t>/</a:t>
                      </a:r>
                      <a:r>
                        <a:rPr lang="zh-CN" altLang="en-US" sz="2000" dirty="0">
                          <a:effectLst/>
                        </a:rPr>
                        <a:t>样件准备明细</a:t>
                      </a:r>
                    </a:p>
                    <a:p>
                      <a:r>
                        <a:rPr lang="zh-CN" altLang="en-US" sz="2000" dirty="0">
                          <a:effectLst/>
                        </a:rPr>
                        <a:t>备注与特殊要求补充</a:t>
                      </a:r>
                    </a:p>
                    <a:p>
                      <a:r>
                        <a:rPr lang="zh-CN" altLang="en-US" sz="2000" b="1" dirty="0">
                          <a:effectLst/>
                        </a:rPr>
                        <a:t>通过项（优先级低）：</a:t>
                      </a:r>
                    </a:p>
                    <a:p>
                      <a:r>
                        <a:rPr lang="zh-CN" altLang="en-US" sz="2000" dirty="0">
                          <a:effectLst/>
                        </a:rPr>
                        <a:t>项目基本信息、实验定义、设备工装、人员分工、文档规范性、图片支持等已满足要求。</a:t>
                      </a:r>
                    </a:p>
                    <a:p>
                      <a:endParaRPr lang="en-GB" altLang="zh-CN" sz="2000" b="1" dirty="0">
                        <a:effectLst/>
                      </a:endParaRPr>
                    </a:p>
                    <a:p>
                      <a:r>
                        <a:rPr lang="zh-CN" altLang="en-US" sz="2000" b="1" dirty="0">
                          <a:effectLst/>
                        </a:rPr>
                        <a:t>时间线影响与后续建议</a:t>
                      </a:r>
                    </a:p>
                    <a:p>
                      <a:r>
                        <a:rPr lang="zh-CN" altLang="en-US" sz="2000" dirty="0">
                          <a:effectLst/>
                        </a:rPr>
                        <a:t>若不及时补充时间计划与判定标准，将影响项目进度管控和质量门评审，可能导致</a:t>
                      </a:r>
                      <a:r>
                        <a:rPr lang="en-US" altLang="zh-CN" sz="2000" dirty="0">
                          <a:effectLst/>
                        </a:rPr>
                        <a:t>APQP Gate</a:t>
                      </a:r>
                      <a:r>
                        <a:rPr lang="zh-CN" altLang="en-US" sz="2000" dirty="0">
                          <a:effectLst/>
                        </a:rPr>
                        <a:t>延误，影响量产节点。</a:t>
                      </a:r>
                    </a:p>
                    <a:p>
                      <a:r>
                        <a:rPr lang="zh-CN" altLang="en-US" sz="2000" dirty="0">
                          <a:effectLst/>
                        </a:rPr>
                        <a:t>建议立即组织跨部门评审，补充缺失内容，确保文件在</a:t>
                      </a:r>
                      <a:r>
                        <a:rPr lang="en-US" altLang="zh-CN" sz="2000" dirty="0">
                          <a:effectLst/>
                        </a:rPr>
                        <a:t>Gate 2</a:t>
                      </a:r>
                      <a:r>
                        <a:rPr lang="zh-CN" altLang="en-US" sz="2000" dirty="0">
                          <a:effectLst/>
                        </a:rPr>
                        <a:t>前闭环，满足</a:t>
                      </a:r>
                      <a:r>
                        <a:rPr lang="en-US" altLang="zh-CN" sz="2000" dirty="0">
                          <a:effectLst/>
                        </a:rPr>
                        <a:t>APQP</a:t>
                      </a:r>
                      <a:r>
                        <a:rPr lang="zh-CN" altLang="en-US" sz="2000" dirty="0">
                          <a:effectLst/>
                        </a:rPr>
                        <a:t>流程要求。</a:t>
                      </a:r>
                    </a:p>
                    <a:p>
                      <a:r>
                        <a:rPr lang="zh-CN" altLang="en-US" sz="2000" dirty="0">
                          <a:effectLst/>
                        </a:rPr>
                        <a:t>如需详细模板或补充表格样例，可进一步提供支持。</a:t>
                      </a:r>
                      <a:endParaRPr lang="en-GB" sz="2000" dirty="0"/>
                    </a:p>
                  </a:txBody>
                  <a:tcPr/>
                </a:tc>
                <a:extLst>
                  <a:ext uri="{0D108BD9-81ED-4DB2-BD59-A6C34878D82A}">
                    <a16:rowId xmlns:a16="http://schemas.microsoft.com/office/drawing/2014/main" val="604853937"/>
                  </a:ext>
                </a:extLst>
              </a:tr>
            </a:tbl>
          </a:graphicData>
        </a:graphic>
      </p:graphicFrame>
    </p:spTree>
    <p:extLst>
      <p:ext uri="{BB962C8B-B14F-4D97-AF65-F5344CB8AC3E}">
        <p14:creationId xmlns:p14="http://schemas.microsoft.com/office/powerpoint/2010/main" val="4187300021"/>
      </p:ext>
    </p:extLst>
  </p:cSld>
  <p:clrMapOvr>
    <a:masterClrMapping/>
  </p:clrMapOvr>
  <p:transition spd="med"/>
  <p:extLst>
    <p:ext uri="{6950BFC3-D8DA-4A85-94F7-54DA5524770B}">
      <p188:commentRel xmlns:p188="http://schemas.microsoft.com/office/powerpoint/2018/8/main" r:id="rId2"/>
    </p:ext>
  </p:extLs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1DF7D-3EE1-FFF4-4AC9-9149D0894E43}"/>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3EA59475-71A5-D93A-1849-61E73D4820FA}"/>
              </a:ext>
            </a:extLst>
          </p:cNvPr>
          <p:cNvSpPr txBox="1"/>
          <p:nvPr/>
        </p:nvSpPr>
        <p:spPr>
          <a:xfrm>
            <a:off x="1737559" y="755986"/>
            <a:ext cx="17078475" cy="646331"/>
          </a:xfrm>
          <a:prstGeom prst="rect">
            <a:avLst/>
          </a:prstGeom>
          <a:noFill/>
        </p:spPr>
        <p:txBody>
          <a:bodyPr wrap="square" numCol="1">
            <a:spAutoFit/>
          </a:bodyPr>
          <a:lstStyle/>
          <a:p>
            <a:pPr>
              <a:spcBef>
                <a:spcPts val="1500"/>
              </a:spcBef>
              <a:spcAft>
                <a:spcPts val="750"/>
              </a:spcAft>
              <a:buNone/>
            </a:pPr>
            <a:r>
              <a:rPr lang="en-US" altLang="zh-CN" sz="3600" b="1" dirty="0">
                <a:effectLst/>
              </a:rPr>
              <a:t>B</a:t>
            </a:r>
            <a:r>
              <a:rPr lang="zh-CN" altLang="en-US" sz="3600" b="1" dirty="0">
                <a:effectLst/>
              </a:rPr>
              <a:t>样阶段</a:t>
            </a:r>
            <a:r>
              <a:rPr lang="en-US" altLang="zh-CN" sz="3600" b="1" dirty="0"/>
              <a:t>《L221N113C-</a:t>
            </a:r>
            <a:r>
              <a:rPr lang="zh-CN" altLang="en-US" sz="3600" b="1" dirty="0"/>
              <a:t>产品规格书</a:t>
            </a:r>
            <a:r>
              <a:rPr lang="en-US" altLang="zh-CN" sz="3600" b="1" dirty="0"/>
              <a:t>-V2-20240314.pdf》</a:t>
            </a:r>
            <a:r>
              <a:rPr lang="zh-CN" altLang="en-US" sz="3600" b="1" dirty="0">
                <a:effectLst/>
              </a:rPr>
              <a:t>审核报告</a:t>
            </a:r>
          </a:p>
        </p:txBody>
      </p:sp>
      <p:graphicFrame>
        <p:nvGraphicFramePr>
          <p:cNvPr id="2" name="表格 1">
            <a:extLst>
              <a:ext uri="{FF2B5EF4-FFF2-40B4-BE49-F238E27FC236}">
                <a16:creationId xmlns:a16="http://schemas.microsoft.com/office/drawing/2014/main" id="{41953A06-C74A-A72D-A98D-3166B9591E4E}"/>
              </a:ext>
            </a:extLst>
          </p:cNvPr>
          <p:cNvGraphicFramePr>
            <a:graphicFrameLocks noGrp="1"/>
          </p:cNvGraphicFramePr>
          <p:nvPr>
            <p:extLst>
              <p:ext uri="{D42A27DB-BD31-4B8C-83A1-F6EECF244321}">
                <p14:modId xmlns:p14="http://schemas.microsoft.com/office/powerpoint/2010/main" val="2172388613"/>
              </p:ext>
            </p:extLst>
          </p:nvPr>
        </p:nvGraphicFramePr>
        <p:xfrm>
          <a:off x="662354" y="1738812"/>
          <a:ext cx="23304551" cy="61038338"/>
        </p:xfrm>
        <a:graphic>
          <a:graphicData uri="http://schemas.openxmlformats.org/drawingml/2006/table">
            <a:tbl>
              <a:tblPr firstRow="1" bandRow="1"/>
              <a:tblGrid>
                <a:gridCol w="6965667">
                  <a:extLst>
                    <a:ext uri="{9D8B030D-6E8A-4147-A177-3AD203B41FA5}">
                      <a16:colId xmlns:a16="http://schemas.microsoft.com/office/drawing/2014/main" val="520135011"/>
                    </a:ext>
                  </a:extLst>
                </a:gridCol>
                <a:gridCol w="7820526">
                  <a:extLst>
                    <a:ext uri="{9D8B030D-6E8A-4147-A177-3AD203B41FA5}">
                      <a16:colId xmlns:a16="http://schemas.microsoft.com/office/drawing/2014/main" val="585926975"/>
                    </a:ext>
                  </a:extLst>
                </a:gridCol>
                <a:gridCol w="8518358">
                  <a:extLst>
                    <a:ext uri="{9D8B030D-6E8A-4147-A177-3AD203B41FA5}">
                      <a16:colId xmlns:a16="http://schemas.microsoft.com/office/drawing/2014/main" val="3081416713"/>
                    </a:ext>
                  </a:extLst>
                </a:gridCol>
              </a:tblGrid>
              <a:tr h="901298">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审查清单制定</a:t>
                      </a:r>
                    </a:p>
                  </a:txBody>
                  <a:tcPr anchor="ctr"/>
                </a:tc>
                <a:tc gridSpan="2">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逐项审核结果</a:t>
                      </a:r>
                    </a:p>
                  </a:txBody>
                  <a:tcPr anchor="ctr"/>
                </a:tc>
                <a:tc hMerge="1">
                  <a:txBody>
                    <a:bodyPr/>
                    <a:lstStyle/>
                    <a:p>
                      <a:pPr algn="ctr"/>
                      <a:endParaRPr lang="en-GB" sz="2000" dirty="0"/>
                    </a:p>
                  </a:txBody>
                  <a:tcPr/>
                </a:tc>
                <a:extLst>
                  <a:ext uri="{0D108BD9-81ED-4DB2-BD59-A6C34878D82A}">
                    <a16:rowId xmlns:a16="http://schemas.microsoft.com/office/drawing/2014/main" val="2562292327"/>
                  </a:ext>
                </a:extLst>
              </a:tr>
              <a:tr h="10086326">
                <a:tc>
                  <a:txBody>
                    <a:bodyPr/>
                    <a:lstStyle/>
                    <a:p>
                      <a:r>
                        <a:rPr lang="en-US" altLang="zh-CN" sz="2000" b="1" dirty="0">
                          <a:effectLst/>
                        </a:rPr>
                        <a:t>1.1 </a:t>
                      </a:r>
                      <a:r>
                        <a:rPr lang="zh-CN" altLang="en-US" sz="2000" b="1" dirty="0">
                          <a:effectLst/>
                        </a:rPr>
                        <a:t>文档版本控制</a:t>
                      </a:r>
                    </a:p>
                    <a:p>
                      <a:r>
                        <a:rPr lang="en-US" altLang="zh-CN" sz="2000" dirty="0">
                          <a:effectLst/>
                        </a:rPr>
                        <a:t>1.1.1 </a:t>
                      </a:r>
                      <a:r>
                        <a:rPr lang="zh-CN" altLang="en-US" sz="2000" dirty="0">
                          <a:effectLst/>
                        </a:rPr>
                        <a:t>版本号命名规范是否符合公司标准</a:t>
                      </a:r>
                    </a:p>
                    <a:p>
                      <a:r>
                        <a:rPr lang="en-US" altLang="zh-CN" sz="2000" dirty="0">
                          <a:effectLst/>
                        </a:rPr>
                        <a:t>1.1.2 </a:t>
                      </a:r>
                      <a:r>
                        <a:rPr lang="zh-CN" altLang="en-US" sz="2000" dirty="0">
                          <a:effectLst/>
                        </a:rPr>
                        <a:t>修订履历是否完整记录所有变更</a:t>
                      </a:r>
                    </a:p>
                    <a:p>
                      <a:r>
                        <a:rPr lang="en-US" altLang="zh-CN" sz="2000" dirty="0">
                          <a:effectLst/>
                        </a:rPr>
                        <a:t>1.1.3 </a:t>
                      </a:r>
                      <a:r>
                        <a:rPr lang="zh-CN" altLang="en-US" sz="2000" dirty="0">
                          <a:effectLst/>
                        </a:rPr>
                        <a:t>变更内容描述是否清晰明确</a:t>
                      </a:r>
                    </a:p>
                    <a:p>
                      <a:r>
                        <a:rPr lang="en-US" altLang="zh-CN" sz="2000" dirty="0">
                          <a:effectLst/>
                        </a:rPr>
                        <a:t>1.1.4 </a:t>
                      </a:r>
                      <a:r>
                        <a:rPr lang="zh-CN" altLang="en-US" sz="2000" dirty="0">
                          <a:effectLst/>
                        </a:rPr>
                        <a:t>样品阶段标注是否与项目进度一致</a:t>
                      </a:r>
                    </a:p>
                    <a:p>
                      <a:r>
                        <a:rPr lang="en-US" altLang="zh-CN" sz="2000" dirty="0">
                          <a:effectLst/>
                        </a:rPr>
                        <a:t>1.1.5 </a:t>
                      </a:r>
                      <a:r>
                        <a:rPr lang="zh-CN" altLang="en-US" sz="2000" dirty="0">
                          <a:effectLst/>
                        </a:rPr>
                        <a:t>版本发布日期是否符合项目时间节点</a:t>
                      </a:r>
                    </a:p>
                    <a:p>
                      <a:r>
                        <a:rPr lang="en-US" altLang="zh-CN" sz="2000" b="1" dirty="0">
                          <a:effectLst/>
                        </a:rPr>
                        <a:t>1.2 </a:t>
                      </a:r>
                      <a:r>
                        <a:rPr lang="zh-CN" altLang="en-US" sz="2000" b="1" dirty="0">
                          <a:effectLst/>
                        </a:rPr>
                        <a:t>文档审批流程</a:t>
                      </a:r>
                    </a:p>
                    <a:p>
                      <a:r>
                        <a:rPr lang="en-US" altLang="zh-CN" sz="2000" dirty="0">
                          <a:effectLst/>
                        </a:rPr>
                        <a:t>1.2.1 </a:t>
                      </a:r>
                      <a:r>
                        <a:rPr lang="zh-CN" altLang="en-US" sz="2000" dirty="0">
                          <a:effectLst/>
                        </a:rPr>
                        <a:t>审批人员资质是否符合岗位要求</a:t>
                      </a:r>
                    </a:p>
                    <a:p>
                      <a:r>
                        <a:rPr lang="en-US" altLang="zh-CN" sz="2000" dirty="0">
                          <a:effectLst/>
                        </a:rPr>
                        <a:t>1.2.2 </a:t>
                      </a:r>
                      <a:r>
                        <a:rPr lang="zh-CN" altLang="en-US" sz="2000" dirty="0">
                          <a:effectLst/>
                        </a:rPr>
                        <a:t>审批流程是否完整（编制→校对→会签→审核→批准）</a:t>
                      </a:r>
                    </a:p>
                    <a:p>
                      <a:r>
                        <a:rPr lang="en-US" altLang="zh-CN" sz="2000" dirty="0">
                          <a:effectLst/>
                        </a:rPr>
                        <a:t>1.2.3 </a:t>
                      </a:r>
                      <a:r>
                        <a:rPr lang="zh-CN" altLang="en-US" sz="2000" dirty="0">
                          <a:effectLst/>
                        </a:rPr>
                        <a:t>审批日期是否在合理时间范围内</a:t>
                      </a:r>
                    </a:p>
                    <a:p>
                      <a:r>
                        <a:rPr lang="en-US" altLang="zh-CN" sz="2000" dirty="0">
                          <a:effectLst/>
                        </a:rPr>
                        <a:t>1.2.4 </a:t>
                      </a:r>
                      <a:r>
                        <a:rPr lang="zh-CN" altLang="en-US" sz="2000" dirty="0">
                          <a:effectLst/>
                        </a:rPr>
                        <a:t>审批人员职责分工是否明确</a:t>
                      </a:r>
                    </a:p>
                    <a:p>
                      <a:r>
                        <a:rPr lang="en-US" altLang="zh-CN" sz="2000" dirty="0">
                          <a:effectLst/>
                        </a:rPr>
                        <a:t>1.2.5 </a:t>
                      </a:r>
                      <a:r>
                        <a:rPr lang="zh-CN" altLang="en-US" sz="2000" dirty="0">
                          <a:effectLst/>
                        </a:rPr>
                        <a:t>是否缺少必要的审批环节</a:t>
                      </a:r>
                    </a:p>
                    <a:p>
                      <a:r>
                        <a:rPr lang="en-US" altLang="zh-CN" sz="2000" b="1" dirty="0">
                          <a:effectLst/>
                        </a:rPr>
                        <a:t>1.3 </a:t>
                      </a:r>
                      <a:r>
                        <a:rPr lang="zh-CN" altLang="en-US" sz="2000" b="1" dirty="0">
                          <a:effectLst/>
                        </a:rPr>
                        <a:t>文档结构完整性</a:t>
                      </a:r>
                    </a:p>
                    <a:p>
                      <a:r>
                        <a:rPr lang="en-US" altLang="zh-CN" sz="2000" dirty="0">
                          <a:effectLst/>
                        </a:rPr>
                        <a:t>1.3.1 </a:t>
                      </a:r>
                      <a:r>
                        <a:rPr lang="zh-CN" altLang="en-US" sz="2000" dirty="0">
                          <a:effectLst/>
                        </a:rPr>
                        <a:t>目录结构是否完整覆盖所有技术内容</a:t>
                      </a:r>
                    </a:p>
                    <a:p>
                      <a:r>
                        <a:rPr lang="en-US" altLang="zh-CN" sz="2000" dirty="0">
                          <a:effectLst/>
                        </a:rPr>
                        <a:t>1.3.2 </a:t>
                      </a:r>
                      <a:r>
                        <a:rPr lang="zh-CN" altLang="en-US" sz="2000" dirty="0">
                          <a:effectLst/>
                        </a:rPr>
                        <a:t>章节编号是否规范统一</a:t>
                      </a:r>
                    </a:p>
                    <a:p>
                      <a:r>
                        <a:rPr lang="en-US" altLang="zh-CN" sz="2000" dirty="0">
                          <a:effectLst/>
                        </a:rPr>
                        <a:t>1.3.3 </a:t>
                      </a:r>
                      <a:r>
                        <a:rPr lang="zh-CN" altLang="en-US" sz="2000" dirty="0">
                          <a:effectLst/>
                        </a:rPr>
                        <a:t>中英文对照是否完整准确</a:t>
                      </a:r>
                    </a:p>
                    <a:p>
                      <a:r>
                        <a:rPr lang="en-US" altLang="zh-CN" sz="2000" dirty="0">
                          <a:effectLst/>
                        </a:rPr>
                        <a:t>1.3.4 </a:t>
                      </a:r>
                      <a:r>
                        <a:rPr lang="zh-CN" altLang="en-US" sz="2000" dirty="0">
                          <a:effectLst/>
                        </a:rPr>
                        <a:t>是否包含必要的附录和参考资料</a:t>
                      </a:r>
                    </a:p>
                    <a:p>
                      <a:r>
                        <a:rPr lang="en-US" altLang="zh-CN" sz="2000" dirty="0">
                          <a:effectLst/>
                        </a:rPr>
                        <a:t>1.3.5 </a:t>
                      </a:r>
                      <a:r>
                        <a:rPr lang="zh-CN" altLang="en-US" sz="2000" dirty="0">
                          <a:effectLst/>
                        </a:rPr>
                        <a:t>文档格式是否符合公司标准</a:t>
                      </a:r>
                    </a:p>
                    <a:p>
                      <a:r>
                        <a:rPr lang="zh-CN" altLang="en-US" sz="2000" b="1" dirty="0">
                          <a:effectLst/>
                        </a:rPr>
                        <a:t>二、产品技术规格审查点</a:t>
                      </a:r>
                    </a:p>
                    <a:p>
                      <a:r>
                        <a:rPr lang="en-US" altLang="zh-CN" sz="2000" b="1" dirty="0">
                          <a:effectLst/>
                        </a:rPr>
                        <a:t>2.1 </a:t>
                      </a:r>
                      <a:r>
                        <a:rPr lang="zh-CN" altLang="en-US" sz="2000" b="1" dirty="0">
                          <a:effectLst/>
                        </a:rPr>
                        <a:t>基本参数完整性</a:t>
                      </a:r>
                    </a:p>
                    <a:p>
                      <a:r>
                        <a:rPr lang="en-US" altLang="zh-CN" sz="2000" dirty="0">
                          <a:effectLst/>
                        </a:rPr>
                        <a:t>2.1.1 </a:t>
                      </a:r>
                      <a:r>
                        <a:rPr lang="zh-CN" altLang="en-US" sz="2000" dirty="0">
                          <a:effectLst/>
                        </a:rPr>
                        <a:t>额定容量是否明确（</a:t>
                      </a:r>
                      <a:r>
                        <a:rPr lang="en-US" altLang="zh-CN" sz="2000" dirty="0">
                          <a:effectLst/>
                        </a:rPr>
                        <a:t>1C</a:t>
                      </a:r>
                      <a:r>
                        <a:rPr lang="zh-CN" altLang="en-US" sz="2000" dirty="0">
                          <a:effectLst/>
                        </a:rPr>
                        <a:t>放电和标准放电）</a:t>
                      </a:r>
                    </a:p>
                    <a:p>
                      <a:r>
                        <a:rPr lang="en-US" altLang="zh-CN" sz="2000" dirty="0">
                          <a:effectLst/>
                        </a:rPr>
                        <a:t>2.1.2 </a:t>
                      </a:r>
                      <a:r>
                        <a:rPr lang="zh-CN" altLang="en-US" sz="2000" dirty="0">
                          <a:effectLst/>
                        </a:rPr>
                        <a:t>额定电压是否准确</a:t>
                      </a:r>
                    </a:p>
                    <a:p>
                      <a:r>
                        <a:rPr lang="en-US" altLang="zh-CN" sz="2000" dirty="0">
                          <a:effectLst/>
                        </a:rPr>
                        <a:t>2.1.3 </a:t>
                      </a:r>
                      <a:r>
                        <a:rPr lang="zh-CN" altLang="en-US" sz="2000" dirty="0">
                          <a:effectLst/>
                        </a:rPr>
                        <a:t>额定能量是否计算正确</a:t>
                      </a:r>
                    </a:p>
                    <a:p>
                      <a:r>
                        <a:rPr lang="en-US" altLang="zh-CN" sz="2000" dirty="0">
                          <a:effectLst/>
                        </a:rPr>
                        <a:t>2.1.4 </a:t>
                      </a:r>
                      <a:r>
                        <a:rPr lang="zh-CN" altLang="en-US" sz="2000" dirty="0">
                          <a:effectLst/>
                        </a:rPr>
                        <a:t>质量能量密度是否达到设计要求</a:t>
                      </a:r>
                    </a:p>
                    <a:p>
                      <a:r>
                        <a:rPr lang="en-US" altLang="zh-CN" sz="2000" dirty="0">
                          <a:effectLst/>
                        </a:rPr>
                        <a:t>2.1.5 </a:t>
                      </a:r>
                      <a:r>
                        <a:rPr lang="zh-CN" altLang="en-US" sz="2000" dirty="0">
                          <a:effectLst/>
                        </a:rPr>
                        <a:t>体积能量密度是否满足应用需求</a:t>
                      </a:r>
                    </a:p>
                    <a:p>
                      <a:r>
                        <a:rPr lang="en-US" altLang="zh-CN" sz="2000" dirty="0">
                          <a:effectLst/>
                        </a:rPr>
                        <a:t>2.1.6 </a:t>
                      </a:r>
                      <a:r>
                        <a:rPr lang="zh-CN" altLang="en-US" sz="2000" dirty="0">
                          <a:effectLst/>
                        </a:rPr>
                        <a:t>电池重量是否在合理范围内</a:t>
                      </a:r>
                    </a:p>
                    <a:p>
                      <a:r>
                        <a:rPr lang="en-US" altLang="zh-CN" sz="2000" dirty="0">
                          <a:effectLst/>
                        </a:rPr>
                        <a:t>2.1.7 </a:t>
                      </a:r>
                      <a:r>
                        <a:rPr lang="zh-CN" altLang="en-US" sz="2000" dirty="0">
                          <a:effectLst/>
                        </a:rPr>
                        <a:t>内阻值是否与设计目标一致</a:t>
                      </a:r>
                    </a:p>
                    <a:p>
                      <a:r>
                        <a:rPr lang="en-US" altLang="zh-CN" sz="2000" b="1" dirty="0">
                          <a:effectLst/>
                        </a:rPr>
                        <a:t>2.2 </a:t>
                      </a:r>
                      <a:r>
                        <a:rPr lang="zh-CN" altLang="en-US" sz="2000" b="1" dirty="0">
                          <a:effectLst/>
                        </a:rPr>
                        <a:t>尺寸规格</a:t>
                      </a:r>
                    </a:p>
                    <a:p>
                      <a:r>
                        <a:rPr lang="en-US" altLang="zh-CN" sz="2000" dirty="0">
                          <a:effectLst/>
                        </a:rPr>
                        <a:t>2.2.1 </a:t>
                      </a:r>
                      <a:r>
                        <a:rPr lang="zh-CN" altLang="en-US" sz="2000" dirty="0">
                          <a:effectLst/>
                        </a:rPr>
                        <a:t>长度、宽度、高度尺寸是否准确</a:t>
                      </a:r>
                    </a:p>
                    <a:p>
                      <a:r>
                        <a:rPr lang="en-US" altLang="zh-CN" sz="2000" dirty="0">
                          <a:effectLst/>
                        </a:rPr>
                        <a:t>2.2.2 </a:t>
                      </a:r>
                      <a:r>
                        <a:rPr lang="zh-CN" altLang="en-US" sz="2000" dirty="0">
                          <a:effectLst/>
                        </a:rPr>
                        <a:t>尺寸公差是否合理且可制造</a:t>
                      </a:r>
                    </a:p>
                    <a:p>
                      <a:r>
                        <a:rPr lang="en-US" altLang="zh-CN" sz="2000" dirty="0">
                          <a:effectLst/>
                        </a:rPr>
                        <a:t>2.2.3 </a:t>
                      </a:r>
                      <a:r>
                        <a:rPr lang="zh-CN" altLang="en-US" sz="2000" dirty="0">
                          <a:effectLst/>
                        </a:rPr>
                        <a:t>测量条件是否明确（</a:t>
                      </a:r>
                      <a:r>
                        <a:rPr lang="en-US" altLang="zh-CN" sz="2000" dirty="0">
                          <a:effectLst/>
                        </a:rPr>
                        <a:t>SOC</a:t>
                      </a:r>
                      <a:r>
                        <a:rPr lang="zh-CN" altLang="en-US" sz="2000" dirty="0">
                          <a:effectLst/>
                        </a:rPr>
                        <a:t>、压力等）</a:t>
                      </a:r>
                    </a:p>
                    <a:p>
                      <a:r>
                        <a:rPr lang="en-US" altLang="zh-CN" sz="2000" dirty="0">
                          <a:effectLst/>
                        </a:rPr>
                        <a:t>2.2.4 </a:t>
                      </a:r>
                      <a:r>
                        <a:rPr lang="zh-CN" altLang="en-US" sz="2000" dirty="0">
                          <a:effectLst/>
                        </a:rPr>
                        <a:t>极柱尺寸是否满足连接要求</a:t>
                      </a:r>
                    </a:p>
                    <a:p>
                      <a:r>
                        <a:rPr lang="en-US" altLang="zh-CN" sz="2000" dirty="0">
                          <a:effectLst/>
                        </a:rPr>
                        <a:t>2.2.5 </a:t>
                      </a:r>
                      <a:r>
                        <a:rPr lang="zh-CN" altLang="en-US" sz="2000" dirty="0">
                          <a:effectLst/>
                        </a:rPr>
                        <a:t>是否考虑了膨胀对尺寸的影响</a:t>
                      </a:r>
                    </a:p>
                    <a:p>
                      <a:r>
                        <a:rPr lang="en-US" altLang="zh-CN" sz="2000" b="1" dirty="0">
                          <a:effectLst/>
                        </a:rPr>
                        <a:t>2.3 </a:t>
                      </a:r>
                      <a:r>
                        <a:rPr lang="zh-CN" altLang="en-US" sz="2000" b="1" dirty="0">
                          <a:effectLst/>
                        </a:rPr>
                        <a:t>工作条件范围</a:t>
                      </a:r>
                    </a:p>
                    <a:p>
                      <a:r>
                        <a:rPr lang="en-US" altLang="zh-CN" sz="2000" dirty="0">
                          <a:effectLst/>
                        </a:rPr>
                        <a:t>2.3.1 </a:t>
                      </a:r>
                      <a:r>
                        <a:rPr lang="zh-CN" altLang="en-US" sz="2000" dirty="0">
                          <a:effectLst/>
                        </a:rPr>
                        <a:t>充电温度范围是否满足应用需求</a:t>
                      </a:r>
                    </a:p>
                    <a:p>
                      <a:r>
                        <a:rPr lang="en-US" altLang="zh-CN" sz="2000" dirty="0">
                          <a:effectLst/>
                        </a:rPr>
                        <a:t>2.3.2 </a:t>
                      </a:r>
                      <a:r>
                        <a:rPr lang="zh-CN" altLang="en-US" sz="2000" dirty="0">
                          <a:effectLst/>
                        </a:rPr>
                        <a:t>放电温度范围是否覆盖使用场景</a:t>
                      </a:r>
                    </a:p>
                    <a:p>
                      <a:r>
                        <a:rPr lang="en-US" altLang="zh-CN" sz="2000" dirty="0">
                          <a:effectLst/>
                        </a:rPr>
                        <a:t>2.3.3 </a:t>
                      </a:r>
                      <a:r>
                        <a:rPr lang="zh-CN" altLang="en-US" sz="2000" dirty="0">
                          <a:effectLst/>
                        </a:rPr>
                        <a:t>存储温度范围是否合理</a:t>
                      </a:r>
                    </a:p>
                    <a:p>
                      <a:r>
                        <a:rPr lang="en-US" altLang="zh-CN" sz="2000" dirty="0">
                          <a:effectLst/>
                        </a:rPr>
                        <a:t>2.3.4 </a:t>
                      </a:r>
                      <a:r>
                        <a:rPr lang="zh-CN" altLang="en-US" sz="2000" dirty="0">
                          <a:effectLst/>
                        </a:rPr>
                        <a:t>电压范围是否与</a:t>
                      </a:r>
                      <a:r>
                        <a:rPr lang="en-US" altLang="zh-CN" sz="2000" dirty="0">
                          <a:effectLst/>
                        </a:rPr>
                        <a:t>BMS</a:t>
                      </a:r>
                      <a:r>
                        <a:rPr lang="zh-CN" altLang="en-US" sz="2000" dirty="0">
                          <a:effectLst/>
                        </a:rPr>
                        <a:t>设计匹配</a:t>
                      </a:r>
                    </a:p>
                    <a:p>
                      <a:r>
                        <a:rPr lang="en-US" altLang="zh-CN" sz="2000" dirty="0">
                          <a:effectLst/>
                        </a:rPr>
                        <a:t>2.3.5 </a:t>
                      </a:r>
                      <a:r>
                        <a:rPr lang="zh-CN" altLang="en-US" sz="2000" dirty="0">
                          <a:effectLst/>
                        </a:rPr>
                        <a:t>温度</a:t>
                      </a:r>
                      <a:r>
                        <a:rPr lang="en-US" altLang="zh-CN" sz="2000" dirty="0">
                          <a:effectLst/>
                        </a:rPr>
                        <a:t>-</a:t>
                      </a:r>
                      <a:r>
                        <a:rPr lang="zh-CN" altLang="en-US" sz="2000" dirty="0">
                          <a:effectLst/>
                        </a:rPr>
                        <a:t>电压关系是否明确</a:t>
                      </a:r>
                    </a:p>
                    <a:p>
                      <a:r>
                        <a:rPr lang="zh-CN" altLang="en-US" sz="2000" b="1" dirty="0">
                          <a:effectLst/>
                        </a:rPr>
                        <a:t>三、性能数据审查点</a:t>
                      </a:r>
                    </a:p>
                    <a:p>
                      <a:r>
                        <a:rPr lang="en-US" altLang="zh-CN" sz="2000" b="1" dirty="0">
                          <a:effectLst/>
                        </a:rPr>
                        <a:t>3.1 </a:t>
                      </a:r>
                      <a:r>
                        <a:rPr lang="zh-CN" altLang="en-US" sz="2000" b="1" dirty="0">
                          <a:effectLst/>
                        </a:rPr>
                        <a:t>内阻特性</a:t>
                      </a:r>
                    </a:p>
                    <a:p>
                      <a:r>
                        <a:rPr lang="en-US" altLang="zh-CN" sz="2000" dirty="0">
                          <a:effectLst/>
                        </a:rPr>
                        <a:t>3.1.1 DC-IR</a:t>
                      </a:r>
                      <a:r>
                        <a:rPr lang="zh-CN" altLang="en-US" sz="2000" dirty="0">
                          <a:effectLst/>
                        </a:rPr>
                        <a:t>测试温度点是否覆盖使用范围</a:t>
                      </a:r>
                    </a:p>
                    <a:p>
                      <a:r>
                        <a:rPr lang="en-US" altLang="zh-CN" sz="2000" dirty="0">
                          <a:effectLst/>
                        </a:rPr>
                        <a:t>3.1.2 SOC</a:t>
                      </a:r>
                      <a:r>
                        <a:rPr lang="zh-CN" altLang="en-US" sz="2000" dirty="0">
                          <a:effectLst/>
                        </a:rPr>
                        <a:t>测试点是否合理分布</a:t>
                      </a:r>
                    </a:p>
                    <a:p>
                      <a:r>
                        <a:rPr lang="en-US" altLang="zh-CN" sz="2000" dirty="0">
                          <a:effectLst/>
                        </a:rPr>
                        <a:t>3.1.3 </a:t>
                      </a:r>
                      <a:r>
                        <a:rPr lang="zh-CN" altLang="en-US" sz="2000" dirty="0">
                          <a:effectLst/>
                        </a:rPr>
                        <a:t>测试方法是否标准规范</a:t>
                      </a:r>
                    </a:p>
                    <a:p>
                      <a:r>
                        <a:rPr lang="en-US" altLang="zh-CN" sz="2000" dirty="0">
                          <a:effectLst/>
                        </a:rPr>
                        <a:t>3.1.4 </a:t>
                      </a:r>
                      <a:r>
                        <a:rPr lang="zh-CN" altLang="en-US" sz="2000" dirty="0">
                          <a:effectLst/>
                        </a:rPr>
                        <a:t>数据趋势是否符合理论预期</a:t>
                      </a:r>
                    </a:p>
                    <a:p>
                      <a:r>
                        <a:rPr lang="en-US" altLang="zh-CN" sz="2000" dirty="0">
                          <a:effectLst/>
                        </a:rPr>
                        <a:t>3.1.5 </a:t>
                      </a:r>
                      <a:r>
                        <a:rPr lang="zh-CN" altLang="en-US" sz="2000" dirty="0">
                          <a:effectLst/>
                        </a:rPr>
                        <a:t>低温内阻是否在可接受范围</a:t>
                      </a:r>
                    </a:p>
                    <a:p>
                      <a:r>
                        <a:rPr lang="en-US" altLang="zh-CN" sz="2000" b="1" dirty="0">
                          <a:effectLst/>
                        </a:rPr>
                        <a:t>3.2 </a:t>
                      </a:r>
                      <a:r>
                        <a:rPr lang="zh-CN" altLang="en-US" sz="2000" b="1" dirty="0">
                          <a:effectLst/>
                        </a:rPr>
                        <a:t>功率特性</a:t>
                      </a:r>
                    </a:p>
                    <a:p>
                      <a:r>
                        <a:rPr lang="en-US" altLang="zh-CN" sz="2000" dirty="0">
                          <a:effectLst/>
                        </a:rPr>
                        <a:t>3.2.1 </a:t>
                      </a:r>
                      <a:r>
                        <a:rPr lang="zh-CN" altLang="en-US" sz="2000" dirty="0">
                          <a:effectLst/>
                        </a:rPr>
                        <a:t>功率测试条件是否明确</a:t>
                      </a:r>
                    </a:p>
                    <a:p>
                      <a:r>
                        <a:rPr lang="en-US" altLang="zh-CN" sz="2000" dirty="0">
                          <a:effectLst/>
                        </a:rPr>
                        <a:t>3.2.2 </a:t>
                      </a:r>
                      <a:r>
                        <a:rPr lang="zh-CN" altLang="en-US" sz="2000" dirty="0">
                          <a:effectLst/>
                        </a:rPr>
                        <a:t>最大功率值是否满足应用需求</a:t>
                      </a:r>
                    </a:p>
                    <a:p>
                      <a:r>
                        <a:rPr lang="en-US" altLang="zh-CN" sz="2000" dirty="0">
                          <a:effectLst/>
                        </a:rPr>
                        <a:t>3.2.3 </a:t>
                      </a:r>
                      <a:r>
                        <a:rPr lang="zh-CN" altLang="en-US" sz="2000" dirty="0">
                          <a:effectLst/>
                        </a:rPr>
                        <a:t>功率衰减趋势是否合理</a:t>
                      </a:r>
                    </a:p>
                    <a:p>
                      <a:r>
                        <a:rPr lang="en-US" altLang="zh-CN" sz="2000" dirty="0">
                          <a:effectLst/>
                        </a:rPr>
                        <a:t>3.2.4 </a:t>
                      </a:r>
                      <a:r>
                        <a:rPr lang="zh-CN" altLang="en-US" sz="2000" dirty="0">
                          <a:effectLst/>
                        </a:rPr>
                        <a:t>测试方法是否可重复</a:t>
                      </a:r>
                    </a:p>
                    <a:p>
                      <a:r>
                        <a:rPr lang="en-US" altLang="zh-CN" sz="2000" dirty="0">
                          <a:effectLst/>
                        </a:rPr>
                        <a:t>3.2.5 </a:t>
                      </a:r>
                      <a:r>
                        <a:rPr lang="zh-CN" altLang="en-US" sz="2000" dirty="0">
                          <a:effectLst/>
                        </a:rPr>
                        <a:t>功率密度是否达到设计要求</a:t>
                      </a:r>
                    </a:p>
                    <a:p>
                      <a:r>
                        <a:rPr lang="en-US" altLang="zh-CN" sz="2000" b="1" dirty="0">
                          <a:effectLst/>
                        </a:rPr>
                        <a:t>3.3 </a:t>
                      </a:r>
                      <a:r>
                        <a:rPr lang="zh-CN" altLang="en-US" sz="2000" b="1" dirty="0">
                          <a:effectLst/>
                        </a:rPr>
                        <a:t>循环寿命</a:t>
                      </a:r>
                    </a:p>
                    <a:p>
                      <a:r>
                        <a:rPr lang="en-US" altLang="zh-CN" sz="2000" dirty="0">
                          <a:effectLst/>
                        </a:rPr>
                        <a:t>3.3.1 </a:t>
                      </a:r>
                      <a:r>
                        <a:rPr lang="zh-CN" altLang="en-US" sz="2000" dirty="0">
                          <a:effectLst/>
                        </a:rPr>
                        <a:t>循环测试条件是否与实际使用一致</a:t>
                      </a:r>
                    </a:p>
                    <a:p>
                      <a:r>
                        <a:rPr lang="en-US" altLang="zh-CN" sz="2000" dirty="0">
                          <a:effectLst/>
                        </a:rPr>
                        <a:t>3.3.2 </a:t>
                      </a:r>
                      <a:r>
                        <a:rPr lang="zh-CN" altLang="en-US" sz="2000" dirty="0">
                          <a:effectLst/>
                        </a:rPr>
                        <a:t>快充策略是否合理可行</a:t>
                      </a:r>
                    </a:p>
                    <a:p>
                      <a:r>
                        <a:rPr lang="en-US" altLang="zh-CN" sz="2000" dirty="0">
                          <a:effectLst/>
                        </a:rPr>
                        <a:t>3.3.3 </a:t>
                      </a:r>
                      <a:r>
                        <a:rPr lang="zh-CN" altLang="en-US" sz="2000" dirty="0">
                          <a:effectLst/>
                        </a:rPr>
                        <a:t>寿命指标是否满足项目要求</a:t>
                      </a:r>
                    </a:p>
                    <a:p>
                      <a:r>
                        <a:rPr lang="en-US" altLang="zh-CN" sz="2000" dirty="0">
                          <a:effectLst/>
                        </a:rPr>
                        <a:t>3.3.4 </a:t>
                      </a:r>
                      <a:r>
                        <a:rPr lang="zh-CN" altLang="en-US" sz="2000" dirty="0">
                          <a:effectLst/>
                        </a:rPr>
                        <a:t>容量衰减曲线是否提供</a:t>
                      </a:r>
                    </a:p>
                    <a:p>
                      <a:r>
                        <a:rPr lang="en-US" altLang="zh-CN" sz="2000" dirty="0">
                          <a:effectLst/>
                        </a:rPr>
                        <a:t>3.3.5 </a:t>
                      </a:r>
                      <a:r>
                        <a:rPr lang="zh-CN" altLang="en-US" sz="2000" dirty="0">
                          <a:effectLst/>
                        </a:rPr>
                        <a:t>是否包含不同温度下的寿命数据</a:t>
                      </a:r>
                    </a:p>
                    <a:p>
                      <a:r>
                        <a:rPr lang="en-US" altLang="zh-CN" sz="2000" b="1" dirty="0">
                          <a:effectLst/>
                        </a:rPr>
                        <a:t>3.4 </a:t>
                      </a:r>
                      <a:r>
                        <a:rPr lang="zh-CN" altLang="en-US" sz="2000" b="1" dirty="0">
                          <a:effectLst/>
                        </a:rPr>
                        <a:t>存储性能</a:t>
                      </a:r>
                    </a:p>
                    <a:p>
                      <a:r>
                        <a:rPr lang="en-US" altLang="zh-CN" sz="2000" dirty="0">
                          <a:effectLst/>
                        </a:rPr>
                        <a:t>3.4.1 </a:t>
                      </a:r>
                      <a:r>
                        <a:rPr lang="zh-CN" altLang="en-US" sz="2000" dirty="0">
                          <a:effectLst/>
                        </a:rPr>
                        <a:t>存储温度点是否覆盖实际存储条件</a:t>
                      </a:r>
                    </a:p>
                    <a:p>
                      <a:r>
                        <a:rPr lang="en-US" altLang="zh-CN" sz="2000" dirty="0">
                          <a:effectLst/>
                        </a:rPr>
                        <a:t>3.4.2 </a:t>
                      </a:r>
                      <a:r>
                        <a:rPr lang="zh-CN" altLang="en-US" sz="2000" dirty="0">
                          <a:effectLst/>
                        </a:rPr>
                        <a:t>容量保持率是否满足要求</a:t>
                      </a:r>
                    </a:p>
                    <a:p>
                      <a:r>
                        <a:rPr lang="en-US" altLang="zh-CN" sz="2000" dirty="0">
                          <a:effectLst/>
                        </a:rPr>
                        <a:t>3.4.3 </a:t>
                      </a:r>
                      <a:r>
                        <a:rPr lang="zh-CN" altLang="en-US" sz="2000" dirty="0">
                          <a:effectLst/>
                        </a:rPr>
                        <a:t>容量恢复率是否可接受</a:t>
                      </a:r>
                    </a:p>
                    <a:p>
                      <a:r>
                        <a:rPr lang="en-US" altLang="zh-CN" sz="2000" dirty="0">
                          <a:effectLst/>
                        </a:rPr>
                        <a:t>3.4.4 </a:t>
                      </a:r>
                      <a:r>
                        <a:rPr lang="zh-CN" altLang="en-US" sz="2000" dirty="0">
                          <a:effectLst/>
                        </a:rPr>
                        <a:t>存储</a:t>
                      </a:r>
                      <a:r>
                        <a:rPr lang="en-US" altLang="zh-CN" sz="2000" dirty="0">
                          <a:effectLst/>
                        </a:rPr>
                        <a:t>SOC</a:t>
                      </a:r>
                      <a:r>
                        <a:rPr lang="zh-CN" altLang="en-US" sz="2000" dirty="0">
                          <a:effectLst/>
                        </a:rPr>
                        <a:t>是否优化</a:t>
                      </a:r>
                    </a:p>
                    <a:p>
                      <a:r>
                        <a:rPr lang="en-US" altLang="zh-CN" sz="2000" dirty="0">
                          <a:effectLst/>
                        </a:rPr>
                        <a:t>3.4.5 </a:t>
                      </a:r>
                      <a:r>
                        <a:rPr lang="zh-CN" altLang="en-US" sz="2000" dirty="0">
                          <a:effectLst/>
                        </a:rPr>
                        <a:t>长期存储数据是否完整</a:t>
                      </a:r>
                    </a:p>
                    <a:p>
                      <a:r>
                        <a:rPr lang="zh-CN" altLang="en-US" sz="2000" b="1" dirty="0">
                          <a:effectLst/>
                        </a:rPr>
                        <a:t>四、安全性能审查点</a:t>
                      </a:r>
                    </a:p>
                    <a:p>
                      <a:r>
                        <a:rPr lang="en-US" altLang="zh-CN" sz="2000" b="1" dirty="0">
                          <a:effectLst/>
                        </a:rPr>
                        <a:t>4.1 </a:t>
                      </a:r>
                      <a:r>
                        <a:rPr lang="zh-CN" altLang="en-US" sz="2000" b="1" dirty="0">
                          <a:effectLst/>
                        </a:rPr>
                        <a:t>安全测试结果</a:t>
                      </a:r>
                    </a:p>
                    <a:p>
                      <a:r>
                        <a:rPr lang="en-US" altLang="zh-CN" sz="2000" dirty="0">
                          <a:effectLst/>
                        </a:rPr>
                        <a:t>4.1.1 </a:t>
                      </a:r>
                      <a:r>
                        <a:rPr lang="zh-CN" altLang="en-US" sz="2000" dirty="0">
                          <a:effectLst/>
                        </a:rPr>
                        <a:t>机械滥用测试是否完整</a:t>
                      </a:r>
                    </a:p>
                    <a:p>
                      <a:r>
                        <a:rPr lang="en-US" altLang="zh-CN" sz="2000" dirty="0">
                          <a:effectLst/>
                        </a:rPr>
                        <a:t>4.1.2 </a:t>
                      </a:r>
                      <a:r>
                        <a:rPr lang="zh-CN" altLang="en-US" sz="2000" dirty="0">
                          <a:effectLst/>
                        </a:rPr>
                        <a:t>热滥用测试条件是否严格</a:t>
                      </a:r>
                    </a:p>
                    <a:p>
                      <a:r>
                        <a:rPr lang="en-US" altLang="zh-CN" sz="2000" dirty="0">
                          <a:effectLst/>
                        </a:rPr>
                        <a:t>4.1.3 </a:t>
                      </a:r>
                      <a:r>
                        <a:rPr lang="zh-CN" altLang="en-US" sz="2000" dirty="0">
                          <a:effectLst/>
                        </a:rPr>
                        <a:t>电滥用测试是否覆盖所有场景</a:t>
                      </a:r>
                    </a:p>
                    <a:p>
                      <a:r>
                        <a:rPr lang="en-US" altLang="zh-CN" sz="2000" dirty="0">
                          <a:effectLst/>
                        </a:rPr>
                        <a:t>4.1.4 EUCAR</a:t>
                      </a:r>
                      <a:r>
                        <a:rPr lang="zh-CN" altLang="en-US" sz="2000" dirty="0">
                          <a:effectLst/>
                        </a:rPr>
                        <a:t>等级是否达到安全要求</a:t>
                      </a:r>
                    </a:p>
                    <a:p>
                      <a:r>
                        <a:rPr lang="en-US" altLang="zh-CN" sz="2000" dirty="0">
                          <a:effectLst/>
                        </a:rPr>
                        <a:t>4.1.5 </a:t>
                      </a:r>
                      <a:r>
                        <a:rPr lang="zh-CN" altLang="en-US" sz="2000" dirty="0">
                          <a:effectLst/>
                        </a:rPr>
                        <a:t>测试方法是否符合国际标准</a:t>
                      </a:r>
                    </a:p>
                    <a:p>
                      <a:r>
                        <a:rPr lang="en-US" altLang="zh-CN" sz="2000" b="1" dirty="0">
                          <a:effectLst/>
                        </a:rPr>
                        <a:t>4.2 </a:t>
                      </a:r>
                      <a:r>
                        <a:rPr lang="zh-CN" altLang="en-US" sz="2000" b="1" dirty="0">
                          <a:effectLst/>
                        </a:rPr>
                        <a:t>环境测试</a:t>
                      </a:r>
                    </a:p>
                    <a:p>
                      <a:r>
                        <a:rPr lang="en-US" altLang="zh-CN" sz="2000" dirty="0">
                          <a:effectLst/>
                        </a:rPr>
                        <a:t>4.2.1 </a:t>
                      </a:r>
                      <a:r>
                        <a:rPr lang="zh-CN" altLang="en-US" sz="2000" dirty="0">
                          <a:effectLst/>
                        </a:rPr>
                        <a:t>跌落测试高度是否合理</a:t>
                      </a:r>
                    </a:p>
                    <a:p>
                      <a:r>
                        <a:rPr lang="en-US" altLang="zh-CN" sz="2000" dirty="0">
                          <a:effectLst/>
                        </a:rPr>
                        <a:t>4.2.2 </a:t>
                      </a:r>
                      <a:r>
                        <a:rPr lang="zh-CN" altLang="en-US" sz="2000" dirty="0">
                          <a:effectLst/>
                        </a:rPr>
                        <a:t>温度循环条件是否严苛</a:t>
                      </a:r>
                    </a:p>
                    <a:p>
                      <a:r>
                        <a:rPr lang="en-US" altLang="zh-CN" sz="2000" dirty="0">
                          <a:effectLst/>
                        </a:rPr>
                        <a:t>4.2.3 </a:t>
                      </a:r>
                      <a:r>
                        <a:rPr lang="zh-CN" altLang="en-US" sz="2000" dirty="0">
                          <a:effectLst/>
                        </a:rPr>
                        <a:t>低气压测试是否覆盖高空应用</a:t>
                      </a:r>
                    </a:p>
                    <a:p>
                      <a:r>
                        <a:rPr lang="en-US" altLang="zh-CN" sz="2000" dirty="0">
                          <a:effectLst/>
                        </a:rPr>
                        <a:t>4.2.4 </a:t>
                      </a:r>
                      <a:r>
                        <a:rPr lang="zh-CN" altLang="en-US" sz="2000" dirty="0">
                          <a:effectLst/>
                        </a:rPr>
                        <a:t>海水浸泡是否考虑海洋环境</a:t>
                      </a:r>
                    </a:p>
                    <a:p>
                      <a:r>
                        <a:rPr lang="en-US" altLang="zh-CN" sz="2000" dirty="0">
                          <a:effectLst/>
                        </a:rPr>
                        <a:t>4.2.5 </a:t>
                      </a:r>
                      <a:r>
                        <a:rPr lang="zh-CN" altLang="en-US" sz="2000" dirty="0">
                          <a:effectLst/>
                        </a:rPr>
                        <a:t>是否包含振动测试数据</a:t>
                      </a:r>
                    </a:p>
                    <a:p>
                      <a:r>
                        <a:rPr lang="en-US" altLang="zh-CN" sz="2000" b="1" dirty="0">
                          <a:effectLst/>
                        </a:rPr>
                        <a:t>4.3 </a:t>
                      </a:r>
                      <a:r>
                        <a:rPr lang="zh-CN" altLang="en-US" sz="2000" b="1" dirty="0">
                          <a:effectLst/>
                        </a:rPr>
                        <a:t>安全功能设计</a:t>
                      </a:r>
                    </a:p>
                    <a:p>
                      <a:r>
                        <a:rPr lang="en-US" altLang="zh-CN" sz="2000" dirty="0">
                          <a:effectLst/>
                        </a:rPr>
                        <a:t>4.3.1 </a:t>
                      </a:r>
                      <a:r>
                        <a:rPr lang="zh-CN" altLang="en-US" sz="2000" dirty="0">
                          <a:effectLst/>
                        </a:rPr>
                        <a:t>安全阀设计是否合理</a:t>
                      </a:r>
                    </a:p>
                    <a:p>
                      <a:r>
                        <a:rPr lang="en-US" altLang="zh-CN" sz="2000" dirty="0">
                          <a:effectLst/>
                        </a:rPr>
                        <a:t>4.3.2 </a:t>
                      </a:r>
                      <a:r>
                        <a:rPr lang="zh-CN" altLang="en-US" sz="2000" dirty="0">
                          <a:effectLst/>
                        </a:rPr>
                        <a:t>熔断保护是否可靠</a:t>
                      </a:r>
                    </a:p>
                    <a:p>
                      <a:r>
                        <a:rPr lang="en-US" altLang="zh-CN" sz="2000" dirty="0">
                          <a:effectLst/>
                        </a:rPr>
                        <a:t>4.3.3 </a:t>
                      </a:r>
                      <a:r>
                        <a:rPr lang="zh-CN" altLang="en-US" sz="2000" dirty="0">
                          <a:effectLst/>
                        </a:rPr>
                        <a:t>排气面积是否足够</a:t>
                      </a:r>
                    </a:p>
                    <a:p>
                      <a:r>
                        <a:rPr lang="en-US" altLang="zh-CN" sz="2000" dirty="0">
                          <a:effectLst/>
                        </a:rPr>
                        <a:t>4.3.4 </a:t>
                      </a:r>
                      <a:r>
                        <a:rPr lang="zh-CN" altLang="en-US" sz="2000" dirty="0">
                          <a:effectLst/>
                        </a:rPr>
                        <a:t>熔断曲线是否准确</a:t>
                      </a:r>
                    </a:p>
                    <a:p>
                      <a:r>
                        <a:rPr lang="en-US" altLang="zh-CN" sz="2000" dirty="0">
                          <a:effectLst/>
                        </a:rPr>
                        <a:t>4.3.5 </a:t>
                      </a:r>
                      <a:r>
                        <a:rPr lang="zh-CN" altLang="en-US" sz="2000" dirty="0">
                          <a:effectLst/>
                        </a:rPr>
                        <a:t>安全功能是否冗余设计</a:t>
                      </a:r>
                    </a:p>
                    <a:p>
                      <a:r>
                        <a:rPr lang="zh-CN" altLang="en-US" sz="2000" b="1" dirty="0">
                          <a:effectLst/>
                        </a:rPr>
                        <a:t>五、设计参数审查点</a:t>
                      </a:r>
                    </a:p>
                    <a:p>
                      <a:r>
                        <a:rPr lang="en-US" altLang="zh-CN" sz="2000" b="1" dirty="0">
                          <a:effectLst/>
                        </a:rPr>
                        <a:t>5.1 </a:t>
                      </a:r>
                      <a:r>
                        <a:rPr lang="zh-CN" altLang="en-US" sz="2000" b="1" dirty="0">
                          <a:effectLst/>
                        </a:rPr>
                        <a:t>机械设计参数</a:t>
                      </a:r>
                    </a:p>
                    <a:p>
                      <a:r>
                        <a:rPr lang="en-US" altLang="zh-CN" sz="2000" dirty="0">
                          <a:effectLst/>
                        </a:rPr>
                        <a:t>5.1.1 </a:t>
                      </a:r>
                      <a:r>
                        <a:rPr lang="zh-CN" altLang="en-US" sz="2000" dirty="0">
                          <a:effectLst/>
                        </a:rPr>
                        <a:t>极柱扭矩限制是否合理</a:t>
                      </a:r>
                    </a:p>
                    <a:p>
                      <a:r>
                        <a:rPr lang="en-US" altLang="zh-CN" sz="2000" dirty="0">
                          <a:effectLst/>
                        </a:rPr>
                        <a:t>5.1.2 </a:t>
                      </a:r>
                      <a:r>
                        <a:rPr lang="zh-CN" altLang="en-US" sz="2000" dirty="0">
                          <a:effectLst/>
                        </a:rPr>
                        <a:t>极柱受力限制是否安全</a:t>
                      </a:r>
                    </a:p>
                    <a:p>
                      <a:r>
                        <a:rPr lang="en-US" altLang="zh-CN" sz="2000" dirty="0">
                          <a:effectLst/>
                        </a:rPr>
                        <a:t>5.1.3 </a:t>
                      </a:r>
                      <a:r>
                        <a:rPr lang="zh-CN" altLang="en-US" sz="2000" dirty="0">
                          <a:effectLst/>
                        </a:rPr>
                        <a:t>压缩参数是否可实施</a:t>
                      </a:r>
                    </a:p>
                    <a:p>
                      <a:r>
                        <a:rPr lang="en-US" altLang="zh-CN" sz="2000" dirty="0">
                          <a:effectLst/>
                        </a:rPr>
                        <a:t>5.1.4 </a:t>
                      </a:r>
                      <a:r>
                        <a:rPr lang="zh-CN" altLang="en-US" sz="2000" dirty="0">
                          <a:effectLst/>
                        </a:rPr>
                        <a:t>压缩速度是否合适</a:t>
                      </a:r>
                    </a:p>
                    <a:p>
                      <a:r>
                        <a:rPr lang="en-US" altLang="zh-CN" sz="2000" dirty="0">
                          <a:effectLst/>
                        </a:rPr>
                        <a:t>5.1.5 </a:t>
                      </a:r>
                      <a:r>
                        <a:rPr lang="zh-CN" altLang="en-US" sz="2000" dirty="0">
                          <a:effectLst/>
                        </a:rPr>
                        <a:t>保持时间是否充分</a:t>
                      </a:r>
                    </a:p>
                    <a:p>
                      <a:r>
                        <a:rPr lang="en-US" altLang="zh-CN" sz="2000" b="1" dirty="0">
                          <a:effectLst/>
                        </a:rPr>
                        <a:t>5.2 </a:t>
                      </a:r>
                      <a:r>
                        <a:rPr lang="zh-CN" altLang="en-US" sz="2000" b="1" dirty="0">
                          <a:effectLst/>
                        </a:rPr>
                        <a:t>膨胀力特性</a:t>
                      </a:r>
                    </a:p>
                    <a:p>
                      <a:r>
                        <a:rPr lang="en-US" altLang="zh-CN" sz="2000" dirty="0">
                          <a:effectLst/>
                        </a:rPr>
                        <a:t>5.2.1 BOL</a:t>
                      </a:r>
                      <a:r>
                        <a:rPr lang="zh-CN" altLang="en-US" sz="2000" dirty="0">
                          <a:effectLst/>
                        </a:rPr>
                        <a:t>膨胀力是否在预期范围</a:t>
                      </a:r>
                    </a:p>
                    <a:p>
                      <a:r>
                        <a:rPr lang="en-US" altLang="zh-CN" sz="2000" dirty="0">
                          <a:effectLst/>
                        </a:rPr>
                        <a:t>5.2.2 EOL</a:t>
                      </a:r>
                      <a:r>
                        <a:rPr lang="zh-CN" altLang="en-US" sz="2000" dirty="0">
                          <a:effectLst/>
                        </a:rPr>
                        <a:t>膨胀力是否可接受</a:t>
                      </a:r>
                    </a:p>
                    <a:p>
                      <a:r>
                        <a:rPr lang="en-US" altLang="zh-CN" sz="2000" dirty="0">
                          <a:effectLst/>
                        </a:rPr>
                        <a:t>5.2.3 </a:t>
                      </a:r>
                      <a:r>
                        <a:rPr lang="zh-CN" altLang="en-US" sz="2000" dirty="0">
                          <a:effectLst/>
                        </a:rPr>
                        <a:t>测试条件是否标准</a:t>
                      </a:r>
                    </a:p>
                    <a:p>
                      <a:r>
                        <a:rPr lang="en-US" altLang="zh-CN" sz="2000" dirty="0">
                          <a:effectLst/>
                        </a:rPr>
                        <a:t>5.2.4 </a:t>
                      </a:r>
                      <a:r>
                        <a:rPr lang="zh-CN" altLang="en-US" sz="2000" dirty="0">
                          <a:effectLst/>
                        </a:rPr>
                        <a:t>数据是否为模组设计提供依据</a:t>
                      </a:r>
                    </a:p>
                    <a:p>
                      <a:r>
                        <a:rPr lang="en-US" altLang="zh-CN" sz="2000" dirty="0">
                          <a:effectLst/>
                        </a:rPr>
                        <a:t>5.2.5 </a:t>
                      </a:r>
                      <a:r>
                        <a:rPr lang="zh-CN" altLang="en-US" sz="2000" dirty="0">
                          <a:effectLst/>
                        </a:rPr>
                        <a:t>膨胀力变化趋势是否合理</a:t>
                      </a:r>
                    </a:p>
                    <a:p>
                      <a:r>
                        <a:rPr lang="en-US" altLang="zh-CN" sz="2000" b="1" dirty="0">
                          <a:effectLst/>
                        </a:rPr>
                        <a:t>5.3 </a:t>
                      </a:r>
                      <a:r>
                        <a:rPr lang="zh-CN" altLang="en-US" sz="2000" b="1" dirty="0">
                          <a:effectLst/>
                        </a:rPr>
                        <a:t>焊接工艺参数</a:t>
                      </a:r>
                    </a:p>
                    <a:p>
                      <a:r>
                        <a:rPr lang="en-US" altLang="zh-CN" sz="2000" dirty="0">
                          <a:effectLst/>
                        </a:rPr>
                        <a:t>5.3.1 </a:t>
                      </a:r>
                      <a:r>
                        <a:rPr lang="zh-CN" altLang="en-US" sz="2000" dirty="0">
                          <a:effectLst/>
                        </a:rPr>
                        <a:t>焊接温度限制是否安全</a:t>
                      </a:r>
                    </a:p>
                    <a:p>
                      <a:r>
                        <a:rPr lang="en-US" altLang="zh-CN" sz="2000" dirty="0">
                          <a:effectLst/>
                        </a:rPr>
                        <a:t>5.3.2 </a:t>
                      </a:r>
                      <a:r>
                        <a:rPr lang="zh-CN" altLang="en-US" sz="2000" dirty="0">
                          <a:effectLst/>
                        </a:rPr>
                        <a:t>允许焊接区域是否明确</a:t>
                      </a:r>
                    </a:p>
                    <a:p>
                      <a:r>
                        <a:rPr lang="en-US" altLang="zh-CN" sz="2000" dirty="0">
                          <a:effectLst/>
                        </a:rPr>
                        <a:t>5.3.3 </a:t>
                      </a:r>
                      <a:r>
                        <a:rPr lang="zh-CN" altLang="en-US" sz="2000" dirty="0">
                          <a:effectLst/>
                        </a:rPr>
                        <a:t>焊接对极柱高度影响是否评估</a:t>
                      </a:r>
                    </a:p>
                    <a:p>
                      <a:r>
                        <a:rPr lang="en-US" altLang="zh-CN" sz="2000" dirty="0">
                          <a:effectLst/>
                        </a:rPr>
                        <a:t>5.3.4 </a:t>
                      </a:r>
                      <a:r>
                        <a:rPr lang="zh-CN" altLang="en-US" sz="2000" dirty="0">
                          <a:effectLst/>
                        </a:rPr>
                        <a:t>工艺参数是否可操作</a:t>
                      </a:r>
                    </a:p>
                    <a:p>
                      <a:r>
                        <a:rPr lang="en-US" altLang="zh-CN" sz="2000" dirty="0">
                          <a:effectLst/>
                        </a:rPr>
                        <a:t>5.3.5 </a:t>
                      </a:r>
                      <a:r>
                        <a:rPr lang="zh-CN" altLang="en-US" sz="2000" dirty="0">
                          <a:effectLst/>
                        </a:rPr>
                        <a:t>是否考虑焊接质量检测</a:t>
                      </a:r>
                    </a:p>
                    <a:p>
                      <a:r>
                        <a:rPr lang="zh-CN" altLang="en-US" sz="2000" b="1" dirty="0">
                          <a:effectLst/>
                        </a:rPr>
                        <a:t>六、使用规范审查点</a:t>
                      </a:r>
                    </a:p>
                    <a:p>
                      <a:r>
                        <a:rPr lang="en-US" altLang="zh-CN" sz="2000" b="1" dirty="0">
                          <a:effectLst/>
                        </a:rPr>
                        <a:t>6.1 </a:t>
                      </a:r>
                      <a:r>
                        <a:rPr lang="zh-CN" altLang="en-US" sz="2000" b="1" dirty="0">
                          <a:effectLst/>
                        </a:rPr>
                        <a:t>操作安全要求</a:t>
                      </a:r>
                    </a:p>
                    <a:p>
                      <a:r>
                        <a:rPr lang="en-US" altLang="zh-CN" sz="2000" dirty="0">
                          <a:effectLst/>
                        </a:rPr>
                        <a:t>6.1.1 </a:t>
                      </a:r>
                      <a:r>
                        <a:rPr lang="zh-CN" altLang="en-US" sz="2000" dirty="0">
                          <a:effectLst/>
                        </a:rPr>
                        <a:t>危险警告是否完整明确</a:t>
                      </a:r>
                    </a:p>
                    <a:p>
                      <a:r>
                        <a:rPr lang="en-US" altLang="zh-CN" sz="2000" dirty="0">
                          <a:effectLst/>
                        </a:rPr>
                        <a:t>6.1.2 </a:t>
                      </a:r>
                      <a:r>
                        <a:rPr lang="zh-CN" altLang="en-US" sz="2000" dirty="0">
                          <a:effectLst/>
                        </a:rPr>
                        <a:t>保护措施是否详细可行</a:t>
                      </a:r>
                    </a:p>
                    <a:p>
                      <a:r>
                        <a:rPr lang="en-US" altLang="zh-CN" sz="2000" dirty="0">
                          <a:effectLst/>
                        </a:rPr>
                        <a:t>6.1.3 </a:t>
                      </a:r>
                      <a:r>
                        <a:rPr lang="zh-CN" altLang="en-US" sz="2000" dirty="0">
                          <a:effectLst/>
                        </a:rPr>
                        <a:t>应急处理程序是否清晰</a:t>
                      </a:r>
                    </a:p>
                    <a:p>
                      <a:r>
                        <a:rPr lang="en-US" altLang="zh-CN" sz="2000" dirty="0">
                          <a:effectLst/>
                        </a:rPr>
                        <a:t>6.1.4 </a:t>
                      </a:r>
                      <a:r>
                        <a:rPr lang="zh-CN" altLang="en-US" sz="2000" dirty="0">
                          <a:effectLst/>
                        </a:rPr>
                        <a:t>人员资质要求是否明确</a:t>
                      </a:r>
                    </a:p>
                    <a:p>
                      <a:r>
                        <a:rPr lang="en-US" altLang="zh-CN" sz="2000" dirty="0">
                          <a:effectLst/>
                        </a:rPr>
                        <a:t>6.1.5 </a:t>
                      </a:r>
                      <a:r>
                        <a:rPr lang="zh-CN" altLang="en-US" sz="2000" dirty="0">
                          <a:effectLst/>
                        </a:rPr>
                        <a:t>安全距离要求是否合理</a:t>
                      </a:r>
                    </a:p>
                    <a:p>
                      <a:r>
                        <a:rPr lang="en-US" altLang="zh-CN" sz="2000" b="1" dirty="0">
                          <a:effectLst/>
                        </a:rPr>
                        <a:t>6.2 </a:t>
                      </a:r>
                      <a:r>
                        <a:rPr lang="zh-CN" altLang="en-US" sz="2000" b="1" dirty="0">
                          <a:effectLst/>
                        </a:rPr>
                        <a:t>测试要求</a:t>
                      </a:r>
                    </a:p>
                    <a:p>
                      <a:r>
                        <a:rPr lang="en-US" altLang="zh-CN" sz="2000" dirty="0">
                          <a:effectLst/>
                        </a:rPr>
                        <a:t>6.2.1 </a:t>
                      </a:r>
                      <a:r>
                        <a:rPr lang="zh-CN" altLang="en-US" sz="2000" dirty="0">
                          <a:effectLst/>
                        </a:rPr>
                        <a:t>测试环境要求是否明确</a:t>
                      </a:r>
                    </a:p>
                    <a:p>
                      <a:r>
                        <a:rPr lang="en-US" altLang="zh-CN" sz="2000" dirty="0">
                          <a:effectLst/>
                        </a:rPr>
                        <a:t>6.2.2 </a:t>
                      </a:r>
                      <a:r>
                        <a:rPr lang="zh-CN" altLang="en-US" sz="2000" dirty="0">
                          <a:effectLst/>
                        </a:rPr>
                        <a:t>数据监测要求是否详细</a:t>
                      </a:r>
                    </a:p>
                    <a:p>
                      <a:r>
                        <a:rPr lang="en-US" altLang="zh-CN" sz="2000" dirty="0">
                          <a:effectLst/>
                        </a:rPr>
                        <a:t>6.2.3 </a:t>
                      </a:r>
                      <a:r>
                        <a:rPr lang="zh-CN" altLang="en-US" sz="2000" dirty="0">
                          <a:effectLst/>
                        </a:rPr>
                        <a:t>测试后处理程序是否规范</a:t>
                      </a:r>
                    </a:p>
                    <a:p>
                      <a:r>
                        <a:rPr lang="en-US" altLang="zh-CN" sz="2000" dirty="0">
                          <a:effectLst/>
                        </a:rPr>
                        <a:t>6.2.4 </a:t>
                      </a:r>
                      <a:r>
                        <a:rPr lang="zh-CN" altLang="en-US" sz="2000" dirty="0">
                          <a:effectLst/>
                        </a:rPr>
                        <a:t>测试设备要求是否明确</a:t>
                      </a:r>
                    </a:p>
                    <a:p>
                      <a:r>
                        <a:rPr lang="en-US" altLang="zh-CN" sz="2000" dirty="0">
                          <a:effectLst/>
                        </a:rPr>
                        <a:t>6.2.5 </a:t>
                      </a:r>
                      <a:r>
                        <a:rPr lang="zh-CN" altLang="en-US" sz="2000" dirty="0">
                          <a:effectLst/>
                        </a:rPr>
                        <a:t>测试人员资质是否要求</a:t>
                      </a:r>
                    </a:p>
                    <a:p>
                      <a:r>
                        <a:rPr lang="en-US" altLang="zh-CN" sz="2000" b="1" dirty="0">
                          <a:effectLst/>
                        </a:rPr>
                        <a:t>6.3 </a:t>
                      </a:r>
                      <a:r>
                        <a:rPr lang="zh-CN" altLang="en-US" sz="2000" b="1" dirty="0">
                          <a:effectLst/>
                        </a:rPr>
                        <a:t>存储运输要求</a:t>
                      </a:r>
                    </a:p>
                    <a:p>
                      <a:r>
                        <a:rPr lang="en-US" altLang="zh-CN" sz="2000" dirty="0">
                          <a:effectLst/>
                        </a:rPr>
                        <a:t>6.3.1 </a:t>
                      </a:r>
                      <a:r>
                        <a:rPr lang="zh-CN" altLang="en-US" sz="2000" dirty="0">
                          <a:effectLst/>
                        </a:rPr>
                        <a:t>存储条件是否明确</a:t>
                      </a:r>
                    </a:p>
                    <a:p>
                      <a:r>
                        <a:rPr lang="en-US" altLang="zh-CN" sz="2000" dirty="0">
                          <a:effectLst/>
                        </a:rPr>
                        <a:t>6.3.2 </a:t>
                      </a:r>
                      <a:r>
                        <a:rPr lang="zh-CN" altLang="en-US" sz="2000" dirty="0">
                          <a:effectLst/>
                        </a:rPr>
                        <a:t>运输要求是否详细</a:t>
                      </a:r>
                    </a:p>
                    <a:p>
                      <a:r>
                        <a:rPr lang="en-US" altLang="zh-CN" sz="2000" dirty="0">
                          <a:effectLst/>
                        </a:rPr>
                        <a:t>6.3.3 SOC</a:t>
                      </a:r>
                      <a:r>
                        <a:rPr lang="zh-CN" altLang="en-US" sz="2000" dirty="0">
                          <a:effectLst/>
                        </a:rPr>
                        <a:t>控制要求是否合理</a:t>
                      </a:r>
                    </a:p>
                    <a:p>
                      <a:r>
                        <a:rPr lang="en-US" altLang="zh-CN" sz="2000" dirty="0">
                          <a:effectLst/>
                        </a:rPr>
                        <a:t>6.3.4 </a:t>
                      </a:r>
                      <a:r>
                        <a:rPr lang="zh-CN" altLang="en-US" sz="2000" dirty="0">
                          <a:effectLst/>
                        </a:rPr>
                        <a:t>包装要求是否明确</a:t>
                      </a:r>
                    </a:p>
                    <a:p>
                      <a:r>
                        <a:rPr lang="en-US" altLang="zh-CN" sz="2000" dirty="0">
                          <a:effectLst/>
                        </a:rPr>
                        <a:t>6.3.5 </a:t>
                      </a:r>
                      <a:r>
                        <a:rPr lang="zh-CN" altLang="en-US" sz="2000" dirty="0">
                          <a:effectLst/>
                        </a:rPr>
                        <a:t>环境控制要求是否充分</a:t>
                      </a:r>
                    </a:p>
                    <a:p>
                      <a:r>
                        <a:rPr lang="zh-CN" altLang="en-US" sz="2000" b="1" dirty="0">
                          <a:effectLst/>
                        </a:rPr>
                        <a:t>七、质量保证审查点</a:t>
                      </a:r>
                    </a:p>
                    <a:p>
                      <a:r>
                        <a:rPr lang="en-US" altLang="zh-CN" sz="2000" b="1" dirty="0">
                          <a:effectLst/>
                        </a:rPr>
                        <a:t>7.1 </a:t>
                      </a:r>
                      <a:r>
                        <a:rPr lang="zh-CN" altLang="en-US" sz="2000" b="1" dirty="0">
                          <a:effectLst/>
                        </a:rPr>
                        <a:t>零部件规格</a:t>
                      </a:r>
                    </a:p>
                    <a:p>
                      <a:r>
                        <a:rPr lang="en-US" altLang="zh-CN" sz="2000" dirty="0">
                          <a:effectLst/>
                        </a:rPr>
                        <a:t>7.1.1 </a:t>
                      </a:r>
                      <a:r>
                        <a:rPr lang="zh-CN" altLang="en-US" sz="2000" dirty="0">
                          <a:effectLst/>
                        </a:rPr>
                        <a:t>材料规格是否明确</a:t>
                      </a:r>
                    </a:p>
                    <a:p>
                      <a:r>
                        <a:rPr lang="en-US" altLang="zh-CN" sz="2000" dirty="0">
                          <a:effectLst/>
                        </a:rPr>
                        <a:t>7.1.2 </a:t>
                      </a:r>
                      <a:r>
                        <a:rPr lang="zh-CN" altLang="en-US" sz="2000" dirty="0">
                          <a:effectLst/>
                        </a:rPr>
                        <a:t>材料性能是否满足要求</a:t>
                      </a:r>
                    </a:p>
                    <a:p>
                      <a:r>
                        <a:rPr lang="en-US" altLang="zh-CN" sz="2000" dirty="0">
                          <a:effectLst/>
                        </a:rPr>
                        <a:t>7.1.3 </a:t>
                      </a:r>
                      <a:r>
                        <a:rPr lang="zh-CN" altLang="en-US" sz="2000" dirty="0">
                          <a:effectLst/>
                        </a:rPr>
                        <a:t>供应商要求是否明确</a:t>
                      </a:r>
                    </a:p>
                    <a:p>
                      <a:r>
                        <a:rPr lang="en-US" altLang="zh-CN" sz="2000" dirty="0">
                          <a:effectLst/>
                        </a:rPr>
                        <a:t>7.1.4 </a:t>
                      </a:r>
                      <a:r>
                        <a:rPr lang="zh-CN" altLang="en-US" sz="2000" dirty="0">
                          <a:effectLst/>
                        </a:rPr>
                        <a:t>材料认证要求是否完整</a:t>
                      </a:r>
                    </a:p>
                    <a:p>
                      <a:r>
                        <a:rPr lang="en-US" altLang="zh-CN" sz="2000" dirty="0">
                          <a:effectLst/>
                        </a:rPr>
                        <a:t>7.1.5 </a:t>
                      </a:r>
                      <a:r>
                        <a:rPr lang="zh-CN" altLang="en-US" sz="2000" dirty="0">
                          <a:effectLst/>
                        </a:rPr>
                        <a:t>替代材料是否考虑</a:t>
                      </a:r>
                    </a:p>
                    <a:p>
                      <a:r>
                        <a:rPr lang="en-US" altLang="zh-CN" sz="2000" b="1" dirty="0">
                          <a:effectLst/>
                        </a:rPr>
                        <a:t>7.2 </a:t>
                      </a:r>
                      <a:r>
                        <a:rPr lang="zh-CN" altLang="en-US" sz="2000" b="1" dirty="0">
                          <a:effectLst/>
                        </a:rPr>
                        <a:t>清洁要求</a:t>
                      </a:r>
                    </a:p>
                    <a:p>
                      <a:r>
                        <a:rPr lang="en-US" altLang="zh-CN" sz="2000" dirty="0">
                          <a:effectLst/>
                        </a:rPr>
                        <a:t>7.2.1 </a:t>
                      </a:r>
                      <a:r>
                        <a:rPr lang="zh-CN" altLang="en-US" sz="2000" dirty="0">
                          <a:effectLst/>
                        </a:rPr>
                        <a:t>清洁标准是否明确</a:t>
                      </a:r>
                    </a:p>
                    <a:p>
                      <a:r>
                        <a:rPr lang="en-US" altLang="zh-CN" sz="2000" dirty="0">
                          <a:effectLst/>
                        </a:rPr>
                        <a:t>7.2.2 </a:t>
                      </a:r>
                      <a:r>
                        <a:rPr lang="zh-CN" altLang="en-US" sz="2000" dirty="0">
                          <a:effectLst/>
                        </a:rPr>
                        <a:t>清洁方法是否可行</a:t>
                      </a:r>
                    </a:p>
                    <a:p>
                      <a:r>
                        <a:rPr lang="en-US" altLang="zh-CN" sz="2000" dirty="0">
                          <a:effectLst/>
                        </a:rPr>
                        <a:t>7.2.3 </a:t>
                      </a:r>
                      <a:r>
                        <a:rPr lang="zh-CN" altLang="en-US" sz="2000" dirty="0">
                          <a:effectLst/>
                        </a:rPr>
                        <a:t>清洁设备要求是否明确</a:t>
                      </a:r>
                    </a:p>
                    <a:p>
                      <a:r>
                        <a:rPr lang="en-US" altLang="zh-CN" sz="2000" dirty="0">
                          <a:effectLst/>
                        </a:rPr>
                        <a:t>7.2.4 </a:t>
                      </a:r>
                      <a:r>
                        <a:rPr lang="zh-CN" altLang="en-US" sz="2000" dirty="0">
                          <a:effectLst/>
                        </a:rPr>
                        <a:t>清洁效果验证方法是否提供</a:t>
                      </a:r>
                    </a:p>
                    <a:p>
                      <a:r>
                        <a:rPr lang="en-US" altLang="zh-CN" sz="2000" dirty="0">
                          <a:effectLst/>
                        </a:rPr>
                        <a:t>7.2.5 </a:t>
                      </a:r>
                      <a:r>
                        <a:rPr lang="zh-CN" altLang="en-US" sz="2000" dirty="0">
                          <a:effectLst/>
                        </a:rPr>
                        <a:t>清洁后保护措施是否明确</a:t>
                      </a:r>
                    </a:p>
                    <a:p>
                      <a:r>
                        <a:rPr lang="en-US" altLang="zh-CN" sz="2000" b="1" dirty="0">
                          <a:effectLst/>
                        </a:rPr>
                        <a:t>7.3 </a:t>
                      </a:r>
                      <a:r>
                        <a:rPr lang="zh-CN" altLang="en-US" sz="2000" b="1" dirty="0">
                          <a:effectLst/>
                        </a:rPr>
                        <a:t>检验要求</a:t>
                      </a:r>
                    </a:p>
                    <a:p>
                      <a:r>
                        <a:rPr lang="en-US" altLang="zh-CN" sz="2000" dirty="0">
                          <a:effectLst/>
                        </a:rPr>
                        <a:t>7.3.1 </a:t>
                      </a:r>
                      <a:r>
                        <a:rPr lang="zh-CN" altLang="en-US" sz="2000" dirty="0">
                          <a:effectLst/>
                        </a:rPr>
                        <a:t>外观检验标准是否明确</a:t>
                      </a:r>
                    </a:p>
                    <a:p>
                      <a:r>
                        <a:rPr lang="en-US" altLang="zh-CN" sz="2000" dirty="0">
                          <a:effectLst/>
                        </a:rPr>
                        <a:t>7.3.2 </a:t>
                      </a:r>
                      <a:r>
                        <a:rPr lang="zh-CN" altLang="en-US" sz="2000" dirty="0">
                          <a:effectLst/>
                        </a:rPr>
                        <a:t>尺寸检验方法是否详细</a:t>
                      </a:r>
                    </a:p>
                    <a:p>
                      <a:r>
                        <a:rPr lang="en-US" altLang="zh-CN" sz="2000" dirty="0">
                          <a:effectLst/>
                        </a:rPr>
                        <a:t>7.3.3 </a:t>
                      </a:r>
                      <a:r>
                        <a:rPr lang="zh-CN" altLang="en-US" sz="2000" dirty="0">
                          <a:effectLst/>
                        </a:rPr>
                        <a:t>性能检验条件是否标准</a:t>
                      </a:r>
                    </a:p>
                    <a:p>
                      <a:r>
                        <a:rPr lang="en-US" altLang="zh-CN" sz="2000" dirty="0">
                          <a:effectLst/>
                        </a:rPr>
                        <a:t>7.3.4 </a:t>
                      </a:r>
                      <a:r>
                        <a:rPr lang="zh-CN" altLang="en-US" sz="2000" dirty="0">
                          <a:effectLst/>
                        </a:rPr>
                        <a:t>抽样方案是否合理</a:t>
                      </a:r>
                    </a:p>
                    <a:p>
                      <a:r>
                        <a:rPr lang="en-US" altLang="zh-CN" sz="2000" dirty="0">
                          <a:effectLst/>
                        </a:rPr>
                        <a:t>7.3.5 </a:t>
                      </a:r>
                      <a:r>
                        <a:rPr lang="zh-CN" altLang="en-US" sz="2000" dirty="0">
                          <a:effectLst/>
                        </a:rPr>
                        <a:t>不合格品处理程序是否明确</a:t>
                      </a:r>
                    </a:p>
                    <a:p>
                      <a:r>
                        <a:rPr lang="zh-CN" altLang="en-US" sz="2000" b="1" dirty="0">
                          <a:effectLst/>
                        </a:rPr>
                        <a:t>八、文档质量审查点</a:t>
                      </a:r>
                    </a:p>
                    <a:p>
                      <a:r>
                        <a:rPr lang="en-US" altLang="zh-CN" sz="2000" b="1" dirty="0">
                          <a:effectLst/>
                        </a:rPr>
                        <a:t>8.1 </a:t>
                      </a:r>
                      <a:r>
                        <a:rPr lang="zh-CN" altLang="en-US" sz="2000" b="1" dirty="0">
                          <a:effectLst/>
                        </a:rPr>
                        <a:t>图表完整性</a:t>
                      </a:r>
                    </a:p>
                    <a:p>
                      <a:r>
                        <a:rPr lang="en-US" altLang="zh-CN" sz="2000" dirty="0">
                          <a:effectLst/>
                        </a:rPr>
                        <a:t>8.1.1 </a:t>
                      </a:r>
                      <a:r>
                        <a:rPr lang="zh-CN" altLang="en-US" sz="2000" dirty="0">
                          <a:effectLst/>
                        </a:rPr>
                        <a:t>产品图纸是否完整准确</a:t>
                      </a:r>
                    </a:p>
                    <a:p>
                      <a:r>
                        <a:rPr lang="en-US" altLang="zh-CN" sz="2000" dirty="0">
                          <a:effectLst/>
                        </a:rPr>
                        <a:t>8.1.2 </a:t>
                      </a:r>
                      <a:r>
                        <a:rPr lang="zh-CN" altLang="en-US" sz="2000" dirty="0">
                          <a:effectLst/>
                        </a:rPr>
                        <a:t>性能曲线图是否清晰</a:t>
                      </a:r>
                    </a:p>
                    <a:p>
                      <a:r>
                        <a:rPr lang="en-US" altLang="zh-CN" sz="2000" dirty="0">
                          <a:effectLst/>
                        </a:rPr>
                        <a:t>8.1.3 </a:t>
                      </a:r>
                      <a:r>
                        <a:rPr lang="zh-CN" altLang="en-US" sz="2000" dirty="0">
                          <a:effectLst/>
                        </a:rPr>
                        <a:t>数据表格是否规范</a:t>
                      </a:r>
                    </a:p>
                    <a:p>
                      <a:r>
                        <a:rPr lang="en-US" altLang="zh-CN" sz="2000" dirty="0">
                          <a:effectLst/>
                        </a:rPr>
                        <a:t>8.1.4 </a:t>
                      </a:r>
                      <a:r>
                        <a:rPr lang="zh-CN" altLang="en-US" sz="2000" dirty="0">
                          <a:effectLst/>
                        </a:rPr>
                        <a:t>图片质量是否满足要求</a:t>
                      </a:r>
                    </a:p>
                    <a:p>
                      <a:r>
                        <a:rPr lang="en-US" altLang="zh-CN" sz="2000" dirty="0">
                          <a:effectLst/>
                        </a:rPr>
                        <a:t>8.1.5 </a:t>
                      </a:r>
                      <a:r>
                        <a:rPr lang="zh-CN" altLang="en-US" sz="2000" dirty="0">
                          <a:effectLst/>
                        </a:rPr>
                        <a:t>图表编号是否规范</a:t>
                      </a:r>
                    </a:p>
                    <a:p>
                      <a:r>
                        <a:rPr lang="en-US" altLang="zh-CN" sz="2000" b="1" dirty="0">
                          <a:effectLst/>
                        </a:rPr>
                        <a:t>8.2 </a:t>
                      </a:r>
                      <a:r>
                        <a:rPr lang="zh-CN" altLang="en-US" sz="2000" b="1" dirty="0">
                          <a:effectLst/>
                        </a:rPr>
                        <a:t>中英文对照</a:t>
                      </a:r>
                    </a:p>
                    <a:p>
                      <a:r>
                        <a:rPr lang="en-US" altLang="zh-CN" sz="2000" dirty="0">
                          <a:effectLst/>
                        </a:rPr>
                        <a:t>8.2.1 </a:t>
                      </a:r>
                      <a:r>
                        <a:rPr lang="zh-CN" altLang="en-US" sz="2000" dirty="0">
                          <a:effectLst/>
                        </a:rPr>
                        <a:t>翻译是否准确</a:t>
                      </a:r>
                    </a:p>
                    <a:p>
                      <a:r>
                        <a:rPr lang="en-US" altLang="zh-CN" sz="2000" dirty="0">
                          <a:effectLst/>
                        </a:rPr>
                        <a:t>8.2.2 </a:t>
                      </a:r>
                      <a:r>
                        <a:rPr lang="zh-CN" altLang="en-US" sz="2000" dirty="0">
                          <a:effectLst/>
                        </a:rPr>
                        <a:t>技术术语是否一致</a:t>
                      </a:r>
                    </a:p>
                    <a:p>
                      <a:r>
                        <a:rPr lang="en-US" altLang="zh-CN" sz="2000" dirty="0">
                          <a:effectLst/>
                        </a:rPr>
                        <a:t>8.2.3 </a:t>
                      </a:r>
                      <a:r>
                        <a:rPr lang="zh-CN" altLang="en-US" sz="2000" dirty="0">
                          <a:effectLst/>
                        </a:rPr>
                        <a:t>格式是否规范统一</a:t>
                      </a:r>
                    </a:p>
                    <a:p>
                      <a:r>
                        <a:rPr lang="en-US" altLang="zh-CN" sz="2000" dirty="0">
                          <a:effectLst/>
                        </a:rPr>
                        <a:t>8.2.4 </a:t>
                      </a:r>
                      <a:r>
                        <a:rPr lang="zh-CN" altLang="en-US" sz="2000" dirty="0">
                          <a:effectLst/>
                        </a:rPr>
                        <a:t>是否经过专业翻译审核</a:t>
                      </a:r>
                    </a:p>
                    <a:p>
                      <a:r>
                        <a:rPr lang="en-US" altLang="zh-CN" sz="2000" dirty="0">
                          <a:effectLst/>
                        </a:rPr>
                        <a:t>8.2.5 </a:t>
                      </a:r>
                      <a:r>
                        <a:rPr lang="zh-CN" altLang="en-US" sz="2000" dirty="0">
                          <a:effectLst/>
                        </a:rPr>
                        <a:t>是否符合国际标准</a:t>
                      </a:r>
                    </a:p>
                    <a:p>
                      <a:r>
                        <a:rPr lang="en-US" altLang="zh-CN" sz="2000" b="1" dirty="0">
                          <a:effectLst/>
                        </a:rPr>
                        <a:t>8.3 </a:t>
                      </a:r>
                      <a:r>
                        <a:rPr lang="zh-CN" altLang="en-US" sz="2000" b="1" dirty="0">
                          <a:effectLst/>
                        </a:rPr>
                        <a:t>可读性和完整性</a:t>
                      </a:r>
                    </a:p>
                    <a:p>
                      <a:r>
                        <a:rPr lang="en-US" altLang="zh-CN" sz="2000" dirty="0">
                          <a:effectLst/>
                        </a:rPr>
                        <a:t>8.3.1 </a:t>
                      </a:r>
                      <a:r>
                        <a:rPr lang="zh-CN" altLang="en-US" sz="2000" dirty="0">
                          <a:effectLst/>
                        </a:rPr>
                        <a:t>文档逻辑结构是否清晰</a:t>
                      </a:r>
                    </a:p>
                    <a:p>
                      <a:r>
                        <a:rPr lang="en-US" altLang="zh-CN" sz="2000" dirty="0">
                          <a:effectLst/>
                        </a:rPr>
                        <a:t>8.3.2 </a:t>
                      </a:r>
                      <a:r>
                        <a:rPr lang="zh-CN" altLang="en-US" sz="2000" dirty="0">
                          <a:effectLst/>
                        </a:rPr>
                        <a:t>技术描述是否准确</a:t>
                      </a:r>
                    </a:p>
                    <a:p>
                      <a:r>
                        <a:rPr lang="en-US" altLang="zh-CN" sz="2000" dirty="0">
                          <a:effectLst/>
                        </a:rPr>
                        <a:t>8.3.3 </a:t>
                      </a:r>
                      <a:r>
                        <a:rPr lang="zh-CN" altLang="en-US" sz="2000" dirty="0">
                          <a:effectLst/>
                        </a:rPr>
                        <a:t>是否包含必要的说明和注释</a:t>
                      </a:r>
                    </a:p>
                    <a:p>
                      <a:r>
                        <a:rPr lang="en-US" altLang="zh-CN" sz="2000" dirty="0">
                          <a:effectLst/>
                        </a:rPr>
                        <a:t>8.3.4 </a:t>
                      </a:r>
                      <a:r>
                        <a:rPr lang="zh-CN" altLang="en-US" sz="2000" dirty="0">
                          <a:effectLst/>
                        </a:rPr>
                        <a:t>是否便于下游使用</a:t>
                      </a:r>
                    </a:p>
                    <a:p>
                      <a:r>
                        <a:rPr lang="en-US" altLang="zh-CN" sz="2000" dirty="0">
                          <a:effectLst/>
                        </a:rPr>
                        <a:t>8.3.5 </a:t>
                      </a:r>
                      <a:r>
                        <a:rPr lang="zh-CN" altLang="en-US" sz="2000" dirty="0">
                          <a:effectLst/>
                        </a:rPr>
                        <a:t>是否满足客户需求</a:t>
                      </a:r>
                    </a:p>
                    <a:p>
                      <a:r>
                        <a:rPr lang="zh-CN" altLang="en-US" sz="2000" b="1" dirty="0">
                          <a:effectLst/>
                        </a:rPr>
                        <a:t>九、</a:t>
                      </a:r>
                      <a:r>
                        <a:rPr lang="en-US" altLang="zh-CN" sz="2000" b="1" dirty="0">
                          <a:effectLst/>
                        </a:rPr>
                        <a:t>APQP</a:t>
                      </a:r>
                      <a:r>
                        <a:rPr lang="zh-CN" altLang="en-US" sz="2000" b="1" dirty="0">
                          <a:effectLst/>
                        </a:rPr>
                        <a:t>阶段符合性审查点</a:t>
                      </a:r>
                    </a:p>
                    <a:p>
                      <a:r>
                        <a:rPr lang="en-US" altLang="zh-CN" sz="2000" b="1" dirty="0">
                          <a:effectLst/>
                        </a:rPr>
                        <a:t>9.1 B</a:t>
                      </a:r>
                      <a:r>
                        <a:rPr lang="zh-CN" altLang="en-US" sz="2000" b="1" dirty="0">
                          <a:effectLst/>
                        </a:rPr>
                        <a:t>样阶段要求</a:t>
                      </a:r>
                    </a:p>
                    <a:p>
                      <a:r>
                        <a:rPr lang="en-US" altLang="zh-CN" sz="2000" dirty="0">
                          <a:effectLst/>
                        </a:rPr>
                        <a:t>9.1.1 </a:t>
                      </a:r>
                      <a:r>
                        <a:rPr lang="zh-CN" altLang="en-US" sz="2000" dirty="0">
                          <a:effectLst/>
                        </a:rPr>
                        <a:t>是否满足</a:t>
                      </a:r>
                      <a:r>
                        <a:rPr lang="en-US" altLang="zh-CN" sz="2000" dirty="0">
                          <a:effectLst/>
                        </a:rPr>
                        <a:t>B</a:t>
                      </a:r>
                      <a:r>
                        <a:rPr lang="zh-CN" altLang="en-US" sz="2000" dirty="0">
                          <a:effectLst/>
                        </a:rPr>
                        <a:t>样阶段技术成熟度要求</a:t>
                      </a:r>
                    </a:p>
                    <a:p>
                      <a:r>
                        <a:rPr lang="en-US" altLang="zh-CN" sz="2000" dirty="0">
                          <a:effectLst/>
                        </a:rPr>
                        <a:t>9.1.2 </a:t>
                      </a:r>
                      <a:r>
                        <a:rPr lang="zh-CN" altLang="en-US" sz="2000" dirty="0">
                          <a:effectLst/>
                        </a:rPr>
                        <a:t>性能数据是否基于</a:t>
                      </a:r>
                      <a:r>
                        <a:rPr lang="en-US" altLang="zh-CN" sz="2000" dirty="0">
                          <a:effectLst/>
                        </a:rPr>
                        <a:t>B</a:t>
                      </a:r>
                      <a:r>
                        <a:rPr lang="zh-CN" altLang="en-US" sz="2000" dirty="0">
                          <a:effectLst/>
                        </a:rPr>
                        <a:t>样测试结果</a:t>
                      </a:r>
                    </a:p>
                    <a:p>
                      <a:r>
                        <a:rPr lang="en-US" altLang="zh-CN" sz="2000" dirty="0">
                          <a:effectLst/>
                        </a:rPr>
                        <a:t>9.1.3 </a:t>
                      </a:r>
                      <a:r>
                        <a:rPr lang="zh-CN" altLang="en-US" sz="2000" dirty="0">
                          <a:effectLst/>
                        </a:rPr>
                        <a:t>设计参数是否经过验证</a:t>
                      </a:r>
                    </a:p>
                    <a:p>
                      <a:r>
                        <a:rPr lang="en-US" altLang="zh-CN" sz="2000" dirty="0">
                          <a:effectLst/>
                        </a:rPr>
                        <a:t>9.1.4 </a:t>
                      </a:r>
                      <a:r>
                        <a:rPr lang="zh-CN" altLang="en-US" sz="2000" dirty="0">
                          <a:effectLst/>
                        </a:rPr>
                        <a:t>安全性能是否达到要求</a:t>
                      </a:r>
                    </a:p>
                    <a:p>
                      <a:r>
                        <a:rPr lang="en-US" altLang="zh-CN" sz="2000" dirty="0">
                          <a:effectLst/>
                        </a:rPr>
                        <a:t>9.1.5 </a:t>
                      </a:r>
                      <a:r>
                        <a:rPr lang="zh-CN" altLang="en-US" sz="2000" dirty="0">
                          <a:effectLst/>
                        </a:rPr>
                        <a:t>是否为</a:t>
                      </a:r>
                      <a:r>
                        <a:rPr lang="en-US" altLang="zh-CN" sz="2000" dirty="0">
                          <a:effectLst/>
                        </a:rPr>
                        <a:t>C</a:t>
                      </a:r>
                      <a:r>
                        <a:rPr lang="zh-CN" altLang="en-US" sz="2000" dirty="0">
                          <a:effectLst/>
                        </a:rPr>
                        <a:t>样开发提供充分依据</a:t>
                      </a:r>
                    </a:p>
                    <a:p>
                      <a:r>
                        <a:rPr lang="en-US" altLang="zh-CN" sz="2000" b="1" dirty="0">
                          <a:effectLst/>
                        </a:rPr>
                        <a:t>9.2 </a:t>
                      </a:r>
                      <a:r>
                        <a:rPr lang="zh-CN" altLang="en-US" sz="2000" b="1" dirty="0">
                          <a:effectLst/>
                        </a:rPr>
                        <a:t>项目进度符合性</a:t>
                      </a:r>
                    </a:p>
                    <a:p>
                      <a:r>
                        <a:rPr lang="en-US" altLang="zh-CN" sz="2000" dirty="0">
                          <a:effectLst/>
                        </a:rPr>
                        <a:t>9.2.1 </a:t>
                      </a:r>
                      <a:r>
                        <a:rPr lang="zh-CN" altLang="en-US" sz="2000" dirty="0">
                          <a:effectLst/>
                        </a:rPr>
                        <a:t>文档发布时间是否符合项目计划</a:t>
                      </a:r>
                    </a:p>
                    <a:p>
                      <a:r>
                        <a:rPr lang="en-US" altLang="zh-CN" sz="2000" dirty="0">
                          <a:effectLst/>
                        </a:rPr>
                        <a:t>9.2.2 </a:t>
                      </a:r>
                      <a:r>
                        <a:rPr lang="zh-CN" altLang="en-US" sz="2000" dirty="0">
                          <a:effectLst/>
                        </a:rPr>
                        <a:t>技术指标是否满足项目目标</a:t>
                      </a:r>
                    </a:p>
                    <a:p>
                      <a:r>
                        <a:rPr lang="en-US" altLang="zh-CN" sz="2000" dirty="0">
                          <a:effectLst/>
                        </a:rPr>
                        <a:t>9.2.3 </a:t>
                      </a:r>
                      <a:r>
                        <a:rPr lang="zh-CN" altLang="en-US" sz="2000" dirty="0">
                          <a:effectLst/>
                        </a:rPr>
                        <a:t>是否支持下一阶段开发</a:t>
                      </a:r>
                    </a:p>
                    <a:p>
                      <a:r>
                        <a:rPr lang="en-US" altLang="zh-CN" sz="2000" dirty="0">
                          <a:effectLst/>
                        </a:rPr>
                        <a:t>9.2.4 </a:t>
                      </a:r>
                      <a:r>
                        <a:rPr lang="zh-CN" altLang="en-US" sz="2000" dirty="0">
                          <a:effectLst/>
                        </a:rPr>
                        <a:t>风险评估是否充分</a:t>
                      </a:r>
                    </a:p>
                    <a:p>
                      <a:r>
                        <a:rPr lang="en-US" altLang="zh-CN" sz="2000" dirty="0">
                          <a:effectLst/>
                        </a:rPr>
                        <a:t>9.2.5 </a:t>
                      </a:r>
                      <a:r>
                        <a:rPr lang="zh-CN" altLang="en-US" sz="2000" dirty="0">
                          <a:effectLst/>
                        </a:rPr>
                        <a:t>资源需求是否明确</a:t>
                      </a:r>
                    </a:p>
                    <a:p>
                      <a:r>
                        <a:rPr lang="en-US" altLang="zh-CN" sz="2000" b="1" dirty="0">
                          <a:effectLst/>
                        </a:rPr>
                        <a:t>9.3 </a:t>
                      </a:r>
                      <a:r>
                        <a:rPr lang="zh-CN" altLang="en-US" sz="2000" b="1" dirty="0">
                          <a:effectLst/>
                        </a:rPr>
                        <a:t>客户需求符合性</a:t>
                      </a:r>
                    </a:p>
                    <a:p>
                      <a:r>
                        <a:rPr lang="en-US" altLang="zh-CN" sz="2000" dirty="0">
                          <a:effectLst/>
                        </a:rPr>
                        <a:t>9.3.1 </a:t>
                      </a:r>
                      <a:r>
                        <a:rPr lang="zh-CN" altLang="en-US" sz="2000" dirty="0">
                          <a:effectLst/>
                        </a:rPr>
                        <a:t>技术指标是否满足客户要求</a:t>
                      </a:r>
                    </a:p>
                    <a:p>
                      <a:r>
                        <a:rPr lang="en-US" altLang="zh-CN" sz="2000" dirty="0">
                          <a:effectLst/>
                        </a:rPr>
                        <a:t>9.3.2 </a:t>
                      </a:r>
                      <a:r>
                        <a:rPr lang="zh-CN" altLang="en-US" sz="2000" dirty="0">
                          <a:effectLst/>
                        </a:rPr>
                        <a:t>应用条件是否覆盖客户场景</a:t>
                      </a:r>
                    </a:p>
                    <a:p>
                      <a:r>
                        <a:rPr lang="en-US" altLang="zh-CN" sz="2000" dirty="0">
                          <a:effectLst/>
                        </a:rPr>
                        <a:t>9.3.3 </a:t>
                      </a:r>
                      <a:r>
                        <a:rPr lang="zh-CN" altLang="en-US" sz="2000" dirty="0">
                          <a:effectLst/>
                        </a:rPr>
                        <a:t>安全要求是否满足客户标准</a:t>
                      </a:r>
                    </a:p>
                    <a:p>
                      <a:r>
                        <a:rPr lang="en-US" altLang="zh-CN" sz="2000" dirty="0">
                          <a:effectLst/>
                        </a:rPr>
                        <a:t>9.3.4 </a:t>
                      </a:r>
                      <a:r>
                        <a:rPr lang="zh-CN" altLang="en-US" sz="2000" dirty="0">
                          <a:effectLst/>
                        </a:rPr>
                        <a:t>使用规范是否便于客户执行</a:t>
                      </a:r>
                    </a:p>
                    <a:p>
                      <a:r>
                        <a:rPr lang="en-US" altLang="zh-CN" sz="2000" dirty="0">
                          <a:effectLst/>
                        </a:rPr>
                        <a:t>9.3.5 </a:t>
                      </a:r>
                      <a:r>
                        <a:rPr lang="zh-CN" altLang="en-US" sz="2000" dirty="0">
                          <a:effectLst/>
                        </a:rPr>
                        <a:t>文档格式是否符合客户要求</a:t>
                      </a:r>
                    </a:p>
                    <a:p>
                      <a:r>
                        <a:rPr lang="zh-CN" altLang="en-US" sz="2000" b="1" dirty="0">
                          <a:effectLst/>
                        </a:rPr>
                        <a:t>十、风险评估审查点</a:t>
                      </a:r>
                    </a:p>
                    <a:p>
                      <a:r>
                        <a:rPr lang="en-US" altLang="zh-CN" sz="2000" b="1" dirty="0">
                          <a:effectLst/>
                        </a:rPr>
                        <a:t>10.1 </a:t>
                      </a:r>
                      <a:r>
                        <a:rPr lang="zh-CN" altLang="en-US" sz="2000" b="1" dirty="0">
                          <a:effectLst/>
                        </a:rPr>
                        <a:t>技术风险</a:t>
                      </a:r>
                    </a:p>
                    <a:p>
                      <a:r>
                        <a:rPr lang="en-US" altLang="zh-CN" sz="2000" dirty="0">
                          <a:effectLst/>
                        </a:rPr>
                        <a:t>10.1.1 </a:t>
                      </a:r>
                      <a:r>
                        <a:rPr lang="zh-CN" altLang="en-US" sz="2000" dirty="0">
                          <a:effectLst/>
                        </a:rPr>
                        <a:t>关键技术指标是否经过充分验证</a:t>
                      </a:r>
                    </a:p>
                    <a:p>
                      <a:r>
                        <a:rPr lang="en-US" altLang="zh-CN" sz="2000" dirty="0">
                          <a:effectLst/>
                        </a:rPr>
                        <a:t>10.1.2 </a:t>
                      </a:r>
                      <a:r>
                        <a:rPr lang="zh-CN" altLang="en-US" sz="2000" dirty="0">
                          <a:effectLst/>
                        </a:rPr>
                        <a:t>极限条件下的性能是否评估</a:t>
                      </a:r>
                    </a:p>
                    <a:p>
                      <a:r>
                        <a:rPr lang="en-US" altLang="zh-CN" sz="2000" dirty="0">
                          <a:effectLst/>
                        </a:rPr>
                        <a:t>10.1.3 </a:t>
                      </a:r>
                      <a:r>
                        <a:rPr lang="zh-CN" altLang="en-US" sz="2000" dirty="0">
                          <a:effectLst/>
                        </a:rPr>
                        <a:t>设计余量是否充分</a:t>
                      </a:r>
                    </a:p>
                    <a:p>
                      <a:r>
                        <a:rPr lang="en-US" altLang="zh-CN" sz="2000" dirty="0">
                          <a:effectLst/>
                        </a:rPr>
                        <a:t>10.1.4 </a:t>
                      </a:r>
                      <a:r>
                        <a:rPr lang="zh-CN" altLang="en-US" sz="2000" dirty="0">
                          <a:effectLst/>
                        </a:rPr>
                        <a:t>失效模式是否分析</a:t>
                      </a:r>
                    </a:p>
                    <a:p>
                      <a:r>
                        <a:rPr lang="en-US" altLang="zh-CN" sz="2000" dirty="0">
                          <a:effectLst/>
                        </a:rPr>
                        <a:t>10.1.5 </a:t>
                      </a:r>
                      <a:r>
                        <a:rPr lang="zh-CN" altLang="en-US" sz="2000" dirty="0">
                          <a:effectLst/>
                        </a:rPr>
                        <a:t>风险缓解措施是否明确</a:t>
                      </a:r>
                    </a:p>
                    <a:p>
                      <a:r>
                        <a:rPr lang="en-US" altLang="zh-CN" sz="2000" b="1" dirty="0">
                          <a:effectLst/>
                        </a:rPr>
                        <a:t>10.2 </a:t>
                      </a:r>
                      <a:r>
                        <a:rPr lang="zh-CN" altLang="en-US" sz="2000" b="1" dirty="0">
                          <a:effectLst/>
                        </a:rPr>
                        <a:t>制造风险</a:t>
                      </a:r>
                    </a:p>
                    <a:p>
                      <a:r>
                        <a:rPr lang="en-US" altLang="zh-CN" sz="2000" dirty="0">
                          <a:effectLst/>
                        </a:rPr>
                        <a:t>10.2.1 </a:t>
                      </a:r>
                      <a:r>
                        <a:rPr lang="zh-CN" altLang="en-US" sz="2000" dirty="0">
                          <a:effectLst/>
                        </a:rPr>
                        <a:t>制造工艺是否成熟</a:t>
                      </a:r>
                    </a:p>
                    <a:p>
                      <a:r>
                        <a:rPr lang="en-US" altLang="zh-CN" sz="2000" dirty="0">
                          <a:effectLst/>
                        </a:rPr>
                        <a:t>10.2.2 </a:t>
                      </a:r>
                      <a:r>
                        <a:rPr lang="zh-CN" altLang="en-US" sz="2000" dirty="0">
                          <a:effectLst/>
                        </a:rPr>
                        <a:t>设备能力是否满足要求</a:t>
                      </a:r>
                    </a:p>
                    <a:p>
                      <a:r>
                        <a:rPr lang="en-US" altLang="zh-CN" sz="2000" dirty="0">
                          <a:effectLst/>
                        </a:rPr>
                        <a:t>10.2.3 </a:t>
                      </a:r>
                      <a:r>
                        <a:rPr lang="zh-CN" altLang="en-US" sz="2000" dirty="0">
                          <a:effectLst/>
                        </a:rPr>
                        <a:t>人员技能是否具备</a:t>
                      </a:r>
                    </a:p>
                    <a:p>
                      <a:r>
                        <a:rPr lang="en-US" altLang="zh-CN" sz="2000" dirty="0">
                          <a:effectLst/>
                        </a:rPr>
                        <a:t>10.2.4 </a:t>
                      </a:r>
                      <a:r>
                        <a:rPr lang="zh-CN" altLang="en-US" sz="2000" dirty="0">
                          <a:effectLst/>
                        </a:rPr>
                        <a:t>质量控制是否可行</a:t>
                      </a:r>
                    </a:p>
                    <a:p>
                      <a:r>
                        <a:rPr lang="en-US" altLang="zh-CN" sz="2000" dirty="0">
                          <a:effectLst/>
                        </a:rPr>
                        <a:t>10.2.5 </a:t>
                      </a:r>
                      <a:r>
                        <a:rPr lang="zh-CN" altLang="en-US" sz="2000" dirty="0">
                          <a:effectLst/>
                        </a:rPr>
                        <a:t>成本控制是否合理</a:t>
                      </a:r>
                    </a:p>
                    <a:p>
                      <a:r>
                        <a:rPr lang="en-US" altLang="zh-CN" sz="2000" b="1" dirty="0">
                          <a:effectLst/>
                        </a:rPr>
                        <a:t>10.3 </a:t>
                      </a:r>
                      <a:r>
                        <a:rPr lang="zh-CN" altLang="en-US" sz="2000" b="1" dirty="0">
                          <a:effectLst/>
                        </a:rPr>
                        <a:t>供应链风险</a:t>
                      </a:r>
                    </a:p>
                    <a:p>
                      <a:r>
                        <a:rPr lang="en-US" altLang="zh-CN" sz="2000" dirty="0">
                          <a:effectLst/>
                        </a:rPr>
                        <a:t>10.3.1 </a:t>
                      </a:r>
                      <a:r>
                        <a:rPr lang="zh-CN" altLang="en-US" sz="2000" dirty="0">
                          <a:effectLst/>
                        </a:rPr>
                        <a:t>关键材料供应是否稳定</a:t>
                      </a:r>
                    </a:p>
                    <a:p>
                      <a:r>
                        <a:rPr lang="en-US" altLang="zh-CN" sz="2000" dirty="0">
                          <a:effectLst/>
                        </a:rPr>
                        <a:t>10.3.2 </a:t>
                      </a:r>
                      <a:r>
                        <a:rPr lang="zh-CN" altLang="en-US" sz="2000" dirty="0">
                          <a:effectLst/>
                        </a:rPr>
                        <a:t>供应商能力是否评估</a:t>
                      </a:r>
                    </a:p>
                    <a:p>
                      <a:r>
                        <a:rPr lang="en-US" altLang="zh-CN" sz="2000" dirty="0">
                          <a:effectLst/>
                        </a:rPr>
                        <a:t>10.3.3 </a:t>
                      </a:r>
                      <a:r>
                        <a:rPr lang="zh-CN" altLang="en-US" sz="2000" dirty="0">
                          <a:effectLst/>
                        </a:rPr>
                        <a:t>替代方案是否准备</a:t>
                      </a:r>
                    </a:p>
                    <a:p>
                      <a:r>
                        <a:rPr lang="en-US" altLang="zh-CN" sz="2000" dirty="0">
                          <a:effectLst/>
                        </a:rPr>
                        <a:t>10.3.4 </a:t>
                      </a:r>
                      <a:r>
                        <a:rPr lang="zh-CN" altLang="en-US" sz="2000" dirty="0">
                          <a:effectLst/>
                        </a:rPr>
                        <a:t>成本风险是否控制</a:t>
                      </a:r>
                    </a:p>
                    <a:p>
                      <a:r>
                        <a:rPr lang="en-US" altLang="zh-CN" sz="2000" dirty="0">
                          <a:effectLst/>
                        </a:rPr>
                        <a:t>10.3.5 </a:t>
                      </a:r>
                      <a:r>
                        <a:rPr lang="zh-CN" altLang="en-US" sz="2000" dirty="0">
                          <a:effectLst/>
                        </a:rPr>
                        <a:t>交付风险是否评估</a:t>
                      </a:r>
                    </a:p>
                  </a:txBody>
                  <a:tcPr/>
                </a:tc>
                <a:tc>
                  <a:txBody>
                    <a:bodyPr/>
                    <a:lstStyle/>
                    <a:p>
                      <a:r>
                        <a:rPr lang="zh-CN" altLang="en-US" sz="2000" b="1" dirty="0">
                          <a:effectLst/>
                        </a:rPr>
                        <a:t>一、文档基本信息审查</a:t>
                      </a:r>
                    </a:p>
                    <a:p>
                      <a:r>
                        <a:rPr lang="en-US" altLang="zh-CN" sz="2000" b="1" dirty="0">
                          <a:effectLst/>
                        </a:rPr>
                        <a:t>1.1 </a:t>
                      </a:r>
                      <a:r>
                        <a:rPr lang="zh-CN" altLang="en-US" sz="2000" b="1" dirty="0">
                          <a:effectLst/>
                        </a:rPr>
                        <a:t>文档版本控制</a:t>
                      </a:r>
                    </a:p>
                    <a:p>
                      <a:r>
                        <a:rPr lang="zh-CN" altLang="en-US" sz="2000" b="1" dirty="0">
                          <a:effectLst/>
                        </a:rPr>
                        <a:t>审查点：</a:t>
                      </a:r>
                      <a:r>
                        <a:rPr lang="zh-CN" altLang="en-US" sz="2000" dirty="0">
                          <a:effectLst/>
                        </a:rPr>
                        <a:t> 修订履历完整性、版本管理规范性</a:t>
                      </a:r>
                      <a:r>
                        <a:rPr lang="zh-CN" altLang="en-US" sz="2000" b="1" dirty="0">
                          <a:effectLst/>
                        </a:rPr>
                        <a:t>评审结果：</a:t>
                      </a:r>
                      <a:r>
                        <a:rPr lang="zh-CN" altLang="en-US" sz="2000" dirty="0">
                          <a:effectLst/>
                        </a:rPr>
                        <a:t> ✅ </a:t>
                      </a:r>
                      <a:r>
                        <a:rPr lang="zh-CN" altLang="en-US" sz="2000" b="1" dirty="0">
                          <a:effectLst/>
                        </a:rPr>
                        <a:t>通过</a:t>
                      </a:r>
                      <a:r>
                        <a:rPr lang="zh-CN" altLang="en-US" sz="2000" dirty="0">
                          <a:effectLst/>
                        </a:rPr>
                        <a:t>版本履历清晰：</a:t>
                      </a:r>
                      <a:r>
                        <a:rPr lang="en-US" altLang="zh-CN" sz="2000" dirty="0">
                          <a:effectLst/>
                        </a:rPr>
                        <a:t>A0(2023.5.10)→A1(2023.6.28)→A2(2024.3.12)</a:t>
                      </a:r>
                    </a:p>
                    <a:p>
                      <a:r>
                        <a:rPr lang="zh-CN" altLang="en-US" sz="2000" dirty="0">
                          <a:effectLst/>
                        </a:rPr>
                        <a:t>变更内容记录明确：初始版本→新增</a:t>
                      </a:r>
                      <a:r>
                        <a:rPr lang="en-US" altLang="zh-CN" sz="2000" dirty="0">
                          <a:effectLst/>
                        </a:rPr>
                        <a:t>A</a:t>
                      </a:r>
                      <a:r>
                        <a:rPr lang="zh-CN" altLang="en-US" sz="2000" dirty="0">
                          <a:effectLst/>
                        </a:rPr>
                        <a:t>样测试数据→更新功率数据</a:t>
                      </a:r>
                    </a:p>
                    <a:p>
                      <a:r>
                        <a:rPr lang="zh-CN" altLang="en-US" sz="2000" dirty="0">
                          <a:effectLst/>
                        </a:rPr>
                        <a:t>样品阶段标注正确：</a:t>
                      </a:r>
                      <a:r>
                        <a:rPr lang="en-US" altLang="zh-CN" sz="2000" dirty="0">
                          <a:effectLst/>
                        </a:rPr>
                        <a:t>A</a:t>
                      </a:r>
                      <a:r>
                        <a:rPr lang="zh-CN" altLang="en-US" sz="2000" dirty="0">
                          <a:effectLst/>
                        </a:rPr>
                        <a:t>样→</a:t>
                      </a:r>
                      <a:r>
                        <a:rPr lang="en-US" altLang="zh-CN" sz="2000" dirty="0">
                          <a:effectLst/>
                        </a:rPr>
                        <a:t>A</a:t>
                      </a:r>
                      <a:r>
                        <a:rPr lang="zh-CN" altLang="en-US" sz="2000" dirty="0">
                          <a:effectLst/>
                        </a:rPr>
                        <a:t>样→</a:t>
                      </a:r>
                      <a:r>
                        <a:rPr lang="en-US" altLang="zh-CN" sz="2000" dirty="0">
                          <a:effectLst/>
                        </a:rPr>
                        <a:t>C</a:t>
                      </a:r>
                      <a:r>
                        <a:rPr lang="zh-CN" altLang="en-US" sz="2000" dirty="0">
                          <a:effectLst/>
                        </a:rPr>
                        <a:t>样</a:t>
                      </a:r>
                    </a:p>
                    <a:p>
                      <a:r>
                        <a:rPr lang="en-US" altLang="zh-CN" sz="2000" b="1" dirty="0">
                          <a:effectLst/>
                        </a:rPr>
                        <a:t>1.2 </a:t>
                      </a:r>
                      <a:r>
                        <a:rPr lang="zh-CN" altLang="en-US" sz="2000" b="1" dirty="0">
                          <a:effectLst/>
                        </a:rPr>
                        <a:t>文档审批流程</a:t>
                      </a:r>
                    </a:p>
                    <a:p>
                      <a:r>
                        <a:rPr lang="zh-CN" altLang="en-US" sz="2000" b="1" dirty="0">
                          <a:effectLst/>
                        </a:rPr>
                        <a:t>审查点：</a:t>
                      </a:r>
                      <a:r>
                        <a:rPr lang="zh-CN" altLang="en-US" sz="2000" dirty="0">
                          <a:effectLst/>
                        </a:rPr>
                        <a:t> 审批人员资质、审批流程完整性</a:t>
                      </a:r>
                      <a:r>
                        <a:rPr lang="zh-CN" altLang="en-US" sz="2000" b="1" dirty="0">
                          <a:effectLst/>
                        </a:rPr>
                        <a:t>评审结果：</a:t>
                      </a:r>
                      <a:r>
                        <a:rPr lang="zh-CN" altLang="en-US" sz="2000" dirty="0">
                          <a:effectLst/>
                        </a:rPr>
                        <a:t> ✅ </a:t>
                      </a:r>
                      <a:r>
                        <a:rPr lang="zh-CN" altLang="en-US" sz="2000" b="1" dirty="0">
                          <a:effectLst/>
                        </a:rPr>
                        <a:t>通过</a:t>
                      </a:r>
                      <a:r>
                        <a:rPr lang="zh-CN" altLang="en-US" sz="2000" dirty="0">
                          <a:effectLst/>
                        </a:rPr>
                        <a:t>审批链完整：编制→校对→会签→审核→批准</a:t>
                      </a:r>
                    </a:p>
                    <a:p>
                      <a:r>
                        <a:rPr lang="zh-CN" altLang="en-US" sz="2000" dirty="0">
                          <a:effectLst/>
                        </a:rPr>
                        <a:t>审批日期一致</a:t>
                      </a:r>
                      <a:r>
                        <a:rPr lang="en-US" altLang="zh-CN" sz="2000" dirty="0">
                          <a:effectLst/>
                        </a:rPr>
                        <a:t>(2024.3.12)</a:t>
                      </a:r>
                      <a:r>
                        <a:rPr lang="zh-CN" altLang="en-US" sz="2000" dirty="0">
                          <a:effectLst/>
                        </a:rPr>
                        <a:t>，符合</a:t>
                      </a:r>
                      <a:r>
                        <a:rPr lang="en-US" altLang="zh-CN" sz="2000" dirty="0">
                          <a:effectLst/>
                        </a:rPr>
                        <a:t>B</a:t>
                      </a:r>
                      <a:r>
                        <a:rPr lang="zh-CN" altLang="en-US" sz="2000" dirty="0">
                          <a:effectLst/>
                        </a:rPr>
                        <a:t>样阶段要求</a:t>
                      </a:r>
                    </a:p>
                    <a:p>
                      <a:r>
                        <a:rPr lang="zh-CN" altLang="en-US" sz="2000" dirty="0">
                          <a:effectLst/>
                        </a:rPr>
                        <a:t>人员职责分工明确</a:t>
                      </a:r>
                    </a:p>
                    <a:p>
                      <a:r>
                        <a:rPr lang="en-US" altLang="zh-CN" sz="2000" b="1" dirty="0">
                          <a:effectLst/>
                        </a:rPr>
                        <a:t>1.3 </a:t>
                      </a:r>
                      <a:r>
                        <a:rPr lang="zh-CN" altLang="en-US" sz="2000" b="1" dirty="0">
                          <a:effectLst/>
                        </a:rPr>
                        <a:t>文档结构完整性</a:t>
                      </a:r>
                    </a:p>
                    <a:p>
                      <a:r>
                        <a:rPr lang="zh-CN" altLang="en-US" sz="2000" b="1" dirty="0">
                          <a:effectLst/>
                        </a:rPr>
                        <a:t>审查点：</a:t>
                      </a:r>
                      <a:r>
                        <a:rPr lang="zh-CN" altLang="en-US" sz="2000" dirty="0">
                          <a:effectLst/>
                        </a:rPr>
                        <a:t> 目录结构、章节完整性</a:t>
                      </a:r>
                      <a:r>
                        <a:rPr lang="zh-CN" altLang="en-US" sz="2000" b="1" dirty="0">
                          <a:effectLst/>
                        </a:rPr>
                        <a:t>评审结果：</a:t>
                      </a:r>
                      <a:r>
                        <a:rPr lang="zh-CN" altLang="en-US" sz="2000" dirty="0">
                          <a:effectLst/>
                        </a:rPr>
                        <a:t> ✅ </a:t>
                      </a:r>
                      <a:r>
                        <a:rPr lang="zh-CN" altLang="en-US" sz="2000" b="1" dirty="0">
                          <a:effectLst/>
                        </a:rPr>
                        <a:t>通过</a:t>
                      </a:r>
                      <a:r>
                        <a:rPr lang="zh-CN" altLang="en-US" sz="2000" dirty="0">
                          <a:effectLst/>
                        </a:rPr>
                        <a:t>目录结构完整，涵盖产品信息、性能数据、安全限制、设计参数等</a:t>
                      </a:r>
                    </a:p>
                    <a:p>
                      <a:r>
                        <a:rPr lang="zh-CN" altLang="en-US" sz="2000" dirty="0">
                          <a:effectLst/>
                        </a:rPr>
                        <a:t>中英文对照规范</a:t>
                      </a:r>
                    </a:p>
                    <a:p>
                      <a:r>
                        <a:rPr lang="zh-CN" altLang="en-US" sz="2000" dirty="0">
                          <a:effectLst/>
                        </a:rPr>
                        <a:t>章节编号清晰</a:t>
                      </a:r>
                    </a:p>
                    <a:p>
                      <a:r>
                        <a:rPr lang="zh-CN" altLang="en-US" sz="2000" b="1" dirty="0">
                          <a:effectLst/>
                        </a:rPr>
                        <a:t>二、产品技术规格审查</a:t>
                      </a:r>
                    </a:p>
                    <a:p>
                      <a:r>
                        <a:rPr lang="en-US" altLang="zh-CN" sz="2000" b="1" dirty="0">
                          <a:effectLst/>
                        </a:rPr>
                        <a:t>2.1 </a:t>
                      </a:r>
                      <a:r>
                        <a:rPr lang="zh-CN" altLang="en-US" sz="2000" b="1" dirty="0">
                          <a:effectLst/>
                        </a:rPr>
                        <a:t>基本参数完整性</a:t>
                      </a:r>
                    </a:p>
                    <a:p>
                      <a:r>
                        <a:rPr lang="zh-CN" altLang="en-US" sz="2000" b="1" dirty="0">
                          <a:effectLst/>
                        </a:rPr>
                        <a:t>审查点：</a:t>
                      </a:r>
                      <a:r>
                        <a:rPr lang="zh-CN" altLang="en-US" sz="2000" dirty="0">
                          <a:effectLst/>
                        </a:rPr>
                        <a:t> 关键性能参数是否完整、准确</a:t>
                      </a:r>
                      <a:r>
                        <a:rPr lang="zh-CN" altLang="en-US" sz="2000" b="1" dirty="0">
                          <a:effectLst/>
                        </a:rPr>
                        <a:t>评审结果：</a:t>
                      </a:r>
                      <a:r>
                        <a:rPr lang="zh-CN" altLang="en-US" sz="2000" dirty="0">
                          <a:effectLst/>
                        </a:rPr>
                        <a:t> ✅ </a:t>
                      </a:r>
                      <a:r>
                        <a:rPr lang="zh-CN" altLang="en-US" sz="2000" b="1" dirty="0">
                          <a:effectLst/>
                        </a:rPr>
                        <a:t>通过</a:t>
                      </a:r>
                      <a:r>
                        <a:rPr lang="zh-CN" altLang="en-US" sz="2000" dirty="0">
                          <a:effectLst/>
                        </a:rPr>
                        <a:t>额定容量：</a:t>
                      </a:r>
                      <a:r>
                        <a:rPr lang="en-US" altLang="zh-CN" sz="2000" dirty="0">
                          <a:effectLst/>
                        </a:rPr>
                        <a:t>113.5Ah(1C</a:t>
                      </a:r>
                      <a:r>
                        <a:rPr lang="zh-CN" altLang="en-US" sz="2000" dirty="0">
                          <a:effectLst/>
                        </a:rPr>
                        <a:t>放电</a:t>
                      </a:r>
                      <a:r>
                        <a:rPr lang="en-US" altLang="zh-CN" sz="2000" dirty="0">
                          <a:effectLst/>
                        </a:rPr>
                        <a:t>)/115.5Ah(</a:t>
                      </a:r>
                      <a:r>
                        <a:rPr lang="zh-CN" altLang="en-US" sz="2000" dirty="0">
                          <a:effectLst/>
                        </a:rPr>
                        <a:t>标准放电</a:t>
                      </a:r>
                      <a:r>
                        <a:rPr lang="en-US" altLang="zh-CN" sz="2000" dirty="0">
                          <a:effectLst/>
                        </a:rPr>
                        <a:t>)</a:t>
                      </a:r>
                    </a:p>
                    <a:p>
                      <a:r>
                        <a:rPr lang="zh-CN" altLang="en-US" sz="2000" dirty="0">
                          <a:effectLst/>
                        </a:rPr>
                        <a:t>额定电压：</a:t>
                      </a:r>
                      <a:r>
                        <a:rPr lang="en-US" altLang="zh-CN" sz="2000" dirty="0">
                          <a:effectLst/>
                        </a:rPr>
                        <a:t>3.70V(1C</a:t>
                      </a:r>
                      <a:r>
                        <a:rPr lang="zh-CN" altLang="en-US" sz="2000" dirty="0">
                          <a:effectLst/>
                        </a:rPr>
                        <a:t>放电</a:t>
                      </a:r>
                      <a:r>
                        <a:rPr lang="en-US" altLang="zh-CN" sz="2000" dirty="0">
                          <a:effectLst/>
                        </a:rPr>
                        <a:t>)/3.75V(</a:t>
                      </a:r>
                      <a:r>
                        <a:rPr lang="zh-CN" altLang="en-US" sz="2000" dirty="0">
                          <a:effectLst/>
                        </a:rPr>
                        <a:t>标准放电</a:t>
                      </a:r>
                      <a:r>
                        <a:rPr lang="en-US" altLang="zh-CN" sz="2000" dirty="0">
                          <a:effectLst/>
                        </a:rPr>
                        <a:t>)</a:t>
                      </a:r>
                    </a:p>
                    <a:p>
                      <a:r>
                        <a:rPr lang="zh-CN" altLang="en-US" sz="2000" dirty="0">
                          <a:effectLst/>
                        </a:rPr>
                        <a:t>额定能量：</a:t>
                      </a:r>
                      <a:r>
                        <a:rPr lang="en-US" altLang="zh-CN" sz="2000" dirty="0">
                          <a:effectLst/>
                        </a:rPr>
                        <a:t>420.0Wh(1C</a:t>
                      </a:r>
                      <a:r>
                        <a:rPr lang="zh-CN" altLang="en-US" sz="2000" dirty="0">
                          <a:effectLst/>
                        </a:rPr>
                        <a:t>放电</a:t>
                      </a:r>
                      <a:r>
                        <a:rPr lang="en-US" altLang="zh-CN" sz="2000" dirty="0">
                          <a:effectLst/>
                        </a:rPr>
                        <a:t>)/433.1Wh(</a:t>
                      </a:r>
                      <a:r>
                        <a:rPr lang="zh-CN" altLang="en-US" sz="2000" dirty="0">
                          <a:effectLst/>
                        </a:rPr>
                        <a:t>标准放电</a:t>
                      </a:r>
                      <a:r>
                        <a:rPr lang="en-US" altLang="zh-CN" sz="2000" dirty="0">
                          <a:effectLst/>
                        </a:rPr>
                        <a:t>)</a:t>
                      </a:r>
                    </a:p>
                    <a:p>
                      <a:r>
                        <a:rPr lang="zh-CN" altLang="en-US" sz="2000" dirty="0">
                          <a:effectLst/>
                        </a:rPr>
                        <a:t>质量能量密度：</a:t>
                      </a:r>
                      <a:r>
                        <a:rPr lang="en-US" altLang="zh-CN" sz="2000" dirty="0">
                          <a:effectLst/>
                        </a:rPr>
                        <a:t>246.0Wh/kg</a:t>
                      </a:r>
                    </a:p>
                    <a:p>
                      <a:r>
                        <a:rPr lang="zh-CN" altLang="en-US" sz="2000" dirty="0">
                          <a:effectLst/>
                        </a:rPr>
                        <a:t>体积能量密度：</a:t>
                      </a:r>
                      <a:r>
                        <a:rPr lang="en-US" altLang="zh-CN" sz="2000" dirty="0">
                          <a:effectLst/>
                        </a:rPr>
                        <a:t>569.9Wh/L</a:t>
                      </a:r>
                    </a:p>
                    <a:p>
                      <a:r>
                        <a:rPr lang="en-US" altLang="zh-CN" sz="2000" b="1" dirty="0">
                          <a:effectLst/>
                        </a:rPr>
                        <a:t>2.2 </a:t>
                      </a:r>
                      <a:r>
                        <a:rPr lang="zh-CN" altLang="en-US" sz="2000" b="1" dirty="0">
                          <a:effectLst/>
                        </a:rPr>
                        <a:t>尺寸规格</a:t>
                      </a:r>
                    </a:p>
                    <a:p>
                      <a:r>
                        <a:rPr lang="zh-CN" altLang="en-US" sz="2000" b="1" dirty="0">
                          <a:effectLst/>
                        </a:rPr>
                        <a:t>审查点：</a:t>
                      </a:r>
                      <a:r>
                        <a:rPr lang="zh-CN" altLang="en-US" sz="2000" dirty="0">
                          <a:effectLst/>
                        </a:rPr>
                        <a:t> 尺寸公差、测量条件</a:t>
                      </a:r>
                      <a:r>
                        <a:rPr lang="zh-CN" altLang="en-US" sz="2000" b="1" dirty="0">
                          <a:effectLst/>
                        </a:rPr>
                        <a:t>评审结果：</a:t>
                      </a:r>
                      <a:r>
                        <a:rPr lang="zh-CN" altLang="en-US" sz="2000" dirty="0">
                          <a:effectLst/>
                        </a:rPr>
                        <a:t> ✅ </a:t>
                      </a:r>
                      <a:r>
                        <a:rPr lang="zh-CN" altLang="en-US" sz="2000" b="1" dirty="0">
                          <a:effectLst/>
                        </a:rPr>
                        <a:t>通过</a:t>
                      </a:r>
                      <a:r>
                        <a:rPr lang="zh-CN" altLang="en-US" sz="2000" dirty="0">
                          <a:effectLst/>
                        </a:rPr>
                        <a:t>宽度：</a:t>
                      </a:r>
                      <a:r>
                        <a:rPr lang="en-US" altLang="zh-CN" sz="2000" dirty="0">
                          <a:effectLst/>
                        </a:rPr>
                        <a:t>220.8±0.4mm</a:t>
                      </a:r>
                    </a:p>
                    <a:p>
                      <a:r>
                        <a:rPr lang="zh-CN" altLang="en-US" sz="2000" dirty="0">
                          <a:effectLst/>
                        </a:rPr>
                        <a:t>厚度：</a:t>
                      </a:r>
                      <a:r>
                        <a:rPr lang="en-US" altLang="zh-CN" sz="2000" dirty="0">
                          <a:effectLst/>
                        </a:rPr>
                        <a:t>33.36±0.2mm(70%SOC, 300±20Kgf)</a:t>
                      </a:r>
                    </a:p>
                    <a:p>
                      <a:r>
                        <a:rPr lang="zh-CN" altLang="en-US" sz="2000" dirty="0">
                          <a:effectLst/>
                        </a:rPr>
                        <a:t>高度：</a:t>
                      </a:r>
                      <a:r>
                        <a:rPr lang="en-US" altLang="zh-CN" sz="2000" dirty="0">
                          <a:effectLst/>
                        </a:rPr>
                        <a:t>105.88±0.46mm(</a:t>
                      </a:r>
                      <a:r>
                        <a:rPr lang="zh-CN" altLang="en-US" sz="2000" dirty="0">
                          <a:effectLst/>
                        </a:rPr>
                        <a:t>含极柱</a:t>
                      </a:r>
                      <a:r>
                        <a:rPr lang="en-US" altLang="zh-CN" sz="2000" dirty="0">
                          <a:effectLst/>
                        </a:rPr>
                        <a:t>)/103.24±0.4mm(</a:t>
                      </a:r>
                      <a:r>
                        <a:rPr lang="zh-CN" altLang="en-US" sz="2000" dirty="0">
                          <a:effectLst/>
                        </a:rPr>
                        <a:t>不含极柱</a:t>
                      </a:r>
                      <a:r>
                        <a:rPr lang="en-US" altLang="zh-CN" sz="2000" dirty="0">
                          <a:effectLst/>
                        </a:rPr>
                        <a:t>)</a:t>
                      </a:r>
                    </a:p>
                    <a:p>
                      <a:r>
                        <a:rPr lang="zh-CN" altLang="en-US" sz="2000" dirty="0">
                          <a:effectLst/>
                        </a:rPr>
                        <a:t>测量条件明确，公差合理</a:t>
                      </a:r>
                    </a:p>
                    <a:p>
                      <a:pPr>
                        <a:spcBef>
                          <a:spcPts val="150"/>
                        </a:spcBef>
                        <a:spcAft>
                          <a:spcPts val="150"/>
                        </a:spcAft>
                        <a:buFont typeface="+mj-lt"/>
                        <a:buAutoNum type="arabicPeriod"/>
                      </a:pPr>
                      <a:endParaRPr lang="en-GB" sz="2000" dirty="0"/>
                    </a:p>
                  </a:txBody>
                  <a:tcPr/>
                </a:tc>
                <a:tc>
                  <a:txBody>
                    <a:bodyPr/>
                    <a:lstStyle/>
                    <a:p>
                      <a:r>
                        <a:rPr lang="en-US" altLang="zh-CN" sz="2000" b="1" dirty="0">
                          <a:effectLst/>
                        </a:rPr>
                        <a:t>2.3 </a:t>
                      </a:r>
                      <a:r>
                        <a:rPr lang="zh-CN" altLang="en-US" sz="2000" b="1" dirty="0">
                          <a:effectLst/>
                        </a:rPr>
                        <a:t>工作条件范围</a:t>
                      </a:r>
                    </a:p>
                    <a:p>
                      <a:r>
                        <a:rPr lang="zh-CN" altLang="en-US" sz="2000" b="1" dirty="0">
                          <a:effectLst/>
                        </a:rPr>
                        <a:t>审查点：</a:t>
                      </a:r>
                      <a:r>
                        <a:rPr lang="zh-CN" altLang="en-US" sz="2000" dirty="0">
                          <a:effectLst/>
                        </a:rPr>
                        <a:t> 温度、电压、电流工作范围</a:t>
                      </a:r>
                      <a:r>
                        <a:rPr lang="zh-CN" altLang="en-US" sz="2000" b="1" dirty="0">
                          <a:effectLst/>
                        </a:rPr>
                        <a:t>评审结果：</a:t>
                      </a:r>
                      <a:r>
                        <a:rPr lang="zh-CN" altLang="en-US" sz="2000" dirty="0">
                          <a:effectLst/>
                        </a:rPr>
                        <a:t> ✅ </a:t>
                      </a:r>
                      <a:r>
                        <a:rPr lang="zh-CN" altLang="en-US" sz="2000" b="1" dirty="0">
                          <a:effectLst/>
                        </a:rPr>
                        <a:t>通过</a:t>
                      </a:r>
                      <a:r>
                        <a:rPr lang="zh-CN" altLang="en-US" sz="2000" dirty="0">
                          <a:effectLst/>
                        </a:rPr>
                        <a:t>充电温度：</a:t>
                      </a:r>
                      <a:r>
                        <a:rPr lang="en-US" altLang="zh-CN" sz="2000" dirty="0">
                          <a:effectLst/>
                        </a:rPr>
                        <a:t>-20~55℃</a:t>
                      </a:r>
                    </a:p>
                    <a:p>
                      <a:r>
                        <a:rPr lang="zh-CN" altLang="en-US" sz="2000" dirty="0">
                          <a:effectLst/>
                        </a:rPr>
                        <a:t>放电温度：</a:t>
                      </a:r>
                      <a:r>
                        <a:rPr lang="en-US" altLang="zh-CN" sz="2000" dirty="0">
                          <a:effectLst/>
                        </a:rPr>
                        <a:t>-30~55℃</a:t>
                      </a:r>
                    </a:p>
                    <a:p>
                      <a:r>
                        <a:rPr lang="zh-CN" altLang="en-US" sz="2000" dirty="0">
                          <a:effectLst/>
                        </a:rPr>
                        <a:t>存储温度：</a:t>
                      </a:r>
                      <a:r>
                        <a:rPr lang="en-US" altLang="zh-CN" sz="2000" dirty="0">
                          <a:effectLst/>
                        </a:rPr>
                        <a:t>-40~60℃</a:t>
                      </a:r>
                    </a:p>
                    <a:p>
                      <a:r>
                        <a:rPr lang="zh-CN" altLang="en-US" sz="2000" dirty="0">
                          <a:effectLst/>
                        </a:rPr>
                        <a:t>电压范围：</a:t>
                      </a:r>
                      <a:r>
                        <a:rPr lang="en-US" altLang="zh-CN" sz="2000" dirty="0">
                          <a:effectLst/>
                        </a:rPr>
                        <a:t>2.80~4.35V(0℃≤T≤55℃)/2.50~4.35V(-30℃≤T&lt;0℃)</a:t>
                      </a:r>
                    </a:p>
                    <a:p>
                      <a:r>
                        <a:rPr lang="zh-CN" altLang="en-US" sz="2000" b="1" dirty="0">
                          <a:effectLst/>
                        </a:rPr>
                        <a:t>三、性能数据审查</a:t>
                      </a:r>
                    </a:p>
                    <a:p>
                      <a:r>
                        <a:rPr lang="en-US" altLang="zh-CN" sz="2000" b="1" dirty="0">
                          <a:effectLst/>
                        </a:rPr>
                        <a:t>3.1 </a:t>
                      </a:r>
                      <a:r>
                        <a:rPr lang="zh-CN" altLang="en-US" sz="2000" b="1" dirty="0">
                          <a:effectLst/>
                        </a:rPr>
                        <a:t>内阻特性</a:t>
                      </a:r>
                    </a:p>
                    <a:p>
                      <a:r>
                        <a:rPr lang="zh-CN" altLang="en-US" sz="2000" b="1" dirty="0">
                          <a:effectLst/>
                        </a:rPr>
                        <a:t>审查点：</a:t>
                      </a:r>
                      <a:r>
                        <a:rPr lang="zh-CN" altLang="en-US" sz="2000" dirty="0">
                          <a:effectLst/>
                        </a:rPr>
                        <a:t> </a:t>
                      </a:r>
                      <a:r>
                        <a:rPr lang="en-US" altLang="zh-CN" sz="2000" dirty="0">
                          <a:effectLst/>
                        </a:rPr>
                        <a:t>DC-IR</a:t>
                      </a:r>
                      <a:r>
                        <a:rPr lang="zh-CN" altLang="en-US" sz="2000" dirty="0">
                          <a:effectLst/>
                        </a:rPr>
                        <a:t>数据完整性、温度覆盖范围</a:t>
                      </a:r>
                      <a:r>
                        <a:rPr lang="zh-CN" altLang="en-US" sz="2000" b="1" dirty="0">
                          <a:effectLst/>
                        </a:rPr>
                        <a:t>评审结果：</a:t>
                      </a:r>
                      <a:r>
                        <a:rPr lang="zh-CN" altLang="en-US" sz="2000" dirty="0">
                          <a:effectLst/>
                        </a:rPr>
                        <a:t> ✅ </a:t>
                      </a:r>
                      <a:r>
                        <a:rPr lang="zh-CN" altLang="en-US" sz="2000" b="1" dirty="0">
                          <a:effectLst/>
                        </a:rPr>
                        <a:t>通过</a:t>
                      </a:r>
                      <a:r>
                        <a:rPr lang="zh-CN" altLang="en-US" sz="2000" dirty="0">
                          <a:effectLst/>
                        </a:rPr>
                        <a:t>覆盖温度：</a:t>
                      </a:r>
                      <a:r>
                        <a:rPr lang="en-US" altLang="zh-CN" sz="2000" dirty="0">
                          <a:effectLst/>
                        </a:rPr>
                        <a:t>25℃</a:t>
                      </a:r>
                      <a:r>
                        <a:rPr lang="zh-CN" altLang="en-US" sz="2000" dirty="0">
                          <a:effectLst/>
                        </a:rPr>
                        <a:t>、</a:t>
                      </a:r>
                      <a:r>
                        <a:rPr lang="en-US" altLang="zh-CN" sz="2000" dirty="0">
                          <a:effectLst/>
                        </a:rPr>
                        <a:t>0℃</a:t>
                      </a:r>
                      <a:r>
                        <a:rPr lang="zh-CN" altLang="en-US" sz="2000" dirty="0">
                          <a:effectLst/>
                        </a:rPr>
                        <a:t>、</a:t>
                      </a:r>
                      <a:r>
                        <a:rPr lang="en-US" altLang="zh-CN" sz="2000" dirty="0">
                          <a:effectLst/>
                        </a:rPr>
                        <a:t>-20℃</a:t>
                      </a:r>
                    </a:p>
                    <a:p>
                      <a:r>
                        <a:rPr lang="en-US" altLang="zh-CN" sz="2000" dirty="0">
                          <a:effectLst/>
                        </a:rPr>
                        <a:t>SOC</a:t>
                      </a:r>
                      <a:r>
                        <a:rPr lang="zh-CN" altLang="en-US" sz="2000" dirty="0">
                          <a:effectLst/>
                        </a:rPr>
                        <a:t>覆盖：</a:t>
                      </a:r>
                      <a:r>
                        <a:rPr lang="en-US" altLang="zh-CN" sz="2000" dirty="0">
                          <a:effectLst/>
                        </a:rPr>
                        <a:t>5%</a:t>
                      </a:r>
                      <a:r>
                        <a:rPr lang="zh-CN" altLang="en-US" sz="2000" dirty="0">
                          <a:effectLst/>
                        </a:rPr>
                        <a:t>、</a:t>
                      </a:r>
                      <a:r>
                        <a:rPr lang="en-US" altLang="zh-CN" sz="2000" dirty="0">
                          <a:effectLst/>
                        </a:rPr>
                        <a:t>20%</a:t>
                      </a:r>
                      <a:r>
                        <a:rPr lang="zh-CN" altLang="en-US" sz="2000" dirty="0">
                          <a:effectLst/>
                        </a:rPr>
                        <a:t>、</a:t>
                      </a:r>
                      <a:r>
                        <a:rPr lang="en-US" altLang="zh-CN" sz="2000" dirty="0">
                          <a:effectLst/>
                        </a:rPr>
                        <a:t>50%</a:t>
                      </a:r>
                      <a:r>
                        <a:rPr lang="zh-CN" altLang="en-US" sz="2000" dirty="0">
                          <a:effectLst/>
                        </a:rPr>
                        <a:t>、</a:t>
                      </a:r>
                      <a:r>
                        <a:rPr lang="en-US" altLang="zh-CN" sz="2000" dirty="0">
                          <a:effectLst/>
                        </a:rPr>
                        <a:t>80%</a:t>
                      </a:r>
                      <a:r>
                        <a:rPr lang="zh-CN" altLang="en-US" sz="2000" dirty="0">
                          <a:effectLst/>
                        </a:rPr>
                        <a:t>、</a:t>
                      </a:r>
                      <a:r>
                        <a:rPr lang="en-US" altLang="zh-CN" sz="2000" dirty="0">
                          <a:effectLst/>
                        </a:rPr>
                        <a:t>95%</a:t>
                      </a:r>
                    </a:p>
                    <a:p>
                      <a:r>
                        <a:rPr lang="zh-CN" altLang="en-US" sz="2000" dirty="0">
                          <a:effectLst/>
                        </a:rPr>
                        <a:t>数据趋势合理，低温下内阻增大符合预期</a:t>
                      </a:r>
                    </a:p>
                    <a:p>
                      <a:r>
                        <a:rPr lang="en-US" altLang="zh-CN" sz="2000" b="1" dirty="0">
                          <a:effectLst/>
                        </a:rPr>
                        <a:t>3.2 </a:t>
                      </a:r>
                      <a:r>
                        <a:rPr lang="zh-CN" altLang="en-US" sz="2000" b="1" dirty="0">
                          <a:effectLst/>
                        </a:rPr>
                        <a:t>功率特性</a:t>
                      </a:r>
                    </a:p>
                    <a:p>
                      <a:r>
                        <a:rPr lang="zh-CN" altLang="en-US" sz="2000" b="1" dirty="0">
                          <a:effectLst/>
                        </a:rPr>
                        <a:t>审查点：</a:t>
                      </a:r>
                      <a:r>
                        <a:rPr lang="zh-CN" altLang="en-US" sz="2000" dirty="0">
                          <a:effectLst/>
                        </a:rPr>
                        <a:t> 功率数据、测试方法</a:t>
                      </a:r>
                      <a:r>
                        <a:rPr lang="zh-CN" altLang="en-US" sz="2000" b="1" dirty="0">
                          <a:effectLst/>
                        </a:rPr>
                        <a:t>评审结果：</a:t>
                      </a:r>
                      <a:r>
                        <a:rPr lang="zh-CN" altLang="en-US" sz="2000" dirty="0">
                          <a:effectLst/>
                        </a:rPr>
                        <a:t> ✅ </a:t>
                      </a:r>
                      <a:r>
                        <a:rPr lang="zh-CN" altLang="en-US" sz="2000" b="1" dirty="0">
                          <a:effectLst/>
                        </a:rPr>
                        <a:t>通过</a:t>
                      </a:r>
                      <a:r>
                        <a:rPr lang="zh-CN" altLang="en-US" sz="2000" dirty="0">
                          <a:effectLst/>
                        </a:rPr>
                        <a:t>功率数据完整，</a:t>
                      </a:r>
                      <a:r>
                        <a:rPr lang="en-US" altLang="zh-CN" sz="2000" dirty="0">
                          <a:effectLst/>
                        </a:rPr>
                        <a:t>25℃</a:t>
                      </a:r>
                      <a:r>
                        <a:rPr lang="zh-CN" altLang="en-US" sz="2000" dirty="0">
                          <a:effectLst/>
                        </a:rPr>
                        <a:t>下最大放电功率</a:t>
                      </a:r>
                      <a:r>
                        <a:rPr lang="en-US" altLang="zh-CN" sz="2000" dirty="0">
                          <a:effectLst/>
                        </a:rPr>
                        <a:t>3577W</a:t>
                      </a:r>
                    </a:p>
                    <a:p>
                      <a:r>
                        <a:rPr lang="zh-CN" altLang="en-US" sz="2000" dirty="0">
                          <a:effectLst/>
                        </a:rPr>
                        <a:t>测试方法详细，包含温度平衡、</a:t>
                      </a:r>
                      <a:r>
                        <a:rPr lang="en-US" altLang="zh-CN" sz="2000" dirty="0">
                          <a:effectLst/>
                        </a:rPr>
                        <a:t>SOC</a:t>
                      </a:r>
                      <a:r>
                        <a:rPr lang="zh-CN" altLang="en-US" sz="2000" dirty="0">
                          <a:effectLst/>
                        </a:rPr>
                        <a:t>调节等条件</a:t>
                      </a:r>
                    </a:p>
                    <a:p>
                      <a:r>
                        <a:rPr lang="zh-CN" altLang="en-US" sz="2000" dirty="0">
                          <a:effectLst/>
                        </a:rPr>
                        <a:t>低温功率衰减合理</a:t>
                      </a:r>
                    </a:p>
                    <a:p>
                      <a:r>
                        <a:rPr lang="en-US" altLang="zh-CN" sz="2000" b="1" dirty="0">
                          <a:effectLst/>
                        </a:rPr>
                        <a:t>3.3 </a:t>
                      </a:r>
                      <a:r>
                        <a:rPr lang="zh-CN" altLang="en-US" sz="2000" b="1" dirty="0">
                          <a:effectLst/>
                        </a:rPr>
                        <a:t>循环寿命</a:t>
                      </a:r>
                    </a:p>
                    <a:p>
                      <a:r>
                        <a:rPr lang="zh-CN" altLang="en-US" sz="2000" b="1" dirty="0">
                          <a:effectLst/>
                        </a:rPr>
                        <a:t>审查点：</a:t>
                      </a:r>
                      <a:r>
                        <a:rPr lang="zh-CN" altLang="en-US" sz="2000" dirty="0">
                          <a:effectLst/>
                        </a:rPr>
                        <a:t> 循环测试条件、寿命指标</a:t>
                      </a:r>
                      <a:r>
                        <a:rPr lang="zh-CN" altLang="en-US" sz="2000" b="1" dirty="0">
                          <a:effectLst/>
                        </a:rPr>
                        <a:t>评审结果：</a:t>
                      </a:r>
                      <a:r>
                        <a:rPr lang="zh-CN" altLang="en-US" sz="2000" dirty="0">
                          <a:effectLst/>
                        </a:rPr>
                        <a:t> ✅ </a:t>
                      </a:r>
                      <a:r>
                        <a:rPr lang="zh-CN" altLang="en-US" sz="2000" b="1" dirty="0">
                          <a:effectLst/>
                        </a:rPr>
                        <a:t>通过</a:t>
                      </a:r>
                      <a:r>
                        <a:rPr lang="zh-CN" altLang="en-US" sz="2000" dirty="0">
                          <a:effectLst/>
                        </a:rPr>
                        <a:t>快充策略详细：</a:t>
                      </a:r>
                      <a:r>
                        <a:rPr lang="en-US" altLang="zh-CN" sz="2000" dirty="0">
                          <a:effectLst/>
                        </a:rPr>
                        <a:t>1.7C→1.6C→1.4C→1.2C→1.0C→0.85C→0.6C→0.5C→0.33C→0.2C</a:t>
                      </a:r>
                    </a:p>
                    <a:p>
                      <a:r>
                        <a:rPr lang="zh-CN" altLang="en-US" sz="2000" dirty="0">
                          <a:effectLst/>
                        </a:rPr>
                        <a:t>寿命指标：≥</a:t>
                      </a:r>
                      <a:r>
                        <a:rPr lang="en-US" altLang="zh-CN" sz="2000" dirty="0">
                          <a:effectLst/>
                        </a:rPr>
                        <a:t>2000</a:t>
                      </a:r>
                      <a:r>
                        <a:rPr lang="zh-CN" altLang="en-US" sz="2000" dirty="0">
                          <a:effectLst/>
                        </a:rPr>
                        <a:t>次循环</a:t>
                      </a:r>
                      <a:r>
                        <a:rPr lang="en-US" altLang="zh-CN" sz="2000" dirty="0">
                          <a:effectLst/>
                        </a:rPr>
                        <a:t>@80%SOH</a:t>
                      </a:r>
                    </a:p>
                    <a:p>
                      <a:r>
                        <a:rPr lang="zh-CN" altLang="en-US" sz="2000" dirty="0">
                          <a:effectLst/>
                        </a:rPr>
                        <a:t>符合</a:t>
                      </a:r>
                      <a:r>
                        <a:rPr lang="en-US" altLang="zh-CN" sz="2000" dirty="0">
                          <a:effectLst/>
                        </a:rPr>
                        <a:t>B</a:t>
                      </a:r>
                      <a:r>
                        <a:rPr lang="zh-CN" altLang="en-US" sz="2000" dirty="0">
                          <a:effectLst/>
                        </a:rPr>
                        <a:t>样阶段要求</a:t>
                      </a:r>
                    </a:p>
                    <a:p>
                      <a:r>
                        <a:rPr lang="en-US" altLang="zh-CN" sz="2000" b="1" dirty="0">
                          <a:effectLst/>
                        </a:rPr>
                        <a:t>3.4 </a:t>
                      </a:r>
                      <a:r>
                        <a:rPr lang="zh-CN" altLang="en-US" sz="2000" b="1" dirty="0">
                          <a:effectLst/>
                        </a:rPr>
                        <a:t>存储性能</a:t>
                      </a:r>
                    </a:p>
                    <a:p>
                      <a:r>
                        <a:rPr lang="zh-CN" altLang="en-US" sz="2000" b="1" dirty="0">
                          <a:effectLst/>
                        </a:rPr>
                        <a:t>审查点：</a:t>
                      </a:r>
                      <a:r>
                        <a:rPr lang="zh-CN" altLang="en-US" sz="2000" dirty="0">
                          <a:effectLst/>
                        </a:rPr>
                        <a:t> 存储条件、容量保持率</a:t>
                      </a:r>
                      <a:r>
                        <a:rPr lang="zh-CN" altLang="en-US" sz="2000" b="1" dirty="0">
                          <a:effectLst/>
                        </a:rPr>
                        <a:t>评审结果：</a:t>
                      </a:r>
                      <a:r>
                        <a:rPr lang="zh-CN" altLang="en-US" sz="2000" dirty="0">
                          <a:effectLst/>
                        </a:rPr>
                        <a:t> ✅ </a:t>
                      </a:r>
                      <a:r>
                        <a:rPr lang="zh-CN" altLang="en-US" sz="2000" b="1" dirty="0">
                          <a:effectLst/>
                        </a:rPr>
                        <a:t>通过</a:t>
                      </a:r>
                      <a:r>
                        <a:rPr lang="en-US" altLang="zh-CN" sz="2000" dirty="0">
                          <a:effectLst/>
                        </a:rPr>
                        <a:t>25℃</a:t>
                      </a:r>
                      <a:r>
                        <a:rPr lang="zh-CN" altLang="en-US" sz="2000" dirty="0">
                          <a:effectLst/>
                        </a:rPr>
                        <a:t>存储：容量保持率≥</a:t>
                      </a:r>
                      <a:r>
                        <a:rPr lang="en-US" altLang="zh-CN" sz="2000" dirty="0">
                          <a:effectLst/>
                        </a:rPr>
                        <a:t>97%</a:t>
                      </a:r>
                      <a:r>
                        <a:rPr lang="zh-CN" altLang="en-US" sz="2000" dirty="0">
                          <a:effectLst/>
                        </a:rPr>
                        <a:t>，恢复率≥</a:t>
                      </a:r>
                      <a:r>
                        <a:rPr lang="en-US" altLang="zh-CN" sz="2000" dirty="0">
                          <a:effectLst/>
                        </a:rPr>
                        <a:t>99%</a:t>
                      </a:r>
                    </a:p>
                    <a:p>
                      <a:r>
                        <a:rPr lang="en-US" altLang="zh-CN" sz="2000" dirty="0">
                          <a:effectLst/>
                        </a:rPr>
                        <a:t>45℃</a:t>
                      </a:r>
                      <a:r>
                        <a:rPr lang="zh-CN" altLang="en-US" sz="2000" dirty="0">
                          <a:effectLst/>
                        </a:rPr>
                        <a:t>存储：容量保持率≥</a:t>
                      </a:r>
                      <a:r>
                        <a:rPr lang="en-US" altLang="zh-CN" sz="2000" dirty="0">
                          <a:effectLst/>
                        </a:rPr>
                        <a:t>93%</a:t>
                      </a:r>
                      <a:r>
                        <a:rPr lang="zh-CN" altLang="en-US" sz="2000" dirty="0">
                          <a:effectLst/>
                        </a:rPr>
                        <a:t>，恢复率≥</a:t>
                      </a:r>
                      <a:r>
                        <a:rPr lang="en-US" altLang="zh-CN" sz="2000" dirty="0">
                          <a:effectLst/>
                        </a:rPr>
                        <a:t>98%</a:t>
                      </a:r>
                    </a:p>
                    <a:p>
                      <a:r>
                        <a:rPr lang="en-US" altLang="zh-CN" sz="2000" dirty="0">
                          <a:effectLst/>
                        </a:rPr>
                        <a:t>60℃</a:t>
                      </a:r>
                      <a:r>
                        <a:rPr lang="zh-CN" altLang="en-US" sz="2000" dirty="0">
                          <a:effectLst/>
                        </a:rPr>
                        <a:t>存储：容量保持率≥</a:t>
                      </a:r>
                      <a:r>
                        <a:rPr lang="en-US" altLang="zh-CN" sz="2000" dirty="0">
                          <a:effectLst/>
                        </a:rPr>
                        <a:t>88%</a:t>
                      </a:r>
                      <a:r>
                        <a:rPr lang="zh-CN" altLang="en-US" sz="2000" dirty="0">
                          <a:effectLst/>
                        </a:rPr>
                        <a:t>，恢复率≥</a:t>
                      </a:r>
                      <a:r>
                        <a:rPr lang="en-US" altLang="zh-CN" sz="2000" dirty="0">
                          <a:effectLst/>
                        </a:rPr>
                        <a:t>97%</a:t>
                      </a:r>
                    </a:p>
                    <a:p>
                      <a:endParaRPr lang="zh-CN" altLang="en-US" sz="2000" dirty="0">
                        <a:effectLst/>
                      </a:endParaRPr>
                    </a:p>
                    <a:p>
                      <a:pPr>
                        <a:spcBef>
                          <a:spcPts val="150"/>
                        </a:spcBef>
                        <a:spcAft>
                          <a:spcPts val="150"/>
                        </a:spcAft>
                        <a:buFont typeface="+mj-lt"/>
                        <a:buNone/>
                      </a:pPr>
                      <a:endParaRPr lang="en-GB" sz="2000" dirty="0"/>
                    </a:p>
                  </a:txBody>
                  <a:tcPr/>
                </a:tc>
                <a:extLst>
                  <a:ext uri="{0D108BD9-81ED-4DB2-BD59-A6C34878D82A}">
                    <a16:rowId xmlns:a16="http://schemas.microsoft.com/office/drawing/2014/main" val="604853937"/>
                  </a:ext>
                </a:extLst>
              </a:tr>
            </a:tbl>
          </a:graphicData>
        </a:graphic>
      </p:graphicFrame>
    </p:spTree>
    <p:extLst>
      <p:ext uri="{BB962C8B-B14F-4D97-AF65-F5344CB8AC3E}">
        <p14:creationId xmlns:p14="http://schemas.microsoft.com/office/powerpoint/2010/main" val="1073333305"/>
      </p:ext>
    </p:extLst>
  </p:cSld>
  <p:clrMapOvr>
    <a:masterClrMapping/>
  </p:clrMapOvr>
  <p:transition spd="med"/>
  <p:extLst>
    <p:ext uri="{6950BFC3-D8DA-4A85-94F7-54DA5524770B}">
      <p188:commentRel xmlns:p188="http://schemas.microsoft.com/office/powerpoint/2018/8/main" r:id="rId2"/>
    </p:ext>
  </p:extLs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E788B7-9328-BA60-DED8-F036CE9DBE0A}"/>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FCD33065-EBF2-A47A-45A0-2FC945B31869}"/>
              </a:ext>
            </a:extLst>
          </p:cNvPr>
          <p:cNvSpPr txBox="1"/>
          <p:nvPr/>
        </p:nvSpPr>
        <p:spPr>
          <a:xfrm>
            <a:off x="1737559" y="755986"/>
            <a:ext cx="17078475" cy="646331"/>
          </a:xfrm>
          <a:prstGeom prst="rect">
            <a:avLst/>
          </a:prstGeom>
          <a:noFill/>
        </p:spPr>
        <p:txBody>
          <a:bodyPr wrap="square" numCol="1">
            <a:spAutoFit/>
          </a:bodyPr>
          <a:lstStyle/>
          <a:p>
            <a:pPr>
              <a:spcBef>
                <a:spcPts val="1500"/>
              </a:spcBef>
              <a:spcAft>
                <a:spcPts val="750"/>
              </a:spcAft>
              <a:buNone/>
            </a:pPr>
            <a:r>
              <a:rPr lang="en-US" altLang="zh-CN" sz="3600" b="1" dirty="0">
                <a:effectLst/>
              </a:rPr>
              <a:t>B</a:t>
            </a:r>
            <a:r>
              <a:rPr lang="zh-CN" altLang="en-US" sz="3600" b="1" dirty="0">
                <a:effectLst/>
              </a:rPr>
              <a:t>样阶段</a:t>
            </a:r>
            <a:r>
              <a:rPr lang="en-US" altLang="zh-CN" sz="3600" b="1" dirty="0"/>
              <a:t>《L221N113C-</a:t>
            </a:r>
            <a:r>
              <a:rPr lang="zh-CN" altLang="en-US" sz="3600" b="1" dirty="0"/>
              <a:t>产品规格书</a:t>
            </a:r>
            <a:r>
              <a:rPr lang="en-US" altLang="zh-CN" sz="3600" b="1" dirty="0"/>
              <a:t>-V2-20240314.pdf》</a:t>
            </a:r>
            <a:r>
              <a:rPr lang="zh-CN" altLang="en-US" sz="3600" b="1" dirty="0">
                <a:effectLst/>
              </a:rPr>
              <a:t>审核报告（续）</a:t>
            </a:r>
          </a:p>
        </p:txBody>
      </p:sp>
      <p:graphicFrame>
        <p:nvGraphicFramePr>
          <p:cNvPr id="2" name="表格 1">
            <a:extLst>
              <a:ext uri="{FF2B5EF4-FFF2-40B4-BE49-F238E27FC236}">
                <a16:creationId xmlns:a16="http://schemas.microsoft.com/office/drawing/2014/main" id="{B4C2AD06-52C1-F0EC-50C9-C2759B30D5EA}"/>
              </a:ext>
            </a:extLst>
          </p:cNvPr>
          <p:cNvGraphicFramePr>
            <a:graphicFrameLocks noGrp="1"/>
          </p:cNvGraphicFramePr>
          <p:nvPr>
            <p:extLst>
              <p:ext uri="{D42A27DB-BD31-4B8C-83A1-F6EECF244321}">
                <p14:modId xmlns:p14="http://schemas.microsoft.com/office/powerpoint/2010/main" val="1139047717"/>
              </p:ext>
            </p:extLst>
          </p:nvPr>
        </p:nvGraphicFramePr>
        <p:xfrm>
          <a:off x="662354" y="1738812"/>
          <a:ext cx="23148140" cy="11660738"/>
        </p:xfrm>
        <a:graphic>
          <a:graphicData uri="http://schemas.openxmlformats.org/drawingml/2006/table">
            <a:tbl>
              <a:tblPr firstRow="1" bandRow="1"/>
              <a:tblGrid>
                <a:gridCol w="7412111">
                  <a:extLst>
                    <a:ext uri="{9D8B030D-6E8A-4147-A177-3AD203B41FA5}">
                      <a16:colId xmlns:a16="http://schemas.microsoft.com/office/drawing/2014/main" val="585926975"/>
                    </a:ext>
                  </a:extLst>
                </a:gridCol>
                <a:gridCol w="8504073">
                  <a:extLst>
                    <a:ext uri="{9D8B030D-6E8A-4147-A177-3AD203B41FA5}">
                      <a16:colId xmlns:a16="http://schemas.microsoft.com/office/drawing/2014/main" val="3081416713"/>
                    </a:ext>
                  </a:extLst>
                </a:gridCol>
                <a:gridCol w="7231956">
                  <a:extLst>
                    <a:ext uri="{9D8B030D-6E8A-4147-A177-3AD203B41FA5}">
                      <a16:colId xmlns:a16="http://schemas.microsoft.com/office/drawing/2014/main" val="572010187"/>
                    </a:ext>
                  </a:extLst>
                </a:gridCol>
              </a:tblGrid>
              <a:tr h="901298">
                <a:tc gridSpan="2">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逐项审核结果</a:t>
                      </a:r>
                    </a:p>
                  </a:txBody>
                  <a:tcPr anchor="ctr"/>
                </a:tc>
                <a:tc hMerge="1">
                  <a:txBody>
                    <a:bodyPr/>
                    <a:lstStyle/>
                    <a:p>
                      <a:pPr algn="ctr"/>
                      <a:endParaRPr lang="en-GB" sz="2000" dirty="0"/>
                    </a:p>
                  </a:txBody>
                  <a:tcPr/>
                </a:tc>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总体评估</a:t>
                      </a:r>
                    </a:p>
                  </a:txBody>
                  <a:tcPr anchor="ctr"/>
                </a:tc>
                <a:extLst>
                  <a:ext uri="{0D108BD9-81ED-4DB2-BD59-A6C34878D82A}">
                    <a16:rowId xmlns:a16="http://schemas.microsoft.com/office/drawing/2014/main" val="2562292327"/>
                  </a:ext>
                </a:extLst>
              </a:tr>
              <a:tr h="10086326">
                <a:tc>
                  <a:txBody>
                    <a:bodyPr/>
                    <a:lstStyle/>
                    <a:p>
                      <a:r>
                        <a:rPr lang="zh-CN" altLang="en-US" sz="2000" b="1" dirty="0">
                          <a:effectLst/>
                        </a:rPr>
                        <a:t>四、安全性能审查</a:t>
                      </a:r>
                    </a:p>
                    <a:p>
                      <a:r>
                        <a:rPr lang="en-US" altLang="zh-CN" sz="2000" b="1" dirty="0">
                          <a:effectLst/>
                        </a:rPr>
                        <a:t>4.1 </a:t>
                      </a:r>
                      <a:r>
                        <a:rPr lang="zh-CN" altLang="en-US" sz="2000" b="1" dirty="0">
                          <a:effectLst/>
                        </a:rPr>
                        <a:t>安全测试结果</a:t>
                      </a:r>
                    </a:p>
                    <a:p>
                      <a:r>
                        <a:rPr lang="zh-CN" altLang="en-US" sz="2000" b="1" dirty="0">
                          <a:effectLst/>
                        </a:rPr>
                        <a:t>审查点：</a:t>
                      </a:r>
                      <a:r>
                        <a:rPr lang="zh-CN" altLang="en-US" sz="2000" dirty="0">
                          <a:effectLst/>
                        </a:rPr>
                        <a:t> 安全测试项目、</a:t>
                      </a:r>
                      <a:r>
                        <a:rPr lang="en-US" altLang="zh-CN" sz="2000" dirty="0">
                          <a:effectLst/>
                        </a:rPr>
                        <a:t>EUCAR</a:t>
                      </a:r>
                      <a:r>
                        <a:rPr lang="zh-CN" altLang="en-US" sz="2000" dirty="0">
                          <a:effectLst/>
                        </a:rPr>
                        <a:t>等级</a:t>
                      </a:r>
                      <a:r>
                        <a:rPr lang="zh-CN" altLang="en-US" sz="2000" b="1" dirty="0">
                          <a:effectLst/>
                        </a:rPr>
                        <a:t>评审结果：</a:t>
                      </a:r>
                      <a:r>
                        <a:rPr lang="zh-CN" altLang="en-US" sz="2000" dirty="0">
                          <a:effectLst/>
                        </a:rPr>
                        <a:t> ✅ </a:t>
                      </a:r>
                      <a:r>
                        <a:rPr lang="zh-CN" altLang="en-US" sz="2000" b="1" dirty="0">
                          <a:effectLst/>
                        </a:rPr>
                        <a:t>通过</a:t>
                      </a:r>
                      <a:r>
                        <a:rPr lang="zh-CN" altLang="en-US" sz="2000" dirty="0">
                          <a:effectLst/>
                        </a:rPr>
                        <a:t>机械滥用</a:t>
                      </a:r>
                      <a:r>
                        <a:rPr lang="en-US" altLang="zh-CN" sz="2000" dirty="0">
                          <a:effectLst/>
                        </a:rPr>
                        <a:t>(</a:t>
                      </a:r>
                      <a:r>
                        <a:rPr lang="zh-CN" altLang="en-US" sz="2000" dirty="0">
                          <a:effectLst/>
                        </a:rPr>
                        <a:t>挤压</a:t>
                      </a:r>
                      <a:r>
                        <a:rPr lang="en-US" altLang="zh-CN" sz="2000" dirty="0">
                          <a:effectLst/>
                        </a:rPr>
                        <a:t>)</a:t>
                      </a:r>
                      <a:r>
                        <a:rPr lang="zh-CN" altLang="en-US" sz="2000" dirty="0">
                          <a:effectLst/>
                        </a:rPr>
                        <a:t>：</a:t>
                      </a:r>
                      <a:r>
                        <a:rPr lang="en-US" altLang="zh-CN" sz="2000" dirty="0">
                          <a:effectLst/>
                        </a:rPr>
                        <a:t>Level 2</a:t>
                      </a:r>
                    </a:p>
                    <a:p>
                      <a:r>
                        <a:rPr lang="zh-CN" altLang="en-US" sz="2000" dirty="0">
                          <a:effectLst/>
                        </a:rPr>
                        <a:t>热滥用</a:t>
                      </a:r>
                      <a:r>
                        <a:rPr lang="en-US" altLang="zh-CN" sz="2000" dirty="0">
                          <a:effectLst/>
                        </a:rPr>
                        <a:t>(</a:t>
                      </a:r>
                      <a:r>
                        <a:rPr lang="zh-CN" altLang="en-US" sz="2000" dirty="0">
                          <a:effectLst/>
                        </a:rPr>
                        <a:t>热稳定性</a:t>
                      </a:r>
                      <a:r>
                        <a:rPr lang="en-US" altLang="zh-CN" sz="2000" dirty="0">
                          <a:effectLst/>
                        </a:rPr>
                        <a:t>)</a:t>
                      </a:r>
                      <a:r>
                        <a:rPr lang="zh-CN" altLang="en-US" sz="2000" dirty="0">
                          <a:effectLst/>
                        </a:rPr>
                        <a:t>：</a:t>
                      </a:r>
                      <a:r>
                        <a:rPr lang="en-US" altLang="zh-CN" sz="2000" dirty="0">
                          <a:effectLst/>
                        </a:rPr>
                        <a:t>Level 2</a:t>
                      </a:r>
                    </a:p>
                    <a:p>
                      <a:r>
                        <a:rPr lang="zh-CN" altLang="en-US" sz="2000" dirty="0">
                          <a:effectLst/>
                        </a:rPr>
                        <a:t>电滥用</a:t>
                      </a:r>
                      <a:r>
                        <a:rPr lang="en-US" altLang="zh-CN" sz="2000" dirty="0">
                          <a:effectLst/>
                        </a:rPr>
                        <a:t>(</a:t>
                      </a:r>
                      <a:r>
                        <a:rPr lang="zh-CN" altLang="en-US" sz="2000" dirty="0">
                          <a:effectLst/>
                        </a:rPr>
                        <a:t>过充</a:t>
                      </a:r>
                      <a:r>
                        <a:rPr lang="en-US" altLang="zh-CN" sz="2000" dirty="0">
                          <a:effectLst/>
                        </a:rPr>
                        <a:t>/</a:t>
                      </a:r>
                      <a:r>
                        <a:rPr lang="zh-CN" altLang="en-US" sz="2000" dirty="0">
                          <a:effectLst/>
                        </a:rPr>
                        <a:t>过放</a:t>
                      </a:r>
                      <a:r>
                        <a:rPr lang="en-US" altLang="zh-CN" sz="2000" dirty="0">
                          <a:effectLst/>
                        </a:rPr>
                        <a:t>/</a:t>
                      </a:r>
                      <a:r>
                        <a:rPr lang="zh-CN" altLang="en-US" sz="2000" dirty="0">
                          <a:effectLst/>
                        </a:rPr>
                        <a:t>外短路</a:t>
                      </a:r>
                      <a:r>
                        <a:rPr lang="en-US" altLang="zh-CN" sz="2000" dirty="0">
                          <a:effectLst/>
                        </a:rPr>
                        <a:t>)</a:t>
                      </a:r>
                      <a:r>
                        <a:rPr lang="zh-CN" altLang="en-US" sz="2000" dirty="0">
                          <a:effectLst/>
                        </a:rPr>
                        <a:t>：</a:t>
                      </a:r>
                      <a:r>
                        <a:rPr lang="en-US" altLang="zh-CN" sz="2000" dirty="0">
                          <a:effectLst/>
                        </a:rPr>
                        <a:t>Level 2</a:t>
                      </a:r>
                    </a:p>
                    <a:p>
                      <a:r>
                        <a:rPr lang="zh-CN" altLang="en-US" sz="2000" dirty="0">
                          <a:effectLst/>
                        </a:rPr>
                        <a:t>所有测试项目均达到</a:t>
                      </a:r>
                      <a:r>
                        <a:rPr lang="en-US" altLang="zh-CN" sz="2000" dirty="0">
                          <a:effectLst/>
                        </a:rPr>
                        <a:t>Level 2</a:t>
                      </a:r>
                      <a:r>
                        <a:rPr lang="zh-CN" altLang="en-US" sz="2000" dirty="0">
                          <a:effectLst/>
                        </a:rPr>
                        <a:t>，符合安全要求</a:t>
                      </a:r>
                    </a:p>
                    <a:p>
                      <a:r>
                        <a:rPr lang="en-US" altLang="zh-CN" sz="2000" b="1" dirty="0">
                          <a:effectLst/>
                        </a:rPr>
                        <a:t>4.2 </a:t>
                      </a:r>
                      <a:r>
                        <a:rPr lang="zh-CN" altLang="en-US" sz="2000" b="1" dirty="0">
                          <a:effectLst/>
                        </a:rPr>
                        <a:t>环境测试</a:t>
                      </a:r>
                    </a:p>
                    <a:p>
                      <a:r>
                        <a:rPr lang="zh-CN" altLang="en-US" sz="2000" b="1" dirty="0">
                          <a:effectLst/>
                        </a:rPr>
                        <a:t>审查点：</a:t>
                      </a:r>
                      <a:r>
                        <a:rPr lang="zh-CN" altLang="en-US" sz="2000" dirty="0">
                          <a:effectLst/>
                        </a:rPr>
                        <a:t> 环境适应性测试</a:t>
                      </a:r>
                      <a:r>
                        <a:rPr lang="zh-CN" altLang="en-US" sz="2000" b="1" dirty="0">
                          <a:effectLst/>
                        </a:rPr>
                        <a:t>评审结果：</a:t>
                      </a:r>
                      <a:r>
                        <a:rPr lang="zh-CN" altLang="en-US" sz="2000" dirty="0">
                          <a:effectLst/>
                        </a:rPr>
                        <a:t> ✅ </a:t>
                      </a:r>
                      <a:r>
                        <a:rPr lang="zh-CN" altLang="en-US" sz="2000" b="1" dirty="0">
                          <a:effectLst/>
                        </a:rPr>
                        <a:t>通过</a:t>
                      </a:r>
                      <a:r>
                        <a:rPr lang="zh-CN" altLang="en-US" sz="2000" dirty="0">
                          <a:effectLst/>
                        </a:rPr>
                        <a:t>跌落测试：</a:t>
                      </a:r>
                      <a:r>
                        <a:rPr lang="en-US" altLang="zh-CN" sz="2000" dirty="0">
                          <a:effectLst/>
                        </a:rPr>
                        <a:t>Level 2</a:t>
                      </a:r>
                    </a:p>
                    <a:p>
                      <a:r>
                        <a:rPr lang="zh-CN" altLang="en-US" sz="2000" dirty="0">
                          <a:effectLst/>
                        </a:rPr>
                        <a:t>温度循环：</a:t>
                      </a:r>
                      <a:r>
                        <a:rPr lang="en-US" altLang="zh-CN" sz="2000" dirty="0">
                          <a:effectLst/>
                        </a:rPr>
                        <a:t>Level 2</a:t>
                      </a:r>
                    </a:p>
                    <a:p>
                      <a:r>
                        <a:rPr lang="zh-CN" altLang="en-US" sz="2000" dirty="0">
                          <a:effectLst/>
                        </a:rPr>
                        <a:t>低气压：</a:t>
                      </a:r>
                      <a:r>
                        <a:rPr lang="en-US" altLang="zh-CN" sz="2000" dirty="0">
                          <a:effectLst/>
                        </a:rPr>
                        <a:t>Level 2</a:t>
                      </a:r>
                    </a:p>
                    <a:p>
                      <a:r>
                        <a:rPr lang="zh-CN" altLang="en-US" sz="2000" dirty="0">
                          <a:effectLst/>
                        </a:rPr>
                        <a:t>海水浸泡：</a:t>
                      </a:r>
                      <a:r>
                        <a:rPr lang="en-US" altLang="zh-CN" sz="2000" dirty="0">
                          <a:effectLst/>
                        </a:rPr>
                        <a:t>Level 2</a:t>
                      </a:r>
                    </a:p>
                    <a:p>
                      <a:r>
                        <a:rPr lang="en-US" altLang="zh-CN" sz="2000" b="1" dirty="0">
                          <a:effectLst/>
                        </a:rPr>
                        <a:t>4.3 </a:t>
                      </a:r>
                      <a:r>
                        <a:rPr lang="zh-CN" altLang="en-US" sz="2000" b="1" dirty="0">
                          <a:effectLst/>
                        </a:rPr>
                        <a:t>安全功能设计</a:t>
                      </a:r>
                    </a:p>
                    <a:p>
                      <a:r>
                        <a:rPr lang="zh-CN" altLang="en-US" sz="2000" b="1" dirty="0">
                          <a:effectLst/>
                        </a:rPr>
                        <a:t>审查点：</a:t>
                      </a:r>
                      <a:r>
                        <a:rPr lang="zh-CN" altLang="en-US" sz="2000" dirty="0">
                          <a:effectLst/>
                        </a:rPr>
                        <a:t> 安全阀、熔断保护</a:t>
                      </a:r>
                      <a:r>
                        <a:rPr lang="zh-CN" altLang="en-US" sz="2000" b="1" dirty="0">
                          <a:effectLst/>
                        </a:rPr>
                        <a:t>评审结果：</a:t>
                      </a:r>
                      <a:r>
                        <a:rPr lang="zh-CN" altLang="en-US" sz="2000" dirty="0">
                          <a:effectLst/>
                        </a:rPr>
                        <a:t> ✅ </a:t>
                      </a:r>
                      <a:r>
                        <a:rPr lang="zh-CN" altLang="en-US" sz="2000" b="1" dirty="0">
                          <a:effectLst/>
                        </a:rPr>
                        <a:t>通过</a:t>
                      </a:r>
                      <a:r>
                        <a:rPr lang="zh-CN" altLang="en-US" sz="2000" dirty="0">
                          <a:effectLst/>
                        </a:rPr>
                        <a:t>安全阀排气面积：</a:t>
                      </a:r>
                      <a:r>
                        <a:rPr lang="en-US" altLang="zh-CN" sz="2000" dirty="0">
                          <a:effectLst/>
                        </a:rPr>
                        <a:t>650mm²</a:t>
                      </a:r>
                    </a:p>
                    <a:p>
                      <a:r>
                        <a:rPr lang="zh-CN" altLang="en-US" sz="2000" dirty="0">
                          <a:effectLst/>
                        </a:rPr>
                        <a:t>熔断曲线完整，</a:t>
                      </a:r>
                      <a:r>
                        <a:rPr lang="en-US" altLang="zh-CN" sz="2000" dirty="0">
                          <a:effectLst/>
                        </a:rPr>
                        <a:t>3000A/2.21s</a:t>
                      </a:r>
                    </a:p>
                    <a:p>
                      <a:r>
                        <a:rPr lang="zh-CN" altLang="en-US" sz="2000" dirty="0">
                          <a:effectLst/>
                        </a:rPr>
                        <a:t>安全功能设计合理</a:t>
                      </a:r>
                      <a:endParaRPr lang="en-GB" altLang="zh-CN" sz="2000" dirty="0">
                        <a:effectLst/>
                      </a:endParaRPr>
                    </a:p>
                    <a:p>
                      <a:r>
                        <a:rPr lang="zh-CN" altLang="en-US" sz="2000" b="1" dirty="0">
                          <a:effectLst/>
                        </a:rPr>
                        <a:t>五、设计参数审查</a:t>
                      </a:r>
                    </a:p>
                    <a:p>
                      <a:r>
                        <a:rPr lang="en-US" altLang="zh-CN" sz="2000" b="1" dirty="0">
                          <a:effectLst/>
                        </a:rPr>
                        <a:t>5.1 </a:t>
                      </a:r>
                      <a:r>
                        <a:rPr lang="zh-CN" altLang="en-US" sz="2000" b="1" dirty="0">
                          <a:effectLst/>
                        </a:rPr>
                        <a:t>机械设计参数</a:t>
                      </a:r>
                    </a:p>
                    <a:p>
                      <a:r>
                        <a:rPr lang="zh-CN" altLang="en-US" sz="2000" b="1" dirty="0">
                          <a:effectLst/>
                        </a:rPr>
                        <a:t>审查点：</a:t>
                      </a:r>
                      <a:r>
                        <a:rPr lang="zh-CN" altLang="en-US" sz="2000" dirty="0">
                          <a:effectLst/>
                        </a:rPr>
                        <a:t> 极柱扭矩、压缩参数</a:t>
                      </a:r>
                      <a:r>
                        <a:rPr lang="zh-CN" altLang="en-US" sz="2000" b="1" dirty="0">
                          <a:effectLst/>
                        </a:rPr>
                        <a:t>评审结果：</a:t>
                      </a:r>
                      <a:r>
                        <a:rPr lang="zh-CN" altLang="en-US" sz="2000" dirty="0">
                          <a:effectLst/>
                        </a:rPr>
                        <a:t> ✅ </a:t>
                      </a:r>
                      <a:r>
                        <a:rPr lang="zh-CN" altLang="en-US" sz="2000" b="1" dirty="0">
                          <a:effectLst/>
                        </a:rPr>
                        <a:t>通过</a:t>
                      </a:r>
                      <a:r>
                        <a:rPr lang="zh-CN" altLang="en-US" sz="2000" dirty="0">
                          <a:effectLst/>
                        </a:rPr>
                        <a:t>极柱最大扭矩：</a:t>
                      </a:r>
                      <a:r>
                        <a:rPr lang="en-US" altLang="zh-CN" sz="2000" dirty="0">
                          <a:effectLst/>
                        </a:rPr>
                        <a:t>6Nm(XY</a:t>
                      </a:r>
                      <a:r>
                        <a:rPr lang="zh-CN" altLang="en-US" sz="2000" dirty="0">
                          <a:effectLst/>
                        </a:rPr>
                        <a:t>方向</a:t>
                      </a:r>
                      <a:r>
                        <a:rPr lang="en-US" altLang="zh-CN" sz="2000" dirty="0">
                          <a:effectLst/>
                        </a:rPr>
                        <a:t>)</a:t>
                      </a:r>
                    </a:p>
                    <a:p>
                      <a:r>
                        <a:rPr lang="zh-CN" altLang="en-US" sz="2000" dirty="0">
                          <a:effectLst/>
                        </a:rPr>
                        <a:t>极柱最大力：</a:t>
                      </a:r>
                      <a:r>
                        <a:rPr lang="en-US" altLang="zh-CN" sz="2000" dirty="0">
                          <a:effectLst/>
                        </a:rPr>
                        <a:t>800N(XY</a:t>
                      </a:r>
                      <a:r>
                        <a:rPr lang="zh-CN" altLang="en-US" sz="2000" dirty="0">
                          <a:effectLst/>
                        </a:rPr>
                        <a:t>方向</a:t>
                      </a:r>
                      <a:r>
                        <a:rPr lang="en-US" altLang="zh-CN" sz="2000" dirty="0">
                          <a:effectLst/>
                        </a:rPr>
                        <a:t>)/1000N(Z</a:t>
                      </a:r>
                      <a:r>
                        <a:rPr lang="zh-CN" altLang="en-US" sz="2000" dirty="0">
                          <a:effectLst/>
                        </a:rPr>
                        <a:t>方向</a:t>
                      </a:r>
                      <a:r>
                        <a:rPr lang="en-US" altLang="zh-CN" sz="2000" dirty="0">
                          <a:effectLst/>
                        </a:rPr>
                        <a:t>)</a:t>
                      </a:r>
                    </a:p>
                    <a:p>
                      <a:r>
                        <a:rPr lang="zh-CN" altLang="en-US" sz="2000" dirty="0">
                          <a:effectLst/>
                        </a:rPr>
                        <a:t>压缩参数：</a:t>
                      </a:r>
                      <a:r>
                        <a:rPr lang="en-US" altLang="zh-CN" sz="2000" dirty="0">
                          <a:effectLst/>
                        </a:rPr>
                        <a:t>220mm×103mm</a:t>
                      </a:r>
                      <a:r>
                        <a:rPr lang="zh-CN" altLang="en-US" sz="2000" dirty="0">
                          <a:effectLst/>
                        </a:rPr>
                        <a:t>，目标厚度</a:t>
                      </a:r>
                      <a:r>
                        <a:rPr lang="en-US" altLang="zh-CN" sz="2000" dirty="0">
                          <a:effectLst/>
                        </a:rPr>
                        <a:t>33.4mm</a:t>
                      </a:r>
                    </a:p>
                    <a:p>
                      <a:r>
                        <a:rPr lang="en-US" altLang="zh-CN" sz="2000" b="1" dirty="0">
                          <a:effectLst/>
                        </a:rPr>
                        <a:t>5.2 </a:t>
                      </a:r>
                      <a:r>
                        <a:rPr lang="zh-CN" altLang="en-US" sz="2000" b="1" dirty="0">
                          <a:effectLst/>
                        </a:rPr>
                        <a:t>膨胀力特性</a:t>
                      </a:r>
                    </a:p>
                    <a:p>
                      <a:r>
                        <a:rPr lang="zh-CN" altLang="en-US" sz="2000" b="1" dirty="0">
                          <a:effectLst/>
                        </a:rPr>
                        <a:t>审查点：</a:t>
                      </a:r>
                      <a:r>
                        <a:rPr lang="zh-CN" altLang="en-US" sz="2000" dirty="0">
                          <a:effectLst/>
                        </a:rPr>
                        <a:t> </a:t>
                      </a:r>
                      <a:r>
                        <a:rPr lang="en-US" altLang="zh-CN" sz="2000" dirty="0">
                          <a:effectLst/>
                        </a:rPr>
                        <a:t>BOL/EOL</a:t>
                      </a:r>
                      <a:r>
                        <a:rPr lang="zh-CN" altLang="en-US" sz="2000" dirty="0">
                          <a:effectLst/>
                        </a:rPr>
                        <a:t>膨胀力</a:t>
                      </a:r>
                      <a:r>
                        <a:rPr lang="zh-CN" altLang="en-US" sz="2000" b="1" dirty="0">
                          <a:effectLst/>
                        </a:rPr>
                        <a:t>评审结果：</a:t>
                      </a:r>
                      <a:r>
                        <a:rPr lang="zh-CN" altLang="en-US" sz="2000" dirty="0">
                          <a:effectLst/>
                        </a:rPr>
                        <a:t> ✅ </a:t>
                      </a:r>
                      <a:r>
                        <a:rPr lang="zh-CN" altLang="en-US" sz="2000" b="1" dirty="0">
                          <a:effectLst/>
                        </a:rPr>
                        <a:t>通过</a:t>
                      </a:r>
                      <a:r>
                        <a:rPr lang="en-US" altLang="zh-CN" sz="2000" dirty="0">
                          <a:effectLst/>
                        </a:rPr>
                        <a:t>BOL</a:t>
                      </a:r>
                      <a:r>
                        <a:rPr lang="zh-CN" altLang="en-US" sz="2000" dirty="0">
                          <a:effectLst/>
                        </a:rPr>
                        <a:t>膨胀力：≤</a:t>
                      </a:r>
                      <a:r>
                        <a:rPr lang="en-US" altLang="zh-CN" sz="2000" dirty="0">
                          <a:effectLst/>
                        </a:rPr>
                        <a:t>3,000N</a:t>
                      </a:r>
                    </a:p>
                    <a:p>
                      <a:r>
                        <a:rPr lang="en-US" altLang="zh-CN" sz="2000" dirty="0">
                          <a:effectLst/>
                        </a:rPr>
                        <a:t>EOL</a:t>
                      </a:r>
                      <a:r>
                        <a:rPr lang="zh-CN" altLang="en-US" sz="2000" dirty="0">
                          <a:effectLst/>
                        </a:rPr>
                        <a:t>膨胀力：≤</a:t>
                      </a:r>
                      <a:r>
                        <a:rPr lang="en-US" altLang="zh-CN" sz="2000" dirty="0">
                          <a:effectLst/>
                        </a:rPr>
                        <a:t>25,000N</a:t>
                      </a:r>
                    </a:p>
                    <a:p>
                      <a:r>
                        <a:rPr lang="zh-CN" altLang="en-US" sz="2000" dirty="0">
                          <a:effectLst/>
                        </a:rPr>
                        <a:t>数据合理，为模组设计提供依据</a:t>
                      </a:r>
                    </a:p>
                    <a:p>
                      <a:r>
                        <a:rPr lang="en-US" altLang="zh-CN" sz="2000" b="1" dirty="0">
                          <a:effectLst/>
                        </a:rPr>
                        <a:t>5.3 </a:t>
                      </a:r>
                      <a:r>
                        <a:rPr lang="zh-CN" altLang="en-US" sz="2000" b="1" dirty="0">
                          <a:effectLst/>
                        </a:rPr>
                        <a:t>焊接工艺参数</a:t>
                      </a:r>
                    </a:p>
                    <a:p>
                      <a:r>
                        <a:rPr lang="zh-CN" altLang="en-US" sz="2000" b="1" dirty="0">
                          <a:effectLst/>
                        </a:rPr>
                        <a:t>审查点：</a:t>
                      </a:r>
                      <a:r>
                        <a:rPr lang="zh-CN" altLang="en-US" sz="2000" dirty="0">
                          <a:effectLst/>
                        </a:rPr>
                        <a:t> 焊接温度限制、允许区域</a:t>
                      </a:r>
                      <a:r>
                        <a:rPr lang="zh-CN" altLang="en-US" sz="2000" b="1" dirty="0">
                          <a:effectLst/>
                        </a:rPr>
                        <a:t>评审结果：</a:t>
                      </a:r>
                      <a:r>
                        <a:rPr lang="zh-CN" altLang="en-US" sz="2000" dirty="0">
                          <a:effectLst/>
                        </a:rPr>
                        <a:t> ✅ </a:t>
                      </a:r>
                      <a:r>
                        <a:rPr lang="zh-CN" altLang="en-US" sz="2000" b="1" dirty="0">
                          <a:effectLst/>
                        </a:rPr>
                        <a:t>通过</a:t>
                      </a:r>
                      <a:r>
                        <a:rPr lang="zh-CN" altLang="en-US" sz="2000" dirty="0">
                          <a:effectLst/>
                        </a:rPr>
                        <a:t>焊接温度限制：≤</a:t>
                      </a:r>
                      <a:r>
                        <a:rPr lang="en-US" altLang="zh-CN" sz="2000" dirty="0">
                          <a:effectLst/>
                        </a:rPr>
                        <a:t>120℃(</a:t>
                      </a:r>
                      <a:r>
                        <a:rPr lang="zh-CN" altLang="en-US" sz="2000" dirty="0">
                          <a:effectLst/>
                        </a:rPr>
                        <a:t>极柱底部</a:t>
                      </a:r>
                      <a:r>
                        <a:rPr lang="en-US" altLang="zh-CN" sz="2000" dirty="0">
                          <a:effectLst/>
                        </a:rPr>
                        <a:t>)</a:t>
                      </a:r>
                    </a:p>
                    <a:p>
                      <a:r>
                        <a:rPr lang="zh-CN" altLang="en-US" sz="2000" dirty="0">
                          <a:effectLst/>
                        </a:rPr>
                        <a:t>允许焊接区域明确：铆接孔以外区域</a:t>
                      </a:r>
                    </a:p>
                    <a:p>
                      <a:r>
                        <a:rPr lang="zh-CN" altLang="en-US" sz="2000" dirty="0">
                          <a:effectLst/>
                        </a:rPr>
                        <a:t>工艺参数详细</a:t>
                      </a:r>
                    </a:p>
                    <a:p>
                      <a:pPr>
                        <a:spcBef>
                          <a:spcPts val="150"/>
                        </a:spcBef>
                        <a:spcAft>
                          <a:spcPts val="150"/>
                        </a:spcAft>
                        <a:buFont typeface="+mj-lt"/>
                        <a:buAutoNum type="arabicPeriod"/>
                      </a:pPr>
                      <a:endParaRPr lang="en-GB" sz="2000" dirty="0"/>
                    </a:p>
                  </a:txBody>
                  <a:tcPr/>
                </a:tc>
                <a:tc>
                  <a:txBody>
                    <a:bodyPr/>
                    <a:lstStyle/>
                    <a:p>
                      <a:r>
                        <a:rPr lang="zh-CN" altLang="en-US" sz="2000" b="1" dirty="0">
                          <a:effectLst/>
                        </a:rPr>
                        <a:t>六、使用规范审查</a:t>
                      </a:r>
                    </a:p>
                    <a:p>
                      <a:r>
                        <a:rPr lang="en-US" altLang="zh-CN" sz="2000" b="1" dirty="0">
                          <a:effectLst/>
                        </a:rPr>
                        <a:t>6.1 </a:t>
                      </a:r>
                      <a:r>
                        <a:rPr lang="zh-CN" altLang="en-US" sz="2000" b="1" dirty="0">
                          <a:effectLst/>
                        </a:rPr>
                        <a:t>操作安全要求</a:t>
                      </a:r>
                    </a:p>
                    <a:p>
                      <a:r>
                        <a:rPr lang="zh-CN" altLang="en-US" sz="2000" b="1" dirty="0">
                          <a:effectLst/>
                        </a:rPr>
                        <a:t>审查点：</a:t>
                      </a:r>
                      <a:r>
                        <a:rPr lang="zh-CN" altLang="en-US" sz="2000" dirty="0">
                          <a:effectLst/>
                        </a:rPr>
                        <a:t> 安全警告、操作规范</a:t>
                      </a:r>
                      <a:r>
                        <a:rPr lang="zh-CN" altLang="en-US" sz="2000" b="1" dirty="0">
                          <a:effectLst/>
                        </a:rPr>
                        <a:t>评审结果：</a:t>
                      </a:r>
                      <a:r>
                        <a:rPr lang="zh-CN" altLang="en-US" sz="2000" dirty="0">
                          <a:effectLst/>
                        </a:rPr>
                        <a:t> ✅ </a:t>
                      </a:r>
                      <a:r>
                        <a:rPr lang="zh-CN" altLang="en-US" sz="2000" b="1" dirty="0">
                          <a:effectLst/>
                        </a:rPr>
                        <a:t>通过</a:t>
                      </a:r>
                      <a:r>
                        <a:rPr lang="zh-CN" altLang="en-US" sz="2000" dirty="0">
                          <a:effectLst/>
                        </a:rPr>
                        <a:t>危险警告完整：触电、泄露、爆炸、起火风险</a:t>
                      </a:r>
                    </a:p>
                    <a:p>
                      <a:r>
                        <a:rPr lang="zh-CN" altLang="en-US" sz="2000" dirty="0">
                          <a:effectLst/>
                        </a:rPr>
                        <a:t>保护措施详细：护目镜、绝缘手套、工作服</a:t>
                      </a:r>
                    </a:p>
                    <a:p>
                      <a:r>
                        <a:rPr lang="zh-CN" altLang="en-US" sz="2000" dirty="0">
                          <a:effectLst/>
                        </a:rPr>
                        <a:t>操作规范明确</a:t>
                      </a:r>
                    </a:p>
                    <a:p>
                      <a:r>
                        <a:rPr lang="en-US" altLang="zh-CN" sz="2000" b="1" dirty="0">
                          <a:effectLst/>
                        </a:rPr>
                        <a:t>6.2 </a:t>
                      </a:r>
                      <a:r>
                        <a:rPr lang="zh-CN" altLang="en-US" sz="2000" b="1" dirty="0">
                          <a:effectLst/>
                        </a:rPr>
                        <a:t>测试要求</a:t>
                      </a:r>
                    </a:p>
                    <a:p>
                      <a:r>
                        <a:rPr lang="zh-CN" altLang="en-US" sz="2000" b="1" dirty="0">
                          <a:effectLst/>
                        </a:rPr>
                        <a:t>审查点：</a:t>
                      </a:r>
                      <a:r>
                        <a:rPr lang="zh-CN" altLang="en-US" sz="2000" dirty="0">
                          <a:effectLst/>
                        </a:rPr>
                        <a:t> 测试环境、数据记录</a:t>
                      </a:r>
                      <a:r>
                        <a:rPr lang="zh-CN" altLang="en-US" sz="2000" b="1" dirty="0">
                          <a:effectLst/>
                        </a:rPr>
                        <a:t>评审结果：</a:t>
                      </a:r>
                      <a:r>
                        <a:rPr lang="zh-CN" altLang="en-US" sz="2000" dirty="0">
                          <a:effectLst/>
                        </a:rPr>
                        <a:t> ✅ </a:t>
                      </a:r>
                      <a:r>
                        <a:rPr lang="zh-CN" altLang="en-US" sz="2000" b="1" dirty="0">
                          <a:effectLst/>
                        </a:rPr>
                        <a:t>通过</a:t>
                      </a:r>
                      <a:r>
                        <a:rPr lang="zh-CN" altLang="en-US" sz="2000" dirty="0">
                          <a:effectLst/>
                        </a:rPr>
                        <a:t>测试环境要求：干燥、通风、警告标识</a:t>
                      </a:r>
                    </a:p>
                    <a:p>
                      <a:r>
                        <a:rPr lang="zh-CN" altLang="en-US" sz="2000" dirty="0">
                          <a:effectLst/>
                        </a:rPr>
                        <a:t>数据监测要求：实时监测、灭火工具</a:t>
                      </a:r>
                    </a:p>
                    <a:p>
                      <a:r>
                        <a:rPr lang="zh-CN" altLang="en-US" sz="2000" dirty="0">
                          <a:effectLst/>
                        </a:rPr>
                        <a:t>测试后处理：绝缘胶带覆盖极柱</a:t>
                      </a:r>
                    </a:p>
                    <a:p>
                      <a:r>
                        <a:rPr lang="en-US" altLang="zh-CN" sz="2000" b="1" dirty="0">
                          <a:effectLst/>
                        </a:rPr>
                        <a:t>6.3 </a:t>
                      </a:r>
                      <a:r>
                        <a:rPr lang="zh-CN" altLang="en-US" sz="2000" b="1" dirty="0">
                          <a:effectLst/>
                        </a:rPr>
                        <a:t>存储运输要求</a:t>
                      </a:r>
                    </a:p>
                    <a:p>
                      <a:r>
                        <a:rPr lang="zh-CN" altLang="en-US" sz="2000" b="1" dirty="0">
                          <a:effectLst/>
                        </a:rPr>
                        <a:t>审查点：</a:t>
                      </a:r>
                      <a:r>
                        <a:rPr lang="zh-CN" altLang="en-US" sz="2000" dirty="0">
                          <a:effectLst/>
                        </a:rPr>
                        <a:t> 存储条件、运输规范</a:t>
                      </a:r>
                      <a:r>
                        <a:rPr lang="zh-CN" altLang="en-US" sz="2000" b="1" dirty="0">
                          <a:effectLst/>
                        </a:rPr>
                        <a:t>评审结果：</a:t>
                      </a:r>
                      <a:r>
                        <a:rPr lang="zh-CN" altLang="en-US" sz="2000" dirty="0">
                          <a:effectLst/>
                        </a:rPr>
                        <a:t> ✅ </a:t>
                      </a:r>
                      <a:r>
                        <a:rPr lang="zh-CN" altLang="en-US" sz="2000" b="1" dirty="0">
                          <a:effectLst/>
                        </a:rPr>
                        <a:t>通过</a:t>
                      </a:r>
                      <a:r>
                        <a:rPr lang="zh-CN" altLang="en-US" sz="2000" dirty="0">
                          <a:effectLst/>
                        </a:rPr>
                        <a:t>存储温度：</a:t>
                      </a:r>
                      <a:r>
                        <a:rPr lang="en-US" altLang="zh-CN" sz="2000" dirty="0">
                          <a:effectLst/>
                        </a:rPr>
                        <a:t>5~40℃</a:t>
                      </a:r>
                    </a:p>
                    <a:p>
                      <a:r>
                        <a:rPr lang="zh-CN" altLang="en-US" sz="2000" dirty="0">
                          <a:effectLst/>
                        </a:rPr>
                        <a:t>存储</a:t>
                      </a:r>
                      <a:r>
                        <a:rPr lang="en-US" altLang="zh-CN" sz="2000" dirty="0">
                          <a:effectLst/>
                        </a:rPr>
                        <a:t>SOC</a:t>
                      </a:r>
                      <a:r>
                        <a:rPr lang="zh-CN" altLang="en-US" sz="2000" dirty="0">
                          <a:effectLst/>
                        </a:rPr>
                        <a:t>：</a:t>
                      </a:r>
                      <a:r>
                        <a:rPr lang="en-US" altLang="zh-CN" sz="2000" dirty="0">
                          <a:effectLst/>
                        </a:rPr>
                        <a:t>20~25%</a:t>
                      </a:r>
                    </a:p>
                    <a:p>
                      <a:r>
                        <a:rPr lang="zh-CN" altLang="en-US" sz="2000" dirty="0">
                          <a:effectLst/>
                        </a:rPr>
                        <a:t>运输</a:t>
                      </a:r>
                      <a:r>
                        <a:rPr lang="en-US" altLang="zh-CN" sz="2000" dirty="0">
                          <a:effectLst/>
                        </a:rPr>
                        <a:t>SOC</a:t>
                      </a:r>
                      <a:r>
                        <a:rPr lang="zh-CN" altLang="en-US" sz="2000" dirty="0">
                          <a:effectLst/>
                        </a:rPr>
                        <a:t>：</a:t>
                      </a:r>
                      <a:r>
                        <a:rPr lang="en-US" altLang="zh-CN" sz="2000" dirty="0">
                          <a:effectLst/>
                        </a:rPr>
                        <a:t>20~70%</a:t>
                      </a:r>
                    </a:p>
                    <a:p>
                      <a:r>
                        <a:rPr lang="zh-CN" altLang="en-US" sz="2000" dirty="0">
                          <a:effectLst/>
                        </a:rPr>
                        <a:t>运输要求详细</a:t>
                      </a:r>
                    </a:p>
                    <a:p>
                      <a:r>
                        <a:rPr lang="zh-CN" altLang="en-US" sz="2000" b="1" dirty="0">
                          <a:effectLst/>
                        </a:rPr>
                        <a:t>七、质量保证审查</a:t>
                      </a:r>
                    </a:p>
                    <a:p>
                      <a:r>
                        <a:rPr lang="en-US" altLang="zh-CN" sz="2000" b="1" dirty="0">
                          <a:effectLst/>
                        </a:rPr>
                        <a:t>7.1 </a:t>
                      </a:r>
                      <a:r>
                        <a:rPr lang="zh-CN" altLang="en-US" sz="2000" b="1" dirty="0">
                          <a:effectLst/>
                        </a:rPr>
                        <a:t>零部件规格</a:t>
                      </a:r>
                    </a:p>
                    <a:p>
                      <a:r>
                        <a:rPr lang="zh-CN" altLang="en-US" sz="2000" b="1" dirty="0">
                          <a:effectLst/>
                        </a:rPr>
                        <a:t>审查点：</a:t>
                      </a:r>
                      <a:r>
                        <a:rPr lang="zh-CN" altLang="en-US" sz="2000" dirty="0">
                          <a:effectLst/>
                        </a:rPr>
                        <a:t> 材料规格、设计要求</a:t>
                      </a:r>
                      <a:r>
                        <a:rPr lang="zh-CN" altLang="en-US" sz="2000" b="1" dirty="0">
                          <a:effectLst/>
                        </a:rPr>
                        <a:t>评审结果：</a:t>
                      </a:r>
                      <a:r>
                        <a:rPr lang="zh-CN" altLang="en-US" sz="2000" dirty="0">
                          <a:effectLst/>
                        </a:rPr>
                        <a:t> ✅ </a:t>
                      </a:r>
                      <a:r>
                        <a:rPr lang="zh-CN" altLang="en-US" sz="2000" b="1" dirty="0">
                          <a:effectLst/>
                        </a:rPr>
                        <a:t>通过</a:t>
                      </a:r>
                      <a:r>
                        <a:rPr lang="zh-CN" altLang="en-US" sz="2000" dirty="0">
                          <a:effectLst/>
                        </a:rPr>
                        <a:t>壳体材料：</a:t>
                      </a:r>
                      <a:r>
                        <a:rPr lang="en-US" altLang="zh-CN" sz="2000" dirty="0">
                          <a:effectLst/>
                        </a:rPr>
                        <a:t>Al3003 H14</a:t>
                      </a:r>
                    </a:p>
                    <a:p>
                      <a:r>
                        <a:rPr lang="zh-CN" altLang="en-US" sz="2000" dirty="0">
                          <a:effectLst/>
                        </a:rPr>
                        <a:t>绝缘膜：</a:t>
                      </a:r>
                      <a:r>
                        <a:rPr lang="en-US" altLang="zh-CN" sz="2000" dirty="0">
                          <a:effectLst/>
                        </a:rPr>
                        <a:t>PET</a:t>
                      </a:r>
                      <a:r>
                        <a:rPr lang="zh-CN" altLang="en-US" sz="2000" dirty="0">
                          <a:effectLst/>
                        </a:rPr>
                        <a:t>，</a:t>
                      </a:r>
                      <a:r>
                        <a:rPr lang="en-US" altLang="zh-CN" sz="2000" dirty="0">
                          <a:effectLst/>
                        </a:rPr>
                        <a:t>0.08mm</a:t>
                      </a:r>
                      <a:r>
                        <a:rPr lang="zh-CN" altLang="en-US" sz="2000" dirty="0">
                          <a:effectLst/>
                        </a:rPr>
                        <a:t>，蓝色</a:t>
                      </a:r>
                    </a:p>
                    <a:p>
                      <a:r>
                        <a:rPr lang="zh-CN" altLang="en-US" sz="2000" dirty="0">
                          <a:effectLst/>
                        </a:rPr>
                        <a:t>极柱材料：正极</a:t>
                      </a:r>
                      <a:r>
                        <a:rPr lang="en-US" altLang="zh-CN" sz="2000" dirty="0">
                          <a:effectLst/>
                        </a:rPr>
                        <a:t>(AI1060H14)</a:t>
                      </a:r>
                      <a:r>
                        <a:rPr lang="zh-CN" altLang="en-US" sz="2000" dirty="0">
                          <a:effectLst/>
                        </a:rPr>
                        <a:t>，负极</a:t>
                      </a:r>
                      <a:r>
                        <a:rPr lang="en-US" altLang="zh-CN" sz="2000" dirty="0">
                          <a:effectLst/>
                        </a:rPr>
                        <a:t>(CuT2+AI1060H112)</a:t>
                      </a:r>
                    </a:p>
                    <a:p>
                      <a:r>
                        <a:rPr lang="zh-CN" altLang="en-US" sz="2000" dirty="0">
                          <a:effectLst/>
                        </a:rPr>
                        <a:t>材料规格明确</a:t>
                      </a:r>
                    </a:p>
                    <a:p>
                      <a:r>
                        <a:rPr lang="en-US" altLang="zh-CN" sz="2000" b="1" dirty="0">
                          <a:effectLst/>
                        </a:rPr>
                        <a:t>7.2 </a:t>
                      </a:r>
                      <a:r>
                        <a:rPr lang="zh-CN" altLang="en-US" sz="2000" b="1" dirty="0">
                          <a:effectLst/>
                        </a:rPr>
                        <a:t>清洁要求</a:t>
                      </a:r>
                    </a:p>
                    <a:p>
                      <a:r>
                        <a:rPr lang="zh-CN" altLang="en-US" sz="2000" b="1" dirty="0">
                          <a:effectLst/>
                        </a:rPr>
                        <a:t>审查点：</a:t>
                      </a:r>
                      <a:r>
                        <a:rPr lang="zh-CN" altLang="en-US" sz="2000" dirty="0">
                          <a:effectLst/>
                        </a:rPr>
                        <a:t> 清洁标准、工艺要求</a:t>
                      </a:r>
                      <a:r>
                        <a:rPr lang="zh-CN" altLang="en-US" sz="2000" b="1" dirty="0">
                          <a:effectLst/>
                        </a:rPr>
                        <a:t>评审结果：</a:t>
                      </a:r>
                      <a:r>
                        <a:rPr lang="zh-CN" altLang="en-US" sz="2000" dirty="0">
                          <a:effectLst/>
                        </a:rPr>
                        <a:t> ✅ </a:t>
                      </a:r>
                      <a:r>
                        <a:rPr lang="zh-CN" altLang="en-US" sz="2000" b="1" dirty="0">
                          <a:effectLst/>
                        </a:rPr>
                        <a:t>通过</a:t>
                      </a:r>
                      <a:r>
                        <a:rPr lang="zh-CN" altLang="en-US" sz="2000" dirty="0">
                          <a:effectLst/>
                        </a:rPr>
                        <a:t>工作环境：</a:t>
                      </a:r>
                      <a:r>
                        <a:rPr lang="en-US" altLang="zh-CN" sz="2000" dirty="0">
                          <a:effectLst/>
                        </a:rPr>
                        <a:t>6S</a:t>
                      </a:r>
                      <a:r>
                        <a:rPr lang="zh-CN" altLang="en-US" sz="2000" dirty="0">
                          <a:effectLst/>
                        </a:rPr>
                        <a:t>管理</a:t>
                      </a:r>
                    </a:p>
                    <a:p>
                      <a:r>
                        <a:rPr lang="zh-CN" altLang="en-US" sz="2000" dirty="0">
                          <a:effectLst/>
                        </a:rPr>
                        <a:t>电池清洁：表面异物清理、极柱打磨</a:t>
                      </a:r>
                    </a:p>
                    <a:p>
                      <a:r>
                        <a:rPr lang="zh-CN" altLang="en-US" sz="2000" dirty="0">
                          <a:effectLst/>
                        </a:rPr>
                        <a:t>清洁标准明确</a:t>
                      </a:r>
                    </a:p>
                    <a:p>
                      <a:r>
                        <a:rPr lang="zh-CN" altLang="en-US" sz="2000" b="1" dirty="0">
                          <a:effectLst/>
                        </a:rPr>
                        <a:t>八、文档质量审查</a:t>
                      </a:r>
                    </a:p>
                    <a:p>
                      <a:r>
                        <a:rPr lang="en-US" altLang="zh-CN" sz="2000" b="1" dirty="0">
                          <a:effectLst/>
                        </a:rPr>
                        <a:t>8.1 </a:t>
                      </a:r>
                      <a:r>
                        <a:rPr lang="zh-CN" altLang="en-US" sz="2000" b="1" dirty="0">
                          <a:effectLst/>
                        </a:rPr>
                        <a:t>图表完整性</a:t>
                      </a:r>
                    </a:p>
                    <a:p>
                      <a:r>
                        <a:rPr lang="zh-CN" altLang="en-US" sz="2000" b="1" dirty="0">
                          <a:effectLst/>
                        </a:rPr>
                        <a:t>审查点：</a:t>
                      </a:r>
                      <a:r>
                        <a:rPr lang="zh-CN" altLang="en-US" sz="2000" dirty="0">
                          <a:effectLst/>
                        </a:rPr>
                        <a:t> 图纸、图片、表格</a:t>
                      </a:r>
                      <a:r>
                        <a:rPr lang="zh-CN" altLang="en-US" sz="2000" b="1" dirty="0">
                          <a:effectLst/>
                        </a:rPr>
                        <a:t>评审结果：</a:t>
                      </a:r>
                      <a:r>
                        <a:rPr lang="zh-CN" altLang="en-US" sz="2000" dirty="0">
                          <a:effectLst/>
                        </a:rPr>
                        <a:t> ✅ </a:t>
                      </a:r>
                      <a:r>
                        <a:rPr lang="zh-CN" altLang="en-US" sz="2000" b="1" dirty="0">
                          <a:effectLst/>
                        </a:rPr>
                        <a:t>通过</a:t>
                      </a:r>
                      <a:r>
                        <a:rPr lang="zh-CN" altLang="en-US" sz="2000" dirty="0">
                          <a:effectLst/>
                        </a:rPr>
                        <a:t>产品图纸完整</a:t>
                      </a:r>
                    </a:p>
                    <a:p>
                      <a:r>
                        <a:rPr lang="zh-CN" altLang="en-US" sz="2000" dirty="0">
                          <a:effectLst/>
                        </a:rPr>
                        <a:t>性能曲线图清晰</a:t>
                      </a:r>
                    </a:p>
                    <a:p>
                      <a:r>
                        <a:rPr lang="zh-CN" altLang="en-US" sz="2000" dirty="0">
                          <a:effectLst/>
                        </a:rPr>
                        <a:t>数据表格规范</a:t>
                      </a:r>
                    </a:p>
                    <a:p>
                      <a:r>
                        <a:rPr lang="en-US" altLang="zh-CN" sz="2000" b="1" dirty="0">
                          <a:effectLst/>
                        </a:rPr>
                        <a:t>8.2 </a:t>
                      </a:r>
                      <a:r>
                        <a:rPr lang="zh-CN" altLang="en-US" sz="2000" b="1" dirty="0">
                          <a:effectLst/>
                        </a:rPr>
                        <a:t>中英文对照</a:t>
                      </a:r>
                    </a:p>
                    <a:p>
                      <a:r>
                        <a:rPr lang="zh-CN" altLang="en-US" sz="2000" b="1" dirty="0">
                          <a:effectLst/>
                        </a:rPr>
                        <a:t>审查点：</a:t>
                      </a:r>
                      <a:r>
                        <a:rPr lang="zh-CN" altLang="en-US" sz="2000" dirty="0">
                          <a:effectLst/>
                        </a:rPr>
                        <a:t> 翻译准确性、术语一致性</a:t>
                      </a:r>
                      <a:r>
                        <a:rPr lang="zh-CN" altLang="en-US" sz="2000" b="1" dirty="0">
                          <a:effectLst/>
                        </a:rPr>
                        <a:t>评审结果：</a:t>
                      </a:r>
                      <a:r>
                        <a:rPr lang="zh-CN" altLang="en-US" sz="2000" dirty="0">
                          <a:effectLst/>
                        </a:rPr>
                        <a:t> ✅ </a:t>
                      </a:r>
                      <a:r>
                        <a:rPr lang="zh-CN" altLang="en-US" sz="2000" b="1" dirty="0">
                          <a:effectLst/>
                        </a:rPr>
                        <a:t>通过</a:t>
                      </a:r>
                      <a:r>
                        <a:rPr lang="zh-CN" altLang="en-US" sz="2000" dirty="0">
                          <a:effectLst/>
                        </a:rPr>
                        <a:t>中英文对照完整</a:t>
                      </a:r>
                    </a:p>
                    <a:p>
                      <a:r>
                        <a:rPr lang="zh-CN" altLang="en-US" sz="2000" dirty="0">
                          <a:effectLst/>
                        </a:rPr>
                        <a:t>技术术语翻译准确</a:t>
                      </a:r>
                    </a:p>
                    <a:p>
                      <a:r>
                        <a:rPr lang="zh-CN" altLang="en-US" sz="2000" dirty="0">
                          <a:effectLst/>
                        </a:rPr>
                        <a:t>格式规范统一</a:t>
                      </a:r>
                      <a:endParaRPr lang="en-GB" sz="2000" dirty="0"/>
                    </a:p>
                  </a:txBody>
                  <a:tcPr/>
                </a:tc>
                <a:tc>
                  <a:txBody>
                    <a:bodyPr/>
                    <a:lstStyle/>
                    <a:p>
                      <a:r>
                        <a:rPr lang="zh-CN" altLang="en-US" sz="2000" b="1" dirty="0">
                          <a:effectLst/>
                        </a:rPr>
                        <a:t>评审结果：✅ 通过</a:t>
                      </a:r>
                    </a:p>
                    <a:p>
                      <a:r>
                        <a:rPr lang="zh-CN" altLang="en-US" sz="2000" b="1" dirty="0">
                          <a:effectLst/>
                        </a:rPr>
                        <a:t>优势：</a:t>
                      </a:r>
                      <a:r>
                        <a:rPr lang="zh-CN" altLang="en-US" sz="2000" dirty="0">
                          <a:effectLst/>
                        </a:rPr>
                        <a:t>文档结构完整，符合</a:t>
                      </a:r>
                      <a:r>
                        <a:rPr lang="en-US" altLang="zh-CN" sz="2000" dirty="0">
                          <a:effectLst/>
                        </a:rPr>
                        <a:t>APQP B</a:t>
                      </a:r>
                      <a:r>
                        <a:rPr lang="zh-CN" altLang="en-US" sz="2000" dirty="0">
                          <a:effectLst/>
                        </a:rPr>
                        <a:t>样阶段要求</a:t>
                      </a:r>
                    </a:p>
                    <a:p>
                      <a:r>
                        <a:rPr lang="zh-CN" altLang="en-US" sz="2000" dirty="0">
                          <a:effectLst/>
                        </a:rPr>
                        <a:t>技术参数详细，数据完整</a:t>
                      </a:r>
                    </a:p>
                    <a:p>
                      <a:r>
                        <a:rPr lang="zh-CN" altLang="en-US" sz="2000" dirty="0">
                          <a:effectLst/>
                        </a:rPr>
                        <a:t>安全性能测试全面，达到</a:t>
                      </a:r>
                      <a:r>
                        <a:rPr lang="en-US" altLang="zh-CN" sz="2000" dirty="0">
                          <a:effectLst/>
                        </a:rPr>
                        <a:t>Level 2</a:t>
                      </a:r>
                      <a:r>
                        <a:rPr lang="zh-CN" altLang="en-US" sz="2000" dirty="0">
                          <a:effectLst/>
                        </a:rPr>
                        <a:t>标准</a:t>
                      </a:r>
                    </a:p>
                    <a:p>
                      <a:r>
                        <a:rPr lang="zh-CN" altLang="en-US" sz="2000" dirty="0">
                          <a:effectLst/>
                        </a:rPr>
                        <a:t>使用规范详细，安全要求明确</a:t>
                      </a:r>
                    </a:p>
                    <a:p>
                      <a:r>
                        <a:rPr lang="zh-CN" altLang="en-US" sz="2000" dirty="0">
                          <a:effectLst/>
                        </a:rPr>
                        <a:t>设计参数为下游模组设计提供充分依据</a:t>
                      </a:r>
                    </a:p>
                    <a:p>
                      <a:r>
                        <a:rPr lang="zh-CN" altLang="en-US" sz="2000" b="1" dirty="0">
                          <a:effectLst/>
                        </a:rPr>
                        <a:t>建议改进：</a:t>
                      </a:r>
                      <a:r>
                        <a:rPr lang="zh-CN" altLang="en-US" sz="2000" dirty="0">
                          <a:effectLst/>
                        </a:rPr>
                        <a:t>建议在后续版本中增加更多温度点的性能数据</a:t>
                      </a:r>
                    </a:p>
                    <a:p>
                      <a:r>
                        <a:rPr lang="zh-CN" altLang="en-US" sz="2000" dirty="0">
                          <a:effectLst/>
                        </a:rPr>
                        <a:t>可考虑增加振动测试等更多环境适应性数据</a:t>
                      </a:r>
                    </a:p>
                    <a:p>
                      <a:r>
                        <a:rPr lang="zh-CN" altLang="en-US" sz="2000" dirty="0">
                          <a:effectLst/>
                        </a:rPr>
                        <a:t>建议补充更多循环寿命测试的详细数据</a:t>
                      </a:r>
                    </a:p>
                    <a:p>
                      <a:r>
                        <a:rPr lang="en-US" altLang="zh-CN" sz="2000" b="1" dirty="0">
                          <a:effectLst/>
                        </a:rPr>
                        <a:t>APQP</a:t>
                      </a:r>
                      <a:r>
                        <a:rPr lang="zh-CN" altLang="en-US" sz="2000" b="1" dirty="0">
                          <a:effectLst/>
                        </a:rPr>
                        <a:t>阶段评估：</a:t>
                      </a:r>
                      <a:r>
                        <a:rPr lang="zh-CN" altLang="en-US" sz="2000" dirty="0">
                          <a:effectLst/>
                        </a:rPr>
                        <a:t>该产品规格书已达到</a:t>
                      </a:r>
                      <a:r>
                        <a:rPr lang="en-US" altLang="zh-CN" sz="2000" dirty="0">
                          <a:effectLst/>
                        </a:rPr>
                        <a:t>B</a:t>
                      </a:r>
                      <a:r>
                        <a:rPr lang="zh-CN" altLang="en-US" sz="2000" dirty="0">
                          <a:effectLst/>
                        </a:rPr>
                        <a:t>样阶段的质量要求，可以进入下一阶段的开发工作。文档为</a:t>
                      </a:r>
                      <a:r>
                        <a:rPr lang="en-US" altLang="zh-CN" sz="2000" dirty="0">
                          <a:effectLst/>
                        </a:rPr>
                        <a:t>C</a:t>
                      </a:r>
                      <a:r>
                        <a:rPr lang="zh-CN" altLang="en-US" sz="2000" dirty="0">
                          <a:effectLst/>
                        </a:rPr>
                        <a:t>样开发、</a:t>
                      </a:r>
                      <a:r>
                        <a:rPr lang="en-US" altLang="zh-CN" sz="2000" dirty="0">
                          <a:effectLst/>
                        </a:rPr>
                        <a:t>PPAP</a:t>
                      </a:r>
                      <a:r>
                        <a:rPr lang="zh-CN" altLang="en-US" sz="2000" dirty="0">
                          <a:effectLst/>
                        </a:rPr>
                        <a:t>准备和量产规划提供了充分的技术基础。</a:t>
                      </a:r>
                      <a:endParaRPr lang="en-GB" sz="2000" dirty="0"/>
                    </a:p>
                  </a:txBody>
                  <a:tcPr/>
                </a:tc>
                <a:extLst>
                  <a:ext uri="{0D108BD9-81ED-4DB2-BD59-A6C34878D82A}">
                    <a16:rowId xmlns:a16="http://schemas.microsoft.com/office/drawing/2014/main" val="604853937"/>
                  </a:ext>
                </a:extLst>
              </a:tr>
            </a:tbl>
          </a:graphicData>
        </a:graphic>
      </p:graphicFrame>
    </p:spTree>
    <p:extLst>
      <p:ext uri="{BB962C8B-B14F-4D97-AF65-F5344CB8AC3E}">
        <p14:creationId xmlns:p14="http://schemas.microsoft.com/office/powerpoint/2010/main" val="1558381042"/>
      </p:ext>
    </p:extLst>
  </p:cSld>
  <p:clrMapOvr>
    <a:masterClrMapping/>
  </p:clrMapOvr>
  <p:transition spd="med"/>
  <p:extLst>
    <p:ext uri="{6950BFC3-D8DA-4A85-94F7-54DA5524770B}">
      <p188:commentRel xmlns:p188="http://schemas.microsoft.com/office/powerpoint/2018/8/main" r:id="rId2"/>
    </p:ext>
  </p:extLs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AD7E10-955E-7EC2-75BB-51A4E821FE2D}"/>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B14CACD5-C883-7732-FB80-363DEDC3017B}"/>
              </a:ext>
            </a:extLst>
          </p:cNvPr>
          <p:cNvSpPr txBox="1"/>
          <p:nvPr/>
        </p:nvSpPr>
        <p:spPr>
          <a:xfrm>
            <a:off x="1737559" y="755986"/>
            <a:ext cx="20512841" cy="646331"/>
          </a:xfrm>
          <a:prstGeom prst="rect">
            <a:avLst/>
          </a:prstGeom>
          <a:noFill/>
        </p:spPr>
        <p:txBody>
          <a:bodyPr wrap="square" numCol="1">
            <a:spAutoFit/>
          </a:bodyPr>
          <a:lstStyle/>
          <a:p>
            <a:pPr>
              <a:spcBef>
                <a:spcPts val="1500"/>
              </a:spcBef>
              <a:spcAft>
                <a:spcPts val="750"/>
              </a:spcAft>
              <a:buNone/>
            </a:pPr>
            <a:r>
              <a:rPr lang="en-US" altLang="zh-CN" sz="3600" b="1" dirty="0">
                <a:effectLst/>
              </a:rPr>
              <a:t>B</a:t>
            </a:r>
            <a:r>
              <a:rPr lang="zh-CN" altLang="en-US" sz="3600" b="1" dirty="0">
                <a:effectLst/>
              </a:rPr>
              <a:t>样阶段</a:t>
            </a:r>
            <a:r>
              <a:rPr lang="en-US" altLang="zh-CN" sz="3600" b="1" dirty="0"/>
              <a:t>《</a:t>
            </a:r>
            <a:r>
              <a:rPr lang="zh-CN" altLang="en-US" sz="3600" b="1" dirty="0"/>
              <a:t>副本</a:t>
            </a:r>
            <a:r>
              <a:rPr lang="en-US" altLang="zh-CN" sz="3600" b="1" dirty="0"/>
              <a:t>DFMEA</a:t>
            </a:r>
            <a:r>
              <a:rPr lang="zh-CN" altLang="en-US" sz="3600" b="1" dirty="0"/>
              <a:t>存档</a:t>
            </a:r>
            <a:r>
              <a:rPr lang="en-US" altLang="zh-CN" sz="3600" b="1" dirty="0"/>
              <a:t>-D221N44AA-</a:t>
            </a:r>
            <a:r>
              <a:rPr lang="zh-CN" altLang="en-US" sz="3600" b="1" dirty="0"/>
              <a:t>动力电源系统</a:t>
            </a:r>
            <a:r>
              <a:rPr lang="en-US" altLang="zh-CN" sz="3600" b="1" dirty="0"/>
              <a:t>FMEA-20240704151818.xlsx》</a:t>
            </a:r>
            <a:r>
              <a:rPr lang="zh-CN" altLang="en-US" sz="3600" b="1" dirty="0">
                <a:effectLst/>
              </a:rPr>
              <a:t>审核报告</a:t>
            </a:r>
          </a:p>
        </p:txBody>
      </p:sp>
      <p:graphicFrame>
        <p:nvGraphicFramePr>
          <p:cNvPr id="2" name="表格 1">
            <a:extLst>
              <a:ext uri="{FF2B5EF4-FFF2-40B4-BE49-F238E27FC236}">
                <a16:creationId xmlns:a16="http://schemas.microsoft.com/office/drawing/2014/main" id="{C2AAF4DF-6848-000B-5F70-0AF653EB233F}"/>
              </a:ext>
            </a:extLst>
          </p:cNvPr>
          <p:cNvGraphicFramePr>
            <a:graphicFrameLocks noGrp="1"/>
          </p:cNvGraphicFramePr>
          <p:nvPr>
            <p:extLst>
              <p:ext uri="{D42A27DB-BD31-4B8C-83A1-F6EECF244321}">
                <p14:modId xmlns:p14="http://schemas.microsoft.com/office/powerpoint/2010/main" val="801797281"/>
              </p:ext>
            </p:extLst>
          </p:nvPr>
        </p:nvGraphicFramePr>
        <p:xfrm>
          <a:off x="662354" y="1738812"/>
          <a:ext cx="23059292" cy="11500670"/>
        </p:xfrm>
        <a:graphic>
          <a:graphicData uri="http://schemas.openxmlformats.org/drawingml/2006/table">
            <a:tbl>
              <a:tblPr firstRow="1" bandRow="1"/>
              <a:tblGrid>
                <a:gridCol w="4607171">
                  <a:extLst>
                    <a:ext uri="{9D8B030D-6E8A-4147-A177-3AD203B41FA5}">
                      <a16:colId xmlns:a16="http://schemas.microsoft.com/office/drawing/2014/main" val="520135011"/>
                    </a:ext>
                  </a:extLst>
                </a:gridCol>
                <a:gridCol w="6148443">
                  <a:extLst>
                    <a:ext uri="{9D8B030D-6E8A-4147-A177-3AD203B41FA5}">
                      <a16:colId xmlns:a16="http://schemas.microsoft.com/office/drawing/2014/main" val="585926975"/>
                    </a:ext>
                  </a:extLst>
                </a:gridCol>
                <a:gridCol w="6538855">
                  <a:extLst>
                    <a:ext uri="{9D8B030D-6E8A-4147-A177-3AD203B41FA5}">
                      <a16:colId xmlns:a16="http://schemas.microsoft.com/office/drawing/2014/main" val="3081416713"/>
                    </a:ext>
                  </a:extLst>
                </a:gridCol>
                <a:gridCol w="5764823">
                  <a:extLst>
                    <a:ext uri="{9D8B030D-6E8A-4147-A177-3AD203B41FA5}">
                      <a16:colId xmlns:a16="http://schemas.microsoft.com/office/drawing/2014/main" val="572010187"/>
                    </a:ext>
                  </a:extLst>
                </a:gridCol>
              </a:tblGrid>
              <a:tr h="901298">
                <a:tc rowSpan="2">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审查清单制定</a:t>
                      </a:r>
                    </a:p>
                  </a:txBody>
                  <a:tcPr anchor="ctr"/>
                </a:tc>
                <a:tc gridSpan="2">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逐项审核结果</a:t>
                      </a:r>
                    </a:p>
                  </a:txBody>
                  <a:tcPr anchor="ctr"/>
                </a:tc>
                <a:tc hMerge="1">
                  <a:txBody>
                    <a:bodyPr/>
                    <a:lstStyle/>
                    <a:p>
                      <a:pPr algn="ctr"/>
                      <a:endParaRPr lang="en-GB" sz="2000" dirty="0"/>
                    </a:p>
                  </a:txBody>
                  <a:tcPr/>
                </a:tc>
                <a:tc rowSpan="2">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总体评估</a:t>
                      </a:r>
                    </a:p>
                  </a:txBody>
                  <a:tcPr anchor="ctr"/>
                </a:tc>
                <a:extLst>
                  <a:ext uri="{0D108BD9-81ED-4DB2-BD59-A6C34878D82A}">
                    <a16:rowId xmlns:a16="http://schemas.microsoft.com/office/drawing/2014/main" val="2562292327"/>
                  </a:ext>
                </a:extLst>
              </a:tr>
              <a:tr h="513046">
                <a:tc vMerge="1">
                  <a:txBody>
                    <a:bodyPr/>
                    <a:lstStyle/>
                    <a:p>
                      <a:pPr algn="ctr"/>
                      <a:endParaRPr lang="en-GB" sz="2000" dirty="0"/>
                    </a:p>
                  </a:txBody>
                  <a:tcPr/>
                </a:tc>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000" dirty="0">
                          <a:effectLst/>
                        </a:rPr>
                        <a:t>✅</a:t>
                      </a:r>
                      <a:r>
                        <a:rPr lang="zh-CN" altLang="en-US" sz="2000" b="1" dirty="0">
                          <a:effectLst/>
                        </a:rPr>
                        <a:t>通过项目</a:t>
                      </a:r>
                    </a:p>
                  </a:txBody>
                  <a:tcPr/>
                </a:tc>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000" b="1" dirty="0">
                          <a:effectLst/>
                        </a:rPr>
                        <a:t>❌ 不通过项目</a:t>
                      </a:r>
                    </a:p>
                  </a:txBody>
                  <a:tcPr/>
                </a:tc>
                <a:tc vMerge="1">
                  <a:txBody>
                    <a:bodyPr/>
                    <a:lstStyle/>
                    <a:p>
                      <a:endParaRPr dirty="0"/>
                    </a:p>
                  </a:txBody>
                  <a:tcPr/>
                </a:tc>
                <a:extLst>
                  <a:ext uri="{0D108BD9-81ED-4DB2-BD59-A6C34878D82A}">
                    <a16:rowId xmlns:a16="http://schemas.microsoft.com/office/drawing/2014/main" val="3862020771"/>
                  </a:ext>
                </a:extLst>
              </a:tr>
              <a:tr h="10086326">
                <a:tc>
                  <a:txBody>
                    <a:bodyPr/>
                    <a:lstStyle/>
                    <a:p>
                      <a:r>
                        <a:rPr lang="en-US" altLang="zh-CN" sz="2000" b="1" dirty="0">
                          <a:effectLst/>
                        </a:rPr>
                        <a:t>1. </a:t>
                      </a:r>
                      <a:r>
                        <a:rPr lang="zh-CN" altLang="en-US" sz="2000" b="1" dirty="0">
                          <a:effectLst/>
                        </a:rPr>
                        <a:t>文件完整性审查</a:t>
                      </a:r>
                    </a:p>
                    <a:p>
                      <a:pPr marL="342900" indent="-342900">
                        <a:buFont typeface="Arial" panose="020B0604020202020204" pitchFamily="34" charset="0"/>
                        <a:buChar char="•"/>
                      </a:pPr>
                      <a:r>
                        <a:rPr lang="zh-CN" altLang="en-US" sz="2000" dirty="0">
                          <a:effectLst/>
                        </a:rPr>
                        <a:t>文件基本信息完整性</a:t>
                      </a:r>
                    </a:p>
                    <a:p>
                      <a:pPr marL="342900" indent="-342900">
                        <a:buFont typeface="Arial" panose="020B0604020202020204" pitchFamily="34" charset="0"/>
                        <a:buChar char="•"/>
                      </a:pPr>
                      <a:r>
                        <a:rPr lang="zh-CN" altLang="en-US" sz="2000" dirty="0">
                          <a:effectLst/>
                        </a:rPr>
                        <a:t>跨功能小组参与情况</a:t>
                      </a:r>
                    </a:p>
                    <a:p>
                      <a:pPr marL="342900" indent="-342900">
                        <a:buFont typeface="Arial" panose="020B0604020202020204" pitchFamily="34" charset="0"/>
                        <a:buChar char="•"/>
                      </a:pPr>
                      <a:r>
                        <a:rPr lang="zh-CN" altLang="en-US" sz="2000" dirty="0">
                          <a:effectLst/>
                        </a:rPr>
                        <a:t>版本控制和修订记录</a:t>
                      </a:r>
                    </a:p>
                    <a:p>
                      <a:pPr marL="342900" indent="-342900">
                        <a:buFont typeface="Arial" panose="020B0604020202020204" pitchFamily="34" charset="0"/>
                        <a:buChar char="•"/>
                      </a:pPr>
                      <a:r>
                        <a:rPr lang="zh-CN" altLang="en-US" sz="2000" dirty="0">
                          <a:effectLst/>
                        </a:rPr>
                        <a:t>责任部门和人员明确性</a:t>
                      </a:r>
                    </a:p>
                    <a:p>
                      <a:r>
                        <a:rPr lang="en-US" altLang="zh-CN" sz="2000" b="1" dirty="0">
                          <a:effectLst/>
                        </a:rPr>
                        <a:t>2. </a:t>
                      </a:r>
                      <a:r>
                        <a:rPr lang="zh-CN" altLang="en-US" sz="2000" b="1" dirty="0">
                          <a:effectLst/>
                        </a:rPr>
                        <a:t>技术内容审查</a:t>
                      </a:r>
                    </a:p>
                    <a:p>
                      <a:pPr marL="342900" indent="-342900">
                        <a:buFont typeface="Arial" panose="020B0604020202020204" pitchFamily="34" charset="0"/>
                        <a:buChar char="•"/>
                      </a:pPr>
                      <a:r>
                        <a:rPr lang="zh-CN" altLang="en-US" sz="2000" dirty="0">
                          <a:effectLst/>
                        </a:rPr>
                        <a:t>失效模式识别完整性</a:t>
                      </a:r>
                    </a:p>
                    <a:p>
                      <a:pPr marL="342900" indent="-342900">
                        <a:buFont typeface="Arial" panose="020B0604020202020204" pitchFamily="34" charset="0"/>
                        <a:buChar char="•"/>
                      </a:pPr>
                      <a:r>
                        <a:rPr lang="zh-CN" altLang="en-US" sz="2000" dirty="0">
                          <a:effectLst/>
                        </a:rPr>
                        <a:t>严重度评估合理性</a:t>
                      </a:r>
                    </a:p>
                    <a:p>
                      <a:pPr marL="342900" indent="-342900">
                        <a:buFont typeface="Arial" panose="020B0604020202020204" pitchFamily="34" charset="0"/>
                        <a:buChar char="•"/>
                      </a:pPr>
                      <a:r>
                        <a:rPr lang="zh-CN" altLang="en-US" sz="2000" dirty="0">
                          <a:effectLst/>
                        </a:rPr>
                        <a:t>发生度评估准确性</a:t>
                      </a:r>
                    </a:p>
                    <a:p>
                      <a:pPr marL="342900" indent="-342900">
                        <a:buFont typeface="Arial" panose="020B0604020202020204" pitchFamily="34" charset="0"/>
                        <a:buChar char="•"/>
                      </a:pPr>
                      <a:r>
                        <a:rPr lang="zh-CN" altLang="en-US" sz="2000" dirty="0">
                          <a:effectLst/>
                        </a:rPr>
                        <a:t>探测度评估有效性</a:t>
                      </a:r>
                    </a:p>
                    <a:p>
                      <a:pPr marL="342900" indent="-342900">
                        <a:buFont typeface="Arial" panose="020B0604020202020204" pitchFamily="34" charset="0"/>
                        <a:buChar char="•"/>
                      </a:pPr>
                      <a:r>
                        <a:rPr lang="en-US" altLang="zh-CN" sz="2000" dirty="0">
                          <a:effectLst/>
                        </a:rPr>
                        <a:t>RPN</a:t>
                      </a:r>
                      <a:r>
                        <a:rPr lang="zh-CN" altLang="en-US" sz="2000" dirty="0">
                          <a:effectLst/>
                        </a:rPr>
                        <a:t>计算正确性</a:t>
                      </a:r>
                    </a:p>
                    <a:p>
                      <a:r>
                        <a:rPr lang="en-US" altLang="zh-CN" sz="2000" b="1" dirty="0">
                          <a:effectLst/>
                        </a:rPr>
                        <a:t>3. </a:t>
                      </a:r>
                      <a:r>
                        <a:rPr lang="zh-CN" altLang="en-US" sz="2000" b="1" dirty="0">
                          <a:effectLst/>
                        </a:rPr>
                        <a:t>风险控制审查</a:t>
                      </a:r>
                    </a:p>
                    <a:p>
                      <a:pPr marL="342900" indent="-342900">
                        <a:buFont typeface="Arial" panose="020B0604020202020204" pitchFamily="34" charset="0"/>
                        <a:buChar char="•"/>
                      </a:pPr>
                      <a:r>
                        <a:rPr lang="zh-CN" altLang="en-US" sz="2000" dirty="0">
                          <a:effectLst/>
                        </a:rPr>
                        <a:t>预防措施有效性</a:t>
                      </a:r>
                    </a:p>
                    <a:p>
                      <a:pPr marL="342900" indent="-342900">
                        <a:buFont typeface="Arial" panose="020B0604020202020204" pitchFamily="34" charset="0"/>
                        <a:buChar char="•"/>
                      </a:pPr>
                      <a:r>
                        <a:rPr lang="zh-CN" altLang="en-US" sz="2000" dirty="0">
                          <a:effectLst/>
                        </a:rPr>
                        <a:t>探测措施充分性</a:t>
                      </a:r>
                    </a:p>
                    <a:p>
                      <a:pPr marL="342900" indent="-342900">
                        <a:buFont typeface="Arial" panose="020B0604020202020204" pitchFamily="34" charset="0"/>
                        <a:buChar char="•"/>
                      </a:pPr>
                      <a:r>
                        <a:rPr lang="zh-CN" altLang="en-US" sz="2000" dirty="0">
                          <a:effectLst/>
                        </a:rPr>
                        <a:t>改进措施可执行性</a:t>
                      </a:r>
                    </a:p>
                    <a:p>
                      <a:pPr marL="342900" indent="-342900">
                        <a:buFont typeface="Arial" panose="020B0604020202020204" pitchFamily="34" charset="0"/>
                        <a:buChar char="•"/>
                      </a:pPr>
                      <a:r>
                        <a:rPr lang="zh-CN" altLang="en-US" sz="2000" dirty="0">
                          <a:effectLst/>
                        </a:rPr>
                        <a:t>责任人明确性</a:t>
                      </a:r>
                    </a:p>
                    <a:p>
                      <a:r>
                        <a:rPr lang="en-US" altLang="zh-CN" sz="2000" b="1" dirty="0">
                          <a:effectLst/>
                        </a:rPr>
                        <a:t>4. </a:t>
                      </a:r>
                      <a:r>
                        <a:rPr lang="zh-CN" altLang="en-US" sz="2000" b="1" dirty="0">
                          <a:effectLst/>
                        </a:rPr>
                        <a:t>法规合规性审查</a:t>
                      </a:r>
                    </a:p>
                    <a:p>
                      <a:pPr marL="342900" indent="-342900">
                        <a:buFont typeface="Arial" panose="020B0604020202020204" pitchFamily="34" charset="0"/>
                        <a:buChar char="•"/>
                      </a:pPr>
                      <a:r>
                        <a:rPr lang="zh-CN" altLang="en-US" sz="2000" dirty="0">
                          <a:effectLst/>
                        </a:rPr>
                        <a:t>国标要求覆盖度</a:t>
                      </a:r>
                    </a:p>
                    <a:p>
                      <a:pPr marL="342900" indent="-342900">
                        <a:buFont typeface="Arial" panose="020B0604020202020204" pitchFamily="34" charset="0"/>
                        <a:buChar char="•"/>
                      </a:pPr>
                      <a:r>
                        <a:rPr lang="zh-CN" altLang="en-US" sz="2000" dirty="0">
                          <a:effectLst/>
                        </a:rPr>
                        <a:t>安全法规符合性</a:t>
                      </a:r>
                    </a:p>
                    <a:p>
                      <a:pPr marL="342900" indent="-342900">
                        <a:buFont typeface="Arial" panose="020B0604020202020204" pitchFamily="34" charset="0"/>
                        <a:buChar char="•"/>
                      </a:pPr>
                      <a:r>
                        <a:rPr lang="zh-CN" altLang="en-US" sz="2000" dirty="0">
                          <a:effectLst/>
                        </a:rPr>
                        <a:t>环保法规满足性</a:t>
                      </a:r>
                    </a:p>
                    <a:p>
                      <a:pPr>
                        <a:spcBef>
                          <a:spcPts val="1200"/>
                        </a:spcBef>
                        <a:spcAft>
                          <a:spcPts val="600"/>
                        </a:spcAft>
                        <a:buNone/>
                      </a:pPr>
                      <a:endParaRPr lang="en-GB" sz="2000" dirty="0"/>
                    </a:p>
                  </a:txBody>
                  <a:tcPr/>
                </a:tc>
                <a:tc>
                  <a:txBody>
                    <a:bodyPr/>
                    <a:lstStyle/>
                    <a:p>
                      <a:r>
                        <a:rPr lang="en-US" altLang="zh-CN" sz="2000" b="1" dirty="0">
                          <a:effectLst/>
                        </a:rPr>
                        <a:t>1. </a:t>
                      </a:r>
                      <a:r>
                        <a:rPr lang="zh-CN" altLang="en-US" sz="2000" b="1" dirty="0">
                          <a:effectLst/>
                        </a:rPr>
                        <a:t>法规合规性审查</a:t>
                      </a:r>
                    </a:p>
                    <a:p>
                      <a:r>
                        <a:rPr lang="zh-CN" altLang="en-US" sz="2000" b="1" dirty="0">
                          <a:effectLst/>
                        </a:rPr>
                        <a:t>审查结果：通过优势识别：</a:t>
                      </a:r>
                      <a:endParaRPr lang="en-GB" altLang="zh-CN" sz="2000" b="1" dirty="0">
                        <a:effectLst/>
                      </a:endParaRPr>
                    </a:p>
                    <a:p>
                      <a:pPr marL="342900" indent="-342900">
                        <a:buFont typeface="Arial" panose="020B0604020202020204" pitchFamily="34" charset="0"/>
                        <a:buChar char="•"/>
                      </a:pPr>
                      <a:r>
                        <a:rPr lang="zh-CN" altLang="en-US" sz="2000" dirty="0">
                          <a:effectLst/>
                        </a:rPr>
                        <a:t>全面覆盖了</a:t>
                      </a:r>
                      <a:r>
                        <a:rPr lang="en-US" altLang="zh-CN" sz="2000" dirty="0">
                          <a:effectLst/>
                        </a:rPr>
                        <a:t>GB/T 30512-2014</a:t>
                      </a:r>
                      <a:r>
                        <a:rPr lang="zh-CN" altLang="en-US" sz="2000" dirty="0">
                          <a:effectLst/>
                        </a:rPr>
                        <a:t>、</a:t>
                      </a:r>
                      <a:r>
                        <a:rPr lang="en-US" altLang="zh-CN" sz="2000" dirty="0">
                          <a:effectLst/>
                        </a:rPr>
                        <a:t>RoHS</a:t>
                      </a:r>
                      <a:r>
                        <a:rPr lang="zh-CN" altLang="en-US" sz="2000" dirty="0">
                          <a:effectLst/>
                        </a:rPr>
                        <a:t>、</a:t>
                      </a:r>
                      <a:r>
                        <a:rPr lang="en-US" altLang="zh-CN" sz="2000" dirty="0">
                          <a:effectLst/>
                        </a:rPr>
                        <a:t>UL94-V0</a:t>
                      </a:r>
                      <a:r>
                        <a:rPr lang="zh-CN" altLang="en-US" sz="2000" dirty="0">
                          <a:effectLst/>
                        </a:rPr>
                        <a:t>等法规要求</a:t>
                      </a:r>
                    </a:p>
                    <a:p>
                      <a:pPr marL="342900" indent="-342900">
                        <a:buFont typeface="Arial" panose="020B0604020202020204" pitchFamily="34" charset="0"/>
                        <a:buChar char="•"/>
                      </a:pPr>
                      <a:r>
                        <a:rPr lang="zh-CN" altLang="en-US" sz="2000" dirty="0">
                          <a:effectLst/>
                        </a:rPr>
                        <a:t>热失控、碰撞安全等关键安全要求识别充分</a:t>
                      </a:r>
                    </a:p>
                    <a:p>
                      <a:pPr marL="342900" indent="-342900">
                        <a:buFont typeface="Arial" panose="020B0604020202020204" pitchFamily="34" charset="0"/>
                        <a:buChar char="•"/>
                      </a:pPr>
                      <a:r>
                        <a:rPr lang="zh-CN" altLang="en-US" sz="2000" dirty="0">
                          <a:effectLst/>
                        </a:rPr>
                        <a:t>环保和可回收利用要求考虑周全</a:t>
                      </a:r>
                    </a:p>
                    <a:p>
                      <a:r>
                        <a:rPr lang="en-US" altLang="zh-CN" sz="2000" b="1" dirty="0">
                          <a:effectLst/>
                        </a:rPr>
                        <a:t>2. </a:t>
                      </a:r>
                      <a:r>
                        <a:rPr lang="zh-CN" altLang="en-US" sz="2000" b="1" dirty="0">
                          <a:effectLst/>
                        </a:rPr>
                        <a:t>技术内容审查</a:t>
                      </a:r>
                    </a:p>
                    <a:p>
                      <a:r>
                        <a:rPr lang="zh-CN" altLang="en-US" sz="2000" b="1" dirty="0">
                          <a:effectLst/>
                        </a:rPr>
                        <a:t>审查结果：基本通过</a:t>
                      </a:r>
                      <a:endParaRPr lang="en-GB" altLang="zh-CN" sz="2000" b="1" dirty="0">
                        <a:effectLst/>
                      </a:endParaRPr>
                    </a:p>
                    <a:p>
                      <a:r>
                        <a:rPr lang="zh-CN" altLang="en-US" sz="2000" b="1" dirty="0">
                          <a:effectLst/>
                        </a:rPr>
                        <a:t>问题识别：</a:t>
                      </a:r>
                      <a:endParaRPr lang="en-GB" altLang="zh-CN" sz="2000" b="1" dirty="0">
                        <a:effectLst/>
                      </a:endParaRPr>
                    </a:p>
                    <a:p>
                      <a:pPr marL="342900" indent="-342900">
                        <a:buFont typeface="Arial" panose="020B0604020202020204" pitchFamily="34" charset="0"/>
                        <a:buChar char="•"/>
                      </a:pPr>
                      <a:r>
                        <a:rPr lang="zh-CN" altLang="en-US" sz="2000" dirty="0">
                          <a:effectLst/>
                        </a:rPr>
                        <a:t>部分</a:t>
                      </a:r>
                      <a:r>
                        <a:rPr lang="en-US" altLang="zh-CN" sz="2000" dirty="0">
                          <a:effectLst/>
                        </a:rPr>
                        <a:t>RPN</a:t>
                      </a:r>
                      <a:r>
                        <a:rPr lang="zh-CN" altLang="en-US" sz="2000" dirty="0">
                          <a:effectLst/>
                        </a:rPr>
                        <a:t>值异常偏高</a:t>
                      </a:r>
                    </a:p>
                    <a:p>
                      <a:pPr marL="342900" indent="-342900">
                        <a:buFont typeface="Arial" panose="020B0604020202020204" pitchFamily="34" charset="0"/>
                        <a:buChar char="•"/>
                      </a:pPr>
                      <a:r>
                        <a:rPr lang="zh-CN" altLang="en-US" sz="2000" dirty="0">
                          <a:effectLst/>
                        </a:rPr>
                        <a:t>第</a:t>
                      </a:r>
                      <a:r>
                        <a:rPr lang="en-US" altLang="zh-CN" sz="2000" dirty="0">
                          <a:effectLst/>
                        </a:rPr>
                        <a:t>91</a:t>
                      </a:r>
                      <a:r>
                        <a:rPr lang="zh-CN" altLang="en-US" sz="2000" dirty="0">
                          <a:effectLst/>
                        </a:rPr>
                        <a:t>、</a:t>
                      </a:r>
                      <a:r>
                        <a:rPr lang="en-US" altLang="zh-CN" sz="2000" dirty="0">
                          <a:effectLst/>
                        </a:rPr>
                        <a:t>92</a:t>
                      </a:r>
                      <a:r>
                        <a:rPr lang="zh-CN" altLang="en-US" sz="2000" dirty="0">
                          <a:effectLst/>
                        </a:rPr>
                        <a:t>项：电气间隙</a:t>
                      </a:r>
                      <a:r>
                        <a:rPr lang="en-US" altLang="zh-CN" sz="2000" dirty="0">
                          <a:effectLst/>
                        </a:rPr>
                        <a:t>/</a:t>
                      </a:r>
                      <a:r>
                        <a:rPr lang="zh-CN" altLang="en-US" sz="2000" dirty="0">
                          <a:effectLst/>
                        </a:rPr>
                        <a:t>爬电距离</a:t>
                      </a:r>
                      <a:r>
                        <a:rPr lang="en-US" altLang="zh-CN" sz="2000" dirty="0">
                          <a:effectLst/>
                        </a:rPr>
                        <a:t>RPN=270</a:t>
                      </a:r>
                      <a:r>
                        <a:rPr lang="zh-CN" altLang="en-US" sz="2000" dirty="0">
                          <a:effectLst/>
                        </a:rPr>
                        <a:t>（严重度</a:t>
                      </a:r>
                      <a:r>
                        <a:rPr lang="en-US" altLang="zh-CN" sz="2000" dirty="0">
                          <a:effectLst/>
                        </a:rPr>
                        <a:t>9×</a:t>
                      </a:r>
                      <a:r>
                        <a:rPr lang="zh-CN" altLang="en-US" sz="2000" dirty="0">
                          <a:effectLst/>
                        </a:rPr>
                        <a:t>发生度</a:t>
                      </a:r>
                      <a:r>
                        <a:rPr lang="en-US" altLang="zh-CN" sz="2000" dirty="0">
                          <a:effectLst/>
                        </a:rPr>
                        <a:t>10×</a:t>
                      </a:r>
                      <a:r>
                        <a:rPr lang="zh-CN" altLang="en-US" sz="2000" dirty="0">
                          <a:effectLst/>
                        </a:rPr>
                        <a:t>探测度</a:t>
                      </a:r>
                      <a:r>
                        <a:rPr lang="en-US" altLang="zh-CN" sz="2000" dirty="0">
                          <a:effectLst/>
                        </a:rPr>
                        <a:t>3</a:t>
                      </a:r>
                      <a:r>
                        <a:rPr lang="zh-CN" altLang="en-US" sz="2000" dirty="0">
                          <a:effectLst/>
                        </a:rPr>
                        <a:t>）</a:t>
                      </a:r>
                    </a:p>
                    <a:p>
                      <a:pPr marL="342900" indent="-342900">
                        <a:buFont typeface="Arial" panose="020B0604020202020204" pitchFamily="34" charset="0"/>
                        <a:buChar char="•"/>
                      </a:pPr>
                      <a:r>
                        <a:rPr lang="zh-CN" altLang="en-US" sz="2000" dirty="0">
                          <a:effectLst/>
                        </a:rPr>
                        <a:t>第</a:t>
                      </a:r>
                      <a:r>
                        <a:rPr lang="en-US" altLang="zh-CN" sz="2000" dirty="0">
                          <a:effectLst/>
                        </a:rPr>
                        <a:t>200</a:t>
                      </a:r>
                      <a:r>
                        <a:rPr lang="zh-CN" altLang="en-US" sz="2000" dirty="0">
                          <a:effectLst/>
                        </a:rPr>
                        <a:t>项：峰值放电功率</a:t>
                      </a:r>
                      <a:r>
                        <a:rPr lang="en-US" altLang="zh-CN" sz="2000" dirty="0">
                          <a:effectLst/>
                        </a:rPr>
                        <a:t>RPN=250</a:t>
                      </a:r>
                      <a:r>
                        <a:rPr lang="zh-CN" altLang="en-US" sz="2000" dirty="0">
                          <a:effectLst/>
                        </a:rPr>
                        <a:t>（严重度</a:t>
                      </a:r>
                      <a:r>
                        <a:rPr lang="en-US" altLang="zh-CN" sz="2000" dirty="0">
                          <a:effectLst/>
                        </a:rPr>
                        <a:t>5×</a:t>
                      </a:r>
                      <a:r>
                        <a:rPr lang="zh-CN" altLang="en-US" sz="2000" dirty="0">
                          <a:effectLst/>
                        </a:rPr>
                        <a:t>发生度</a:t>
                      </a:r>
                      <a:r>
                        <a:rPr lang="en-US" altLang="zh-CN" sz="2000" dirty="0">
                          <a:effectLst/>
                        </a:rPr>
                        <a:t>10×</a:t>
                      </a:r>
                      <a:r>
                        <a:rPr lang="zh-CN" altLang="en-US" sz="2000" dirty="0">
                          <a:effectLst/>
                        </a:rPr>
                        <a:t>探测度</a:t>
                      </a:r>
                      <a:r>
                        <a:rPr lang="en-US" altLang="zh-CN" sz="2000" dirty="0">
                          <a:effectLst/>
                        </a:rPr>
                        <a:t>5</a:t>
                      </a:r>
                      <a:r>
                        <a:rPr lang="zh-CN" altLang="en-US" sz="2000" dirty="0">
                          <a:effectLst/>
                        </a:rPr>
                        <a:t>）</a:t>
                      </a:r>
                    </a:p>
                    <a:p>
                      <a:r>
                        <a:rPr lang="zh-CN" altLang="en-US" sz="2000" b="1" dirty="0">
                          <a:effectLst/>
                        </a:rPr>
                        <a:t>应对建议：</a:t>
                      </a:r>
                      <a:endParaRPr lang="en-GB" altLang="zh-CN" sz="2000" b="1" dirty="0">
                        <a:effectLst/>
                      </a:endParaRPr>
                    </a:p>
                    <a:p>
                      <a:pPr marL="342900" indent="-342900">
                        <a:buFont typeface="Arial" panose="020B0604020202020204" pitchFamily="34" charset="0"/>
                        <a:buChar char="•"/>
                      </a:pPr>
                      <a:r>
                        <a:rPr lang="zh-CN" altLang="en-US" sz="2000" dirty="0">
                          <a:effectLst/>
                        </a:rPr>
                        <a:t>重新评估电气间隙</a:t>
                      </a:r>
                      <a:r>
                        <a:rPr lang="en-US" altLang="zh-CN" sz="2000" dirty="0">
                          <a:effectLst/>
                        </a:rPr>
                        <a:t>/</a:t>
                      </a:r>
                      <a:r>
                        <a:rPr lang="zh-CN" altLang="en-US" sz="2000" dirty="0">
                          <a:effectLst/>
                        </a:rPr>
                        <a:t>爬电距离的发生度，当前评估过高</a:t>
                      </a:r>
                    </a:p>
                    <a:p>
                      <a:pPr marL="342900" indent="-342900">
                        <a:buFont typeface="Arial" panose="020B0604020202020204" pitchFamily="34" charset="0"/>
                        <a:buChar char="•"/>
                      </a:pPr>
                      <a:r>
                        <a:rPr lang="zh-CN" altLang="en-US" sz="2000" dirty="0">
                          <a:effectLst/>
                        </a:rPr>
                        <a:t>优化峰值放电功率的探测措施，降低探测度</a:t>
                      </a:r>
                    </a:p>
                    <a:p>
                      <a:pPr marL="342900" indent="-342900">
                        <a:buFont typeface="Arial" panose="020B0604020202020204" pitchFamily="34" charset="0"/>
                        <a:buChar char="•"/>
                      </a:pPr>
                      <a:r>
                        <a:rPr lang="zh-CN" altLang="en-US" sz="2000" dirty="0">
                          <a:effectLst/>
                        </a:rPr>
                        <a:t>建立</a:t>
                      </a:r>
                      <a:r>
                        <a:rPr lang="en-US" altLang="zh-CN" sz="2000" dirty="0">
                          <a:effectLst/>
                        </a:rPr>
                        <a:t>RPN</a:t>
                      </a:r>
                      <a:r>
                        <a:rPr lang="zh-CN" altLang="en-US" sz="2000" dirty="0">
                          <a:effectLst/>
                        </a:rPr>
                        <a:t>阈值管理机制，对</a:t>
                      </a:r>
                      <a:r>
                        <a:rPr lang="en-US" altLang="zh-CN" sz="2000" dirty="0">
                          <a:effectLst/>
                        </a:rPr>
                        <a:t>RPN&gt;200</a:t>
                      </a:r>
                      <a:r>
                        <a:rPr lang="zh-CN" altLang="en-US" sz="2000" dirty="0">
                          <a:effectLst/>
                        </a:rPr>
                        <a:t>的项目重点管控</a:t>
                      </a:r>
                    </a:p>
                    <a:p>
                      <a:pPr>
                        <a:spcBef>
                          <a:spcPts val="150"/>
                        </a:spcBef>
                        <a:spcAft>
                          <a:spcPts val="150"/>
                        </a:spcAft>
                        <a:buFont typeface="+mj-lt"/>
                        <a:buAutoNum type="arabicPeriod"/>
                      </a:pPr>
                      <a:endParaRPr lang="en-GB" sz="2000" dirty="0"/>
                    </a:p>
                  </a:txBody>
                  <a:tcPr/>
                </a:tc>
                <a:tc>
                  <a:txBody>
                    <a:bodyPr/>
                    <a:lstStyle/>
                    <a:p>
                      <a:r>
                        <a:rPr lang="en-US" altLang="zh-CN" sz="2000" b="1" dirty="0">
                          <a:effectLst/>
                        </a:rPr>
                        <a:t>3. </a:t>
                      </a:r>
                      <a:r>
                        <a:rPr lang="zh-CN" altLang="en-US" sz="2000" b="1" dirty="0">
                          <a:effectLst/>
                        </a:rPr>
                        <a:t>文件完整性审查</a:t>
                      </a:r>
                    </a:p>
                    <a:p>
                      <a:r>
                        <a:rPr lang="zh-CN" altLang="en-US" sz="2000" b="1" dirty="0">
                          <a:effectLst/>
                        </a:rPr>
                        <a:t>审查结果：部分通过</a:t>
                      </a:r>
                      <a:endParaRPr lang="en-GB" altLang="zh-CN" sz="2000" b="1" dirty="0">
                        <a:effectLst/>
                      </a:endParaRPr>
                    </a:p>
                    <a:p>
                      <a:r>
                        <a:rPr lang="zh-CN" altLang="en-US" sz="2000" b="1" dirty="0">
                          <a:effectLst/>
                        </a:rPr>
                        <a:t>问题识别：</a:t>
                      </a:r>
                      <a:endParaRPr lang="en-GB" altLang="zh-CN" sz="2000" b="1" dirty="0">
                        <a:effectLst/>
                      </a:endParaRPr>
                    </a:p>
                    <a:p>
                      <a:pPr marL="342900" indent="-342900">
                        <a:buFont typeface="Arial" panose="020B0604020202020204" pitchFamily="34" charset="0"/>
                        <a:buChar char="•"/>
                      </a:pPr>
                      <a:r>
                        <a:rPr lang="zh-CN" altLang="en-US" sz="2000" dirty="0">
                          <a:effectLst/>
                        </a:rPr>
                        <a:t>文件基本信息不完整</a:t>
                      </a:r>
                    </a:p>
                    <a:p>
                      <a:pPr marL="342900" indent="-342900">
                        <a:buFont typeface="Arial" panose="020B0604020202020204" pitchFamily="34" charset="0"/>
                        <a:buChar char="•"/>
                      </a:pPr>
                      <a:r>
                        <a:rPr lang="zh-CN" altLang="en-US" sz="2000" dirty="0">
                          <a:effectLst/>
                        </a:rPr>
                        <a:t>责任部门、</a:t>
                      </a:r>
                      <a:r>
                        <a:rPr lang="en-US" altLang="zh-CN" sz="2000" dirty="0">
                          <a:effectLst/>
                        </a:rPr>
                        <a:t>FMEA</a:t>
                      </a:r>
                      <a:r>
                        <a:rPr lang="zh-CN" altLang="en-US" sz="2000" dirty="0">
                          <a:effectLst/>
                        </a:rPr>
                        <a:t>负责人、客户信息等关键字段为空</a:t>
                      </a:r>
                    </a:p>
                    <a:p>
                      <a:pPr marL="342900" indent="-342900">
                        <a:buFont typeface="Arial" panose="020B0604020202020204" pitchFamily="34" charset="0"/>
                        <a:buChar char="•"/>
                      </a:pPr>
                      <a:r>
                        <a:rPr lang="zh-CN" altLang="en-US" sz="2000" dirty="0">
                          <a:effectLst/>
                        </a:rPr>
                        <a:t>跨功能小组信息缺失</a:t>
                      </a:r>
                    </a:p>
                    <a:p>
                      <a:pPr marL="342900" indent="-342900">
                        <a:buFont typeface="Arial" panose="020B0604020202020204" pitchFamily="34" charset="0"/>
                        <a:buChar char="•"/>
                      </a:pPr>
                      <a:r>
                        <a:rPr lang="zh-CN" altLang="en-US" sz="2000" dirty="0">
                          <a:effectLst/>
                        </a:rPr>
                        <a:t>图纸版本号未填写</a:t>
                      </a:r>
                    </a:p>
                    <a:p>
                      <a:r>
                        <a:rPr lang="zh-CN" altLang="en-US" sz="2000" b="1" dirty="0">
                          <a:effectLst/>
                        </a:rPr>
                        <a:t>应对建议：</a:t>
                      </a:r>
                      <a:endParaRPr lang="en-GB" altLang="zh-CN" sz="2000" b="1" dirty="0">
                        <a:effectLst/>
                      </a:endParaRPr>
                    </a:p>
                    <a:p>
                      <a:pPr marL="342900" indent="-342900">
                        <a:buFont typeface="Arial" panose="020B0604020202020204" pitchFamily="34" charset="0"/>
                        <a:buChar char="•"/>
                      </a:pPr>
                      <a:r>
                        <a:rPr lang="zh-CN" altLang="en-US" sz="2000" dirty="0">
                          <a:effectLst/>
                        </a:rPr>
                        <a:t>立即补充完整所有基本信息字段</a:t>
                      </a:r>
                    </a:p>
                    <a:p>
                      <a:pPr marL="342900" indent="-342900">
                        <a:buFont typeface="Arial" panose="020B0604020202020204" pitchFamily="34" charset="0"/>
                        <a:buChar char="•"/>
                      </a:pPr>
                      <a:r>
                        <a:rPr lang="zh-CN" altLang="en-US" sz="2000" dirty="0">
                          <a:effectLst/>
                        </a:rPr>
                        <a:t>明确指定责任部门和</a:t>
                      </a:r>
                      <a:r>
                        <a:rPr lang="en-US" altLang="zh-CN" sz="2000" dirty="0">
                          <a:effectLst/>
                        </a:rPr>
                        <a:t>FMEA</a:t>
                      </a:r>
                      <a:r>
                        <a:rPr lang="zh-CN" altLang="en-US" sz="2000" dirty="0">
                          <a:effectLst/>
                        </a:rPr>
                        <a:t>负责人</a:t>
                      </a:r>
                    </a:p>
                    <a:p>
                      <a:pPr marL="342900" indent="-342900">
                        <a:buFont typeface="Arial" panose="020B0604020202020204" pitchFamily="34" charset="0"/>
                        <a:buChar char="•"/>
                      </a:pPr>
                      <a:r>
                        <a:rPr lang="zh-CN" altLang="en-US" sz="2000" dirty="0">
                          <a:effectLst/>
                        </a:rPr>
                        <a:t>建立跨功能小组并记录参与人员</a:t>
                      </a:r>
                    </a:p>
                    <a:p>
                      <a:pPr marL="342900" indent="-342900">
                        <a:buFont typeface="Arial" panose="020B0604020202020204" pitchFamily="34" charset="0"/>
                        <a:buChar char="•"/>
                      </a:pPr>
                      <a:r>
                        <a:rPr lang="zh-CN" altLang="en-US" sz="2000" dirty="0">
                          <a:effectLst/>
                        </a:rPr>
                        <a:t>关联相关图纸版本号</a:t>
                      </a:r>
                    </a:p>
                    <a:p>
                      <a:r>
                        <a:rPr lang="en-US" altLang="zh-CN" sz="2000" b="1" dirty="0">
                          <a:effectLst/>
                        </a:rPr>
                        <a:t>4. </a:t>
                      </a:r>
                      <a:r>
                        <a:rPr lang="zh-CN" altLang="en-US" sz="2000" b="1" dirty="0">
                          <a:effectLst/>
                        </a:rPr>
                        <a:t>风险控制审查</a:t>
                      </a:r>
                    </a:p>
                    <a:p>
                      <a:r>
                        <a:rPr lang="zh-CN" altLang="en-US" sz="2000" b="1" dirty="0">
                          <a:effectLst/>
                        </a:rPr>
                        <a:t>审查结果：部分通过</a:t>
                      </a:r>
                      <a:endParaRPr lang="en-GB" altLang="zh-CN" sz="2000" b="1" dirty="0">
                        <a:effectLst/>
                      </a:endParaRPr>
                    </a:p>
                    <a:p>
                      <a:r>
                        <a:rPr lang="zh-CN" altLang="en-US" sz="2000" b="1" dirty="0">
                          <a:effectLst/>
                        </a:rPr>
                        <a:t>问题识别：不通过项</a:t>
                      </a:r>
                      <a:endParaRPr lang="en-GB" altLang="zh-CN" sz="2000" b="1" dirty="0">
                        <a:effectLst/>
                      </a:endParaRPr>
                    </a:p>
                    <a:p>
                      <a:pPr marL="342900" indent="-342900">
                        <a:buFont typeface="Arial" panose="020B0604020202020204" pitchFamily="34" charset="0"/>
                        <a:buChar char="•"/>
                      </a:pPr>
                      <a:r>
                        <a:rPr lang="zh-CN" altLang="en-US" sz="2000" dirty="0">
                          <a:effectLst/>
                        </a:rPr>
                        <a:t>部分预防措施过于宽泛</a:t>
                      </a:r>
                    </a:p>
                    <a:p>
                      <a:pPr marL="342900" indent="-342900">
                        <a:buFont typeface="Arial" panose="020B0604020202020204" pitchFamily="34" charset="0"/>
                        <a:buChar char="•"/>
                      </a:pPr>
                      <a:r>
                        <a:rPr lang="zh-CN" altLang="en-US" sz="2000" dirty="0">
                          <a:effectLst/>
                        </a:rPr>
                        <a:t>多处使用</a:t>
                      </a:r>
                      <a:r>
                        <a:rPr lang="en-US" altLang="zh-CN" sz="2000" dirty="0">
                          <a:effectLst/>
                        </a:rPr>
                        <a:t>"</a:t>
                      </a:r>
                      <a:r>
                        <a:rPr lang="zh-CN" altLang="en-US" sz="2000" dirty="0">
                          <a:effectLst/>
                        </a:rPr>
                        <a:t>优先选用成熟供应商</a:t>
                      </a:r>
                      <a:r>
                        <a:rPr lang="en-US" altLang="zh-CN" sz="2000" dirty="0">
                          <a:effectLst/>
                        </a:rPr>
                        <a:t>"</a:t>
                      </a:r>
                      <a:r>
                        <a:rPr lang="zh-CN" altLang="en-US" sz="2000" dirty="0">
                          <a:effectLst/>
                        </a:rPr>
                        <a:t>等通用性描述</a:t>
                      </a:r>
                    </a:p>
                    <a:p>
                      <a:pPr marL="342900" indent="-342900">
                        <a:buFont typeface="Arial" panose="020B0604020202020204" pitchFamily="34" charset="0"/>
                        <a:buChar char="•"/>
                      </a:pPr>
                      <a:r>
                        <a:rPr lang="zh-CN" altLang="en-US" sz="2000" dirty="0">
                          <a:effectLst/>
                        </a:rPr>
                        <a:t>缺乏具体的技术参数和标准要求</a:t>
                      </a:r>
                    </a:p>
                    <a:p>
                      <a:pPr marL="342900" indent="-342900">
                        <a:buFont typeface="Arial" panose="020B0604020202020204" pitchFamily="34" charset="0"/>
                        <a:buChar char="•"/>
                      </a:pPr>
                      <a:r>
                        <a:rPr lang="zh-CN" altLang="en-US" sz="2000" dirty="0">
                          <a:effectLst/>
                        </a:rPr>
                        <a:t>部分探测措施未明确测试方法和验收标准</a:t>
                      </a:r>
                    </a:p>
                    <a:p>
                      <a:r>
                        <a:rPr lang="zh-CN" altLang="en-US" sz="2000" b="1" dirty="0">
                          <a:effectLst/>
                        </a:rPr>
                        <a:t>应对建议：</a:t>
                      </a:r>
                      <a:endParaRPr lang="en-GB" altLang="zh-CN" sz="2000" b="1" dirty="0">
                        <a:effectLst/>
                      </a:endParaRPr>
                    </a:p>
                    <a:p>
                      <a:pPr marL="342900" indent="-342900">
                        <a:buFont typeface="Arial" panose="020B0604020202020204" pitchFamily="34" charset="0"/>
                        <a:buChar char="•"/>
                      </a:pPr>
                      <a:r>
                        <a:rPr lang="zh-CN" altLang="en-US" sz="2000" dirty="0">
                          <a:effectLst/>
                        </a:rPr>
                        <a:t>将通用性预防措施细化为具体技术要求</a:t>
                      </a:r>
                    </a:p>
                    <a:p>
                      <a:pPr marL="342900" indent="-342900">
                        <a:buFont typeface="Arial" panose="020B0604020202020204" pitchFamily="34" charset="0"/>
                        <a:buChar char="•"/>
                      </a:pPr>
                      <a:r>
                        <a:rPr lang="zh-CN" altLang="en-US" sz="2000" dirty="0">
                          <a:effectLst/>
                        </a:rPr>
                        <a:t>明确各项测试的具体参数和验收标准</a:t>
                      </a:r>
                    </a:p>
                    <a:p>
                      <a:pPr marL="342900" indent="-342900">
                        <a:buFont typeface="Arial" panose="020B0604020202020204" pitchFamily="34" charset="0"/>
                        <a:buChar char="•"/>
                      </a:pPr>
                      <a:r>
                        <a:rPr lang="zh-CN" altLang="en-US" sz="2000" dirty="0">
                          <a:effectLst/>
                        </a:rPr>
                        <a:t>建立预防措施有效性验证机制</a:t>
                      </a:r>
                      <a:endParaRPr lang="en-GB" sz="2000" dirty="0"/>
                    </a:p>
                  </a:txBody>
                  <a:tcPr/>
                </a:tc>
                <a:tc>
                  <a:txBody>
                    <a:bodyPr/>
                    <a:lstStyle/>
                    <a:p>
                      <a:r>
                        <a:rPr lang="en-US" altLang="zh-CN" sz="2000" b="1" dirty="0">
                          <a:effectLst/>
                        </a:rPr>
                        <a:t>1. </a:t>
                      </a:r>
                      <a:r>
                        <a:rPr lang="zh-CN" altLang="en-US" sz="2000" b="1" dirty="0">
                          <a:effectLst/>
                        </a:rPr>
                        <a:t>短期改进（</a:t>
                      </a:r>
                      <a:r>
                        <a:rPr lang="en-US" altLang="zh-CN" sz="2000" b="1" dirty="0">
                          <a:effectLst/>
                        </a:rPr>
                        <a:t>1</a:t>
                      </a:r>
                      <a:r>
                        <a:rPr lang="zh-CN" altLang="en-US" sz="2000" b="1" dirty="0">
                          <a:effectLst/>
                        </a:rPr>
                        <a:t>个月内）</a:t>
                      </a:r>
                    </a:p>
                    <a:p>
                      <a:pPr marL="342900" indent="-342900">
                        <a:buFont typeface="Arial" panose="020B0604020202020204" pitchFamily="34" charset="0"/>
                        <a:buChar char="•"/>
                      </a:pPr>
                      <a:r>
                        <a:rPr lang="zh-CN" altLang="en-US" sz="2000" dirty="0">
                          <a:effectLst/>
                        </a:rPr>
                        <a:t>补充完整文件基本信息</a:t>
                      </a:r>
                    </a:p>
                    <a:p>
                      <a:pPr marL="342900" indent="-342900">
                        <a:buFont typeface="Arial" panose="020B0604020202020204" pitchFamily="34" charset="0"/>
                        <a:buChar char="•"/>
                      </a:pPr>
                      <a:r>
                        <a:rPr lang="zh-CN" altLang="en-US" sz="2000" dirty="0">
                          <a:effectLst/>
                        </a:rPr>
                        <a:t>重新评估异常</a:t>
                      </a:r>
                      <a:r>
                        <a:rPr lang="en-US" altLang="zh-CN" sz="2000" dirty="0">
                          <a:effectLst/>
                        </a:rPr>
                        <a:t>RPN</a:t>
                      </a:r>
                      <a:r>
                        <a:rPr lang="zh-CN" altLang="en-US" sz="2000" dirty="0">
                          <a:effectLst/>
                        </a:rPr>
                        <a:t>值</a:t>
                      </a:r>
                    </a:p>
                    <a:p>
                      <a:pPr marL="342900" indent="-342900">
                        <a:buFont typeface="Arial" panose="020B0604020202020204" pitchFamily="34" charset="0"/>
                        <a:buChar char="•"/>
                      </a:pPr>
                      <a:r>
                        <a:rPr lang="zh-CN" altLang="en-US" sz="2000" dirty="0">
                          <a:effectLst/>
                        </a:rPr>
                        <a:t>细化预防措施描述</a:t>
                      </a:r>
                    </a:p>
                    <a:p>
                      <a:r>
                        <a:rPr lang="en-US" altLang="zh-CN" sz="2000" b="1" dirty="0">
                          <a:effectLst/>
                        </a:rPr>
                        <a:t>2. </a:t>
                      </a:r>
                      <a:r>
                        <a:rPr lang="zh-CN" altLang="en-US" sz="2000" b="1" dirty="0">
                          <a:effectLst/>
                        </a:rPr>
                        <a:t>中期改进（</a:t>
                      </a:r>
                      <a:r>
                        <a:rPr lang="en-US" altLang="zh-CN" sz="2000" b="1" dirty="0">
                          <a:effectLst/>
                        </a:rPr>
                        <a:t>3</a:t>
                      </a:r>
                      <a:r>
                        <a:rPr lang="zh-CN" altLang="en-US" sz="2000" b="1" dirty="0">
                          <a:effectLst/>
                        </a:rPr>
                        <a:t>个月内）</a:t>
                      </a:r>
                    </a:p>
                    <a:p>
                      <a:pPr marL="342900" indent="-342900">
                        <a:buFont typeface="Arial" panose="020B0604020202020204" pitchFamily="34" charset="0"/>
                        <a:buChar char="•"/>
                      </a:pPr>
                      <a:r>
                        <a:rPr lang="zh-CN" altLang="en-US" sz="2000" dirty="0">
                          <a:effectLst/>
                        </a:rPr>
                        <a:t>建立</a:t>
                      </a:r>
                      <a:r>
                        <a:rPr lang="en-US" altLang="zh-CN" sz="2000" dirty="0">
                          <a:effectLst/>
                        </a:rPr>
                        <a:t>RPN</a:t>
                      </a:r>
                      <a:r>
                        <a:rPr lang="zh-CN" altLang="en-US" sz="2000" dirty="0">
                          <a:effectLst/>
                        </a:rPr>
                        <a:t>动态管理机制</a:t>
                      </a:r>
                    </a:p>
                    <a:p>
                      <a:pPr marL="342900" indent="-342900">
                        <a:buFont typeface="Arial" panose="020B0604020202020204" pitchFamily="34" charset="0"/>
                        <a:buChar char="•"/>
                      </a:pPr>
                      <a:r>
                        <a:rPr lang="zh-CN" altLang="en-US" sz="2000" dirty="0">
                          <a:effectLst/>
                        </a:rPr>
                        <a:t>完善测试验证体系</a:t>
                      </a:r>
                    </a:p>
                    <a:p>
                      <a:pPr marL="342900" indent="-342900">
                        <a:buFont typeface="Arial" panose="020B0604020202020204" pitchFamily="34" charset="0"/>
                        <a:buChar char="•"/>
                      </a:pPr>
                      <a:r>
                        <a:rPr lang="zh-CN" altLang="en-US" sz="2000" dirty="0">
                          <a:effectLst/>
                        </a:rPr>
                        <a:t>优化高风险项目控制措施</a:t>
                      </a:r>
                    </a:p>
                    <a:p>
                      <a:r>
                        <a:rPr lang="en-US" altLang="zh-CN" sz="2000" b="1" dirty="0">
                          <a:effectLst/>
                        </a:rPr>
                        <a:t>3. </a:t>
                      </a:r>
                      <a:r>
                        <a:rPr lang="zh-CN" altLang="en-US" sz="2000" b="1" dirty="0">
                          <a:effectLst/>
                        </a:rPr>
                        <a:t>长期改进（</a:t>
                      </a:r>
                      <a:r>
                        <a:rPr lang="en-US" altLang="zh-CN" sz="2000" b="1" dirty="0">
                          <a:effectLst/>
                        </a:rPr>
                        <a:t>6</a:t>
                      </a:r>
                      <a:r>
                        <a:rPr lang="zh-CN" altLang="en-US" sz="2000" b="1" dirty="0">
                          <a:effectLst/>
                        </a:rPr>
                        <a:t>个月内）</a:t>
                      </a:r>
                    </a:p>
                    <a:p>
                      <a:pPr marL="342900" indent="-342900">
                        <a:buFont typeface="Arial" panose="020B0604020202020204" pitchFamily="34" charset="0"/>
                        <a:buChar char="•"/>
                      </a:pPr>
                      <a:r>
                        <a:rPr lang="zh-CN" altLang="en-US" sz="2000" dirty="0">
                          <a:effectLst/>
                        </a:rPr>
                        <a:t>建立</a:t>
                      </a:r>
                      <a:r>
                        <a:rPr lang="en-US" altLang="zh-CN" sz="2000" dirty="0">
                          <a:effectLst/>
                        </a:rPr>
                        <a:t>DFMEA</a:t>
                      </a:r>
                      <a:r>
                        <a:rPr lang="zh-CN" altLang="en-US" sz="2000" dirty="0">
                          <a:effectLst/>
                        </a:rPr>
                        <a:t>持续改进机制</a:t>
                      </a:r>
                    </a:p>
                    <a:p>
                      <a:pPr marL="342900" indent="-342900">
                        <a:buFont typeface="Arial" panose="020B0604020202020204" pitchFamily="34" charset="0"/>
                        <a:buChar char="•"/>
                      </a:pPr>
                      <a:r>
                        <a:rPr lang="zh-CN" altLang="en-US" sz="2000" dirty="0">
                          <a:effectLst/>
                        </a:rPr>
                        <a:t>完善跨功能小组协作流程</a:t>
                      </a:r>
                    </a:p>
                    <a:p>
                      <a:pPr marL="342900" indent="-342900">
                        <a:buFont typeface="Arial" panose="020B0604020202020204" pitchFamily="34" charset="0"/>
                        <a:buChar char="•"/>
                      </a:pPr>
                      <a:r>
                        <a:rPr lang="zh-CN" altLang="en-US" sz="2000" dirty="0">
                          <a:effectLst/>
                        </a:rPr>
                        <a:t>建立经验教训数据库</a:t>
                      </a:r>
                    </a:p>
                    <a:p>
                      <a:endParaRPr lang="en-GB" altLang="zh-CN" sz="2000" b="1" dirty="0">
                        <a:effectLst/>
                      </a:endParaRPr>
                    </a:p>
                    <a:p>
                      <a:r>
                        <a:rPr lang="zh-CN" altLang="en-US" sz="2000" b="1" dirty="0">
                          <a:effectLst/>
                        </a:rPr>
                        <a:t>结论</a:t>
                      </a:r>
                    </a:p>
                    <a:p>
                      <a:r>
                        <a:rPr lang="zh-CN" altLang="en-US" sz="2000" dirty="0">
                          <a:effectLst/>
                        </a:rPr>
                        <a:t>该</a:t>
                      </a:r>
                      <a:r>
                        <a:rPr lang="en-US" altLang="zh-CN" sz="2000" dirty="0">
                          <a:effectLst/>
                        </a:rPr>
                        <a:t>DFMEA</a:t>
                      </a:r>
                      <a:r>
                        <a:rPr lang="zh-CN" altLang="en-US" sz="2000" dirty="0">
                          <a:effectLst/>
                        </a:rPr>
                        <a:t>文件在技术内容覆盖度和法规合规性方面表现良好，但在文件完整性和风险控制措施细化方面存在不足。建议按照上述改进建议进行完善，重点关注高风险项目的控制措施优化，确保</a:t>
                      </a:r>
                      <a:r>
                        <a:rPr lang="en-US" altLang="zh-CN" sz="2000" dirty="0">
                          <a:effectLst/>
                        </a:rPr>
                        <a:t>B</a:t>
                      </a:r>
                      <a:r>
                        <a:rPr lang="zh-CN" altLang="en-US" sz="2000" dirty="0">
                          <a:effectLst/>
                        </a:rPr>
                        <a:t>样阶段项目顺利推进。</a:t>
                      </a:r>
                      <a:endParaRPr lang="en-GB" altLang="zh-CN" sz="2000" dirty="0">
                        <a:effectLst/>
                      </a:endParaRPr>
                    </a:p>
                    <a:p>
                      <a:r>
                        <a:rPr lang="zh-CN" altLang="en-US" sz="2000" b="1" dirty="0">
                          <a:effectLst/>
                        </a:rPr>
                        <a:t>总体评价：基本符合要求，需要改进</a:t>
                      </a:r>
                      <a:endParaRPr lang="en-GB" sz="2000" dirty="0"/>
                    </a:p>
                  </a:txBody>
                  <a:tcPr/>
                </a:tc>
                <a:extLst>
                  <a:ext uri="{0D108BD9-81ED-4DB2-BD59-A6C34878D82A}">
                    <a16:rowId xmlns:a16="http://schemas.microsoft.com/office/drawing/2014/main" val="604853937"/>
                  </a:ext>
                </a:extLst>
              </a:tr>
            </a:tbl>
          </a:graphicData>
        </a:graphic>
      </p:graphicFrame>
    </p:spTree>
    <p:extLst>
      <p:ext uri="{BB962C8B-B14F-4D97-AF65-F5344CB8AC3E}">
        <p14:creationId xmlns:p14="http://schemas.microsoft.com/office/powerpoint/2010/main" val="341086084"/>
      </p:ext>
    </p:extLst>
  </p:cSld>
  <p:clrMapOvr>
    <a:masterClrMapping/>
  </p:clrMapOvr>
  <p:transition spd="med"/>
  <p:extLst>
    <p:ext uri="{6950BFC3-D8DA-4A85-94F7-54DA5524770B}">
      <p188:commentRel xmlns:p188="http://schemas.microsoft.com/office/powerpoint/2018/8/main" r:id="rId2"/>
    </p:ext>
  </p:extLs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7CAAD6-8DF6-8C8F-24FA-61F8C391D04C}"/>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0F9892F0-0EB1-A51C-7FCD-A40D76B569DD}"/>
              </a:ext>
            </a:extLst>
          </p:cNvPr>
          <p:cNvSpPr txBox="1"/>
          <p:nvPr/>
        </p:nvSpPr>
        <p:spPr>
          <a:xfrm>
            <a:off x="1737559" y="755986"/>
            <a:ext cx="21984087" cy="646331"/>
          </a:xfrm>
          <a:prstGeom prst="rect">
            <a:avLst/>
          </a:prstGeom>
          <a:noFill/>
        </p:spPr>
        <p:txBody>
          <a:bodyPr wrap="square" numCol="1">
            <a:spAutoFit/>
          </a:bodyPr>
          <a:lstStyle/>
          <a:p>
            <a:pPr>
              <a:spcBef>
                <a:spcPts val="1500"/>
              </a:spcBef>
              <a:spcAft>
                <a:spcPts val="750"/>
              </a:spcAft>
              <a:buNone/>
            </a:pPr>
            <a:r>
              <a:rPr lang="en-US" altLang="zh-CN" sz="3600" b="1" dirty="0">
                <a:effectLst/>
              </a:rPr>
              <a:t>B</a:t>
            </a:r>
            <a:r>
              <a:rPr lang="zh-CN" altLang="en-US" sz="3600" b="1" dirty="0">
                <a:effectLst/>
              </a:rPr>
              <a:t>样阶段</a:t>
            </a:r>
            <a:r>
              <a:rPr lang="en-US" altLang="zh-CN" sz="3600" b="1" dirty="0"/>
              <a:t>《</a:t>
            </a:r>
            <a:r>
              <a:rPr lang="zh-CN" altLang="en-US" sz="3600" b="1" dirty="0"/>
              <a:t>副本</a:t>
            </a:r>
            <a:r>
              <a:rPr lang="en-US" altLang="zh-CN" sz="3600" b="1" dirty="0"/>
              <a:t>L946</a:t>
            </a:r>
            <a:r>
              <a:rPr lang="zh-CN" altLang="en-US" sz="3600" b="1" dirty="0"/>
              <a:t>动力电池总成（</a:t>
            </a:r>
            <a:r>
              <a:rPr lang="en-US" altLang="zh-CN" sz="3600" b="1" dirty="0"/>
              <a:t>43.3kWh</a:t>
            </a:r>
            <a:r>
              <a:rPr lang="zh-CN" altLang="en-US" sz="3600" b="1" dirty="0"/>
              <a:t>）特殊特性清单</a:t>
            </a:r>
            <a:r>
              <a:rPr lang="en-US" altLang="zh-CN" sz="3600" b="1" dirty="0"/>
              <a:t>1713407369905-20240522.xlsx》</a:t>
            </a:r>
            <a:r>
              <a:rPr lang="zh-CN" altLang="en-US" sz="3600" b="1" dirty="0">
                <a:effectLst/>
              </a:rPr>
              <a:t>审核报告</a:t>
            </a:r>
          </a:p>
        </p:txBody>
      </p:sp>
      <p:graphicFrame>
        <p:nvGraphicFramePr>
          <p:cNvPr id="2" name="表格 1">
            <a:extLst>
              <a:ext uri="{FF2B5EF4-FFF2-40B4-BE49-F238E27FC236}">
                <a16:creationId xmlns:a16="http://schemas.microsoft.com/office/drawing/2014/main" id="{143277DB-D7FB-9C07-D16D-EA492B712627}"/>
              </a:ext>
            </a:extLst>
          </p:cNvPr>
          <p:cNvGraphicFramePr>
            <a:graphicFrameLocks noGrp="1"/>
          </p:cNvGraphicFramePr>
          <p:nvPr>
            <p:extLst>
              <p:ext uri="{D42A27DB-BD31-4B8C-83A1-F6EECF244321}">
                <p14:modId xmlns:p14="http://schemas.microsoft.com/office/powerpoint/2010/main" val="1517220656"/>
              </p:ext>
            </p:extLst>
          </p:nvPr>
        </p:nvGraphicFramePr>
        <p:xfrm>
          <a:off x="662354" y="1738812"/>
          <a:ext cx="23059292" cy="14429338"/>
        </p:xfrm>
        <a:graphic>
          <a:graphicData uri="http://schemas.openxmlformats.org/drawingml/2006/table">
            <a:tbl>
              <a:tblPr firstRow="1" bandRow="1"/>
              <a:tblGrid>
                <a:gridCol w="4607171">
                  <a:extLst>
                    <a:ext uri="{9D8B030D-6E8A-4147-A177-3AD203B41FA5}">
                      <a16:colId xmlns:a16="http://schemas.microsoft.com/office/drawing/2014/main" val="520135011"/>
                    </a:ext>
                  </a:extLst>
                </a:gridCol>
                <a:gridCol w="5908430">
                  <a:extLst>
                    <a:ext uri="{9D8B030D-6E8A-4147-A177-3AD203B41FA5}">
                      <a16:colId xmlns:a16="http://schemas.microsoft.com/office/drawing/2014/main" val="585926975"/>
                    </a:ext>
                  </a:extLst>
                </a:gridCol>
                <a:gridCol w="6778868">
                  <a:extLst>
                    <a:ext uri="{9D8B030D-6E8A-4147-A177-3AD203B41FA5}">
                      <a16:colId xmlns:a16="http://schemas.microsoft.com/office/drawing/2014/main" val="3081416713"/>
                    </a:ext>
                  </a:extLst>
                </a:gridCol>
                <a:gridCol w="5764823">
                  <a:extLst>
                    <a:ext uri="{9D8B030D-6E8A-4147-A177-3AD203B41FA5}">
                      <a16:colId xmlns:a16="http://schemas.microsoft.com/office/drawing/2014/main" val="572010187"/>
                    </a:ext>
                  </a:extLst>
                </a:gridCol>
              </a:tblGrid>
              <a:tr h="901298">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审查清单制定</a:t>
                      </a:r>
                    </a:p>
                  </a:txBody>
                  <a:tcPr anchor="ctr"/>
                </a:tc>
                <a:tc gridSpan="2">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逐项审核结果</a:t>
                      </a:r>
                    </a:p>
                  </a:txBody>
                  <a:tcPr anchor="ctr"/>
                </a:tc>
                <a:tc hMerge="1">
                  <a:txBody>
                    <a:bodyPr/>
                    <a:lstStyle/>
                    <a:p>
                      <a:pPr algn="ctr"/>
                      <a:endParaRPr lang="en-GB" sz="2000" dirty="0"/>
                    </a:p>
                  </a:txBody>
                  <a:tcPr/>
                </a:tc>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总体评估</a:t>
                      </a:r>
                    </a:p>
                  </a:txBody>
                  <a:tcPr anchor="ctr"/>
                </a:tc>
                <a:extLst>
                  <a:ext uri="{0D108BD9-81ED-4DB2-BD59-A6C34878D82A}">
                    <a16:rowId xmlns:a16="http://schemas.microsoft.com/office/drawing/2014/main" val="2562292327"/>
                  </a:ext>
                </a:extLst>
              </a:tr>
              <a:tr h="10086326">
                <a:tc>
                  <a:txBody>
                    <a:bodyPr/>
                    <a:lstStyle/>
                    <a:p>
                      <a:r>
                        <a:rPr lang="en-US" altLang="zh-CN" sz="2000" b="1" dirty="0">
                          <a:effectLst/>
                        </a:rPr>
                        <a:t>1. </a:t>
                      </a:r>
                      <a:r>
                        <a:rPr lang="zh-CN" altLang="en-US" sz="2000" b="1" dirty="0">
                          <a:effectLst/>
                        </a:rPr>
                        <a:t>文档完整性审查</a:t>
                      </a:r>
                      <a:r>
                        <a:rPr lang="zh-CN" altLang="en-US" sz="2000" dirty="0">
                          <a:effectLst/>
                        </a:rPr>
                        <a:t>文档基本信息完整性</a:t>
                      </a:r>
                    </a:p>
                    <a:p>
                      <a:r>
                        <a:rPr lang="zh-CN" altLang="en-US" sz="2000" dirty="0">
                          <a:effectLst/>
                        </a:rPr>
                        <a:t>版本控制和修订记录</a:t>
                      </a:r>
                    </a:p>
                    <a:p>
                      <a:r>
                        <a:rPr lang="zh-CN" altLang="en-US" sz="2000" dirty="0">
                          <a:effectLst/>
                        </a:rPr>
                        <a:t>保密级别标识</a:t>
                      </a:r>
                    </a:p>
                    <a:p>
                      <a:r>
                        <a:rPr lang="zh-CN" altLang="en-US" sz="2000" dirty="0">
                          <a:effectLst/>
                        </a:rPr>
                        <a:t>使用权限说明</a:t>
                      </a:r>
                    </a:p>
                    <a:p>
                      <a:r>
                        <a:rPr lang="en-US" altLang="zh-CN" sz="2000" b="1" dirty="0">
                          <a:effectLst/>
                        </a:rPr>
                        <a:t>2. </a:t>
                      </a:r>
                      <a:r>
                        <a:rPr lang="zh-CN" altLang="en-US" sz="2000" b="1" dirty="0">
                          <a:effectLst/>
                        </a:rPr>
                        <a:t>特殊特性识别审查</a:t>
                      </a:r>
                      <a:r>
                        <a:rPr lang="zh-CN" altLang="en-US" sz="2000" dirty="0">
                          <a:effectLst/>
                        </a:rPr>
                        <a:t>特性分类合理性（安全、法规、功能）</a:t>
                      </a:r>
                    </a:p>
                    <a:p>
                      <a:r>
                        <a:rPr lang="zh-CN" altLang="en-US" sz="2000" dirty="0">
                          <a:effectLst/>
                        </a:rPr>
                        <a:t>重要度等级划分准确性</a:t>
                      </a:r>
                    </a:p>
                    <a:p>
                      <a:r>
                        <a:rPr lang="zh-CN" altLang="en-US" sz="2000" dirty="0">
                          <a:effectLst/>
                        </a:rPr>
                        <a:t>特性编码规范性</a:t>
                      </a:r>
                    </a:p>
                    <a:p>
                      <a:r>
                        <a:rPr lang="zh-CN" altLang="en-US" sz="2000" dirty="0">
                          <a:effectLst/>
                        </a:rPr>
                        <a:t>特性描述清晰度</a:t>
                      </a:r>
                    </a:p>
                    <a:p>
                      <a:r>
                        <a:rPr lang="en-US" altLang="zh-CN" sz="2000" b="1" dirty="0">
                          <a:effectLst/>
                        </a:rPr>
                        <a:t>3. </a:t>
                      </a:r>
                      <a:r>
                        <a:rPr lang="zh-CN" altLang="en-US" sz="2000" b="1" dirty="0">
                          <a:effectLst/>
                        </a:rPr>
                        <a:t>技术要求审查</a:t>
                      </a:r>
                      <a:r>
                        <a:rPr lang="zh-CN" altLang="en-US" sz="2000" dirty="0">
                          <a:effectLst/>
                        </a:rPr>
                        <a:t>规格限值合理性</a:t>
                      </a:r>
                    </a:p>
                    <a:p>
                      <a:r>
                        <a:rPr lang="zh-CN" altLang="en-US" sz="2000" dirty="0">
                          <a:effectLst/>
                        </a:rPr>
                        <a:t>测试方法明确性</a:t>
                      </a:r>
                    </a:p>
                    <a:p>
                      <a:r>
                        <a:rPr lang="zh-CN" altLang="en-US" sz="2000" dirty="0">
                          <a:effectLst/>
                        </a:rPr>
                        <a:t>标准引用准确性</a:t>
                      </a:r>
                    </a:p>
                    <a:p>
                      <a:r>
                        <a:rPr lang="zh-CN" altLang="en-US" sz="2000" dirty="0">
                          <a:effectLst/>
                        </a:rPr>
                        <a:t>可测量性验证</a:t>
                      </a:r>
                    </a:p>
                    <a:p>
                      <a:r>
                        <a:rPr lang="en-US" altLang="zh-CN" sz="2000" b="1" dirty="0">
                          <a:effectLst/>
                        </a:rPr>
                        <a:t>4. </a:t>
                      </a:r>
                      <a:r>
                        <a:rPr lang="zh-CN" altLang="en-US" sz="2000" b="1" dirty="0">
                          <a:effectLst/>
                        </a:rPr>
                        <a:t>质量保证体系审查</a:t>
                      </a:r>
                      <a:r>
                        <a:rPr lang="zh-CN" altLang="en-US" sz="2000" dirty="0">
                          <a:effectLst/>
                        </a:rPr>
                        <a:t>三级保证体系覆盖度</a:t>
                      </a:r>
                    </a:p>
                    <a:p>
                      <a:r>
                        <a:rPr lang="zh-CN" altLang="en-US" sz="2000" dirty="0">
                          <a:effectLst/>
                        </a:rPr>
                        <a:t>检测方法适用性</a:t>
                      </a:r>
                    </a:p>
                    <a:p>
                      <a:r>
                        <a:rPr lang="zh-CN" altLang="en-US" sz="2000" dirty="0">
                          <a:effectLst/>
                        </a:rPr>
                        <a:t>历史问题追踪</a:t>
                      </a:r>
                    </a:p>
                    <a:p>
                      <a:r>
                        <a:rPr lang="zh-CN" altLang="en-US" sz="2000" dirty="0">
                          <a:effectLst/>
                        </a:rPr>
                        <a:t>持续改进机制</a:t>
                      </a:r>
                    </a:p>
                    <a:p>
                      <a:r>
                        <a:rPr lang="en-US" altLang="zh-CN" sz="2000" b="1" dirty="0">
                          <a:effectLst/>
                        </a:rPr>
                        <a:t>5. </a:t>
                      </a:r>
                      <a:r>
                        <a:rPr lang="zh-CN" altLang="en-US" sz="2000" b="1" dirty="0">
                          <a:effectLst/>
                        </a:rPr>
                        <a:t>法规合规性审查</a:t>
                      </a:r>
                      <a:r>
                        <a:rPr lang="zh-CN" altLang="en-US" sz="2000" dirty="0">
                          <a:effectLst/>
                        </a:rPr>
                        <a:t>国标</a:t>
                      </a:r>
                      <a:r>
                        <a:rPr lang="en-US" altLang="zh-CN" sz="2000" dirty="0">
                          <a:effectLst/>
                        </a:rPr>
                        <a:t>/</a:t>
                      </a:r>
                      <a:r>
                        <a:rPr lang="zh-CN" altLang="en-US" sz="2000" dirty="0">
                          <a:effectLst/>
                        </a:rPr>
                        <a:t>行标符合性</a:t>
                      </a:r>
                    </a:p>
                    <a:p>
                      <a:r>
                        <a:rPr lang="zh-CN" altLang="en-US" sz="2000" dirty="0">
                          <a:effectLst/>
                        </a:rPr>
                        <a:t>企业标准一致性</a:t>
                      </a:r>
                    </a:p>
                    <a:p>
                      <a:r>
                        <a:rPr lang="zh-CN" altLang="en-US" sz="2000" dirty="0">
                          <a:effectLst/>
                        </a:rPr>
                        <a:t>国际标准适用性</a:t>
                      </a:r>
                    </a:p>
                    <a:p>
                      <a:r>
                        <a:rPr lang="zh-CN" altLang="en-US" sz="2000" dirty="0">
                          <a:effectLst/>
                        </a:rPr>
                        <a:t>法规更新及时性</a:t>
                      </a:r>
                    </a:p>
                    <a:p>
                      <a:pPr>
                        <a:spcBef>
                          <a:spcPts val="1200"/>
                        </a:spcBef>
                        <a:spcAft>
                          <a:spcPts val="600"/>
                        </a:spcAft>
                        <a:buNone/>
                      </a:pPr>
                      <a:endParaRPr lang="en-GB" sz="2000" dirty="0"/>
                    </a:p>
                  </a:txBody>
                  <a:tcPr/>
                </a:tc>
                <a:tc>
                  <a:txBody>
                    <a:bodyPr/>
                    <a:lstStyle/>
                    <a:p>
                      <a:r>
                        <a:rPr lang="en-US" altLang="zh-CN" sz="2000" b="1" dirty="0">
                          <a:effectLst/>
                        </a:rPr>
                        <a:t>1. </a:t>
                      </a:r>
                      <a:r>
                        <a:rPr lang="zh-CN" altLang="en-US" sz="2000" b="1" dirty="0">
                          <a:effectLst/>
                        </a:rPr>
                        <a:t>文档完整性审查</a:t>
                      </a:r>
                    </a:p>
                    <a:p>
                      <a:r>
                        <a:rPr lang="zh-CN" altLang="en-US" sz="2000" b="1" dirty="0">
                          <a:effectLst/>
                        </a:rPr>
                        <a:t>✅ 通过项目：</a:t>
                      </a:r>
                      <a:r>
                        <a:rPr lang="zh-CN" altLang="en-US" sz="2000" dirty="0">
                          <a:effectLst/>
                        </a:rPr>
                        <a:t>保密级别标识完整（机密级别）</a:t>
                      </a:r>
                    </a:p>
                    <a:p>
                      <a:r>
                        <a:rPr lang="zh-CN" altLang="en-US" sz="2000" dirty="0">
                          <a:effectLst/>
                        </a:rPr>
                        <a:t>使用权限说明明确</a:t>
                      </a:r>
                    </a:p>
                    <a:p>
                      <a:r>
                        <a:rPr lang="zh-CN" altLang="en-US" sz="2000" dirty="0">
                          <a:effectLst/>
                        </a:rPr>
                        <a:t>版本信息记录完整（</a:t>
                      </a:r>
                      <a:r>
                        <a:rPr lang="en-US" altLang="zh-CN" sz="2000" dirty="0">
                          <a:effectLst/>
                        </a:rPr>
                        <a:t>2024-05-22</a:t>
                      </a:r>
                      <a:r>
                        <a:rPr lang="zh-CN" altLang="en-US" sz="2000" dirty="0">
                          <a:effectLst/>
                        </a:rPr>
                        <a:t>）</a:t>
                      </a:r>
                    </a:p>
                    <a:p>
                      <a:r>
                        <a:rPr lang="zh-CN" altLang="en-US" sz="2000" dirty="0">
                          <a:effectLst/>
                        </a:rPr>
                        <a:t>操作人员追踪记录完整</a:t>
                      </a:r>
                    </a:p>
                    <a:p>
                      <a:r>
                        <a:rPr lang="zh-CN" altLang="en-US" sz="2000" b="1" dirty="0">
                          <a:effectLst/>
                        </a:rPr>
                        <a:t>⚠️ 需关注项目：</a:t>
                      </a:r>
                      <a:r>
                        <a:rPr lang="zh-CN" altLang="en-US" sz="2000" dirty="0">
                          <a:effectLst/>
                        </a:rPr>
                        <a:t>文档编号格式需要统一规范</a:t>
                      </a:r>
                    </a:p>
                    <a:p>
                      <a:r>
                        <a:rPr lang="zh-CN" altLang="en-US" sz="2000" dirty="0">
                          <a:effectLst/>
                        </a:rPr>
                        <a:t>建议增加文档状态标识（草稿</a:t>
                      </a:r>
                      <a:r>
                        <a:rPr lang="en-US" altLang="zh-CN" sz="2000" dirty="0">
                          <a:effectLst/>
                        </a:rPr>
                        <a:t>/</a:t>
                      </a:r>
                      <a:r>
                        <a:rPr lang="zh-CN" altLang="en-US" sz="2000" dirty="0">
                          <a:effectLst/>
                        </a:rPr>
                        <a:t>评审</a:t>
                      </a:r>
                      <a:r>
                        <a:rPr lang="en-US" altLang="zh-CN" sz="2000" dirty="0">
                          <a:effectLst/>
                        </a:rPr>
                        <a:t>/</a:t>
                      </a:r>
                      <a:r>
                        <a:rPr lang="zh-CN" altLang="en-US" sz="2000" dirty="0">
                          <a:effectLst/>
                        </a:rPr>
                        <a:t>批准）</a:t>
                      </a:r>
                    </a:p>
                    <a:p>
                      <a:r>
                        <a:rPr lang="en-US" altLang="zh-CN" sz="2000" b="1" dirty="0">
                          <a:effectLst/>
                        </a:rPr>
                        <a:t>2. </a:t>
                      </a:r>
                      <a:r>
                        <a:rPr lang="zh-CN" altLang="en-US" sz="2000" b="1" dirty="0">
                          <a:effectLst/>
                        </a:rPr>
                        <a:t>特殊特性识别审查</a:t>
                      </a:r>
                    </a:p>
                    <a:p>
                      <a:r>
                        <a:rPr lang="zh-CN" altLang="en-US" sz="2000" b="1" dirty="0">
                          <a:effectLst/>
                        </a:rPr>
                        <a:t>✅ 通过项目：</a:t>
                      </a:r>
                      <a:r>
                        <a:rPr lang="zh-CN" altLang="en-US" sz="2000" dirty="0">
                          <a:effectLst/>
                        </a:rPr>
                        <a:t>特性分类覆盖全面（安全、性能、功能、法规）</a:t>
                      </a:r>
                    </a:p>
                    <a:p>
                      <a:r>
                        <a:rPr lang="zh-CN" altLang="en-US" sz="2000" dirty="0">
                          <a:effectLst/>
                        </a:rPr>
                        <a:t>重要度等级划分合理（</a:t>
                      </a:r>
                      <a:r>
                        <a:rPr lang="en-US" altLang="zh-CN" sz="2000" dirty="0">
                          <a:effectLst/>
                        </a:rPr>
                        <a:t>1</a:t>
                      </a:r>
                      <a:r>
                        <a:rPr lang="zh-CN" altLang="en-US" sz="2000" dirty="0">
                          <a:effectLst/>
                        </a:rPr>
                        <a:t>级安全特性，</a:t>
                      </a:r>
                      <a:r>
                        <a:rPr lang="en-US" altLang="zh-CN" sz="2000" dirty="0">
                          <a:effectLst/>
                        </a:rPr>
                        <a:t>3</a:t>
                      </a:r>
                      <a:r>
                        <a:rPr lang="zh-CN" altLang="en-US" sz="2000" dirty="0">
                          <a:effectLst/>
                        </a:rPr>
                        <a:t>级性能特性）</a:t>
                      </a:r>
                    </a:p>
                    <a:p>
                      <a:r>
                        <a:rPr lang="zh-CN" altLang="en-US" sz="2000" dirty="0">
                          <a:effectLst/>
                        </a:rPr>
                        <a:t>特性编码体系规范（</a:t>
                      </a:r>
                      <a:r>
                        <a:rPr lang="en-US" altLang="zh-CN" sz="2000" dirty="0">
                          <a:effectLst/>
                        </a:rPr>
                        <a:t>L946-XXXXXX-PXXXXXX</a:t>
                      </a:r>
                      <a:r>
                        <a:rPr lang="zh-CN" altLang="en-US" sz="2000" dirty="0">
                          <a:effectLst/>
                        </a:rPr>
                        <a:t>格式）</a:t>
                      </a:r>
                    </a:p>
                    <a:p>
                      <a:r>
                        <a:rPr lang="zh-CN" altLang="en-US" sz="2000" dirty="0">
                          <a:effectLst/>
                        </a:rPr>
                        <a:t>特性描述基本清晰</a:t>
                      </a:r>
                    </a:p>
                    <a:p>
                      <a:r>
                        <a:rPr lang="zh-CN" altLang="en-US" sz="2000" b="1" dirty="0">
                          <a:effectLst/>
                        </a:rPr>
                        <a:t>❌ 不通过项目：问题</a:t>
                      </a:r>
                      <a:r>
                        <a:rPr lang="en-US" altLang="zh-CN" sz="2000" b="1" dirty="0">
                          <a:effectLst/>
                        </a:rPr>
                        <a:t>1</a:t>
                      </a:r>
                      <a:r>
                        <a:rPr lang="zh-CN" altLang="en-US" sz="2000" b="1" dirty="0">
                          <a:effectLst/>
                        </a:rPr>
                        <a:t>：特性重要度等级划分不够细化具体问题：</a:t>
                      </a:r>
                      <a:r>
                        <a:rPr lang="zh-CN" altLang="en-US" sz="2000" dirty="0">
                          <a:effectLst/>
                        </a:rPr>
                        <a:t> 部分关键安全特性（如</a:t>
                      </a:r>
                      <a:r>
                        <a:rPr lang="en-US" altLang="zh-CN" sz="2000" dirty="0">
                          <a:effectLst/>
                        </a:rPr>
                        <a:t>"</a:t>
                      </a:r>
                      <a:r>
                        <a:rPr lang="zh-CN" altLang="en-US" sz="2000" dirty="0">
                          <a:effectLst/>
                        </a:rPr>
                        <a:t>报警性能</a:t>
                      </a:r>
                      <a:r>
                        <a:rPr lang="en-US" altLang="zh-CN" sz="2000" dirty="0">
                          <a:effectLst/>
                        </a:rPr>
                        <a:t>"</a:t>
                      </a:r>
                      <a:r>
                        <a:rPr lang="zh-CN" altLang="en-US" sz="2000" dirty="0">
                          <a:effectLst/>
                        </a:rPr>
                        <a:t>）仅标注为</a:t>
                      </a:r>
                      <a:r>
                        <a:rPr lang="en-US" altLang="zh-CN" sz="2000" dirty="0">
                          <a:effectLst/>
                        </a:rPr>
                        <a:t>1</a:t>
                      </a:r>
                      <a:r>
                        <a:rPr lang="zh-CN" altLang="en-US" sz="2000" dirty="0">
                          <a:effectLst/>
                        </a:rPr>
                        <a:t>级，但缺少细分等级</a:t>
                      </a:r>
                    </a:p>
                    <a:p>
                      <a:r>
                        <a:rPr lang="zh-CN" altLang="en-US" sz="2000" b="1" dirty="0">
                          <a:effectLst/>
                        </a:rPr>
                        <a:t>影响：</a:t>
                      </a:r>
                      <a:r>
                        <a:rPr lang="zh-CN" altLang="en-US" sz="2000" dirty="0">
                          <a:effectLst/>
                        </a:rPr>
                        <a:t> 可能导致质量管控重点不明确</a:t>
                      </a:r>
                    </a:p>
                    <a:p>
                      <a:r>
                        <a:rPr lang="zh-CN" altLang="en-US" sz="2000" b="1" dirty="0">
                          <a:effectLst/>
                        </a:rPr>
                        <a:t>应对建议：</a:t>
                      </a:r>
                      <a:endParaRPr lang="zh-CN" altLang="en-US" sz="2000" dirty="0">
                        <a:effectLst/>
                      </a:endParaRPr>
                    </a:p>
                    <a:p>
                      <a:r>
                        <a:rPr lang="zh-CN" altLang="en-US" sz="2000" dirty="0">
                          <a:effectLst/>
                        </a:rPr>
                        <a:t>建议采用</a:t>
                      </a:r>
                      <a:r>
                        <a:rPr lang="en-US" altLang="zh-CN" sz="2000" dirty="0">
                          <a:effectLst/>
                        </a:rPr>
                        <a:t>1A</a:t>
                      </a:r>
                      <a:r>
                        <a:rPr lang="zh-CN" altLang="en-US" sz="2000" dirty="0">
                          <a:effectLst/>
                        </a:rPr>
                        <a:t>（最高安全等级）、</a:t>
                      </a:r>
                      <a:r>
                        <a:rPr lang="en-US" altLang="zh-CN" sz="2000" dirty="0">
                          <a:effectLst/>
                        </a:rPr>
                        <a:t>1B</a:t>
                      </a:r>
                      <a:r>
                        <a:rPr lang="zh-CN" altLang="en-US" sz="2000" dirty="0">
                          <a:effectLst/>
                        </a:rPr>
                        <a:t>（高安全等级）细分</a:t>
                      </a:r>
                    </a:p>
                    <a:p>
                      <a:r>
                        <a:rPr lang="zh-CN" altLang="en-US" sz="2000" dirty="0">
                          <a:effectLst/>
                        </a:rPr>
                        <a:t>对热失控报警、绝缘监测等关键安全特性升级为</a:t>
                      </a:r>
                      <a:r>
                        <a:rPr lang="en-US" altLang="zh-CN" sz="2000" dirty="0">
                          <a:effectLst/>
                        </a:rPr>
                        <a:t>1A</a:t>
                      </a:r>
                      <a:r>
                        <a:rPr lang="zh-CN" altLang="en-US" sz="2000" dirty="0">
                          <a:effectLst/>
                        </a:rPr>
                        <a:t>级</a:t>
                      </a:r>
                    </a:p>
                    <a:p>
                      <a:r>
                        <a:rPr lang="zh-CN" altLang="en-US" sz="2000" dirty="0">
                          <a:effectLst/>
                        </a:rPr>
                        <a:t>建立安全特性优先级矩阵</a:t>
                      </a:r>
                    </a:p>
                    <a:p>
                      <a:r>
                        <a:rPr lang="zh-CN" altLang="en-US" sz="2000" b="1" dirty="0">
                          <a:effectLst/>
                        </a:rPr>
                        <a:t>问题</a:t>
                      </a:r>
                      <a:r>
                        <a:rPr lang="en-US" altLang="zh-CN" sz="2000" b="1" dirty="0">
                          <a:effectLst/>
                        </a:rPr>
                        <a:t>2</a:t>
                      </a:r>
                      <a:r>
                        <a:rPr lang="zh-CN" altLang="en-US" sz="2000" b="1" dirty="0">
                          <a:effectLst/>
                        </a:rPr>
                        <a:t>：特性描述标准化程度不足具体问题：</a:t>
                      </a:r>
                      <a:r>
                        <a:rPr lang="zh-CN" altLang="en-US" sz="2000" dirty="0">
                          <a:effectLst/>
                        </a:rPr>
                        <a:t> 部分特性描述格式不统一，如</a:t>
                      </a:r>
                      <a:r>
                        <a:rPr lang="en-US" altLang="zh-CN" sz="2000" dirty="0">
                          <a:effectLst/>
                        </a:rPr>
                        <a:t>"</a:t>
                      </a:r>
                      <a:r>
                        <a:rPr lang="zh-CN" altLang="en-US" sz="2000" dirty="0">
                          <a:effectLst/>
                        </a:rPr>
                        <a:t>功率</a:t>
                      </a:r>
                      <a:r>
                        <a:rPr lang="en-US" altLang="zh-CN" sz="2000" dirty="0">
                          <a:effectLst/>
                        </a:rPr>
                        <a:t>"</a:t>
                      </a:r>
                      <a:r>
                        <a:rPr lang="zh-CN" altLang="en-US" sz="2000" dirty="0">
                          <a:effectLst/>
                        </a:rPr>
                        <a:t>特性描述过长且格式不规范</a:t>
                      </a:r>
                    </a:p>
                    <a:p>
                      <a:r>
                        <a:rPr lang="zh-CN" altLang="en-US" sz="2000" b="1" dirty="0">
                          <a:effectLst/>
                        </a:rPr>
                        <a:t>影响：</a:t>
                      </a:r>
                      <a:r>
                        <a:rPr lang="zh-CN" altLang="en-US" sz="2000" dirty="0">
                          <a:effectLst/>
                        </a:rPr>
                        <a:t> 影响跨部门理解和执行</a:t>
                      </a:r>
                    </a:p>
                    <a:p>
                      <a:r>
                        <a:rPr lang="zh-CN" altLang="en-US" sz="2000" b="1" dirty="0">
                          <a:effectLst/>
                        </a:rPr>
                        <a:t>应对建议：</a:t>
                      </a:r>
                      <a:endParaRPr lang="zh-CN" altLang="en-US" sz="2000" dirty="0">
                        <a:effectLst/>
                      </a:endParaRPr>
                    </a:p>
                    <a:p>
                      <a:r>
                        <a:rPr lang="zh-CN" altLang="en-US" sz="2000" dirty="0">
                          <a:effectLst/>
                        </a:rPr>
                        <a:t>制定特性描述标准模板</a:t>
                      </a:r>
                    </a:p>
                    <a:p>
                      <a:r>
                        <a:rPr lang="zh-CN" altLang="en-US" sz="2000" dirty="0">
                          <a:effectLst/>
                        </a:rPr>
                        <a:t>统一描述格式：功能</a:t>
                      </a:r>
                      <a:r>
                        <a:rPr lang="en-US" altLang="zh-CN" sz="2000" dirty="0">
                          <a:effectLst/>
                        </a:rPr>
                        <a:t>+</a:t>
                      </a:r>
                      <a:r>
                        <a:rPr lang="zh-CN" altLang="en-US" sz="2000" dirty="0">
                          <a:effectLst/>
                        </a:rPr>
                        <a:t>要求</a:t>
                      </a:r>
                      <a:r>
                        <a:rPr lang="en-US" altLang="zh-CN" sz="2000" dirty="0">
                          <a:effectLst/>
                        </a:rPr>
                        <a:t>+</a:t>
                      </a:r>
                      <a:r>
                        <a:rPr lang="zh-CN" altLang="en-US" sz="2000" dirty="0">
                          <a:effectLst/>
                        </a:rPr>
                        <a:t>条件</a:t>
                      </a:r>
                    </a:p>
                    <a:p>
                      <a:r>
                        <a:rPr lang="zh-CN" altLang="en-US" sz="2000" dirty="0">
                          <a:effectLst/>
                        </a:rPr>
                        <a:t>建立术语标准化清单</a:t>
                      </a:r>
                    </a:p>
                    <a:p>
                      <a:r>
                        <a:rPr lang="en-US" altLang="zh-CN" sz="2000" b="1" dirty="0">
                          <a:effectLst/>
                        </a:rPr>
                        <a:t>3. </a:t>
                      </a:r>
                      <a:r>
                        <a:rPr lang="zh-CN" altLang="en-US" sz="2000" b="1" dirty="0">
                          <a:effectLst/>
                        </a:rPr>
                        <a:t>技术要求审查</a:t>
                      </a:r>
                    </a:p>
                    <a:p>
                      <a:r>
                        <a:rPr lang="zh-CN" altLang="en-US" sz="2000" b="1" dirty="0">
                          <a:effectLst/>
                        </a:rPr>
                        <a:t>✅ 通过项目：</a:t>
                      </a:r>
                      <a:r>
                        <a:rPr lang="zh-CN" altLang="en-US" sz="2000" dirty="0">
                          <a:effectLst/>
                        </a:rPr>
                        <a:t>大部分规格限值明确具体</a:t>
                      </a:r>
                    </a:p>
                    <a:p>
                      <a:r>
                        <a:rPr lang="zh-CN" altLang="en-US" sz="2000" dirty="0">
                          <a:effectLst/>
                        </a:rPr>
                        <a:t>测试条件描述详细</a:t>
                      </a:r>
                    </a:p>
                    <a:p>
                      <a:r>
                        <a:rPr lang="zh-CN" altLang="en-US" sz="2000" dirty="0">
                          <a:effectLst/>
                        </a:rPr>
                        <a:t>标准引用基本准确</a:t>
                      </a:r>
                    </a:p>
                    <a:p>
                      <a:r>
                        <a:rPr lang="zh-CN" altLang="en-US" sz="2000" b="1" dirty="0">
                          <a:effectLst/>
                        </a:rPr>
                        <a:t>❌ 不通过项目：问题</a:t>
                      </a:r>
                      <a:r>
                        <a:rPr lang="en-US" altLang="zh-CN" sz="2000" b="1" dirty="0">
                          <a:effectLst/>
                        </a:rPr>
                        <a:t>3</a:t>
                      </a:r>
                      <a:r>
                        <a:rPr lang="zh-CN" altLang="en-US" sz="2000" b="1" dirty="0">
                          <a:effectLst/>
                        </a:rPr>
                        <a:t>：部分技术要求可操作性不足具体问题：</a:t>
                      </a:r>
                      <a:endParaRPr lang="zh-CN" altLang="en-US" sz="2000" dirty="0">
                        <a:effectLst/>
                      </a:endParaRPr>
                    </a:p>
                    <a:p>
                      <a:r>
                        <a:rPr lang="en-US" altLang="zh-CN" sz="2000" dirty="0">
                          <a:effectLst/>
                        </a:rPr>
                        <a:t>"</a:t>
                      </a:r>
                      <a:r>
                        <a:rPr lang="zh-CN" altLang="en-US" sz="2000" dirty="0">
                          <a:effectLst/>
                        </a:rPr>
                        <a:t>尺寸</a:t>
                      </a:r>
                      <a:r>
                        <a:rPr lang="en-US" altLang="zh-CN" sz="2000" dirty="0">
                          <a:effectLst/>
                        </a:rPr>
                        <a:t>"</a:t>
                      </a:r>
                      <a:r>
                        <a:rPr lang="zh-CN" altLang="en-US" sz="2000" dirty="0">
                          <a:effectLst/>
                        </a:rPr>
                        <a:t>特性中主定位孔和辅助定位孔位置度要求空白</a:t>
                      </a:r>
                    </a:p>
                    <a:p>
                      <a:r>
                        <a:rPr lang="en-US" altLang="zh-CN" sz="2000" dirty="0">
                          <a:effectLst/>
                        </a:rPr>
                        <a:t>"</a:t>
                      </a:r>
                      <a:r>
                        <a:rPr lang="zh-CN" altLang="en-US" sz="2000" dirty="0">
                          <a:effectLst/>
                        </a:rPr>
                        <a:t>碰撞</a:t>
                      </a:r>
                      <a:r>
                        <a:rPr lang="en-US" altLang="zh-CN" sz="2000" dirty="0">
                          <a:effectLst/>
                        </a:rPr>
                        <a:t>"</a:t>
                      </a:r>
                      <a:r>
                        <a:rPr lang="zh-CN" altLang="en-US" sz="2000" dirty="0">
                          <a:effectLst/>
                        </a:rPr>
                        <a:t>特性中部分信号参数描述不完整</a:t>
                      </a:r>
                    </a:p>
                    <a:p>
                      <a:r>
                        <a:rPr lang="zh-CN" altLang="en-US" sz="2000" b="1" dirty="0">
                          <a:effectLst/>
                        </a:rPr>
                        <a:t>影响：</a:t>
                      </a:r>
                      <a:r>
                        <a:rPr lang="zh-CN" altLang="en-US" sz="2000" dirty="0">
                          <a:effectLst/>
                        </a:rPr>
                        <a:t> 可能导致检验标准不明确</a:t>
                      </a:r>
                    </a:p>
                    <a:p>
                      <a:pPr>
                        <a:spcBef>
                          <a:spcPts val="150"/>
                        </a:spcBef>
                        <a:spcAft>
                          <a:spcPts val="150"/>
                        </a:spcAft>
                        <a:buFont typeface="+mj-lt"/>
                        <a:buAutoNum type="arabicPeriod"/>
                      </a:pPr>
                      <a:endParaRPr lang="en-GB" sz="2000" dirty="0"/>
                    </a:p>
                  </a:txBody>
                  <a:tcPr/>
                </a:tc>
                <a:tc>
                  <a:txBody>
                    <a:bodyPr/>
                    <a:lstStyle/>
                    <a:p>
                      <a:r>
                        <a:rPr lang="zh-CN" altLang="en-US" sz="2000" b="1" dirty="0">
                          <a:effectLst/>
                        </a:rPr>
                        <a:t>应对建议：</a:t>
                      </a:r>
                      <a:endParaRPr lang="zh-CN" altLang="en-US" sz="2000" dirty="0">
                        <a:effectLst/>
                      </a:endParaRPr>
                    </a:p>
                    <a:p>
                      <a:r>
                        <a:rPr lang="zh-CN" altLang="en-US" sz="2000" dirty="0">
                          <a:effectLst/>
                        </a:rPr>
                        <a:t>立即补充缺失的位置度要求</a:t>
                      </a:r>
                    </a:p>
                    <a:p>
                      <a:r>
                        <a:rPr lang="zh-CN" altLang="en-US" sz="2000" dirty="0">
                          <a:effectLst/>
                        </a:rPr>
                        <a:t>完善碰撞信号参数的具体数值</a:t>
                      </a:r>
                    </a:p>
                    <a:p>
                      <a:r>
                        <a:rPr lang="zh-CN" altLang="en-US" sz="2000" dirty="0">
                          <a:effectLst/>
                        </a:rPr>
                        <a:t>建立技术参数完整性检查清单</a:t>
                      </a:r>
                    </a:p>
                    <a:p>
                      <a:r>
                        <a:rPr lang="zh-CN" altLang="en-US" sz="2000" b="1" dirty="0">
                          <a:effectLst/>
                        </a:rPr>
                        <a:t>问题</a:t>
                      </a:r>
                      <a:r>
                        <a:rPr lang="en-US" altLang="zh-CN" sz="2000" b="1" dirty="0">
                          <a:effectLst/>
                        </a:rPr>
                        <a:t>4</a:t>
                      </a:r>
                      <a:r>
                        <a:rPr lang="zh-CN" altLang="en-US" sz="2000" b="1" dirty="0">
                          <a:effectLst/>
                        </a:rPr>
                        <a:t>：测试方法描述不够详细具体问题：</a:t>
                      </a:r>
                      <a:r>
                        <a:rPr lang="zh-CN" altLang="en-US" sz="2000" dirty="0">
                          <a:effectLst/>
                        </a:rPr>
                        <a:t> 部分特性缺少具体的测试设备、环境条件、测试程序</a:t>
                      </a:r>
                    </a:p>
                    <a:p>
                      <a:r>
                        <a:rPr lang="zh-CN" altLang="en-US" sz="2000" b="1" dirty="0">
                          <a:effectLst/>
                        </a:rPr>
                        <a:t>影响：</a:t>
                      </a:r>
                      <a:r>
                        <a:rPr lang="zh-CN" altLang="en-US" sz="2000" dirty="0">
                          <a:effectLst/>
                        </a:rPr>
                        <a:t> 可能导致测试结果不一致</a:t>
                      </a:r>
                    </a:p>
                    <a:p>
                      <a:r>
                        <a:rPr lang="zh-CN" altLang="en-US" sz="2000" b="1" dirty="0">
                          <a:effectLst/>
                        </a:rPr>
                        <a:t>应对建议：</a:t>
                      </a:r>
                      <a:endParaRPr lang="zh-CN" altLang="en-US" sz="2000" dirty="0">
                        <a:effectLst/>
                      </a:endParaRPr>
                    </a:p>
                    <a:p>
                      <a:r>
                        <a:rPr lang="zh-CN" altLang="en-US" sz="2000" dirty="0">
                          <a:effectLst/>
                        </a:rPr>
                        <a:t>补充测试设备规格要求</a:t>
                      </a:r>
                    </a:p>
                    <a:p>
                      <a:r>
                        <a:rPr lang="zh-CN" altLang="en-US" sz="2000" dirty="0">
                          <a:effectLst/>
                        </a:rPr>
                        <a:t>明确环境条件控制要求</a:t>
                      </a:r>
                    </a:p>
                    <a:p>
                      <a:r>
                        <a:rPr lang="zh-CN" altLang="en-US" sz="2000" dirty="0">
                          <a:effectLst/>
                        </a:rPr>
                        <a:t>制定标准测试程序文件</a:t>
                      </a:r>
                    </a:p>
                    <a:p>
                      <a:r>
                        <a:rPr lang="en-US" altLang="zh-CN" sz="2000" b="1" dirty="0">
                          <a:effectLst/>
                        </a:rPr>
                        <a:t>4. </a:t>
                      </a:r>
                      <a:r>
                        <a:rPr lang="zh-CN" altLang="en-US" sz="2000" b="1" dirty="0">
                          <a:effectLst/>
                        </a:rPr>
                        <a:t>质量保证体系审查</a:t>
                      </a:r>
                    </a:p>
                    <a:p>
                      <a:r>
                        <a:rPr lang="zh-CN" altLang="en-US" sz="2000" b="1" dirty="0">
                          <a:effectLst/>
                        </a:rPr>
                        <a:t>✅ 通过项目：</a:t>
                      </a:r>
                      <a:r>
                        <a:rPr lang="zh-CN" altLang="en-US" sz="2000" dirty="0">
                          <a:effectLst/>
                        </a:rPr>
                        <a:t>三级保证体系框架完整</a:t>
                      </a:r>
                    </a:p>
                    <a:p>
                      <a:r>
                        <a:rPr lang="zh-CN" altLang="en-US" sz="2000" dirty="0">
                          <a:effectLst/>
                        </a:rPr>
                        <a:t>历史问题追踪机制建立</a:t>
                      </a:r>
                    </a:p>
                    <a:p>
                      <a:r>
                        <a:rPr lang="zh-CN" altLang="en-US" sz="2000" dirty="0">
                          <a:effectLst/>
                        </a:rPr>
                        <a:t>持续改进记录完整</a:t>
                      </a:r>
                    </a:p>
                    <a:p>
                      <a:r>
                        <a:rPr lang="zh-CN" altLang="en-US" sz="2000" b="1" dirty="0">
                          <a:effectLst/>
                        </a:rPr>
                        <a:t>❌ 不通过项目：问题</a:t>
                      </a:r>
                      <a:r>
                        <a:rPr lang="en-US" altLang="zh-CN" sz="2000" b="1" dirty="0">
                          <a:effectLst/>
                        </a:rPr>
                        <a:t>5</a:t>
                      </a:r>
                      <a:r>
                        <a:rPr lang="zh-CN" altLang="en-US" sz="2000" b="1" dirty="0">
                          <a:effectLst/>
                        </a:rPr>
                        <a:t>：质量保证责任分工不够明确具体问题：</a:t>
                      </a:r>
                      <a:r>
                        <a:rPr lang="zh-CN" altLang="en-US" sz="2000" dirty="0">
                          <a:effectLst/>
                        </a:rPr>
                        <a:t> 所有特性的</a:t>
                      </a:r>
                      <a:r>
                        <a:rPr lang="en-US" altLang="zh-CN" sz="2000" dirty="0">
                          <a:effectLst/>
                        </a:rPr>
                        <a:t>"</a:t>
                      </a:r>
                      <a:r>
                        <a:rPr lang="zh-CN" altLang="en-US" sz="2000" dirty="0">
                          <a:effectLst/>
                        </a:rPr>
                        <a:t>基地保证</a:t>
                      </a:r>
                      <a:r>
                        <a:rPr lang="en-US" altLang="zh-CN" sz="2000" dirty="0">
                          <a:effectLst/>
                        </a:rPr>
                        <a:t>"</a:t>
                      </a:r>
                      <a:r>
                        <a:rPr lang="zh-CN" altLang="en-US" sz="2000" dirty="0">
                          <a:effectLst/>
                        </a:rPr>
                        <a:t>列均为空白</a:t>
                      </a:r>
                    </a:p>
                    <a:p>
                      <a:r>
                        <a:rPr lang="zh-CN" altLang="en-US" sz="2000" b="1" dirty="0">
                          <a:effectLst/>
                        </a:rPr>
                        <a:t>影响：</a:t>
                      </a:r>
                      <a:r>
                        <a:rPr lang="zh-CN" altLang="en-US" sz="2000" dirty="0">
                          <a:effectLst/>
                        </a:rPr>
                        <a:t> 可能导致质量责任不明确</a:t>
                      </a:r>
                    </a:p>
                    <a:p>
                      <a:r>
                        <a:rPr lang="zh-CN" altLang="en-US" sz="2000" b="1" dirty="0">
                          <a:effectLst/>
                        </a:rPr>
                        <a:t>应对建议：</a:t>
                      </a:r>
                      <a:endParaRPr lang="zh-CN" altLang="en-US" sz="2000" dirty="0">
                        <a:effectLst/>
                      </a:endParaRPr>
                    </a:p>
                    <a:p>
                      <a:r>
                        <a:rPr lang="zh-CN" altLang="en-US" sz="2000" dirty="0">
                          <a:effectLst/>
                        </a:rPr>
                        <a:t>明确各特性在基地的保证责任</a:t>
                      </a:r>
                    </a:p>
                    <a:p>
                      <a:r>
                        <a:rPr lang="zh-CN" altLang="en-US" sz="2000" dirty="0">
                          <a:effectLst/>
                        </a:rPr>
                        <a:t>建立质量保证责任矩阵</a:t>
                      </a:r>
                    </a:p>
                    <a:p>
                      <a:r>
                        <a:rPr lang="zh-CN" altLang="en-US" sz="2000" dirty="0">
                          <a:effectLst/>
                        </a:rPr>
                        <a:t>制定质量保证活动计划</a:t>
                      </a:r>
                    </a:p>
                    <a:p>
                      <a:r>
                        <a:rPr lang="zh-CN" altLang="en-US" sz="2000" b="1" dirty="0">
                          <a:effectLst/>
                        </a:rPr>
                        <a:t>问题</a:t>
                      </a:r>
                      <a:r>
                        <a:rPr lang="en-US" altLang="zh-CN" sz="2000" b="1" dirty="0">
                          <a:effectLst/>
                        </a:rPr>
                        <a:t>6</a:t>
                      </a:r>
                      <a:r>
                        <a:rPr lang="zh-CN" altLang="en-US" sz="2000" b="1" dirty="0">
                          <a:effectLst/>
                        </a:rPr>
                        <a:t>：检测方法覆盖度不足具体问题：</a:t>
                      </a:r>
                      <a:r>
                        <a:rPr lang="zh-CN" altLang="en-US" sz="2000" dirty="0">
                          <a:effectLst/>
                        </a:rPr>
                        <a:t> 部分关键特性（如</a:t>
                      </a:r>
                      <a:r>
                        <a:rPr lang="en-US" altLang="zh-CN" sz="2000" dirty="0">
                          <a:effectLst/>
                        </a:rPr>
                        <a:t>EMC</a:t>
                      </a:r>
                      <a:r>
                        <a:rPr lang="zh-CN" altLang="en-US" sz="2000" dirty="0">
                          <a:effectLst/>
                        </a:rPr>
                        <a:t>、热失控）的整车检测列为</a:t>
                      </a:r>
                      <a:r>
                        <a:rPr lang="en-US" altLang="zh-CN" sz="2000" dirty="0">
                          <a:effectLst/>
                        </a:rPr>
                        <a:t>"</a:t>
                      </a:r>
                      <a:r>
                        <a:rPr lang="zh-CN" altLang="en-US" sz="2000" dirty="0">
                          <a:effectLst/>
                        </a:rPr>
                        <a:t>否</a:t>
                      </a:r>
                      <a:r>
                        <a:rPr lang="en-US" altLang="zh-CN" sz="2000" dirty="0">
                          <a:effectLst/>
                        </a:rPr>
                        <a:t>"</a:t>
                      </a:r>
                    </a:p>
                    <a:p>
                      <a:r>
                        <a:rPr lang="zh-CN" altLang="en-US" sz="2000" b="1" dirty="0">
                          <a:effectLst/>
                        </a:rPr>
                        <a:t>影响：</a:t>
                      </a:r>
                      <a:r>
                        <a:rPr lang="zh-CN" altLang="en-US" sz="2000" dirty="0">
                          <a:effectLst/>
                        </a:rPr>
                        <a:t> 可能影响整车级质量验证</a:t>
                      </a:r>
                    </a:p>
                    <a:p>
                      <a:r>
                        <a:rPr lang="zh-CN" altLang="en-US" sz="2000" b="1" dirty="0">
                          <a:effectLst/>
                        </a:rPr>
                        <a:t>应对建议：</a:t>
                      </a:r>
                      <a:endParaRPr lang="zh-CN" altLang="en-US" sz="2000" dirty="0">
                        <a:effectLst/>
                      </a:endParaRPr>
                    </a:p>
                    <a:p>
                      <a:r>
                        <a:rPr lang="zh-CN" altLang="en-US" sz="2000" dirty="0">
                          <a:effectLst/>
                        </a:rPr>
                        <a:t>评估整车级检测的必要性</a:t>
                      </a:r>
                    </a:p>
                    <a:p>
                      <a:r>
                        <a:rPr lang="zh-CN" altLang="en-US" sz="2000" dirty="0">
                          <a:effectLst/>
                        </a:rPr>
                        <a:t>建立整车级检测方法</a:t>
                      </a:r>
                    </a:p>
                    <a:p>
                      <a:r>
                        <a:rPr lang="zh-CN" altLang="en-US" sz="2000" dirty="0">
                          <a:effectLst/>
                        </a:rPr>
                        <a:t>制定检测能力建设计划</a:t>
                      </a:r>
                    </a:p>
                    <a:p>
                      <a:r>
                        <a:rPr lang="en-US" altLang="zh-CN" sz="2000" b="1" dirty="0">
                          <a:effectLst/>
                        </a:rPr>
                        <a:t>5. </a:t>
                      </a:r>
                      <a:r>
                        <a:rPr lang="zh-CN" altLang="en-US" sz="2000" b="1" dirty="0">
                          <a:effectLst/>
                        </a:rPr>
                        <a:t>法规合规性审查</a:t>
                      </a:r>
                    </a:p>
                    <a:p>
                      <a:r>
                        <a:rPr lang="zh-CN" altLang="en-US" sz="2000" b="1" dirty="0">
                          <a:effectLst/>
                        </a:rPr>
                        <a:t>✅ 通过项目：</a:t>
                      </a:r>
                      <a:r>
                        <a:rPr lang="zh-CN" altLang="en-US" sz="2000" dirty="0">
                          <a:effectLst/>
                        </a:rPr>
                        <a:t>国标引用准确（</a:t>
                      </a:r>
                      <a:r>
                        <a:rPr lang="en-US" altLang="zh-CN" sz="2000" dirty="0">
                          <a:effectLst/>
                        </a:rPr>
                        <a:t>GB 38031-2020</a:t>
                      </a:r>
                      <a:r>
                        <a:rPr lang="zh-CN" altLang="en-US" sz="2000" dirty="0">
                          <a:effectLst/>
                        </a:rPr>
                        <a:t>）</a:t>
                      </a:r>
                    </a:p>
                    <a:p>
                      <a:r>
                        <a:rPr lang="zh-CN" altLang="en-US" sz="2000" dirty="0">
                          <a:effectLst/>
                        </a:rPr>
                        <a:t>企业标准更新及时</a:t>
                      </a:r>
                    </a:p>
                    <a:p>
                      <a:r>
                        <a:rPr lang="zh-CN" altLang="en-US" sz="2000" dirty="0">
                          <a:effectLst/>
                        </a:rPr>
                        <a:t>禁用限用物质要求全面</a:t>
                      </a:r>
                    </a:p>
                    <a:p>
                      <a:r>
                        <a:rPr lang="zh-CN" altLang="en-US" sz="2000" b="1" dirty="0">
                          <a:effectLst/>
                        </a:rPr>
                        <a:t>⚠️ 需关注项目：</a:t>
                      </a:r>
                      <a:r>
                        <a:rPr lang="zh-CN" altLang="en-US" sz="2000" dirty="0">
                          <a:effectLst/>
                        </a:rPr>
                        <a:t>建议关注国际标准更新动态</a:t>
                      </a:r>
                    </a:p>
                    <a:p>
                      <a:r>
                        <a:rPr lang="zh-CN" altLang="en-US" sz="2000" dirty="0">
                          <a:effectLst/>
                        </a:rPr>
                        <a:t>建立法规标准变更监控机制</a:t>
                      </a:r>
                    </a:p>
                    <a:p>
                      <a:pPr>
                        <a:spcBef>
                          <a:spcPts val="150"/>
                        </a:spcBef>
                        <a:spcAft>
                          <a:spcPts val="150"/>
                        </a:spcAft>
                        <a:buFont typeface="+mj-lt"/>
                        <a:buAutoNum type="arabicPeriod"/>
                      </a:pPr>
                      <a:endParaRPr lang="en-GB" sz="2000" dirty="0"/>
                    </a:p>
                  </a:txBody>
                  <a:tcPr/>
                </a:tc>
                <a:tc>
                  <a:txBody>
                    <a:bodyPr/>
                    <a:lstStyle/>
                    <a:p>
                      <a:r>
                        <a:rPr lang="zh-CN" altLang="en-US" sz="2000" b="1" dirty="0">
                          <a:effectLst/>
                        </a:rPr>
                        <a:t>评审等级：有条件通过主要优势：</a:t>
                      </a:r>
                      <a:r>
                        <a:rPr lang="zh-CN" altLang="en-US" sz="2000" dirty="0">
                          <a:effectLst/>
                        </a:rPr>
                        <a:t>特殊特性覆盖全面，基本满足</a:t>
                      </a:r>
                      <a:r>
                        <a:rPr lang="en-US" altLang="zh-CN" sz="2000" dirty="0">
                          <a:effectLst/>
                        </a:rPr>
                        <a:t>B</a:t>
                      </a:r>
                      <a:r>
                        <a:rPr lang="zh-CN" altLang="en-US" sz="2000" dirty="0">
                          <a:effectLst/>
                        </a:rPr>
                        <a:t>样阶段要求</a:t>
                      </a:r>
                    </a:p>
                    <a:p>
                      <a:r>
                        <a:rPr lang="zh-CN" altLang="en-US" sz="2000" dirty="0">
                          <a:effectLst/>
                        </a:rPr>
                        <a:t>安全特性识别准确，符合法规要求</a:t>
                      </a:r>
                    </a:p>
                    <a:p>
                      <a:r>
                        <a:rPr lang="zh-CN" altLang="en-US" sz="2000" dirty="0">
                          <a:effectLst/>
                        </a:rPr>
                        <a:t>持续改进机制运行良好</a:t>
                      </a:r>
                    </a:p>
                    <a:p>
                      <a:r>
                        <a:rPr lang="zh-CN" altLang="en-US" sz="2000" dirty="0">
                          <a:effectLst/>
                        </a:rPr>
                        <a:t>文档管理规范，版本控制完善</a:t>
                      </a:r>
                    </a:p>
                    <a:p>
                      <a:r>
                        <a:rPr lang="zh-CN" altLang="en-US" sz="2000" b="1" dirty="0">
                          <a:effectLst/>
                        </a:rPr>
                        <a:t>关键风险点：</a:t>
                      </a:r>
                      <a:r>
                        <a:rPr lang="zh-CN" altLang="en-US" sz="2000" dirty="0">
                          <a:effectLst/>
                        </a:rPr>
                        <a:t>部分技术要求不完整，影响可操作性</a:t>
                      </a:r>
                    </a:p>
                    <a:p>
                      <a:r>
                        <a:rPr lang="zh-CN" altLang="en-US" sz="2000" dirty="0">
                          <a:effectLst/>
                        </a:rPr>
                        <a:t>质量保证责任分工需要明确</a:t>
                      </a:r>
                    </a:p>
                    <a:p>
                      <a:r>
                        <a:rPr lang="zh-CN" altLang="en-US" sz="2000" dirty="0">
                          <a:effectLst/>
                        </a:rPr>
                        <a:t>特性重要度等级需要进一步细化</a:t>
                      </a:r>
                    </a:p>
                    <a:p>
                      <a:r>
                        <a:rPr lang="zh-CN" altLang="en-US" sz="2000" b="1" dirty="0">
                          <a:effectLst/>
                        </a:rPr>
                        <a:t>四、改进建议和行动计划</a:t>
                      </a:r>
                    </a:p>
                    <a:p>
                      <a:r>
                        <a:rPr lang="zh-CN" altLang="en-US" sz="2000" b="1" dirty="0">
                          <a:effectLst/>
                        </a:rPr>
                        <a:t>立即行动项（</a:t>
                      </a:r>
                      <a:r>
                        <a:rPr lang="en-US" altLang="zh-CN" sz="2000" b="1" dirty="0">
                          <a:effectLst/>
                        </a:rPr>
                        <a:t>1</a:t>
                      </a:r>
                      <a:r>
                        <a:rPr lang="zh-CN" altLang="en-US" sz="2000" b="1" dirty="0">
                          <a:effectLst/>
                        </a:rPr>
                        <a:t>周内）：</a:t>
                      </a:r>
                      <a:r>
                        <a:rPr lang="zh-CN" altLang="en-US" sz="2000" dirty="0">
                          <a:effectLst/>
                        </a:rPr>
                        <a:t>补充尺寸特性的位置度要求</a:t>
                      </a:r>
                    </a:p>
                    <a:p>
                      <a:r>
                        <a:rPr lang="zh-CN" altLang="en-US" sz="2000" dirty="0">
                          <a:effectLst/>
                        </a:rPr>
                        <a:t>完善碰撞信号参数描述</a:t>
                      </a:r>
                    </a:p>
                    <a:p>
                      <a:r>
                        <a:rPr lang="zh-CN" altLang="en-US" sz="2000" dirty="0">
                          <a:effectLst/>
                        </a:rPr>
                        <a:t>明确质量保证责任分工</a:t>
                      </a:r>
                    </a:p>
                    <a:p>
                      <a:r>
                        <a:rPr lang="zh-CN" altLang="en-US" sz="2000" b="1" dirty="0">
                          <a:effectLst/>
                        </a:rPr>
                        <a:t>短期改进项（</a:t>
                      </a:r>
                      <a:r>
                        <a:rPr lang="en-US" altLang="zh-CN" sz="2000" b="1" dirty="0">
                          <a:effectLst/>
                        </a:rPr>
                        <a:t>1</a:t>
                      </a:r>
                      <a:r>
                        <a:rPr lang="zh-CN" altLang="en-US" sz="2000" b="1" dirty="0">
                          <a:effectLst/>
                        </a:rPr>
                        <a:t>个月内）：</a:t>
                      </a:r>
                      <a:r>
                        <a:rPr lang="zh-CN" altLang="en-US" sz="2000" dirty="0">
                          <a:effectLst/>
                        </a:rPr>
                        <a:t>建立特性重要度细分等级体系</a:t>
                      </a:r>
                    </a:p>
                    <a:p>
                      <a:r>
                        <a:rPr lang="zh-CN" altLang="en-US" sz="2000" dirty="0">
                          <a:effectLst/>
                        </a:rPr>
                        <a:t>制定特性描述标准模板</a:t>
                      </a:r>
                    </a:p>
                    <a:p>
                      <a:r>
                        <a:rPr lang="zh-CN" altLang="en-US" sz="2000" dirty="0">
                          <a:effectLst/>
                        </a:rPr>
                        <a:t>完善测试方法详细要求</a:t>
                      </a:r>
                    </a:p>
                    <a:p>
                      <a:r>
                        <a:rPr lang="zh-CN" altLang="en-US" sz="2000" b="1" dirty="0">
                          <a:effectLst/>
                        </a:rPr>
                        <a:t>长期改进项（</a:t>
                      </a:r>
                      <a:r>
                        <a:rPr lang="en-US" altLang="zh-CN" sz="2000" b="1" dirty="0">
                          <a:effectLst/>
                        </a:rPr>
                        <a:t>3</a:t>
                      </a:r>
                      <a:r>
                        <a:rPr lang="zh-CN" altLang="en-US" sz="2000" b="1" dirty="0">
                          <a:effectLst/>
                        </a:rPr>
                        <a:t>个月内）：</a:t>
                      </a:r>
                      <a:r>
                        <a:rPr lang="zh-CN" altLang="en-US" sz="2000" dirty="0">
                          <a:effectLst/>
                        </a:rPr>
                        <a:t>建立整车级检测能力</a:t>
                      </a:r>
                    </a:p>
                    <a:p>
                      <a:r>
                        <a:rPr lang="zh-CN" altLang="en-US" sz="2000" dirty="0">
                          <a:effectLst/>
                        </a:rPr>
                        <a:t>完善质量保证责任矩阵</a:t>
                      </a:r>
                    </a:p>
                    <a:p>
                      <a:r>
                        <a:rPr lang="zh-CN" altLang="en-US" sz="2000" dirty="0">
                          <a:effectLst/>
                        </a:rPr>
                        <a:t>建立法规标准监控机制</a:t>
                      </a:r>
                    </a:p>
                    <a:p>
                      <a:pPr>
                        <a:spcBef>
                          <a:spcPts val="150"/>
                        </a:spcBef>
                        <a:spcAft>
                          <a:spcPts val="150"/>
                        </a:spcAft>
                        <a:buFont typeface="+mj-lt"/>
                        <a:buNone/>
                      </a:pPr>
                      <a:endParaRPr lang="en-GB" sz="2000" dirty="0"/>
                    </a:p>
                    <a:p>
                      <a:r>
                        <a:rPr lang="zh-CN" altLang="en-US" sz="2000" dirty="0">
                          <a:effectLst/>
                        </a:rPr>
                        <a:t>基于当前</a:t>
                      </a:r>
                      <a:r>
                        <a:rPr lang="en-US" altLang="zh-CN" sz="2000" dirty="0">
                          <a:effectLst/>
                        </a:rPr>
                        <a:t>B</a:t>
                      </a:r>
                      <a:r>
                        <a:rPr lang="zh-CN" altLang="en-US" sz="2000" dirty="0">
                          <a:effectLst/>
                        </a:rPr>
                        <a:t>样阶段特殊特性清单的评审结果，建议：</a:t>
                      </a:r>
                      <a:r>
                        <a:rPr lang="zh-CN" altLang="en-US" sz="2000" b="1" dirty="0">
                          <a:effectLst/>
                        </a:rPr>
                        <a:t>✅ 有条件通过</a:t>
                      </a:r>
                      <a:r>
                        <a:rPr lang="en-US" altLang="zh-CN" sz="2000" b="1" dirty="0">
                          <a:effectLst/>
                        </a:rPr>
                        <a:t>Gate 3</a:t>
                      </a:r>
                      <a:r>
                        <a:rPr lang="zh-CN" altLang="en-US" sz="2000" b="1" dirty="0">
                          <a:effectLst/>
                        </a:rPr>
                        <a:t>评审</a:t>
                      </a:r>
                      <a:r>
                        <a:rPr lang="zh-CN" altLang="en-US" sz="2000" dirty="0">
                          <a:effectLst/>
                        </a:rPr>
                        <a:t>前提条件：完成上述立即行动项</a:t>
                      </a:r>
                    </a:p>
                    <a:p>
                      <a:r>
                        <a:rPr lang="zh-CN" altLang="en-US" sz="2000" dirty="0">
                          <a:effectLst/>
                        </a:rPr>
                        <a:t>风险缓解：制定详细的风险缓解计划</a:t>
                      </a:r>
                    </a:p>
                    <a:p>
                      <a:r>
                        <a:rPr lang="zh-CN" altLang="en-US" sz="2000" dirty="0">
                          <a:effectLst/>
                        </a:rPr>
                        <a:t>后续跟踪：建立定期评审机制</a:t>
                      </a:r>
                    </a:p>
                    <a:p>
                      <a:r>
                        <a:rPr lang="zh-CN" altLang="en-US" sz="2000" b="1" dirty="0">
                          <a:effectLst/>
                        </a:rPr>
                        <a:t>下一阶段重点关注：</a:t>
                      </a:r>
                      <a:r>
                        <a:rPr lang="zh-CN" altLang="en-US" sz="2000" dirty="0">
                          <a:effectLst/>
                        </a:rPr>
                        <a:t>特殊特性在</a:t>
                      </a:r>
                      <a:r>
                        <a:rPr lang="en-US" altLang="zh-CN" sz="2000" dirty="0">
                          <a:effectLst/>
                        </a:rPr>
                        <a:t>C</a:t>
                      </a:r>
                      <a:r>
                        <a:rPr lang="zh-CN" altLang="en-US" sz="2000" dirty="0">
                          <a:effectLst/>
                        </a:rPr>
                        <a:t>样阶段的验证结果</a:t>
                      </a:r>
                    </a:p>
                    <a:p>
                      <a:r>
                        <a:rPr lang="zh-CN" altLang="en-US" sz="2000" dirty="0">
                          <a:effectLst/>
                        </a:rPr>
                        <a:t>质量保证体系的运行效果</a:t>
                      </a:r>
                    </a:p>
                    <a:p>
                      <a:r>
                        <a:rPr lang="zh-CN" altLang="en-US" sz="2000" dirty="0">
                          <a:effectLst/>
                        </a:rPr>
                        <a:t>法规合规性的持续监控</a:t>
                      </a:r>
                    </a:p>
                    <a:p>
                      <a:r>
                        <a:rPr lang="zh-CN" altLang="en-US" sz="2000" dirty="0">
                          <a:effectLst/>
                        </a:rPr>
                        <a:t>此评审报告将作为</a:t>
                      </a:r>
                      <a:r>
                        <a:rPr lang="en-US" altLang="zh-CN" sz="2000" dirty="0">
                          <a:effectLst/>
                        </a:rPr>
                        <a:t>Gate 3</a:t>
                      </a:r>
                      <a:r>
                        <a:rPr lang="zh-CN" altLang="en-US" sz="2000" dirty="0">
                          <a:effectLst/>
                        </a:rPr>
                        <a:t>决策的重要输入，建议项目团队按照改进建议制定详细的行动计划并严格执行。</a:t>
                      </a:r>
                      <a:endParaRPr lang="en-GB" sz="2000" dirty="0"/>
                    </a:p>
                  </a:txBody>
                  <a:tcPr/>
                </a:tc>
                <a:extLst>
                  <a:ext uri="{0D108BD9-81ED-4DB2-BD59-A6C34878D82A}">
                    <a16:rowId xmlns:a16="http://schemas.microsoft.com/office/drawing/2014/main" val="604853937"/>
                  </a:ext>
                </a:extLst>
              </a:tr>
            </a:tbl>
          </a:graphicData>
        </a:graphic>
      </p:graphicFrame>
    </p:spTree>
    <p:extLst>
      <p:ext uri="{BB962C8B-B14F-4D97-AF65-F5344CB8AC3E}">
        <p14:creationId xmlns:p14="http://schemas.microsoft.com/office/powerpoint/2010/main" val="3333899047"/>
      </p:ext>
    </p:extLst>
  </p:cSld>
  <p:clrMapOvr>
    <a:masterClrMapping/>
  </p:clrMapOvr>
  <p:transition spd="med"/>
  <p:extLst>
    <p:ext uri="{6950BFC3-D8DA-4A85-94F7-54DA5524770B}">
      <p188:commentRel xmlns:p188="http://schemas.microsoft.com/office/powerpoint/2018/8/main" r:id="rId2"/>
    </p:ext>
  </p:extLs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586AF5-60C2-84E5-0CB4-547590204F10}"/>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E29B0D3B-D6D6-FE89-731F-F393DD52050A}"/>
              </a:ext>
            </a:extLst>
          </p:cNvPr>
          <p:cNvSpPr txBox="1"/>
          <p:nvPr/>
        </p:nvSpPr>
        <p:spPr>
          <a:xfrm>
            <a:off x="1737559" y="755986"/>
            <a:ext cx="20355186" cy="646331"/>
          </a:xfrm>
          <a:prstGeom prst="rect">
            <a:avLst/>
          </a:prstGeom>
          <a:noFill/>
        </p:spPr>
        <p:txBody>
          <a:bodyPr wrap="square" numCol="1">
            <a:spAutoFit/>
          </a:bodyPr>
          <a:lstStyle/>
          <a:p>
            <a:pPr>
              <a:spcBef>
                <a:spcPts val="1500"/>
              </a:spcBef>
              <a:spcAft>
                <a:spcPts val="750"/>
              </a:spcAft>
              <a:buNone/>
            </a:pPr>
            <a:r>
              <a:rPr lang="en-US" altLang="zh-CN" sz="3600" b="1" dirty="0">
                <a:effectLst/>
              </a:rPr>
              <a:t>B</a:t>
            </a:r>
            <a:r>
              <a:rPr lang="zh-CN" altLang="en-US" sz="3600" b="1" dirty="0">
                <a:effectLst/>
              </a:rPr>
              <a:t>样阶段</a:t>
            </a:r>
            <a:r>
              <a:rPr lang="en-US" altLang="zh-CN" sz="3600" b="1" dirty="0"/>
              <a:t>《</a:t>
            </a:r>
            <a:r>
              <a:rPr lang="zh-CN" altLang="en-US" sz="3600" b="1" dirty="0"/>
              <a:t>副本</a:t>
            </a:r>
            <a:r>
              <a:rPr lang="en-US" altLang="zh-CN" sz="3600" b="1" dirty="0"/>
              <a:t>SPA-Evo-L946-334-</a:t>
            </a:r>
            <a:r>
              <a:rPr lang="zh-CN" altLang="en-US" sz="3600" b="1" dirty="0"/>
              <a:t>动力电池总成</a:t>
            </a:r>
            <a:r>
              <a:rPr lang="en-US" altLang="zh-CN" sz="3600" b="1" dirty="0"/>
              <a:t>-</a:t>
            </a:r>
            <a:r>
              <a:rPr lang="zh-CN" altLang="en-US" sz="3600" b="1" dirty="0"/>
              <a:t>检查基准书</a:t>
            </a:r>
            <a:r>
              <a:rPr lang="en-US" altLang="zh-CN" sz="3600" b="1" dirty="0"/>
              <a:t>(B)-2024050701.xlsx》</a:t>
            </a:r>
            <a:r>
              <a:rPr lang="zh-CN" altLang="en-US" sz="3600" b="1" dirty="0">
                <a:effectLst/>
              </a:rPr>
              <a:t>审核报告</a:t>
            </a:r>
          </a:p>
        </p:txBody>
      </p:sp>
      <p:graphicFrame>
        <p:nvGraphicFramePr>
          <p:cNvPr id="2" name="表格 1">
            <a:extLst>
              <a:ext uri="{FF2B5EF4-FFF2-40B4-BE49-F238E27FC236}">
                <a16:creationId xmlns:a16="http://schemas.microsoft.com/office/drawing/2014/main" id="{8B25CC12-9113-4F8F-AF5E-24ABBCDF6DEE}"/>
              </a:ext>
            </a:extLst>
          </p:cNvPr>
          <p:cNvGraphicFramePr>
            <a:graphicFrameLocks noGrp="1"/>
          </p:cNvGraphicFramePr>
          <p:nvPr>
            <p:extLst>
              <p:ext uri="{D42A27DB-BD31-4B8C-83A1-F6EECF244321}">
                <p14:modId xmlns:p14="http://schemas.microsoft.com/office/powerpoint/2010/main" val="1412690421"/>
              </p:ext>
            </p:extLst>
          </p:nvPr>
        </p:nvGraphicFramePr>
        <p:xfrm>
          <a:off x="662354" y="1738812"/>
          <a:ext cx="23059292" cy="11051138"/>
        </p:xfrm>
        <a:graphic>
          <a:graphicData uri="http://schemas.openxmlformats.org/drawingml/2006/table">
            <a:tbl>
              <a:tblPr firstRow="1" bandRow="1"/>
              <a:tblGrid>
                <a:gridCol w="4607171">
                  <a:extLst>
                    <a:ext uri="{9D8B030D-6E8A-4147-A177-3AD203B41FA5}">
                      <a16:colId xmlns:a16="http://schemas.microsoft.com/office/drawing/2014/main" val="520135011"/>
                    </a:ext>
                  </a:extLst>
                </a:gridCol>
                <a:gridCol w="6148443">
                  <a:extLst>
                    <a:ext uri="{9D8B030D-6E8A-4147-A177-3AD203B41FA5}">
                      <a16:colId xmlns:a16="http://schemas.microsoft.com/office/drawing/2014/main" val="585926975"/>
                    </a:ext>
                  </a:extLst>
                </a:gridCol>
                <a:gridCol w="6160169">
                  <a:extLst>
                    <a:ext uri="{9D8B030D-6E8A-4147-A177-3AD203B41FA5}">
                      <a16:colId xmlns:a16="http://schemas.microsoft.com/office/drawing/2014/main" val="3081416713"/>
                    </a:ext>
                  </a:extLst>
                </a:gridCol>
                <a:gridCol w="6143509">
                  <a:extLst>
                    <a:ext uri="{9D8B030D-6E8A-4147-A177-3AD203B41FA5}">
                      <a16:colId xmlns:a16="http://schemas.microsoft.com/office/drawing/2014/main" val="572010187"/>
                    </a:ext>
                  </a:extLst>
                </a:gridCol>
              </a:tblGrid>
              <a:tr h="901298">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审查清单制定</a:t>
                      </a:r>
                    </a:p>
                  </a:txBody>
                  <a:tcPr anchor="ctr"/>
                </a:tc>
                <a:tc gridSpan="2">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逐项审核结果</a:t>
                      </a:r>
                    </a:p>
                  </a:txBody>
                  <a:tcPr anchor="ctr"/>
                </a:tc>
                <a:tc hMerge="1">
                  <a:txBody>
                    <a:bodyPr/>
                    <a:lstStyle/>
                    <a:p>
                      <a:pPr algn="ctr"/>
                      <a:endParaRPr lang="en-GB" sz="2000" dirty="0"/>
                    </a:p>
                  </a:txBody>
                  <a:tcPr/>
                </a:tc>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总体评估</a:t>
                      </a:r>
                    </a:p>
                  </a:txBody>
                  <a:tcPr anchor="ctr"/>
                </a:tc>
                <a:extLst>
                  <a:ext uri="{0D108BD9-81ED-4DB2-BD59-A6C34878D82A}">
                    <a16:rowId xmlns:a16="http://schemas.microsoft.com/office/drawing/2014/main" val="2562292327"/>
                  </a:ext>
                </a:extLst>
              </a:tr>
              <a:tr h="10086326">
                <a:tc>
                  <a:txBody>
                    <a:bodyPr/>
                    <a:lstStyle/>
                    <a:p>
                      <a:r>
                        <a:rPr lang="en-US" altLang="zh-CN" sz="2000" b="1" dirty="0">
                          <a:effectLst/>
                        </a:rPr>
                        <a:t>1. </a:t>
                      </a:r>
                      <a:r>
                        <a:rPr lang="zh-CN" altLang="en-US" sz="2000" b="1" dirty="0">
                          <a:effectLst/>
                        </a:rPr>
                        <a:t>文档基本信息审查</a:t>
                      </a:r>
                    </a:p>
                    <a:p>
                      <a:pPr marL="342900" indent="-342900">
                        <a:buFont typeface="Arial" panose="020B0604020202020204" pitchFamily="34" charset="0"/>
                        <a:buChar char="•"/>
                      </a:pPr>
                      <a:r>
                        <a:rPr lang="zh-CN" altLang="en-US" sz="2000" dirty="0">
                          <a:effectLst/>
                        </a:rPr>
                        <a:t>文档编号和版本控制</a:t>
                      </a:r>
                    </a:p>
                    <a:p>
                      <a:pPr marL="342900" indent="-342900">
                        <a:buFont typeface="Arial" panose="020B0604020202020204" pitchFamily="34" charset="0"/>
                        <a:buChar char="•"/>
                      </a:pPr>
                      <a:r>
                        <a:rPr lang="zh-CN" altLang="en-US" sz="2000" dirty="0">
                          <a:effectLst/>
                        </a:rPr>
                        <a:t>编制日期和生效日期</a:t>
                      </a:r>
                    </a:p>
                    <a:p>
                      <a:pPr marL="342900" indent="-342900">
                        <a:buFont typeface="Arial" panose="020B0604020202020204" pitchFamily="34" charset="0"/>
                        <a:buChar char="•"/>
                      </a:pPr>
                      <a:r>
                        <a:rPr lang="zh-CN" altLang="en-US" sz="2000" dirty="0">
                          <a:effectLst/>
                        </a:rPr>
                        <a:t>编制人员和审核人员</a:t>
                      </a:r>
                    </a:p>
                    <a:p>
                      <a:pPr marL="342900" indent="-342900">
                        <a:buFont typeface="Arial" panose="020B0604020202020204" pitchFamily="34" charset="0"/>
                        <a:buChar char="•"/>
                      </a:pPr>
                      <a:r>
                        <a:rPr lang="zh-CN" altLang="en-US" sz="2000" dirty="0">
                          <a:effectLst/>
                        </a:rPr>
                        <a:t>文档状态标识</a:t>
                      </a:r>
                    </a:p>
                    <a:p>
                      <a:r>
                        <a:rPr lang="en-US" altLang="zh-CN" sz="2000" b="1" dirty="0">
                          <a:effectLst/>
                        </a:rPr>
                        <a:t>2. </a:t>
                      </a:r>
                      <a:r>
                        <a:rPr lang="zh-CN" altLang="en-US" sz="2000" b="1" dirty="0">
                          <a:effectLst/>
                        </a:rPr>
                        <a:t>技术规范完整性</a:t>
                      </a:r>
                    </a:p>
                    <a:p>
                      <a:pPr marL="342900" indent="-342900">
                        <a:buFont typeface="Arial" panose="020B0604020202020204" pitchFamily="34" charset="0"/>
                        <a:buChar char="•"/>
                      </a:pPr>
                      <a:r>
                        <a:rPr lang="zh-CN" altLang="en-US" sz="2000" dirty="0">
                          <a:effectLst/>
                        </a:rPr>
                        <a:t>产品规格参数</a:t>
                      </a:r>
                    </a:p>
                    <a:p>
                      <a:pPr marL="342900" indent="-342900">
                        <a:buFont typeface="Arial" panose="020B0604020202020204" pitchFamily="34" charset="0"/>
                        <a:buChar char="•"/>
                      </a:pPr>
                      <a:r>
                        <a:rPr lang="zh-CN" altLang="en-US" sz="2000" dirty="0">
                          <a:effectLst/>
                        </a:rPr>
                        <a:t>检查项目覆盖度</a:t>
                      </a:r>
                    </a:p>
                    <a:p>
                      <a:pPr marL="342900" indent="-342900">
                        <a:buFont typeface="Arial" panose="020B0604020202020204" pitchFamily="34" charset="0"/>
                        <a:buChar char="•"/>
                      </a:pPr>
                      <a:r>
                        <a:rPr lang="zh-CN" altLang="en-US" sz="2000" dirty="0">
                          <a:effectLst/>
                        </a:rPr>
                        <a:t>测量方法和工具</a:t>
                      </a:r>
                    </a:p>
                    <a:p>
                      <a:pPr marL="342900" indent="-342900">
                        <a:buFont typeface="Arial" panose="020B0604020202020204" pitchFamily="34" charset="0"/>
                        <a:buChar char="•"/>
                      </a:pPr>
                      <a:r>
                        <a:rPr lang="zh-CN" altLang="en-US" sz="2000" dirty="0">
                          <a:effectLst/>
                        </a:rPr>
                        <a:t>验收标准明确性</a:t>
                      </a:r>
                    </a:p>
                    <a:p>
                      <a:r>
                        <a:rPr lang="en-US" altLang="zh-CN" sz="2000" b="1" dirty="0">
                          <a:effectLst/>
                        </a:rPr>
                        <a:t>3. </a:t>
                      </a:r>
                      <a:r>
                        <a:rPr lang="zh-CN" altLang="en-US" sz="2000" b="1" dirty="0">
                          <a:effectLst/>
                        </a:rPr>
                        <a:t>质量控制要求</a:t>
                      </a:r>
                    </a:p>
                    <a:p>
                      <a:pPr marL="342900" indent="-342900">
                        <a:buFont typeface="Arial" panose="020B0604020202020204" pitchFamily="34" charset="0"/>
                        <a:buChar char="•"/>
                      </a:pPr>
                      <a:r>
                        <a:rPr lang="zh-CN" altLang="en-US" sz="2000" dirty="0">
                          <a:effectLst/>
                        </a:rPr>
                        <a:t>检查频率和抽样方案</a:t>
                      </a:r>
                    </a:p>
                    <a:p>
                      <a:pPr marL="342900" indent="-342900">
                        <a:buFont typeface="Arial" panose="020B0604020202020204" pitchFamily="34" charset="0"/>
                        <a:buChar char="•"/>
                      </a:pPr>
                      <a:r>
                        <a:rPr lang="zh-CN" altLang="en-US" sz="2000" dirty="0">
                          <a:effectLst/>
                        </a:rPr>
                        <a:t>不合格品处理流程</a:t>
                      </a:r>
                    </a:p>
                    <a:p>
                      <a:pPr marL="342900" indent="-342900">
                        <a:buFont typeface="Arial" panose="020B0604020202020204" pitchFamily="34" charset="0"/>
                        <a:buChar char="•"/>
                      </a:pPr>
                      <a:r>
                        <a:rPr lang="zh-CN" altLang="en-US" sz="2000" dirty="0">
                          <a:effectLst/>
                        </a:rPr>
                        <a:t>记录和报告要求</a:t>
                      </a:r>
                    </a:p>
                    <a:p>
                      <a:pPr marL="342900" indent="-342900">
                        <a:buFont typeface="Arial" panose="020B0604020202020204" pitchFamily="34" charset="0"/>
                        <a:buChar char="•"/>
                      </a:pPr>
                      <a:r>
                        <a:rPr lang="zh-CN" altLang="en-US" sz="2000" dirty="0">
                          <a:effectLst/>
                        </a:rPr>
                        <a:t>纠正措施机制</a:t>
                      </a:r>
                    </a:p>
                    <a:p>
                      <a:r>
                        <a:rPr lang="en-US" altLang="zh-CN" sz="2000" b="1" dirty="0">
                          <a:effectLst/>
                        </a:rPr>
                        <a:t>4. </a:t>
                      </a:r>
                      <a:r>
                        <a:rPr lang="zh-CN" altLang="en-US" sz="2000" b="1" dirty="0">
                          <a:effectLst/>
                        </a:rPr>
                        <a:t>变更管理</a:t>
                      </a:r>
                    </a:p>
                    <a:p>
                      <a:pPr marL="342900" indent="-342900">
                        <a:buFont typeface="Arial" panose="020B0604020202020204" pitchFamily="34" charset="0"/>
                        <a:buChar char="•"/>
                      </a:pPr>
                      <a:r>
                        <a:rPr lang="zh-CN" altLang="en-US" sz="2000" dirty="0">
                          <a:effectLst/>
                        </a:rPr>
                        <a:t>变更记录完整性</a:t>
                      </a:r>
                    </a:p>
                    <a:p>
                      <a:pPr marL="342900" indent="-342900">
                        <a:buFont typeface="Arial" panose="020B0604020202020204" pitchFamily="34" charset="0"/>
                        <a:buChar char="•"/>
                      </a:pPr>
                      <a:r>
                        <a:rPr lang="zh-CN" altLang="en-US" sz="2000" dirty="0">
                          <a:effectLst/>
                        </a:rPr>
                        <a:t>变更影响评估</a:t>
                      </a:r>
                    </a:p>
                    <a:p>
                      <a:pPr marL="342900" indent="-342900">
                        <a:buFont typeface="Arial" panose="020B0604020202020204" pitchFamily="34" charset="0"/>
                        <a:buChar char="•"/>
                      </a:pPr>
                      <a:r>
                        <a:rPr lang="zh-CN" altLang="en-US" sz="2000" dirty="0">
                          <a:effectLst/>
                        </a:rPr>
                        <a:t>变更通知机制</a:t>
                      </a:r>
                    </a:p>
                    <a:p>
                      <a:r>
                        <a:rPr lang="en-US" altLang="zh-CN" sz="2000" b="1" dirty="0">
                          <a:effectLst/>
                        </a:rPr>
                        <a:t>5. </a:t>
                      </a:r>
                      <a:r>
                        <a:rPr lang="zh-CN" altLang="en-US" sz="2000" b="1" dirty="0">
                          <a:effectLst/>
                        </a:rPr>
                        <a:t>包装和标识要求</a:t>
                      </a:r>
                    </a:p>
                    <a:p>
                      <a:pPr marL="342900" indent="-342900">
                        <a:buFont typeface="Arial" panose="020B0604020202020204" pitchFamily="34" charset="0"/>
                        <a:buChar char="•"/>
                      </a:pPr>
                      <a:r>
                        <a:rPr lang="zh-CN" altLang="en-US" sz="2000" dirty="0">
                          <a:effectLst/>
                        </a:rPr>
                        <a:t>包装规范完整性</a:t>
                      </a:r>
                    </a:p>
                    <a:p>
                      <a:pPr marL="342900" indent="-342900">
                        <a:buFont typeface="Arial" panose="020B0604020202020204" pitchFamily="34" charset="0"/>
                        <a:buChar char="•"/>
                      </a:pPr>
                      <a:r>
                        <a:rPr lang="zh-CN" altLang="en-US" sz="2000" dirty="0">
                          <a:effectLst/>
                        </a:rPr>
                        <a:t>标识要求明确性</a:t>
                      </a:r>
                    </a:p>
                    <a:p>
                      <a:pPr marL="342900" indent="-342900">
                        <a:buFont typeface="Arial" panose="020B0604020202020204" pitchFamily="34" charset="0"/>
                        <a:buChar char="•"/>
                      </a:pPr>
                      <a:r>
                        <a:rPr lang="zh-CN" altLang="en-US" sz="2000" dirty="0">
                          <a:effectLst/>
                        </a:rPr>
                        <a:t>运输和存储要求</a:t>
                      </a:r>
                    </a:p>
                    <a:p>
                      <a:pPr>
                        <a:spcBef>
                          <a:spcPts val="1200"/>
                        </a:spcBef>
                        <a:spcAft>
                          <a:spcPts val="600"/>
                        </a:spcAft>
                        <a:buNone/>
                      </a:pPr>
                      <a:endParaRPr lang="en-GB" sz="2000" dirty="0"/>
                    </a:p>
                  </a:txBody>
                  <a:tcPr/>
                </a:tc>
                <a:tc>
                  <a:txBody>
                    <a:bodyPr/>
                    <a:lstStyle/>
                    <a:p>
                      <a:r>
                        <a:rPr lang="en-US" altLang="zh-CN" sz="2000" b="1" dirty="0">
                          <a:effectLst/>
                        </a:rPr>
                        <a:t>1. </a:t>
                      </a:r>
                      <a:r>
                        <a:rPr lang="zh-CN" altLang="en-US" sz="2000" b="1" dirty="0">
                          <a:effectLst/>
                        </a:rPr>
                        <a:t>文档基本信息审查 ✅ 通过</a:t>
                      </a:r>
                    </a:p>
                    <a:p>
                      <a:r>
                        <a:rPr lang="zh-CN" altLang="en-US" sz="2000" b="1" dirty="0">
                          <a:effectLst/>
                        </a:rPr>
                        <a:t>评审要点</a:t>
                      </a:r>
                      <a:r>
                        <a:rPr lang="en-US" altLang="zh-CN" sz="2000" dirty="0">
                          <a:effectLst/>
                        </a:rPr>
                        <a:t>:</a:t>
                      </a:r>
                      <a:r>
                        <a:rPr lang="zh-CN" altLang="en-US" sz="2000" dirty="0">
                          <a:effectLst/>
                        </a:rPr>
                        <a:t>文档编号和版本控制完整</a:t>
                      </a:r>
                    </a:p>
                    <a:p>
                      <a:r>
                        <a:rPr lang="zh-CN" altLang="en-US" sz="2000" dirty="0">
                          <a:effectLst/>
                        </a:rPr>
                        <a:t>编制日期明确（</a:t>
                      </a:r>
                      <a:r>
                        <a:rPr lang="en-US" altLang="zh-CN" sz="2000" dirty="0">
                          <a:effectLst/>
                        </a:rPr>
                        <a:t>2024.02.19</a:t>
                      </a:r>
                      <a:r>
                        <a:rPr lang="zh-CN" altLang="en-US" sz="2000" dirty="0">
                          <a:effectLst/>
                        </a:rPr>
                        <a:t>）</a:t>
                      </a:r>
                    </a:p>
                    <a:p>
                      <a:r>
                        <a:rPr lang="zh-CN" altLang="en-US" sz="2000" dirty="0">
                          <a:effectLst/>
                        </a:rPr>
                        <a:t>编制人员记录（杨林锋）</a:t>
                      </a:r>
                    </a:p>
                    <a:p>
                      <a:r>
                        <a:rPr lang="zh-CN" altLang="en-US" sz="2000" dirty="0">
                          <a:effectLst/>
                        </a:rPr>
                        <a:t>变更记录完整（</a:t>
                      </a:r>
                      <a:r>
                        <a:rPr lang="en-US" altLang="zh-CN" sz="2000" dirty="0">
                          <a:effectLst/>
                        </a:rPr>
                        <a:t>2</a:t>
                      </a:r>
                      <a:r>
                        <a:rPr lang="zh-CN" altLang="en-US" sz="2000" dirty="0">
                          <a:effectLst/>
                        </a:rPr>
                        <a:t>次变更）</a:t>
                      </a:r>
                    </a:p>
                    <a:p>
                      <a:r>
                        <a:rPr lang="zh-CN" altLang="en-US" sz="2000" b="1" dirty="0">
                          <a:effectLst/>
                        </a:rPr>
                        <a:t>结论</a:t>
                      </a:r>
                      <a:r>
                        <a:rPr lang="en-US" altLang="zh-CN" sz="2000" dirty="0">
                          <a:effectLst/>
                        </a:rPr>
                        <a:t>: </a:t>
                      </a:r>
                      <a:r>
                        <a:rPr lang="zh-CN" altLang="en-US" sz="2000" dirty="0">
                          <a:effectLst/>
                        </a:rPr>
                        <a:t>符合</a:t>
                      </a:r>
                      <a:r>
                        <a:rPr lang="en-US" altLang="zh-CN" sz="2000" dirty="0">
                          <a:effectLst/>
                        </a:rPr>
                        <a:t>APQP</a:t>
                      </a:r>
                      <a:r>
                        <a:rPr lang="zh-CN" altLang="en-US" sz="2000" dirty="0">
                          <a:effectLst/>
                        </a:rPr>
                        <a:t>文档管理要求</a:t>
                      </a:r>
                      <a:endParaRPr lang="en-GB" altLang="zh-CN" sz="2000" dirty="0">
                        <a:effectLst/>
                      </a:endParaRPr>
                    </a:p>
                    <a:p>
                      <a:r>
                        <a:rPr lang="en-US" altLang="zh-CN" sz="2000" b="1" dirty="0">
                          <a:effectLst/>
                        </a:rPr>
                        <a:t>2. </a:t>
                      </a:r>
                      <a:r>
                        <a:rPr lang="zh-CN" altLang="en-US" sz="2000" b="1" dirty="0">
                          <a:effectLst/>
                        </a:rPr>
                        <a:t>技术规范完整性 ⚠️ 部分通过</a:t>
                      </a:r>
                    </a:p>
                    <a:p>
                      <a:r>
                        <a:rPr lang="zh-CN" altLang="en-US" sz="2000" b="1" dirty="0">
                          <a:effectLst/>
                        </a:rPr>
                        <a:t>评审要点</a:t>
                      </a:r>
                      <a:r>
                        <a:rPr lang="en-US" altLang="zh-CN" sz="2000" dirty="0">
                          <a:effectLst/>
                        </a:rPr>
                        <a:t>:</a:t>
                      </a:r>
                      <a:r>
                        <a:rPr lang="zh-CN" altLang="en-US" sz="2000" b="1" dirty="0">
                          <a:effectLst/>
                        </a:rPr>
                        <a:t>✅ 优势</a:t>
                      </a:r>
                      <a:r>
                        <a:rPr lang="en-US" altLang="zh-CN" sz="2000" b="1" dirty="0">
                          <a:effectLst/>
                        </a:rPr>
                        <a:t>:</a:t>
                      </a:r>
                    </a:p>
                    <a:p>
                      <a:r>
                        <a:rPr lang="zh-CN" altLang="en-US" sz="2000" dirty="0">
                          <a:effectLst/>
                        </a:rPr>
                        <a:t>检查项目覆盖全面（</a:t>
                      </a:r>
                      <a:r>
                        <a:rPr lang="en-US" altLang="zh-CN" sz="2000" dirty="0">
                          <a:effectLst/>
                        </a:rPr>
                        <a:t>38</a:t>
                      </a:r>
                      <a:r>
                        <a:rPr lang="zh-CN" altLang="en-US" sz="2000" dirty="0">
                          <a:effectLst/>
                        </a:rPr>
                        <a:t>个主要检查项）</a:t>
                      </a:r>
                    </a:p>
                    <a:p>
                      <a:r>
                        <a:rPr lang="zh-CN" altLang="en-US" sz="2000" dirty="0">
                          <a:effectLst/>
                        </a:rPr>
                        <a:t>特性等级分类明确（</a:t>
                      </a:r>
                      <a:r>
                        <a:rPr lang="en-US" altLang="zh-CN" sz="2000" dirty="0">
                          <a:effectLst/>
                        </a:rPr>
                        <a:t>[1]</a:t>
                      </a:r>
                      <a:r>
                        <a:rPr lang="zh-CN" altLang="en-US" sz="2000" dirty="0">
                          <a:effectLst/>
                        </a:rPr>
                        <a:t>级和</a:t>
                      </a:r>
                      <a:r>
                        <a:rPr lang="en-US" altLang="zh-CN" sz="2000" dirty="0">
                          <a:effectLst/>
                        </a:rPr>
                        <a:t>[3]</a:t>
                      </a:r>
                      <a:r>
                        <a:rPr lang="zh-CN" altLang="en-US" sz="2000" dirty="0">
                          <a:effectLst/>
                        </a:rPr>
                        <a:t>级）</a:t>
                      </a:r>
                    </a:p>
                    <a:p>
                      <a:r>
                        <a:rPr lang="zh-CN" altLang="en-US" sz="2000" dirty="0">
                          <a:effectLst/>
                        </a:rPr>
                        <a:t>测量方法和工具详细</a:t>
                      </a:r>
                    </a:p>
                    <a:p>
                      <a:r>
                        <a:rPr lang="zh-CN" altLang="en-US" sz="2000" dirty="0">
                          <a:effectLst/>
                        </a:rPr>
                        <a:t>验收标准量化明确</a:t>
                      </a:r>
                    </a:p>
                    <a:p>
                      <a:r>
                        <a:rPr lang="zh-CN" altLang="en-US" sz="2000" b="1" dirty="0">
                          <a:effectLst/>
                        </a:rPr>
                        <a:t>❌ 问题点</a:t>
                      </a:r>
                      <a:r>
                        <a:rPr lang="en-US" altLang="zh-CN" sz="2000" b="1" dirty="0">
                          <a:effectLst/>
                        </a:rPr>
                        <a:t>:</a:t>
                      </a:r>
                    </a:p>
                    <a:p>
                      <a:r>
                        <a:rPr lang="en-US" altLang="zh-CN" sz="2000" b="1" dirty="0">
                          <a:effectLst/>
                        </a:rPr>
                        <a:t>2.1 </a:t>
                      </a:r>
                      <a:r>
                        <a:rPr lang="zh-CN" altLang="en-US" sz="2000" b="1" dirty="0">
                          <a:effectLst/>
                        </a:rPr>
                        <a:t>尺寸公差检查项不完整</a:t>
                      </a:r>
                      <a:endParaRPr lang="en-GB" altLang="zh-CN" sz="2000" b="1" dirty="0">
                        <a:effectLst/>
                      </a:endParaRPr>
                    </a:p>
                    <a:p>
                      <a:r>
                        <a:rPr lang="zh-CN" altLang="en-US" sz="2000" dirty="0">
                          <a:effectLst/>
                        </a:rPr>
                        <a:t>问题：④、⑤、⑥项尺寸公差要求空白</a:t>
                      </a:r>
                    </a:p>
                    <a:p>
                      <a:r>
                        <a:rPr lang="zh-CN" altLang="en-US" sz="2000" dirty="0">
                          <a:effectLst/>
                        </a:rPr>
                        <a:t>影响：可能导致关键尺寸漏检</a:t>
                      </a:r>
                    </a:p>
                    <a:p>
                      <a:r>
                        <a:rPr lang="zh-CN" altLang="en-US" sz="2000" dirty="0">
                          <a:effectLst/>
                        </a:rPr>
                        <a:t>建议：立即补充完整尺寸公差要求</a:t>
                      </a:r>
                    </a:p>
                    <a:p>
                      <a:r>
                        <a:rPr lang="en-US" altLang="zh-CN" sz="2000" b="1" dirty="0">
                          <a:effectLst/>
                        </a:rPr>
                        <a:t>2.2 </a:t>
                      </a:r>
                      <a:r>
                        <a:rPr lang="zh-CN" altLang="en-US" sz="2000" b="1" dirty="0">
                          <a:effectLst/>
                        </a:rPr>
                        <a:t>形位公差检查项缺失</a:t>
                      </a:r>
                      <a:endParaRPr lang="en-GB" altLang="zh-CN" sz="2000" b="1" dirty="0">
                        <a:effectLst/>
                      </a:endParaRPr>
                    </a:p>
                    <a:p>
                      <a:r>
                        <a:rPr lang="zh-CN" altLang="en-US" sz="2000" dirty="0">
                          <a:effectLst/>
                        </a:rPr>
                        <a:t>问题：</a:t>
                      </a:r>
                      <a:r>
                        <a:rPr lang="en-US" altLang="zh-CN" sz="2000" dirty="0">
                          <a:effectLst/>
                        </a:rPr>
                        <a:t>A-H</a:t>
                      </a:r>
                      <a:r>
                        <a:rPr lang="zh-CN" altLang="en-US" sz="2000" dirty="0">
                          <a:effectLst/>
                        </a:rPr>
                        <a:t>项形位公差要求全部空白</a:t>
                      </a:r>
                    </a:p>
                    <a:p>
                      <a:r>
                        <a:rPr lang="zh-CN" altLang="en-US" sz="2000" dirty="0">
                          <a:effectLst/>
                        </a:rPr>
                        <a:t>影响：无法确保装配精度和互换性</a:t>
                      </a:r>
                    </a:p>
                    <a:p>
                      <a:r>
                        <a:rPr lang="zh-CN" altLang="en-US" sz="2000" dirty="0">
                          <a:effectLst/>
                        </a:rPr>
                        <a:t>建议：补充形位公差检查要求</a:t>
                      </a:r>
                    </a:p>
                    <a:p>
                      <a:r>
                        <a:rPr lang="en-US" altLang="zh-CN" sz="2000" b="1" dirty="0">
                          <a:effectLst/>
                        </a:rPr>
                        <a:t>2.3 </a:t>
                      </a:r>
                      <a:r>
                        <a:rPr lang="zh-CN" altLang="en-US" sz="2000" b="1" dirty="0">
                          <a:effectLst/>
                        </a:rPr>
                        <a:t>附图缺失</a:t>
                      </a:r>
                      <a:r>
                        <a:rPr lang="zh-CN" altLang="en-US" sz="2000" dirty="0">
                          <a:effectLst/>
                        </a:rPr>
                        <a:t>问题：附图</a:t>
                      </a:r>
                      <a:r>
                        <a:rPr lang="en-US" altLang="zh-CN" sz="2000" dirty="0">
                          <a:effectLst/>
                        </a:rPr>
                        <a:t>1</a:t>
                      </a:r>
                      <a:r>
                        <a:rPr lang="zh-CN" altLang="en-US" sz="2000" dirty="0">
                          <a:effectLst/>
                        </a:rPr>
                        <a:t>、</a:t>
                      </a:r>
                      <a:r>
                        <a:rPr lang="en-US" altLang="zh-CN" sz="2000" dirty="0">
                          <a:effectLst/>
                        </a:rPr>
                        <a:t>2</a:t>
                      </a:r>
                      <a:r>
                        <a:rPr lang="zh-CN" altLang="en-US" sz="2000" dirty="0">
                          <a:effectLst/>
                        </a:rPr>
                        <a:t>、</a:t>
                      </a:r>
                      <a:r>
                        <a:rPr lang="en-US" altLang="zh-CN" sz="2000" dirty="0">
                          <a:effectLst/>
                        </a:rPr>
                        <a:t>3</a:t>
                      </a:r>
                      <a:r>
                        <a:rPr lang="zh-CN" altLang="en-US" sz="2000" dirty="0">
                          <a:effectLst/>
                        </a:rPr>
                        <a:t>内容空白</a:t>
                      </a:r>
                    </a:p>
                    <a:p>
                      <a:r>
                        <a:rPr lang="zh-CN" altLang="en-US" sz="2000" dirty="0">
                          <a:effectLst/>
                        </a:rPr>
                        <a:t>影响：无法指导现场检查操作</a:t>
                      </a:r>
                    </a:p>
                    <a:p>
                      <a:r>
                        <a:rPr lang="zh-CN" altLang="en-US" sz="2000" dirty="0">
                          <a:effectLst/>
                        </a:rPr>
                        <a:t>建议：补充检查示意图和接线图</a:t>
                      </a:r>
                    </a:p>
                    <a:p>
                      <a:r>
                        <a:rPr lang="en-US" altLang="zh-CN" sz="2000" b="1" dirty="0">
                          <a:effectLst/>
                        </a:rPr>
                        <a:t>3. </a:t>
                      </a:r>
                      <a:r>
                        <a:rPr lang="zh-CN" altLang="en-US" sz="2000" b="1" dirty="0">
                          <a:effectLst/>
                        </a:rPr>
                        <a:t>质量控制要求 ✅ 通过</a:t>
                      </a:r>
                    </a:p>
                    <a:p>
                      <a:r>
                        <a:rPr lang="zh-CN" altLang="en-US" sz="2000" b="1" dirty="0">
                          <a:effectLst/>
                        </a:rPr>
                        <a:t>评审要点</a:t>
                      </a:r>
                      <a:r>
                        <a:rPr lang="en-US" altLang="zh-CN" sz="2000" dirty="0">
                          <a:effectLst/>
                        </a:rPr>
                        <a:t>:</a:t>
                      </a:r>
                      <a:r>
                        <a:rPr lang="zh-CN" altLang="en-US" sz="2000" dirty="0">
                          <a:effectLst/>
                        </a:rPr>
                        <a:t>检查频率明确（全检为主，容量测试</a:t>
                      </a:r>
                      <a:r>
                        <a:rPr lang="en-US" altLang="zh-CN" sz="2000" dirty="0">
                          <a:effectLst/>
                        </a:rPr>
                        <a:t>1pcs/10</a:t>
                      </a:r>
                      <a:r>
                        <a:rPr lang="zh-CN" altLang="en-US" sz="2000" dirty="0">
                          <a:effectLst/>
                        </a:rPr>
                        <a:t>套）</a:t>
                      </a:r>
                    </a:p>
                    <a:p>
                      <a:r>
                        <a:rPr lang="zh-CN" altLang="en-US" sz="2000" dirty="0">
                          <a:effectLst/>
                        </a:rPr>
                        <a:t>测量工具详细（上位机、</a:t>
                      </a:r>
                      <a:r>
                        <a:rPr lang="en-US" altLang="zh-CN" sz="2000" dirty="0">
                          <a:effectLst/>
                        </a:rPr>
                        <a:t>EOL</a:t>
                      </a:r>
                      <a:r>
                        <a:rPr lang="zh-CN" altLang="en-US" sz="2000" dirty="0">
                          <a:effectLst/>
                        </a:rPr>
                        <a:t>、万用表等）</a:t>
                      </a:r>
                    </a:p>
                    <a:p>
                      <a:r>
                        <a:rPr lang="zh-CN" altLang="en-US" sz="2000" dirty="0">
                          <a:effectLst/>
                        </a:rPr>
                        <a:t>前置测试项逻辑清晰</a:t>
                      </a:r>
                    </a:p>
                    <a:p>
                      <a:r>
                        <a:rPr lang="zh-CN" altLang="en-US" sz="2000" dirty="0">
                          <a:effectLst/>
                        </a:rPr>
                        <a:t>不合格品处理流程隐含在测试逻辑中</a:t>
                      </a:r>
                    </a:p>
                    <a:p>
                      <a:r>
                        <a:rPr lang="zh-CN" altLang="en-US" sz="2000" b="1" dirty="0">
                          <a:effectLst/>
                        </a:rPr>
                        <a:t>结论</a:t>
                      </a:r>
                      <a:r>
                        <a:rPr lang="en-US" altLang="zh-CN" sz="2000" dirty="0">
                          <a:effectLst/>
                        </a:rPr>
                        <a:t>: </a:t>
                      </a:r>
                      <a:r>
                        <a:rPr lang="zh-CN" altLang="en-US" sz="2000" dirty="0">
                          <a:effectLst/>
                        </a:rPr>
                        <a:t>符合质量控制要求</a:t>
                      </a:r>
                      <a:endParaRPr lang="en-GB" sz="2000" dirty="0"/>
                    </a:p>
                  </a:txBody>
                  <a:tcPr/>
                </a:tc>
                <a:tc>
                  <a:txBody>
                    <a:bodyPr/>
                    <a:lstStyle/>
                    <a:p>
                      <a:r>
                        <a:rPr lang="en-US" altLang="zh-CN" sz="2000" b="1" dirty="0">
                          <a:effectLst/>
                        </a:rPr>
                        <a:t>4. </a:t>
                      </a:r>
                      <a:r>
                        <a:rPr lang="zh-CN" altLang="en-US" sz="2000" b="1" dirty="0">
                          <a:effectLst/>
                        </a:rPr>
                        <a:t>变更管理 ✅ 通过</a:t>
                      </a:r>
                    </a:p>
                    <a:p>
                      <a:r>
                        <a:rPr lang="zh-CN" altLang="en-US" sz="2000" b="1" dirty="0">
                          <a:effectLst/>
                        </a:rPr>
                        <a:t>评审要点</a:t>
                      </a:r>
                      <a:r>
                        <a:rPr lang="en-US" altLang="zh-CN" sz="2000" dirty="0">
                          <a:effectLst/>
                        </a:rPr>
                        <a:t>:</a:t>
                      </a:r>
                      <a:r>
                        <a:rPr lang="zh-CN" altLang="en-US" sz="2000" dirty="0">
                          <a:effectLst/>
                        </a:rPr>
                        <a:t>变更记录完整（</a:t>
                      </a:r>
                      <a:r>
                        <a:rPr lang="en-US" altLang="zh-CN" sz="2000" dirty="0">
                          <a:effectLst/>
                        </a:rPr>
                        <a:t>2</a:t>
                      </a:r>
                      <a:r>
                        <a:rPr lang="zh-CN" altLang="en-US" sz="2000" dirty="0">
                          <a:effectLst/>
                        </a:rPr>
                        <a:t>次变更）</a:t>
                      </a:r>
                    </a:p>
                    <a:p>
                      <a:r>
                        <a:rPr lang="zh-CN" altLang="en-US" sz="2000" dirty="0">
                          <a:effectLst/>
                        </a:rPr>
                        <a:t>变更日期和人员记录清晰</a:t>
                      </a:r>
                    </a:p>
                    <a:p>
                      <a:r>
                        <a:rPr lang="zh-CN" altLang="en-US" sz="2000" dirty="0">
                          <a:effectLst/>
                        </a:rPr>
                        <a:t>变更内容描述明确</a:t>
                      </a:r>
                    </a:p>
                    <a:p>
                      <a:r>
                        <a:rPr lang="zh-CN" altLang="en-US" sz="2000" b="1" dirty="0">
                          <a:effectLst/>
                        </a:rPr>
                        <a:t>结论</a:t>
                      </a:r>
                      <a:r>
                        <a:rPr lang="en-US" altLang="zh-CN" sz="2000" dirty="0">
                          <a:effectLst/>
                        </a:rPr>
                        <a:t>: </a:t>
                      </a:r>
                      <a:r>
                        <a:rPr lang="zh-CN" altLang="en-US" sz="2000" dirty="0">
                          <a:effectLst/>
                        </a:rPr>
                        <a:t>符合变更管理要求</a:t>
                      </a:r>
                      <a:endParaRPr lang="en-GB" altLang="zh-CN" sz="2000" dirty="0">
                        <a:effectLst/>
                      </a:endParaRPr>
                    </a:p>
                    <a:p>
                      <a:r>
                        <a:rPr lang="en-US" altLang="zh-CN" sz="2000" b="1" dirty="0">
                          <a:effectLst/>
                        </a:rPr>
                        <a:t>5. </a:t>
                      </a:r>
                      <a:r>
                        <a:rPr lang="zh-CN" altLang="en-US" sz="2000" b="1" dirty="0">
                          <a:effectLst/>
                        </a:rPr>
                        <a:t>包装和标识要求 ⚠️ 部分通过</a:t>
                      </a:r>
                    </a:p>
                    <a:p>
                      <a:r>
                        <a:rPr lang="zh-CN" altLang="en-US" sz="2000" b="1" dirty="0">
                          <a:effectLst/>
                        </a:rPr>
                        <a:t>✅ 优势</a:t>
                      </a:r>
                      <a:r>
                        <a:rPr lang="en-US" altLang="zh-CN" sz="2000" b="1" dirty="0">
                          <a:effectLst/>
                        </a:rPr>
                        <a:t>:</a:t>
                      </a:r>
                    </a:p>
                    <a:p>
                      <a:r>
                        <a:rPr lang="zh-CN" altLang="en-US" sz="2000" dirty="0">
                          <a:effectLst/>
                        </a:rPr>
                        <a:t>包装要求明确（</a:t>
                      </a:r>
                      <a:r>
                        <a:rPr lang="en-US" altLang="zh-CN" sz="2000" dirty="0">
                          <a:effectLst/>
                        </a:rPr>
                        <a:t>PE</a:t>
                      </a:r>
                      <a:r>
                        <a:rPr lang="zh-CN" altLang="en-US" sz="2000" dirty="0">
                          <a:effectLst/>
                        </a:rPr>
                        <a:t>材料、一次性包装）</a:t>
                      </a:r>
                    </a:p>
                    <a:p>
                      <a:r>
                        <a:rPr lang="zh-CN" altLang="en-US" sz="2000" dirty="0">
                          <a:effectLst/>
                        </a:rPr>
                        <a:t>标识要求详细（二维码、铭牌、警示标识等）</a:t>
                      </a:r>
                    </a:p>
                    <a:p>
                      <a:r>
                        <a:rPr lang="zh-CN" altLang="en-US" sz="2000" b="1" dirty="0">
                          <a:effectLst/>
                        </a:rPr>
                        <a:t>❌ 问题点</a:t>
                      </a:r>
                      <a:r>
                        <a:rPr lang="en-US" altLang="zh-CN" sz="2000" b="1" dirty="0">
                          <a:effectLst/>
                        </a:rPr>
                        <a:t>:</a:t>
                      </a:r>
                    </a:p>
                    <a:p>
                      <a:r>
                        <a:rPr lang="en-US" altLang="zh-CN" sz="2000" b="1" dirty="0">
                          <a:effectLst/>
                        </a:rPr>
                        <a:t>5.1 </a:t>
                      </a:r>
                      <a:r>
                        <a:rPr lang="zh-CN" altLang="en-US" sz="2000" b="1" dirty="0">
                          <a:effectLst/>
                        </a:rPr>
                        <a:t>标识要求表格不完整</a:t>
                      </a:r>
                      <a:endParaRPr lang="en-GB" altLang="zh-CN" sz="2000" b="1" dirty="0">
                        <a:effectLst/>
                      </a:endParaRPr>
                    </a:p>
                    <a:p>
                      <a:r>
                        <a:rPr lang="zh-CN" altLang="en-US" sz="2000" dirty="0">
                          <a:effectLst/>
                        </a:rPr>
                        <a:t>问题：产品标识要求表格空白，缺少具体标识位置和样式</a:t>
                      </a:r>
                    </a:p>
                    <a:p>
                      <a:r>
                        <a:rPr lang="zh-CN" altLang="en-US" sz="2000" dirty="0">
                          <a:effectLst/>
                        </a:rPr>
                        <a:t>影响：无法指导现场标识检查</a:t>
                      </a:r>
                    </a:p>
                    <a:p>
                      <a:r>
                        <a:rPr lang="zh-CN" altLang="en-US" sz="2000" dirty="0">
                          <a:effectLst/>
                        </a:rPr>
                        <a:t>建议：补充标识位置示意图和具体要求</a:t>
                      </a:r>
                    </a:p>
                    <a:p>
                      <a:r>
                        <a:rPr lang="en-US" altLang="zh-CN" sz="2000" b="1" dirty="0">
                          <a:effectLst/>
                        </a:rPr>
                        <a:t>5.2 </a:t>
                      </a:r>
                      <a:r>
                        <a:rPr lang="zh-CN" altLang="en-US" sz="2000" b="1" dirty="0">
                          <a:effectLst/>
                        </a:rPr>
                        <a:t>追溯码要求不完整</a:t>
                      </a:r>
                      <a:endParaRPr lang="en-GB" altLang="zh-CN" sz="2000" b="1" dirty="0">
                        <a:effectLst/>
                      </a:endParaRPr>
                    </a:p>
                    <a:p>
                      <a:r>
                        <a:rPr lang="zh-CN" altLang="en-US" sz="2000" dirty="0">
                          <a:effectLst/>
                        </a:rPr>
                        <a:t>问题：追溯码要求描述过于简单</a:t>
                      </a:r>
                    </a:p>
                    <a:p>
                      <a:r>
                        <a:rPr lang="zh-CN" altLang="en-US" sz="2000" dirty="0">
                          <a:effectLst/>
                        </a:rPr>
                        <a:t>影响：可能导致追溯信息不完整</a:t>
                      </a:r>
                    </a:p>
                    <a:p>
                      <a:r>
                        <a:rPr lang="zh-CN" altLang="en-US" sz="2000" dirty="0">
                          <a:effectLst/>
                        </a:rPr>
                        <a:t>建议：详细规定追溯码格式和验证方法</a:t>
                      </a:r>
                    </a:p>
                    <a:p>
                      <a:pPr>
                        <a:spcBef>
                          <a:spcPts val="150"/>
                        </a:spcBef>
                        <a:spcAft>
                          <a:spcPts val="150"/>
                        </a:spcAft>
                        <a:buFont typeface="+mj-lt"/>
                        <a:buAutoNum type="arabicPeriod"/>
                      </a:pPr>
                      <a:endParaRPr lang="en-GB" sz="2000" dirty="0"/>
                    </a:p>
                  </a:txBody>
                  <a:tcPr/>
                </a:tc>
                <a:tc>
                  <a:txBody>
                    <a:bodyPr/>
                    <a:lstStyle/>
                    <a:p>
                      <a:r>
                        <a:rPr lang="zh-CN" altLang="en-US" sz="2000" b="1" dirty="0">
                          <a:effectLst/>
                        </a:rPr>
                        <a:t>主要问题汇总</a:t>
                      </a:r>
                      <a:r>
                        <a:rPr lang="en-US" altLang="zh-CN" sz="2000" b="1" dirty="0">
                          <a:effectLst/>
                        </a:rPr>
                        <a:t>:</a:t>
                      </a:r>
                    </a:p>
                    <a:p>
                      <a:r>
                        <a:rPr lang="zh-CN" altLang="en-US" sz="2000" b="1" dirty="0">
                          <a:effectLst/>
                        </a:rPr>
                        <a:t>严重问题</a:t>
                      </a:r>
                      <a:r>
                        <a:rPr lang="en-US" altLang="zh-CN" sz="2000" dirty="0">
                          <a:effectLst/>
                        </a:rPr>
                        <a:t>:</a:t>
                      </a:r>
                    </a:p>
                    <a:p>
                      <a:r>
                        <a:rPr lang="zh-CN" altLang="en-US" sz="2000" dirty="0">
                          <a:effectLst/>
                        </a:rPr>
                        <a:t>尺寸公差检查项④、⑤、⑥空白</a:t>
                      </a:r>
                    </a:p>
                    <a:p>
                      <a:r>
                        <a:rPr lang="zh-CN" altLang="en-US" sz="2000" dirty="0">
                          <a:effectLst/>
                        </a:rPr>
                        <a:t>形位公差检查项</a:t>
                      </a:r>
                      <a:r>
                        <a:rPr lang="en-US" altLang="zh-CN" sz="2000" dirty="0">
                          <a:effectLst/>
                        </a:rPr>
                        <a:t>A-H</a:t>
                      </a:r>
                      <a:r>
                        <a:rPr lang="zh-CN" altLang="en-US" sz="2000" dirty="0">
                          <a:effectLst/>
                        </a:rPr>
                        <a:t>全部空白</a:t>
                      </a:r>
                    </a:p>
                    <a:p>
                      <a:r>
                        <a:rPr lang="zh-CN" altLang="en-US" sz="2000" dirty="0">
                          <a:effectLst/>
                        </a:rPr>
                        <a:t>附图</a:t>
                      </a:r>
                      <a:r>
                        <a:rPr lang="en-US" altLang="zh-CN" sz="2000" dirty="0">
                          <a:effectLst/>
                        </a:rPr>
                        <a:t>1</a:t>
                      </a:r>
                      <a:r>
                        <a:rPr lang="zh-CN" altLang="en-US" sz="2000" dirty="0">
                          <a:effectLst/>
                        </a:rPr>
                        <a:t>、</a:t>
                      </a:r>
                      <a:r>
                        <a:rPr lang="en-US" altLang="zh-CN" sz="2000" dirty="0">
                          <a:effectLst/>
                        </a:rPr>
                        <a:t>2</a:t>
                      </a:r>
                      <a:r>
                        <a:rPr lang="zh-CN" altLang="en-US" sz="2000" dirty="0">
                          <a:effectLst/>
                        </a:rPr>
                        <a:t>、</a:t>
                      </a:r>
                      <a:r>
                        <a:rPr lang="en-US" altLang="zh-CN" sz="2000" dirty="0">
                          <a:effectLst/>
                        </a:rPr>
                        <a:t>3</a:t>
                      </a:r>
                      <a:r>
                        <a:rPr lang="zh-CN" altLang="en-US" sz="2000" dirty="0">
                          <a:effectLst/>
                        </a:rPr>
                        <a:t>内容缺失</a:t>
                      </a:r>
                    </a:p>
                    <a:p>
                      <a:r>
                        <a:rPr lang="zh-CN" altLang="en-US" sz="2000" b="1" dirty="0">
                          <a:effectLst/>
                        </a:rPr>
                        <a:t>一般问题</a:t>
                      </a:r>
                      <a:r>
                        <a:rPr lang="en-US" altLang="zh-CN" sz="2000" dirty="0">
                          <a:effectLst/>
                        </a:rPr>
                        <a:t>:</a:t>
                      </a:r>
                    </a:p>
                    <a:p>
                      <a:r>
                        <a:rPr lang="zh-CN" altLang="en-US" sz="2000" dirty="0">
                          <a:effectLst/>
                        </a:rPr>
                        <a:t>标识要求表格不完整</a:t>
                      </a:r>
                    </a:p>
                    <a:p>
                      <a:r>
                        <a:rPr lang="zh-CN" altLang="en-US" sz="2000" dirty="0">
                          <a:effectLst/>
                        </a:rPr>
                        <a:t>追溯码要求描述简单</a:t>
                      </a:r>
                    </a:p>
                    <a:p>
                      <a:r>
                        <a:rPr lang="zh-CN" altLang="en-US" sz="2000" b="1" dirty="0">
                          <a:effectLst/>
                        </a:rPr>
                        <a:t>应对建议</a:t>
                      </a:r>
                      <a:r>
                        <a:rPr lang="en-US" altLang="zh-CN" sz="2000" b="1" dirty="0">
                          <a:effectLst/>
                        </a:rPr>
                        <a:t>:</a:t>
                      </a:r>
                    </a:p>
                    <a:p>
                      <a:r>
                        <a:rPr lang="zh-CN" altLang="en-US" sz="2000" b="1" dirty="0">
                          <a:effectLst/>
                        </a:rPr>
                        <a:t>立即行动项（影响</a:t>
                      </a:r>
                      <a:r>
                        <a:rPr lang="en-US" altLang="zh-CN" sz="2000" b="1" dirty="0">
                          <a:effectLst/>
                        </a:rPr>
                        <a:t>B</a:t>
                      </a:r>
                      <a:r>
                        <a:rPr lang="zh-CN" altLang="en-US" sz="2000" b="1" dirty="0">
                          <a:effectLst/>
                        </a:rPr>
                        <a:t>样阶段进度）</a:t>
                      </a:r>
                      <a:r>
                        <a:rPr lang="en-US" altLang="zh-CN" sz="2000" b="1" dirty="0">
                          <a:effectLst/>
                        </a:rPr>
                        <a:t>:</a:t>
                      </a:r>
                    </a:p>
                    <a:p>
                      <a:r>
                        <a:rPr lang="zh-CN" altLang="en-US" sz="2000" b="1" dirty="0">
                          <a:effectLst/>
                        </a:rPr>
                        <a:t>补充尺寸公差要求</a:t>
                      </a:r>
                      <a:endParaRPr lang="en-GB" altLang="zh-CN" sz="2000" b="1" dirty="0">
                        <a:effectLst/>
                      </a:endParaRPr>
                    </a:p>
                    <a:p>
                      <a:r>
                        <a:rPr lang="zh-CN" altLang="en-US" sz="2000" dirty="0">
                          <a:effectLst/>
                        </a:rPr>
                        <a:t> </a:t>
                      </a:r>
                      <a:r>
                        <a:rPr lang="en-US" altLang="zh-CN" sz="2000" dirty="0">
                          <a:effectLst/>
                        </a:rPr>
                        <a:t>- </a:t>
                      </a:r>
                      <a:r>
                        <a:rPr lang="zh-CN" altLang="en-US" sz="2000" dirty="0">
                          <a:effectLst/>
                        </a:rPr>
                        <a:t>责任人：技术部门，时限：</a:t>
                      </a:r>
                      <a:r>
                        <a:rPr lang="en-US" altLang="zh-CN" sz="2000" dirty="0">
                          <a:effectLst/>
                        </a:rPr>
                        <a:t>3</a:t>
                      </a:r>
                      <a:r>
                        <a:rPr lang="zh-CN" altLang="en-US" sz="2000" dirty="0">
                          <a:effectLst/>
                        </a:rPr>
                        <a:t>个工作日</a:t>
                      </a:r>
                    </a:p>
                    <a:p>
                      <a:r>
                        <a:rPr lang="zh-CN" altLang="en-US" sz="2000" b="1" dirty="0">
                          <a:effectLst/>
                        </a:rPr>
                        <a:t>完善形位公差检查项</a:t>
                      </a:r>
                      <a:endParaRPr lang="en-GB" altLang="zh-CN" sz="2000" b="1" dirty="0">
                        <a:effectLst/>
                      </a:endParaRPr>
                    </a:p>
                    <a:p>
                      <a:r>
                        <a:rPr lang="zh-CN" altLang="en-US" sz="2000" dirty="0">
                          <a:effectLst/>
                        </a:rPr>
                        <a:t> </a:t>
                      </a:r>
                      <a:r>
                        <a:rPr lang="en-US" altLang="zh-CN" sz="2000" dirty="0">
                          <a:effectLst/>
                        </a:rPr>
                        <a:t>- </a:t>
                      </a:r>
                      <a:r>
                        <a:rPr lang="zh-CN" altLang="en-US" sz="2000" dirty="0">
                          <a:effectLst/>
                        </a:rPr>
                        <a:t>责任人：技术部门，时限：</a:t>
                      </a:r>
                      <a:r>
                        <a:rPr lang="en-US" altLang="zh-CN" sz="2000" dirty="0">
                          <a:effectLst/>
                        </a:rPr>
                        <a:t>5</a:t>
                      </a:r>
                      <a:r>
                        <a:rPr lang="zh-CN" altLang="en-US" sz="2000" dirty="0">
                          <a:effectLst/>
                        </a:rPr>
                        <a:t>个工作日</a:t>
                      </a:r>
                    </a:p>
                    <a:p>
                      <a:r>
                        <a:rPr lang="zh-CN" altLang="en-US" sz="2000" b="1" dirty="0">
                          <a:effectLst/>
                        </a:rPr>
                        <a:t>补充检查示意图</a:t>
                      </a:r>
                      <a:endParaRPr lang="en-GB" altLang="zh-CN" sz="2000" b="1" dirty="0">
                        <a:effectLst/>
                      </a:endParaRPr>
                    </a:p>
                    <a:p>
                      <a:r>
                        <a:rPr lang="zh-CN" altLang="en-US" sz="2000" dirty="0">
                          <a:effectLst/>
                        </a:rPr>
                        <a:t> </a:t>
                      </a:r>
                      <a:r>
                        <a:rPr lang="en-US" altLang="zh-CN" sz="2000" dirty="0">
                          <a:effectLst/>
                        </a:rPr>
                        <a:t>- </a:t>
                      </a:r>
                      <a:r>
                        <a:rPr lang="zh-CN" altLang="en-US" sz="2000" dirty="0">
                          <a:effectLst/>
                        </a:rPr>
                        <a:t>责任人：技术部门，时限：</a:t>
                      </a:r>
                      <a:r>
                        <a:rPr lang="en-US" altLang="zh-CN" sz="2000" dirty="0">
                          <a:effectLst/>
                        </a:rPr>
                        <a:t>7</a:t>
                      </a:r>
                      <a:r>
                        <a:rPr lang="zh-CN" altLang="en-US" sz="2000" dirty="0">
                          <a:effectLst/>
                        </a:rPr>
                        <a:t>个工作日</a:t>
                      </a:r>
                    </a:p>
                    <a:p>
                      <a:r>
                        <a:rPr lang="zh-CN" altLang="en-US" sz="2000" b="1" dirty="0">
                          <a:effectLst/>
                        </a:rPr>
                        <a:t>改进项（影响量产准备）</a:t>
                      </a:r>
                      <a:r>
                        <a:rPr lang="en-US" altLang="zh-CN" sz="2000" b="1" dirty="0">
                          <a:effectLst/>
                        </a:rPr>
                        <a:t>:</a:t>
                      </a:r>
                    </a:p>
                    <a:p>
                      <a:r>
                        <a:rPr lang="zh-CN" altLang="en-US" sz="2000" b="1" dirty="0">
                          <a:effectLst/>
                        </a:rPr>
                        <a:t>完善标识要求表格</a:t>
                      </a:r>
                      <a:endParaRPr lang="en-GB" altLang="zh-CN" sz="2000" b="1" dirty="0">
                        <a:effectLst/>
                      </a:endParaRPr>
                    </a:p>
                    <a:p>
                      <a:r>
                        <a:rPr lang="zh-CN" altLang="en-US" sz="2000" dirty="0">
                          <a:effectLst/>
                        </a:rPr>
                        <a:t> </a:t>
                      </a:r>
                      <a:r>
                        <a:rPr lang="en-US" altLang="zh-CN" sz="2000" dirty="0">
                          <a:effectLst/>
                        </a:rPr>
                        <a:t>- </a:t>
                      </a:r>
                      <a:r>
                        <a:rPr lang="zh-CN" altLang="en-US" sz="2000" dirty="0">
                          <a:effectLst/>
                        </a:rPr>
                        <a:t>责任人：质量部门，时限：</a:t>
                      </a:r>
                      <a:r>
                        <a:rPr lang="en-US" altLang="zh-CN" sz="2000" dirty="0">
                          <a:effectLst/>
                        </a:rPr>
                        <a:t>10</a:t>
                      </a:r>
                      <a:r>
                        <a:rPr lang="zh-CN" altLang="en-US" sz="2000" dirty="0">
                          <a:effectLst/>
                        </a:rPr>
                        <a:t>个工作日</a:t>
                      </a:r>
                    </a:p>
                    <a:p>
                      <a:r>
                        <a:rPr lang="zh-CN" altLang="en-US" sz="2000" b="1" dirty="0">
                          <a:effectLst/>
                        </a:rPr>
                        <a:t>详细规定追溯码要求</a:t>
                      </a:r>
                      <a:endParaRPr lang="en-GB" altLang="zh-CN" sz="2000" b="1" dirty="0">
                        <a:effectLst/>
                      </a:endParaRPr>
                    </a:p>
                    <a:p>
                      <a:r>
                        <a:rPr lang="zh-CN" altLang="en-US" sz="2000" dirty="0">
                          <a:effectLst/>
                        </a:rPr>
                        <a:t> </a:t>
                      </a:r>
                      <a:r>
                        <a:rPr lang="en-US" altLang="zh-CN" sz="2000" dirty="0">
                          <a:effectLst/>
                        </a:rPr>
                        <a:t>- </a:t>
                      </a:r>
                      <a:r>
                        <a:rPr lang="zh-CN" altLang="en-US" sz="2000" dirty="0">
                          <a:effectLst/>
                        </a:rPr>
                        <a:t>责任人：质量部门，时限：</a:t>
                      </a:r>
                      <a:r>
                        <a:rPr lang="en-US" altLang="zh-CN" sz="2000" dirty="0">
                          <a:effectLst/>
                        </a:rPr>
                        <a:t>10</a:t>
                      </a:r>
                      <a:r>
                        <a:rPr lang="zh-CN" altLang="en-US" sz="2000" dirty="0">
                          <a:effectLst/>
                        </a:rPr>
                        <a:t>个工作日</a:t>
                      </a:r>
                    </a:p>
                    <a:p>
                      <a:r>
                        <a:rPr lang="zh-CN" altLang="en-US" sz="2000" b="1" dirty="0">
                          <a:effectLst/>
                        </a:rPr>
                        <a:t>风险评估</a:t>
                      </a:r>
                      <a:r>
                        <a:rPr lang="en-US" altLang="zh-CN" sz="2000" b="1" dirty="0">
                          <a:effectLst/>
                        </a:rPr>
                        <a:t>:</a:t>
                      </a:r>
                    </a:p>
                    <a:p>
                      <a:r>
                        <a:rPr lang="zh-CN" altLang="en-US" sz="2000" b="1" dirty="0">
                          <a:effectLst/>
                        </a:rPr>
                        <a:t>高风险</a:t>
                      </a:r>
                      <a:r>
                        <a:rPr lang="en-US" altLang="zh-CN" sz="2000" dirty="0">
                          <a:effectLst/>
                        </a:rPr>
                        <a:t>: </a:t>
                      </a:r>
                      <a:r>
                        <a:rPr lang="zh-CN" altLang="en-US" sz="2000" dirty="0">
                          <a:effectLst/>
                        </a:rPr>
                        <a:t>尺寸和形位公差缺失可能导致装配问题</a:t>
                      </a:r>
                    </a:p>
                    <a:p>
                      <a:r>
                        <a:rPr lang="zh-CN" altLang="en-US" sz="2000" b="1" dirty="0">
                          <a:effectLst/>
                        </a:rPr>
                        <a:t>中风险</a:t>
                      </a:r>
                      <a:r>
                        <a:rPr lang="en-US" altLang="zh-CN" sz="2000" dirty="0">
                          <a:effectLst/>
                        </a:rPr>
                        <a:t>: </a:t>
                      </a:r>
                      <a:r>
                        <a:rPr lang="zh-CN" altLang="en-US" sz="2000" dirty="0">
                          <a:effectLst/>
                        </a:rPr>
                        <a:t>附图缺失影响现场操作效率</a:t>
                      </a:r>
                    </a:p>
                    <a:p>
                      <a:r>
                        <a:rPr lang="zh-CN" altLang="en-US" sz="2000" b="1" dirty="0">
                          <a:effectLst/>
                        </a:rPr>
                        <a:t>低风险</a:t>
                      </a:r>
                      <a:r>
                        <a:rPr lang="en-US" altLang="zh-CN" sz="2000" dirty="0">
                          <a:effectLst/>
                        </a:rPr>
                        <a:t>: </a:t>
                      </a:r>
                      <a:r>
                        <a:rPr lang="zh-CN" altLang="en-US" sz="2000" dirty="0">
                          <a:effectLst/>
                        </a:rPr>
                        <a:t>标识要求不完整影响追溯管理</a:t>
                      </a:r>
                    </a:p>
                    <a:p>
                      <a:r>
                        <a:rPr lang="zh-CN" altLang="en-US" sz="2000" b="1" dirty="0">
                          <a:effectLst/>
                        </a:rPr>
                        <a:t>建议的后续行动</a:t>
                      </a:r>
                      <a:r>
                        <a:rPr lang="en-US" altLang="zh-CN" sz="2000" b="1" dirty="0">
                          <a:effectLst/>
                        </a:rPr>
                        <a:t>:</a:t>
                      </a:r>
                    </a:p>
                    <a:p>
                      <a:r>
                        <a:rPr lang="zh-CN" altLang="en-US" sz="2000" dirty="0">
                          <a:effectLst/>
                        </a:rPr>
                        <a:t>立即启动问题整改，确保</a:t>
                      </a:r>
                      <a:r>
                        <a:rPr lang="en-US" altLang="zh-CN" sz="2000" dirty="0">
                          <a:effectLst/>
                        </a:rPr>
                        <a:t>B</a:t>
                      </a:r>
                      <a:r>
                        <a:rPr lang="zh-CN" altLang="en-US" sz="2000" dirty="0">
                          <a:effectLst/>
                        </a:rPr>
                        <a:t>样阶段验证完整性</a:t>
                      </a:r>
                    </a:p>
                    <a:p>
                      <a:r>
                        <a:rPr lang="zh-CN" altLang="en-US" sz="2000" dirty="0">
                          <a:effectLst/>
                        </a:rPr>
                        <a:t>建立文档更新机制，避免类似问题重复发生</a:t>
                      </a:r>
                    </a:p>
                    <a:p>
                      <a:r>
                        <a:rPr lang="zh-CN" altLang="en-US" sz="2000" dirty="0">
                          <a:effectLst/>
                        </a:rPr>
                        <a:t>加强跨部门协作，确保技术要求和质量要求同步更新</a:t>
                      </a:r>
                    </a:p>
                    <a:p>
                      <a:r>
                        <a:rPr lang="zh-CN" altLang="en-US" sz="2000" dirty="0">
                          <a:effectLst/>
                        </a:rPr>
                        <a:t>在</a:t>
                      </a:r>
                      <a:r>
                        <a:rPr lang="en-US" altLang="zh-CN" sz="2000" dirty="0">
                          <a:effectLst/>
                        </a:rPr>
                        <a:t>C</a:t>
                      </a:r>
                      <a:r>
                        <a:rPr lang="zh-CN" altLang="en-US" sz="2000" dirty="0">
                          <a:effectLst/>
                        </a:rPr>
                        <a:t>样阶段前完成所有问题整改，确保</a:t>
                      </a:r>
                      <a:r>
                        <a:rPr lang="en-US" altLang="zh-CN" sz="2000" dirty="0">
                          <a:effectLst/>
                        </a:rPr>
                        <a:t>PPAP</a:t>
                      </a:r>
                      <a:r>
                        <a:rPr lang="zh-CN" altLang="en-US" sz="2000" dirty="0">
                          <a:effectLst/>
                        </a:rPr>
                        <a:t>准备就绪</a:t>
                      </a:r>
                    </a:p>
                    <a:p>
                      <a:r>
                        <a:rPr lang="zh-CN" altLang="en-US" sz="2000" dirty="0">
                          <a:effectLst/>
                        </a:rPr>
                        <a:t>该检查基准书整体框架完整，技术内容详实，但需要在关键检查项和附图方面进行完善，以确保</a:t>
                      </a:r>
                      <a:r>
                        <a:rPr lang="en-US" altLang="zh-CN" sz="2000" dirty="0">
                          <a:effectLst/>
                        </a:rPr>
                        <a:t>B</a:t>
                      </a:r>
                      <a:r>
                        <a:rPr lang="zh-CN" altLang="en-US" sz="2000" dirty="0">
                          <a:effectLst/>
                        </a:rPr>
                        <a:t>样阶段验证的有效性和量产准备的充分性。</a:t>
                      </a:r>
                      <a:endParaRPr lang="en-GB" sz="2000" dirty="0"/>
                    </a:p>
                  </a:txBody>
                  <a:tcPr/>
                </a:tc>
                <a:extLst>
                  <a:ext uri="{0D108BD9-81ED-4DB2-BD59-A6C34878D82A}">
                    <a16:rowId xmlns:a16="http://schemas.microsoft.com/office/drawing/2014/main" val="604853937"/>
                  </a:ext>
                </a:extLst>
              </a:tr>
            </a:tbl>
          </a:graphicData>
        </a:graphic>
      </p:graphicFrame>
    </p:spTree>
    <p:extLst>
      <p:ext uri="{BB962C8B-B14F-4D97-AF65-F5344CB8AC3E}">
        <p14:creationId xmlns:p14="http://schemas.microsoft.com/office/powerpoint/2010/main" val="1850655958"/>
      </p:ext>
    </p:extLst>
  </p:cSld>
  <p:clrMapOvr>
    <a:masterClrMapping/>
  </p:clrMapOvr>
  <p:transition spd="med"/>
  <p:extLst>
    <p:ext uri="{6950BFC3-D8DA-4A85-94F7-54DA5524770B}">
      <p188:commentRel xmlns:p188="http://schemas.microsoft.com/office/powerpoint/2018/8/main" r:id="rId2"/>
    </p:ext>
  </p:extLs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A464AE-0294-F214-E80A-011B6B14C37C}"/>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DBD35D7F-FE06-DD46-CF93-B24F36086721}"/>
              </a:ext>
            </a:extLst>
          </p:cNvPr>
          <p:cNvSpPr txBox="1"/>
          <p:nvPr/>
        </p:nvSpPr>
        <p:spPr>
          <a:xfrm>
            <a:off x="1737559" y="755986"/>
            <a:ext cx="20218551" cy="646331"/>
          </a:xfrm>
          <a:prstGeom prst="rect">
            <a:avLst/>
          </a:prstGeom>
          <a:noFill/>
        </p:spPr>
        <p:txBody>
          <a:bodyPr wrap="square" numCol="1">
            <a:spAutoFit/>
          </a:bodyPr>
          <a:lstStyle/>
          <a:p>
            <a:pPr>
              <a:spcBef>
                <a:spcPts val="1500"/>
              </a:spcBef>
              <a:spcAft>
                <a:spcPts val="750"/>
              </a:spcAft>
              <a:buNone/>
            </a:pPr>
            <a:r>
              <a:rPr lang="en-US" altLang="zh-CN" sz="3600" b="1" dirty="0">
                <a:effectLst/>
              </a:rPr>
              <a:t>B</a:t>
            </a:r>
            <a:r>
              <a:rPr lang="zh-CN" altLang="en-US" sz="3600" b="1" dirty="0">
                <a:effectLst/>
              </a:rPr>
              <a:t>样阶段</a:t>
            </a:r>
            <a:r>
              <a:rPr lang="en-US" altLang="zh-CN" sz="3600" b="1" dirty="0"/>
              <a:t>《570-941B</a:t>
            </a:r>
            <a:r>
              <a:rPr lang="zh-CN" altLang="en-US" sz="3600" b="1" dirty="0"/>
              <a:t>电池包结构仿真分析报告</a:t>
            </a:r>
            <a:r>
              <a:rPr lang="en-US" altLang="zh-CN" sz="3600" b="1" dirty="0"/>
              <a:t>-</a:t>
            </a:r>
            <a:r>
              <a:rPr lang="zh-CN" altLang="en-US" sz="3600" b="1" dirty="0"/>
              <a:t>滑台测试</a:t>
            </a:r>
            <a:r>
              <a:rPr lang="en-US" altLang="zh-CN" sz="3600" b="1" dirty="0"/>
              <a:t>-20240605(</a:t>
            </a:r>
            <a:r>
              <a:rPr lang="zh-CN" altLang="en-US" sz="3600" b="1" dirty="0"/>
              <a:t>纵梁灌胶</a:t>
            </a:r>
            <a:r>
              <a:rPr lang="en-US" altLang="zh-CN" sz="3600" b="1" dirty="0"/>
              <a:t>).pptx》</a:t>
            </a:r>
            <a:r>
              <a:rPr lang="zh-CN" altLang="en-US" sz="3600" b="1" dirty="0">
                <a:effectLst/>
              </a:rPr>
              <a:t>审核报告</a:t>
            </a:r>
          </a:p>
        </p:txBody>
      </p:sp>
      <p:graphicFrame>
        <p:nvGraphicFramePr>
          <p:cNvPr id="2" name="表格 1">
            <a:extLst>
              <a:ext uri="{FF2B5EF4-FFF2-40B4-BE49-F238E27FC236}">
                <a16:creationId xmlns:a16="http://schemas.microsoft.com/office/drawing/2014/main" id="{B1748382-43CF-BB9B-0D75-5AB5F973B673}"/>
              </a:ext>
            </a:extLst>
          </p:cNvPr>
          <p:cNvGraphicFramePr>
            <a:graphicFrameLocks noGrp="1"/>
          </p:cNvGraphicFramePr>
          <p:nvPr>
            <p:extLst>
              <p:ext uri="{D42A27DB-BD31-4B8C-83A1-F6EECF244321}">
                <p14:modId xmlns:p14="http://schemas.microsoft.com/office/powerpoint/2010/main" val="275398195"/>
              </p:ext>
            </p:extLst>
          </p:nvPr>
        </p:nvGraphicFramePr>
        <p:xfrm>
          <a:off x="662354" y="1534275"/>
          <a:ext cx="23059292" cy="13959840"/>
        </p:xfrm>
        <a:graphic>
          <a:graphicData uri="http://schemas.openxmlformats.org/drawingml/2006/table">
            <a:tbl>
              <a:tblPr firstRow="1" bandRow="1"/>
              <a:tblGrid>
                <a:gridCol w="3933709">
                  <a:extLst>
                    <a:ext uri="{9D8B030D-6E8A-4147-A177-3AD203B41FA5}">
                      <a16:colId xmlns:a16="http://schemas.microsoft.com/office/drawing/2014/main" val="520135011"/>
                    </a:ext>
                  </a:extLst>
                </a:gridCol>
                <a:gridCol w="6581892">
                  <a:extLst>
                    <a:ext uri="{9D8B030D-6E8A-4147-A177-3AD203B41FA5}">
                      <a16:colId xmlns:a16="http://schemas.microsoft.com/office/drawing/2014/main" val="585926975"/>
                    </a:ext>
                  </a:extLst>
                </a:gridCol>
                <a:gridCol w="6778868">
                  <a:extLst>
                    <a:ext uri="{9D8B030D-6E8A-4147-A177-3AD203B41FA5}">
                      <a16:colId xmlns:a16="http://schemas.microsoft.com/office/drawing/2014/main" val="3081416713"/>
                    </a:ext>
                  </a:extLst>
                </a:gridCol>
                <a:gridCol w="5764823">
                  <a:extLst>
                    <a:ext uri="{9D8B030D-6E8A-4147-A177-3AD203B41FA5}">
                      <a16:colId xmlns:a16="http://schemas.microsoft.com/office/drawing/2014/main" val="572010187"/>
                    </a:ext>
                  </a:extLst>
                </a:gridCol>
              </a:tblGrid>
              <a:tr h="450935">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审查清单制定</a:t>
                      </a:r>
                    </a:p>
                  </a:txBody>
                  <a:tcPr anchor="ctr"/>
                </a:tc>
                <a:tc gridSpan="2">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逐项审核结果</a:t>
                      </a:r>
                    </a:p>
                  </a:txBody>
                  <a:tcPr anchor="ctr"/>
                </a:tc>
                <a:tc hMerge="1">
                  <a:txBody>
                    <a:bodyPr/>
                    <a:lstStyle/>
                    <a:p>
                      <a:pPr algn="ctr"/>
                      <a:endParaRPr lang="en-GB" sz="2000" dirty="0"/>
                    </a:p>
                  </a:txBody>
                  <a:tcPr/>
                </a:tc>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总体评估</a:t>
                      </a:r>
                    </a:p>
                  </a:txBody>
                  <a:tcPr anchor="ctr"/>
                </a:tc>
                <a:extLst>
                  <a:ext uri="{0D108BD9-81ED-4DB2-BD59-A6C34878D82A}">
                    <a16:rowId xmlns:a16="http://schemas.microsoft.com/office/drawing/2014/main" val="2562292327"/>
                  </a:ext>
                </a:extLst>
              </a:tr>
              <a:tr h="10086326">
                <a:tc>
                  <a:txBody>
                    <a:bodyPr/>
                    <a:lstStyle/>
                    <a:p>
                      <a:r>
                        <a:rPr lang="en-US" altLang="zh-CN" sz="2000" b="1" dirty="0">
                          <a:effectLst/>
                        </a:rPr>
                        <a:t>1. </a:t>
                      </a:r>
                      <a:r>
                        <a:rPr lang="zh-CN" altLang="en-US" sz="2000" b="1" dirty="0">
                          <a:effectLst/>
                        </a:rPr>
                        <a:t>文档完整性审查</a:t>
                      </a:r>
                    </a:p>
                    <a:p>
                      <a:r>
                        <a:rPr lang="zh-CN" altLang="en-US" sz="2000" dirty="0">
                          <a:effectLst/>
                        </a:rPr>
                        <a:t>项目基本信息完整性</a:t>
                      </a:r>
                    </a:p>
                    <a:p>
                      <a:r>
                        <a:rPr lang="zh-CN" altLang="en-US" sz="2000" dirty="0">
                          <a:effectLst/>
                        </a:rPr>
                        <a:t>技术参数完整性</a:t>
                      </a:r>
                    </a:p>
                    <a:p>
                      <a:r>
                        <a:rPr lang="zh-CN" altLang="en-US" sz="2000" dirty="0">
                          <a:effectLst/>
                        </a:rPr>
                        <a:t>分析结果完整性</a:t>
                      </a:r>
                    </a:p>
                    <a:p>
                      <a:r>
                        <a:rPr lang="zh-CN" altLang="en-US" sz="2000" dirty="0">
                          <a:effectLst/>
                        </a:rPr>
                        <a:t>结论与建议完整性</a:t>
                      </a:r>
                    </a:p>
                    <a:p>
                      <a:r>
                        <a:rPr lang="en-US" altLang="zh-CN" sz="2000" b="1" dirty="0">
                          <a:effectLst/>
                        </a:rPr>
                        <a:t>2. </a:t>
                      </a:r>
                      <a:r>
                        <a:rPr lang="zh-CN" altLang="en-US" sz="2000" b="1" dirty="0">
                          <a:effectLst/>
                        </a:rPr>
                        <a:t>技术内容审查</a:t>
                      </a:r>
                    </a:p>
                    <a:p>
                      <a:r>
                        <a:rPr lang="zh-CN" altLang="en-US" sz="2000" dirty="0">
                          <a:effectLst/>
                        </a:rPr>
                        <a:t>仿真工况设置合理性</a:t>
                      </a:r>
                    </a:p>
                    <a:p>
                      <a:r>
                        <a:rPr lang="zh-CN" altLang="en-US" sz="2000" dirty="0">
                          <a:effectLst/>
                        </a:rPr>
                        <a:t>材料参数准确性</a:t>
                      </a:r>
                    </a:p>
                    <a:p>
                      <a:r>
                        <a:rPr lang="zh-CN" altLang="en-US" sz="2000" dirty="0">
                          <a:effectLst/>
                        </a:rPr>
                        <a:t>边界条件设置正确性</a:t>
                      </a:r>
                    </a:p>
                    <a:p>
                      <a:r>
                        <a:rPr lang="zh-CN" altLang="en-US" sz="2000" dirty="0">
                          <a:effectLst/>
                        </a:rPr>
                        <a:t>分析结果可靠性</a:t>
                      </a:r>
                    </a:p>
                    <a:p>
                      <a:r>
                        <a:rPr lang="en-US" altLang="zh-CN" sz="2000" b="1" dirty="0">
                          <a:effectLst/>
                        </a:rPr>
                        <a:t>3. </a:t>
                      </a:r>
                      <a:r>
                        <a:rPr lang="zh-CN" altLang="en-US" sz="2000" b="1" dirty="0">
                          <a:effectLst/>
                        </a:rPr>
                        <a:t>质量合规性审查</a:t>
                      </a:r>
                    </a:p>
                    <a:p>
                      <a:r>
                        <a:rPr lang="zh-CN" altLang="en-US" sz="2000" dirty="0">
                          <a:effectLst/>
                        </a:rPr>
                        <a:t>安全判定标准合理性</a:t>
                      </a:r>
                    </a:p>
                    <a:p>
                      <a:r>
                        <a:rPr lang="zh-CN" altLang="en-US" sz="2000" dirty="0">
                          <a:effectLst/>
                        </a:rPr>
                        <a:t>风险识别与评估</a:t>
                      </a:r>
                    </a:p>
                    <a:p>
                      <a:r>
                        <a:rPr lang="zh-CN" altLang="en-US" sz="2000" dirty="0">
                          <a:effectLst/>
                        </a:rPr>
                        <a:t>失效模式分析</a:t>
                      </a:r>
                    </a:p>
                    <a:p>
                      <a:r>
                        <a:rPr lang="zh-CN" altLang="en-US" sz="2000" dirty="0">
                          <a:effectLst/>
                        </a:rPr>
                        <a:t>改进建议可行性</a:t>
                      </a:r>
                    </a:p>
                    <a:p>
                      <a:r>
                        <a:rPr lang="en-US" altLang="zh-CN" sz="2000" b="1" dirty="0">
                          <a:effectLst/>
                        </a:rPr>
                        <a:t>4. </a:t>
                      </a:r>
                      <a:r>
                        <a:rPr lang="zh-CN" altLang="en-US" sz="2000" b="1" dirty="0">
                          <a:effectLst/>
                        </a:rPr>
                        <a:t>项目管理审查</a:t>
                      </a:r>
                    </a:p>
                    <a:p>
                      <a:r>
                        <a:rPr lang="zh-CN" altLang="en-US" sz="2000" dirty="0">
                          <a:effectLst/>
                        </a:rPr>
                        <a:t>文档版本控制</a:t>
                      </a:r>
                    </a:p>
                    <a:p>
                      <a:r>
                        <a:rPr lang="zh-CN" altLang="en-US" sz="2000" dirty="0">
                          <a:effectLst/>
                        </a:rPr>
                        <a:t>评审记录完整性</a:t>
                      </a:r>
                    </a:p>
                    <a:p>
                      <a:r>
                        <a:rPr lang="zh-CN" altLang="en-US" sz="2000" dirty="0">
                          <a:effectLst/>
                        </a:rPr>
                        <a:t>后续行动计划</a:t>
                      </a:r>
                    </a:p>
                    <a:p>
                      <a:r>
                        <a:rPr lang="zh-CN" altLang="en-US" sz="2000" dirty="0">
                          <a:effectLst/>
                        </a:rPr>
                        <a:t>交付物完整性</a:t>
                      </a:r>
                    </a:p>
                    <a:p>
                      <a:pPr>
                        <a:spcBef>
                          <a:spcPts val="1200"/>
                        </a:spcBef>
                        <a:spcAft>
                          <a:spcPts val="600"/>
                        </a:spcAft>
                        <a:buNone/>
                      </a:pPr>
                      <a:endParaRPr lang="en-GB" sz="2000" dirty="0"/>
                    </a:p>
                  </a:txBody>
                  <a:tcPr/>
                </a:tc>
                <a:tc>
                  <a:txBody>
                    <a:bodyPr/>
                    <a:lstStyle/>
                    <a:p>
                      <a:r>
                        <a:rPr lang="zh-CN" altLang="en-US" sz="2000" b="1" dirty="0">
                          <a:effectLst/>
                        </a:rPr>
                        <a:t>✅ 通过项目</a:t>
                      </a:r>
                    </a:p>
                    <a:p>
                      <a:r>
                        <a:rPr lang="en-US" altLang="zh-CN" sz="2000" b="1" dirty="0">
                          <a:effectLst/>
                        </a:rPr>
                        <a:t>1. </a:t>
                      </a:r>
                      <a:r>
                        <a:rPr lang="zh-CN" altLang="en-US" sz="2000" b="1" dirty="0">
                          <a:effectLst/>
                        </a:rPr>
                        <a:t>项目基本信息完整性</a:t>
                      </a:r>
                    </a:p>
                    <a:p>
                      <a:r>
                        <a:rPr lang="zh-CN" altLang="en-US" sz="2000" b="1" dirty="0">
                          <a:effectLst/>
                        </a:rPr>
                        <a:t>评审结果</a:t>
                      </a:r>
                      <a:r>
                        <a:rPr lang="en-US" altLang="zh-CN" sz="2000" dirty="0">
                          <a:effectLst/>
                        </a:rPr>
                        <a:t>: </a:t>
                      </a:r>
                      <a:r>
                        <a:rPr lang="zh-CN" altLang="en-US" sz="2000" dirty="0">
                          <a:effectLst/>
                        </a:rPr>
                        <a:t>通过</a:t>
                      </a:r>
                    </a:p>
                    <a:p>
                      <a:r>
                        <a:rPr lang="zh-CN" altLang="en-US" sz="2000" b="1" dirty="0">
                          <a:effectLst/>
                        </a:rPr>
                        <a:t>说明</a:t>
                      </a:r>
                      <a:r>
                        <a:rPr lang="en-US" altLang="zh-CN" sz="2000" dirty="0">
                          <a:effectLst/>
                        </a:rPr>
                        <a:t>: </a:t>
                      </a:r>
                      <a:r>
                        <a:rPr lang="zh-CN" altLang="en-US" sz="2000" dirty="0">
                          <a:effectLst/>
                        </a:rPr>
                        <a:t>文档包含了项目背景、模型介绍、工况设置等基本信息，符合</a:t>
                      </a:r>
                      <a:r>
                        <a:rPr lang="en-US" altLang="zh-CN" sz="2000" dirty="0">
                          <a:effectLst/>
                        </a:rPr>
                        <a:t>B</a:t>
                      </a:r>
                      <a:r>
                        <a:rPr lang="zh-CN" altLang="en-US" sz="2000" dirty="0">
                          <a:effectLst/>
                        </a:rPr>
                        <a:t>样阶段文档要求</a:t>
                      </a:r>
                    </a:p>
                    <a:p>
                      <a:r>
                        <a:rPr lang="en-US" altLang="zh-CN" sz="2000" b="1" dirty="0">
                          <a:effectLst/>
                        </a:rPr>
                        <a:t>2. </a:t>
                      </a:r>
                      <a:r>
                        <a:rPr lang="zh-CN" altLang="en-US" sz="2000" b="1" dirty="0">
                          <a:effectLst/>
                        </a:rPr>
                        <a:t>仿真工况设置合理性</a:t>
                      </a:r>
                    </a:p>
                    <a:p>
                      <a:r>
                        <a:rPr lang="zh-CN" altLang="en-US" sz="2000" b="1" dirty="0">
                          <a:effectLst/>
                        </a:rPr>
                        <a:t>评审结果</a:t>
                      </a:r>
                      <a:r>
                        <a:rPr lang="en-US" altLang="zh-CN" sz="2000" dirty="0">
                          <a:effectLst/>
                        </a:rPr>
                        <a:t>: </a:t>
                      </a:r>
                      <a:r>
                        <a:rPr lang="zh-CN" altLang="en-US" sz="2000" dirty="0">
                          <a:effectLst/>
                        </a:rPr>
                        <a:t>通过</a:t>
                      </a:r>
                    </a:p>
                    <a:p>
                      <a:r>
                        <a:rPr lang="zh-CN" altLang="en-US" sz="2000" b="1" dirty="0">
                          <a:effectLst/>
                        </a:rPr>
                        <a:t>说明</a:t>
                      </a:r>
                      <a:r>
                        <a:rPr lang="en-US" altLang="zh-CN" sz="2000" dirty="0">
                          <a:effectLst/>
                        </a:rPr>
                        <a:t>:</a:t>
                      </a:r>
                    </a:p>
                    <a:p>
                      <a:r>
                        <a:rPr lang="en-US" altLang="zh-CN" sz="2000" dirty="0">
                          <a:effectLst/>
                        </a:rPr>
                        <a:t>X</a:t>
                      </a:r>
                      <a:r>
                        <a:rPr lang="zh-CN" altLang="en-US" sz="2000" dirty="0">
                          <a:effectLst/>
                        </a:rPr>
                        <a:t>向：</a:t>
                      </a:r>
                      <a:r>
                        <a:rPr lang="en-US" altLang="zh-CN" sz="2000" dirty="0">
                          <a:effectLst/>
                        </a:rPr>
                        <a:t>60g/40ms</a:t>
                      </a:r>
                      <a:r>
                        <a:rPr lang="zh-CN" altLang="en-US" sz="2000" dirty="0">
                          <a:effectLst/>
                        </a:rPr>
                        <a:t>半正弦波（符合行业标准）</a:t>
                      </a:r>
                    </a:p>
                    <a:p>
                      <a:r>
                        <a:rPr lang="en-US" altLang="zh-CN" sz="2000" dirty="0">
                          <a:effectLst/>
                        </a:rPr>
                        <a:t>Y</a:t>
                      </a:r>
                      <a:r>
                        <a:rPr lang="zh-CN" altLang="en-US" sz="2000" dirty="0">
                          <a:effectLst/>
                        </a:rPr>
                        <a:t>向：</a:t>
                      </a:r>
                      <a:r>
                        <a:rPr lang="en-US" altLang="zh-CN" sz="2000" dirty="0">
                          <a:effectLst/>
                        </a:rPr>
                        <a:t>35g/40ms</a:t>
                      </a:r>
                      <a:r>
                        <a:rPr lang="zh-CN" altLang="en-US" sz="2000" dirty="0">
                          <a:effectLst/>
                        </a:rPr>
                        <a:t>半正弦波（符合行业标准）</a:t>
                      </a:r>
                    </a:p>
                    <a:p>
                      <a:r>
                        <a:rPr lang="zh-CN" altLang="en-US" sz="2000" dirty="0">
                          <a:effectLst/>
                        </a:rPr>
                        <a:t>工况设置合理，覆盖了主要冲击方向</a:t>
                      </a:r>
                    </a:p>
                    <a:p>
                      <a:r>
                        <a:rPr lang="en-US" altLang="zh-CN" sz="2000" b="1" dirty="0">
                          <a:effectLst/>
                        </a:rPr>
                        <a:t>3. </a:t>
                      </a:r>
                      <a:r>
                        <a:rPr lang="zh-CN" altLang="en-US" sz="2000" b="1" dirty="0">
                          <a:effectLst/>
                        </a:rPr>
                        <a:t>材料参数准确性</a:t>
                      </a:r>
                    </a:p>
                    <a:p>
                      <a:r>
                        <a:rPr lang="zh-CN" altLang="en-US" sz="2000" b="1" dirty="0">
                          <a:effectLst/>
                        </a:rPr>
                        <a:t>评审结果</a:t>
                      </a:r>
                      <a:r>
                        <a:rPr lang="en-US" altLang="zh-CN" sz="2000" dirty="0">
                          <a:effectLst/>
                        </a:rPr>
                        <a:t>: </a:t>
                      </a:r>
                      <a:r>
                        <a:rPr lang="zh-CN" altLang="en-US" sz="2000" dirty="0">
                          <a:effectLst/>
                        </a:rPr>
                        <a:t>通过</a:t>
                      </a:r>
                    </a:p>
                    <a:p>
                      <a:r>
                        <a:rPr lang="zh-CN" altLang="en-US" sz="2000" b="1" dirty="0">
                          <a:effectLst/>
                        </a:rPr>
                        <a:t>说明</a:t>
                      </a:r>
                      <a:r>
                        <a:rPr lang="en-US" altLang="zh-CN" sz="2000" dirty="0">
                          <a:effectLst/>
                        </a:rPr>
                        <a:t>: </a:t>
                      </a:r>
                      <a:r>
                        <a:rPr lang="zh-CN" altLang="en-US" sz="2000" dirty="0">
                          <a:effectLst/>
                        </a:rPr>
                        <a:t>材料参数表格完整，包含了屈服强度、极限强度、断裂延伸率等关键参数</a:t>
                      </a:r>
                    </a:p>
                    <a:p>
                      <a:r>
                        <a:rPr lang="en-US" altLang="zh-CN" sz="2000" b="1" dirty="0">
                          <a:effectLst/>
                        </a:rPr>
                        <a:t>4. </a:t>
                      </a:r>
                      <a:r>
                        <a:rPr lang="zh-CN" altLang="en-US" sz="2000" b="1" dirty="0">
                          <a:effectLst/>
                        </a:rPr>
                        <a:t>分析结果可靠性</a:t>
                      </a:r>
                    </a:p>
                    <a:p>
                      <a:r>
                        <a:rPr lang="zh-CN" altLang="en-US" sz="2000" b="1" dirty="0">
                          <a:effectLst/>
                        </a:rPr>
                        <a:t>评审结果</a:t>
                      </a:r>
                      <a:r>
                        <a:rPr lang="en-US" altLang="zh-CN" sz="2000" dirty="0">
                          <a:effectLst/>
                        </a:rPr>
                        <a:t>: </a:t>
                      </a:r>
                      <a:r>
                        <a:rPr lang="zh-CN" altLang="en-US" sz="2000" dirty="0">
                          <a:effectLst/>
                        </a:rPr>
                        <a:t>通过</a:t>
                      </a:r>
                    </a:p>
                    <a:p>
                      <a:r>
                        <a:rPr lang="zh-CN" altLang="en-US" sz="2000" b="1" dirty="0">
                          <a:effectLst/>
                        </a:rPr>
                        <a:t>说明</a:t>
                      </a:r>
                      <a:r>
                        <a:rPr lang="en-US" altLang="zh-CN" sz="2000" dirty="0">
                          <a:effectLst/>
                        </a:rPr>
                        <a:t>: </a:t>
                      </a:r>
                      <a:r>
                        <a:rPr lang="zh-CN" altLang="en-US" sz="2000" dirty="0">
                          <a:effectLst/>
                        </a:rPr>
                        <a:t>大部分结构件满足强度要求，分析结果可信</a:t>
                      </a:r>
                      <a:endParaRPr lang="en-GB" altLang="zh-CN" sz="2000" dirty="0">
                        <a:effectLst/>
                      </a:endParaRPr>
                    </a:p>
                    <a:p>
                      <a:endParaRPr lang="zh-CN" altLang="en-US" sz="2000" dirty="0">
                        <a:effectLst/>
                      </a:endParaRPr>
                    </a:p>
                    <a:p>
                      <a:r>
                        <a:rPr lang="zh-CN" altLang="en-US" sz="2000" b="1" dirty="0">
                          <a:effectLst/>
                        </a:rPr>
                        <a:t>⚠️ 需要改进项目</a:t>
                      </a:r>
                    </a:p>
                    <a:p>
                      <a:r>
                        <a:rPr lang="en-US" altLang="zh-CN" sz="2000" b="1" dirty="0">
                          <a:effectLst/>
                        </a:rPr>
                        <a:t>1. </a:t>
                      </a:r>
                      <a:r>
                        <a:rPr lang="zh-CN" altLang="en-US" sz="2000" b="1" dirty="0">
                          <a:effectLst/>
                        </a:rPr>
                        <a:t>安全判定标准合理性</a:t>
                      </a:r>
                    </a:p>
                    <a:p>
                      <a:r>
                        <a:rPr lang="zh-CN" altLang="en-US" sz="2000" b="1" dirty="0">
                          <a:effectLst/>
                        </a:rPr>
                        <a:t>评审结果</a:t>
                      </a:r>
                      <a:r>
                        <a:rPr lang="en-US" altLang="zh-CN" sz="2000" dirty="0">
                          <a:effectLst/>
                        </a:rPr>
                        <a:t>: </a:t>
                      </a:r>
                      <a:r>
                        <a:rPr lang="zh-CN" altLang="en-US" sz="2000" dirty="0">
                          <a:effectLst/>
                        </a:rPr>
                        <a:t>需要改进</a:t>
                      </a:r>
                    </a:p>
                    <a:p>
                      <a:r>
                        <a:rPr lang="zh-CN" altLang="en-US" sz="2000" b="1" dirty="0">
                          <a:effectLst/>
                        </a:rPr>
                        <a:t>问题</a:t>
                      </a:r>
                      <a:r>
                        <a:rPr lang="en-US" altLang="zh-CN" sz="2000" dirty="0">
                          <a:effectLst/>
                        </a:rPr>
                        <a:t>:</a:t>
                      </a:r>
                    </a:p>
                    <a:p>
                      <a:r>
                        <a:rPr lang="zh-CN" altLang="en-US" sz="2000" dirty="0">
                          <a:effectLst/>
                        </a:rPr>
                        <a:t>焊缝应力阈值</a:t>
                      </a:r>
                      <a:r>
                        <a:rPr lang="en-US" altLang="zh-CN" sz="2000" dirty="0">
                          <a:effectLst/>
                        </a:rPr>
                        <a:t>173MPa</a:t>
                      </a:r>
                      <a:r>
                        <a:rPr lang="zh-CN" altLang="en-US" sz="2000" dirty="0">
                          <a:effectLst/>
                        </a:rPr>
                        <a:t>缺乏来源说明</a:t>
                      </a:r>
                    </a:p>
                    <a:p>
                      <a:r>
                        <a:rPr lang="zh-CN" altLang="en-US" sz="2000" dirty="0">
                          <a:effectLst/>
                        </a:rPr>
                        <a:t>导热结构胶失效面积</a:t>
                      </a:r>
                      <a:r>
                        <a:rPr lang="en-US" altLang="zh-CN" sz="2000" dirty="0">
                          <a:effectLst/>
                        </a:rPr>
                        <a:t>10%</a:t>
                      </a:r>
                      <a:r>
                        <a:rPr lang="zh-CN" altLang="en-US" sz="2000" dirty="0">
                          <a:effectLst/>
                        </a:rPr>
                        <a:t>的判定标准需要验证</a:t>
                      </a:r>
                    </a:p>
                    <a:p>
                      <a:r>
                        <a:rPr lang="zh-CN" altLang="en-US" sz="2000" b="1" dirty="0">
                          <a:effectLst/>
                        </a:rPr>
                        <a:t>建议</a:t>
                      </a:r>
                      <a:r>
                        <a:rPr lang="en-US" altLang="zh-CN" sz="2000" dirty="0">
                          <a:effectLst/>
                        </a:rPr>
                        <a:t>:</a:t>
                      </a:r>
                    </a:p>
                    <a:p>
                      <a:r>
                        <a:rPr lang="zh-CN" altLang="en-US" sz="2000" dirty="0">
                          <a:effectLst/>
                        </a:rPr>
                        <a:t>补充焊缝强度测试报告</a:t>
                      </a:r>
                    </a:p>
                    <a:p>
                      <a:r>
                        <a:rPr lang="zh-CN" altLang="en-US" sz="2000" dirty="0">
                          <a:effectLst/>
                        </a:rPr>
                        <a:t>提供导热结构胶失效面积判定的试验依据</a:t>
                      </a:r>
                    </a:p>
                    <a:p>
                      <a:r>
                        <a:rPr lang="zh-CN" altLang="en-US" sz="2000" dirty="0">
                          <a:effectLst/>
                        </a:rPr>
                        <a:t>建议进行实物验证试验</a:t>
                      </a:r>
                    </a:p>
                    <a:p>
                      <a:r>
                        <a:rPr lang="en-US" altLang="zh-CN" sz="2000" b="1" dirty="0">
                          <a:effectLst/>
                        </a:rPr>
                        <a:t>2. </a:t>
                      </a:r>
                      <a:r>
                        <a:rPr lang="zh-CN" altLang="en-US" sz="2000" b="1" dirty="0">
                          <a:effectLst/>
                        </a:rPr>
                        <a:t>风险识别与评估</a:t>
                      </a:r>
                    </a:p>
                    <a:p>
                      <a:r>
                        <a:rPr lang="zh-CN" altLang="en-US" sz="2000" b="1" dirty="0">
                          <a:effectLst/>
                        </a:rPr>
                        <a:t>评审结果</a:t>
                      </a:r>
                      <a:r>
                        <a:rPr lang="en-US" altLang="zh-CN" sz="2000" dirty="0">
                          <a:effectLst/>
                        </a:rPr>
                        <a:t>: </a:t>
                      </a:r>
                      <a:r>
                        <a:rPr lang="zh-CN" altLang="en-US" sz="2000" dirty="0">
                          <a:effectLst/>
                        </a:rPr>
                        <a:t>需要改进</a:t>
                      </a:r>
                    </a:p>
                    <a:p>
                      <a:r>
                        <a:rPr lang="zh-CN" altLang="en-US" sz="2000" b="1" dirty="0">
                          <a:effectLst/>
                        </a:rPr>
                        <a:t>问题</a:t>
                      </a:r>
                      <a:r>
                        <a:rPr lang="en-US" altLang="zh-CN" sz="2000" dirty="0">
                          <a:effectLst/>
                        </a:rPr>
                        <a:t>:</a:t>
                      </a:r>
                    </a:p>
                    <a:p>
                      <a:r>
                        <a:rPr lang="en-US" altLang="zh-CN" sz="2000" dirty="0">
                          <a:effectLst/>
                        </a:rPr>
                        <a:t>Y</a:t>
                      </a:r>
                      <a:r>
                        <a:rPr lang="zh-CN" altLang="en-US" sz="2000" dirty="0">
                          <a:effectLst/>
                        </a:rPr>
                        <a:t>向工况下导热结构胶存在局部失效风险</a:t>
                      </a:r>
                    </a:p>
                    <a:p>
                      <a:r>
                        <a:rPr lang="zh-CN" altLang="en-US" sz="2000" dirty="0">
                          <a:effectLst/>
                        </a:rPr>
                        <a:t>缺乏失效后果分析</a:t>
                      </a:r>
                    </a:p>
                    <a:p>
                      <a:r>
                        <a:rPr lang="zh-CN" altLang="en-US" sz="2000" b="1" dirty="0">
                          <a:effectLst/>
                        </a:rPr>
                        <a:t>建议</a:t>
                      </a:r>
                      <a:r>
                        <a:rPr lang="en-US" altLang="zh-CN" sz="2000" dirty="0">
                          <a:effectLst/>
                        </a:rPr>
                        <a:t>:</a:t>
                      </a:r>
                    </a:p>
                    <a:p>
                      <a:r>
                        <a:rPr lang="zh-CN" altLang="en-US" sz="2000" dirty="0">
                          <a:effectLst/>
                        </a:rPr>
                        <a:t>详细分析导热结构胶失效对电池包性能的影响</a:t>
                      </a:r>
                    </a:p>
                    <a:p>
                      <a:r>
                        <a:rPr lang="zh-CN" altLang="en-US" sz="2000" dirty="0">
                          <a:effectLst/>
                        </a:rPr>
                        <a:t>制定风险缓解措施</a:t>
                      </a:r>
                    </a:p>
                    <a:p>
                      <a:r>
                        <a:rPr lang="zh-CN" altLang="en-US" sz="2000" dirty="0">
                          <a:effectLst/>
                        </a:rPr>
                        <a:t>建议进行</a:t>
                      </a:r>
                      <a:r>
                        <a:rPr lang="en-US" altLang="zh-CN" sz="2000" dirty="0">
                          <a:effectLst/>
                        </a:rPr>
                        <a:t>Y</a:t>
                      </a:r>
                      <a:r>
                        <a:rPr lang="zh-CN" altLang="en-US" sz="2000" dirty="0">
                          <a:effectLst/>
                        </a:rPr>
                        <a:t>向工况的实物测试验证</a:t>
                      </a:r>
                    </a:p>
                    <a:p>
                      <a:pPr>
                        <a:spcBef>
                          <a:spcPts val="150"/>
                        </a:spcBef>
                        <a:spcAft>
                          <a:spcPts val="150"/>
                        </a:spcAft>
                        <a:buFont typeface="+mj-lt"/>
                        <a:buAutoNum type="arabicPeriod"/>
                      </a:pPr>
                      <a:endParaRPr lang="en-GB" sz="2000" dirty="0"/>
                    </a:p>
                  </a:txBody>
                  <a:tcPr/>
                </a:tc>
                <a:tc>
                  <a:txBody>
                    <a:bodyPr/>
                    <a:lstStyle/>
                    <a:p>
                      <a:r>
                        <a:rPr lang="en-US" altLang="zh-CN" sz="2000" b="1" dirty="0">
                          <a:effectLst/>
                        </a:rPr>
                        <a:t>3. </a:t>
                      </a:r>
                      <a:r>
                        <a:rPr lang="zh-CN" altLang="en-US" sz="2000" b="1" dirty="0">
                          <a:effectLst/>
                        </a:rPr>
                        <a:t>文档版本控制</a:t>
                      </a:r>
                    </a:p>
                    <a:p>
                      <a:r>
                        <a:rPr lang="zh-CN" altLang="en-US" sz="2000" b="1" dirty="0">
                          <a:effectLst/>
                        </a:rPr>
                        <a:t>评审结果</a:t>
                      </a:r>
                      <a:r>
                        <a:rPr lang="en-US" altLang="zh-CN" sz="2000" dirty="0">
                          <a:effectLst/>
                        </a:rPr>
                        <a:t>: </a:t>
                      </a:r>
                      <a:r>
                        <a:rPr lang="zh-CN" altLang="en-US" sz="2000" dirty="0">
                          <a:effectLst/>
                        </a:rPr>
                        <a:t>需要改进</a:t>
                      </a:r>
                    </a:p>
                    <a:p>
                      <a:r>
                        <a:rPr lang="zh-CN" altLang="en-US" sz="2000" b="1" dirty="0">
                          <a:effectLst/>
                        </a:rPr>
                        <a:t>问题</a:t>
                      </a:r>
                      <a:r>
                        <a:rPr lang="en-US" altLang="zh-CN" sz="2000" dirty="0">
                          <a:effectLst/>
                        </a:rPr>
                        <a:t>:</a:t>
                      </a:r>
                    </a:p>
                    <a:p>
                      <a:r>
                        <a:rPr lang="zh-CN" altLang="en-US" sz="2000" dirty="0">
                          <a:effectLst/>
                        </a:rPr>
                        <a:t>文档标题显示</a:t>
                      </a:r>
                      <a:r>
                        <a:rPr lang="en-US" altLang="zh-CN" sz="2000" dirty="0">
                          <a:effectLst/>
                        </a:rPr>
                        <a:t>"</a:t>
                      </a:r>
                      <a:r>
                        <a:rPr lang="zh-CN" altLang="en-US" sz="2000" dirty="0">
                          <a:effectLst/>
                        </a:rPr>
                        <a:t>纵梁灌胶</a:t>
                      </a:r>
                      <a:r>
                        <a:rPr lang="en-US" altLang="zh-CN" sz="2000" dirty="0">
                          <a:effectLst/>
                        </a:rPr>
                        <a:t>"</a:t>
                      </a:r>
                      <a:r>
                        <a:rPr lang="zh-CN" altLang="en-US" sz="2000" dirty="0">
                          <a:effectLst/>
                        </a:rPr>
                        <a:t>方案，但缺乏方案对比</a:t>
                      </a:r>
                    </a:p>
                    <a:p>
                      <a:r>
                        <a:rPr lang="zh-CN" altLang="en-US" sz="2000" dirty="0">
                          <a:effectLst/>
                        </a:rPr>
                        <a:t>版本信息不完整</a:t>
                      </a:r>
                    </a:p>
                    <a:p>
                      <a:r>
                        <a:rPr lang="zh-CN" altLang="en-US" sz="2000" b="1" dirty="0">
                          <a:effectLst/>
                        </a:rPr>
                        <a:t>建议</a:t>
                      </a:r>
                      <a:r>
                        <a:rPr lang="en-US" altLang="zh-CN" sz="2000" dirty="0">
                          <a:effectLst/>
                        </a:rPr>
                        <a:t>:</a:t>
                      </a:r>
                    </a:p>
                    <a:p>
                      <a:r>
                        <a:rPr lang="zh-CN" altLang="en-US" sz="2000" dirty="0">
                          <a:effectLst/>
                        </a:rPr>
                        <a:t>补充方案对比分析</a:t>
                      </a:r>
                    </a:p>
                    <a:p>
                      <a:r>
                        <a:rPr lang="zh-CN" altLang="en-US" sz="2000" dirty="0">
                          <a:effectLst/>
                        </a:rPr>
                        <a:t>明确版本号和修订记录</a:t>
                      </a:r>
                    </a:p>
                    <a:p>
                      <a:r>
                        <a:rPr lang="zh-CN" altLang="en-US" sz="2000" dirty="0">
                          <a:effectLst/>
                        </a:rPr>
                        <a:t>添加评审人员签字页</a:t>
                      </a:r>
                      <a:endParaRPr lang="en-GB" altLang="zh-CN" sz="2000" dirty="0">
                        <a:effectLst/>
                      </a:endParaRPr>
                    </a:p>
                    <a:p>
                      <a:endParaRPr lang="zh-CN" altLang="en-US" sz="2000" dirty="0">
                        <a:effectLst/>
                      </a:endParaRPr>
                    </a:p>
                    <a:p>
                      <a:r>
                        <a:rPr lang="zh-CN" altLang="en-US" sz="2000" b="1" dirty="0">
                          <a:effectLst/>
                        </a:rPr>
                        <a:t>❌ 不通过项目</a:t>
                      </a:r>
                    </a:p>
                    <a:p>
                      <a:r>
                        <a:rPr lang="en-US" altLang="zh-CN" sz="2000" b="1" dirty="0">
                          <a:effectLst/>
                        </a:rPr>
                        <a:t>1. </a:t>
                      </a:r>
                      <a:r>
                        <a:rPr lang="zh-CN" altLang="en-US" sz="2000" b="1" dirty="0">
                          <a:effectLst/>
                        </a:rPr>
                        <a:t>失效模式分析</a:t>
                      </a:r>
                    </a:p>
                    <a:p>
                      <a:r>
                        <a:rPr lang="zh-CN" altLang="en-US" sz="2000" b="1" dirty="0">
                          <a:effectLst/>
                        </a:rPr>
                        <a:t>评审结果</a:t>
                      </a:r>
                      <a:r>
                        <a:rPr lang="en-US" altLang="zh-CN" sz="2000" dirty="0">
                          <a:effectLst/>
                        </a:rPr>
                        <a:t>: </a:t>
                      </a:r>
                      <a:r>
                        <a:rPr lang="zh-CN" altLang="en-US" sz="2000" dirty="0">
                          <a:effectLst/>
                        </a:rPr>
                        <a:t>不通过</a:t>
                      </a:r>
                    </a:p>
                    <a:p>
                      <a:r>
                        <a:rPr lang="zh-CN" altLang="en-US" sz="2000" b="1" dirty="0">
                          <a:effectLst/>
                        </a:rPr>
                        <a:t>问题</a:t>
                      </a:r>
                      <a:r>
                        <a:rPr lang="en-US" altLang="zh-CN" sz="2000" dirty="0">
                          <a:effectLst/>
                        </a:rPr>
                        <a:t>:</a:t>
                      </a:r>
                    </a:p>
                    <a:p>
                      <a:r>
                        <a:rPr lang="zh-CN" altLang="en-US" sz="2000" dirty="0">
                          <a:effectLst/>
                        </a:rPr>
                        <a:t>缺乏详细的失效模式分析</a:t>
                      </a:r>
                    </a:p>
                    <a:p>
                      <a:r>
                        <a:rPr lang="zh-CN" altLang="en-US" sz="2000" dirty="0">
                          <a:effectLst/>
                        </a:rPr>
                        <a:t>未提供失效机理说明</a:t>
                      </a:r>
                    </a:p>
                    <a:p>
                      <a:r>
                        <a:rPr lang="zh-CN" altLang="en-US" sz="2000" dirty="0">
                          <a:effectLst/>
                        </a:rPr>
                        <a:t>缺少失效预防措施</a:t>
                      </a:r>
                    </a:p>
                    <a:p>
                      <a:r>
                        <a:rPr lang="zh-CN" altLang="en-US" sz="2000" b="1" dirty="0">
                          <a:effectLst/>
                        </a:rPr>
                        <a:t>应对建议</a:t>
                      </a:r>
                      <a:r>
                        <a:rPr lang="en-US" altLang="zh-CN" sz="2000" dirty="0">
                          <a:effectLst/>
                        </a:rPr>
                        <a:t>:</a:t>
                      </a:r>
                    </a:p>
                    <a:p>
                      <a:r>
                        <a:rPr lang="zh-CN" altLang="en-US" sz="2000" dirty="0">
                          <a:effectLst/>
                        </a:rPr>
                        <a:t>补充</a:t>
                      </a:r>
                      <a:r>
                        <a:rPr lang="en-US" altLang="zh-CN" sz="2000" dirty="0">
                          <a:effectLst/>
                        </a:rPr>
                        <a:t>FMEA</a:t>
                      </a:r>
                      <a:r>
                        <a:rPr lang="zh-CN" altLang="en-US" sz="2000" dirty="0">
                          <a:effectLst/>
                        </a:rPr>
                        <a:t>分析报告</a:t>
                      </a:r>
                    </a:p>
                    <a:p>
                      <a:r>
                        <a:rPr lang="zh-CN" altLang="en-US" sz="2000" dirty="0">
                          <a:effectLst/>
                        </a:rPr>
                        <a:t>详细分析导热结构胶失效机理</a:t>
                      </a:r>
                    </a:p>
                    <a:p>
                      <a:r>
                        <a:rPr lang="zh-CN" altLang="en-US" sz="2000" dirty="0">
                          <a:effectLst/>
                        </a:rPr>
                        <a:t>制定预防性维护计划</a:t>
                      </a:r>
                    </a:p>
                    <a:p>
                      <a:r>
                        <a:rPr lang="zh-CN" altLang="en-US" sz="2000" dirty="0">
                          <a:effectLst/>
                        </a:rPr>
                        <a:t>建议在</a:t>
                      </a:r>
                      <a:r>
                        <a:rPr lang="en-US" altLang="zh-CN" sz="2000" dirty="0">
                          <a:effectLst/>
                        </a:rPr>
                        <a:t>Gate 3</a:t>
                      </a:r>
                      <a:r>
                        <a:rPr lang="zh-CN" altLang="en-US" sz="2000" dirty="0">
                          <a:effectLst/>
                        </a:rPr>
                        <a:t>评审前完成</a:t>
                      </a:r>
                    </a:p>
                    <a:p>
                      <a:r>
                        <a:rPr lang="en-US" altLang="zh-CN" sz="2000" b="1" dirty="0">
                          <a:effectLst/>
                        </a:rPr>
                        <a:t>2. </a:t>
                      </a:r>
                      <a:r>
                        <a:rPr lang="zh-CN" altLang="en-US" sz="2000" b="1" dirty="0">
                          <a:effectLst/>
                        </a:rPr>
                        <a:t>后续行动计划</a:t>
                      </a:r>
                    </a:p>
                    <a:p>
                      <a:r>
                        <a:rPr lang="zh-CN" altLang="en-US" sz="2000" b="1" dirty="0">
                          <a:effectLst/>
                        </a:rPr>
                        <a:t>评审结果</a:t>
                      </a:r>
                      <a:r>
                        <a:rPr lang="en-US" altLang="zh-CN" sz="2000" dirty="0">
                          <a:effectLst/>
                        </a:rPr>
                        <a:t>: </a:t>
                      </a:r>
                      <a:r>
                        <a:rPr lang="zh-CN" altLang="en-US" sz="2000" dirty="0">
                          <a:effectLst/>
                        </a:rPr>
                        <a:t>不通过</a:t>
                      </a:r>
                    </a:p>
                    <a:p>
                      <a:r>
                        <a:rPr lang="zh-CN" altLang="en-US" sz="2000" b="1" dirty="0">
                          <a:effectLst/>
                        </a:rPr>
                        <a:t>问题</a:t>
                      </a:r>
                      <a:r>
                        <a:rPr lang="en-US" altLang="zh-CN" sz="2000" dirty="0">
                          <a:effectLst/>
                        </a:rPr>
                        <a:t>:</a:t>
                      </a:r>
                    </a:p>
                    <a:p>
                      <a:r>
                        <a:rPr lang="zh-CN" altLang="en-US" sz="2000" dirty="0">
                          <a:effectLst/>
                        </a:rPr>
                        <a:t>缺乏明确的后续验证计划</a:t>
                      </a:r>
                    </a:p>
                    <a:p>
                      <a:r>
                        <a:rPr lang="zh-CN" altLang="en-US" sz="2000" dirty="0">
                          <a:effectLst/>
                        </a:rPr>
                        <a:t>未制定风险缓解时间表</a:t>
                      </a:r>
                    </a:p>
                    <a:p>
                      <a:r>
                        <a:rPr lang="zh-CN" altLang="en-US" sz="2000" dirty="0">
                          <a:effectLst/>
                        </a:rPr>
                        <a:t>缺少责任人分配</a:t>
                      </a:r>
                    </a:p>
                    <a:p>
                      <a:r>
                        <a:rPr lang="zh-CN" altLang="en-US" sz="2000" b="1" dirty="0">
                          <a:effectLst/>
                        </a:rPr>
                        <a:t>应对建议</a:t>
                      </a:r>
                      <a:r>
                        <a:rPr lang="en-US" altLang="zh-CN" sz="2000" dirty="0">
                          <a:effectLst/>
                        </a:rPr>
                        <a:t>:</a:t>
                      </a:r>
                    </a:p>
                    <a:p>
                      <a:r>
                        <a:rPr lang="zh-CN" altLang="en-US" sz="2000" dirty="0">
                          <a:effectLst/>
                        </a:rPr>
                        <a:t>制定详细的验证试验计划</a:t>
                      </a:r>
                    </a:p>
                    <a:p>
                      <a:r>
                        <a:rPr lang="zh-CN" altLang="en-US" sz="2000" dirty="0">
                          <a:effectLst/>
                        </a:rPr>
                        <a:t>明确各阶段交付物和时间节点</a:t>
                      </a:r>
                    </a:p>
                    <a:p>
                      <a:r>
                        <a:rPr lang="zh-CN" altLang="en-US" sz="2000" dirty="0">
                          <a:effectLst/>
                        </a:rPr>
                        <a:t>分配具体责任人</a:t>
                      </a:r>
                    </a:p>
                    <a:p>
                      <a:r>
                        <a:rPr lang="zh-CN" altLang="en-US" sz="2000" dirty="0">
                          <a:effectLst/>
                        </a:rPr>
                        <a:t>建议在</a:t>
                      </a:r>
                      <a:r>
                        <a:rPr lang="en-US" altLang="zh-CN" sz="2000" dirty="0">
                          <a:effectLst/>
                        </a:rPr>
                        <a:t>2</a:t>
                      </a:r>
                      <a:r>
                        <a:rPr lang="zh-CN" altLang="en-US" sz="2000" dirty="0">
                          <a:effectLst/>
                        </a:rPr>
                        <a:t>周内完成计划制定</a:t>
                      </a:r>
                    </a:p>
                    <a:p>
                      <a:r>
                        <a:rPr lang="en-US" altLang="zh-CN" sz="2000" b="1" dirty="0">
                          <a:effectLst/>
                        </a:rPr>
                        <a:t>3. </a:t>
                      </a:r>
                      <a:r>
                        <a:rPr lang="zh-CN" altLang="en-US" sz="2000" b="1" dirty="0">
                          <a:effectLst/>
                        </a:rPr>
                        <a:t>交付物完整性</a:t>
                      </a:r>
                    </a:p>
                    <a:p>
                      <a:r>
                        <a:rPr lang="zh-CN" altLang="en-US" sz="2000" b="1" dirty="0">
                          <a:effectLst/>
                        </a:rPr>
                        <a:t>评审结果</a:t>
                      </a:r>
                      <a:r>
                        <a:rPr lang="en-US" altLang="zh-CN" sz="2000" dirty="0">
                          <a:effectLst/>
                        </a:rPr>
                        <a:t>: </a:t>
                      </a:r>
                      <a:r>
                        <a:rPr lang="zh-CN" altLang="en-US" sz="2000" dirty="0">
                          <a:effectLst/>
                        </a:rPr>
                        <a:t>不通过</a:t>
                      </a:r>
                    </a:p>
                    <a:p>
                      <a:r>
                        <a:rPr lang="zh-CN" altLang="en-US" sz="2000" b="1" dirty="0">
                          <a:effectLst/>
                        </a:rPr>
                        <a:t>问题</a:t>
                      </a:r>
                      <a:r>
                        <a:rPr lang="en-US" altLang="zh-CN" sz="2000" dirty="0">
                          <a:effectLst/>
                        </a:rPr>
                        <a:t>:</a:t>
                      </a:r>
                    </a:p>
                    <a:p>
                      <a:r>
                        <a:rPr lang="zh-CN" altLang="en-US" sz="2000" dirty="0">
                          <a:effectLst/>
                        </a:rPr>
                        <a:t>缺少试验验证报告</a:t>
                      </a:r>
                    </a:p>
                    <a:p>
                      <a:r>
                        <a:rPr lang="zh-CN" altLang="en-US" sz="2000" dirty="0">
                          <a:effectLst/>
                        </a:rPr>
                        <a:t>缺乏供应商能力评估</a:t>
                      </a:r>
                    </a:p>
                    <a:p>
                      <a:r>
                        <a:rPr lang="zh-CN" altLang="en-US" sz="2000" dirty="0">
                          <a:effectLst/>
                        </a:rPr>
                        <a:t>未包含成本影响分析</a:t>
                      </a:r>
                    </a:p>
                    <a:p>
                      <a:r>
                        <a:rPr lang="zh-CN" altLang="en-US" sz="2000" b="1" dirty="0">
                          <a:effectLst/>
                        </a:rPr>
                        <a:t>应对建议</a:t>
                      </a:r>
                      <a:r>
                        <a:rPr lang="en-US" altLang="zh-CN" sz="2000" dirty="0">
                          <a:effectLst/>
                        </a:rPr>
                        <a:t>:</a:t>
                      </a:r>
                    </a:p>
                    <a:p>
                      <a:r>
                        <a:rPr lang="zh-CN" altLang="en-US" sz="2000" dirty="0">
                          <a:effectLst/>
                        </a:rPr>
                        <a:t>补充实物试验验证报告</a:t>
                      </a:r>
                    </a:p>
                    <a:p>
                      <a:r>
                        <a:rPr lang="zh-CN" altLang="en-US" sz="2000" dirty="0">
                          <a:effectLst/>
                        </a:rPr>
                        <a:t>评估供应商技术能力</a:t>
                      </a:r>
                    </a:p>
                    <a:p>
                      <a:r>
                        <a:rPr lang="zh-CN" altLang="en-US" sz="2000" dirty="0">
                          <a:effectLst/>
                        </a:rPr>
                        <a:t>分析设计变更对成本的影响</a:t>
                      </a:r>
                    </a:p>
                    <a:p>
                      <a:r>
                        <a:rPr lang="zh-CN" altLang="en-US" sz="2000" dirty="0">
                          <a:effectLst/>
                        </a:rPr>
                        <a:t>建议在</a:t>
                      </a:r>
                      <a:r>
                        <a:rPr lang="en-US" altLang="zh-CN" sz="2000" dirty="0">
                          <a:effectLst/>
                        </a:rPr>
                        <a:t>Gate 3</a:t>
                      </a:r>
                      <a:r>
                        <a:rPr lang="zh-CN" altLang="en-US" sz="2000" dirty="0">
                          <a:effectLst/>
                        </a:rPr>
                        <a:t>前完成所有交付物</a:t>
                      </a:r>
                      <a:endParaRPr lang="en-GB" sz="2000" dirty="0"/>
                    </a:p>
                  </a:txBody>
                  <a:tcPr/>
                </a:tc>
                <a:tc>
                  <a:txBody>
                    <a:bodyPr/>
                    <a:lstStyle/>
                    <a:p>
                      <a:r>
                        <a:rPr lang="zh-CN" altLang="en-US" sz="2000" b="1" dirty="0">
                          <a:effectLst/>
                        </a:rPr>
                        <a:t>优点</a:t>
                      </a:r>
                    </a:p>
                    <a:p>
                      <a:r>
                        <a:rPr lang="zh-CN" altLang="en-US" sz="2000" dirty="0">
                          <a:effectLst/>
                        </a:rPr>
                        <a:t>仿真分析技术路线正确</a:t>
                      </a:r>
                    </a:p>
                    <a:p>
                      <a:r>
                        <a:rPr lang="zh-CN" altLang="en-US" sz="2000" dirty="0">
                          <a:effectLst/>
                        </a:rPr>
                        <a:t>大部分结构件满足强度要求</a:t>
                      </a:r>
                    </a:p>
                    <a:p>
                      <a:r>
                        <a:rPr lang="zh-CN" altLang="en-US" sz="2000" dirty="0">
                          <a:effectLst/>
                        </a:rPr>
                        <a:t>工况设置符合行业标准</a:t>
                      </a:r>
                    </a:p>
                    <a:p>
                      <a:r>
                        <a:rPr lang="zh-CN" altLang="en-US" sz="2000" b="1" dirty="0">
                          <a:effectLst/>
                        </a:rPr>
                        <a:t>主要风险</a:t>
                      </a:r>
                    </a:p>
                    <a:p>
                      <a:r>
                        <a:rPr lang="zh-CN" altLang="en-US" sz="2000" b="1" dirty="0">
                          <a:effectLst/>
                        </a:rPr>
                        <a:t>导热结构胶失效风险</a:t>
                      </a:r>
                      <a:r>
                        <a:rPr lang="en-US" altLang="zh-CN" sz="2000" dirty="0">
                          <a:effectLst/>
                        </a:rPr>
                        <a:t>: Y</a:t>
                      </a:r>
                      <a:r>
                        <a:rPr lang="zh-CN" altLang="en-US" sz="2000" dirty="0">
                          <a:effectLst/>
                        </a:rPr>
                        <a:t>向工况下存在局部失效，需要重点关注</a:t>
                      </a:r>
                    </a:p>
                    <a:p>
                      <a:r>
                        <a:rPr lang="zh-CN" altLang="en-US" sz="2000" b="1" dirty="0">
                          <a:effectLst/>
                        </a:rPr>
                        <a:t>验证不充分</a:t>
                      </a:r>
                      <a:r>
                        <a:rPr lang="en-US" altLang="zh-CN" sz="2000" dirty="0">
                          <a:effectLst/>
                        </a:rPr>
                        <a:t>: </a:t>
                      </a:r>
                      <a:r>
                        <a:rPr lang="zh-CN" altLang="en-US" sz="2000" dirty="0">
                          <a:effectLst/>
                        </a:rPr>
                        <a:t>缺乏实物试验验证</a:t>
                      </a:r>
                    </a:p>
                    <a:p>
                      <a:r>
                        <a:rPr lang="zh-CN" altLang="en-US" sz="2000" b="1" dirty="0">
                          <a:effectLst/>
                        </a:rPr>
                        <a:t>文档不完整</a:t>
                      </a:r>
                      <a:r>
                        <a:rPr lang="en-US" altLang="zh-CN" sz="2000" dirty="0">
                          <a:effectLst/>
                        </a:rPr>
                        <a:t>: </a:t>
                      </a:r>
                      <a:r>
                        <a:rPr lang="zh-CN" altLang="en-US" sz="2000" dirty="0">
                          <a:effectLst/>
                        </a:rPr>
                        <a:t>缺少关键的分析和验证文件</a:t>
                      </a:r>
                    </a:p>
                    <a:p>
                      <a:r>
                        <a:rPr lang="zh-CN" altLang="en-US" sz="2000" b="1" dirty="0">
                          <a:effectLst/>
                        </a:rPr>
                        <a:t>建议行动</a:t>
                      </a:r>
                    </a:p>
                    <a:p>
                      <a:r>
                        <a:rPr lang="zh-CN" altLang="en-US" sz="2000" b="1" dirty="0">
                          <a:effectLst/>
                        </a:rPr>
                        <a:t>立即行动</a:t>
                      </a:r>
                      <a:r>
                        <a:rPr lang="zh-CN" altLang="en-US" sz="2000" dirty="0">
                          <a:effectLst/>
                        </a:rPr>
                        <a:t>（</a:t>
                      </a:r>
                      <a:r>
                        <a:rPr lang="en-US" altLang="zh-CN" sz="2000" dirty="0">
                          <a:effectLst/>
                        </a:rPr>
                        <a:t>1</a:t>
                      </a:r>
                      <a:r>
                        <a:rPr lang="zh-CN" altLang="en-US" sz="2000" dirty="0">
                          <a:effectLst/>
                        </a:rPr>
                        <a:t>周内）</a:t>
                      </a:r>
                      <a:r>
                        <a:rPr lang="en-US" altLang="zh-CN" sz="2000" dirty="0">
                          <a:effectLst/>
                        </a:rPr>
                        <a:t>:</a:t>
                      </a:r>
                    </a:p>
                    <a:p>
                      <a:r>
                        <a:rPr lang="zh-CN" altLang="en-US" sz="2000" dirty="0">
                          <a:effectLst/>
                        </a:rPr>
                        <a:t>制定详细的验证试验计划</a:t>
                      </a:r>
                    </a:p>
                    <a:p>
                      <a:r>
                        <a:rPr lang="zh-CN" altLang="en-US" sz="2000" dirty="0">
                          <a:effectLst/>
                        </a:rPr>
                        <a:t>补充失效模式分析</a:t>
                      </a:r>
                    </a:p>
                    <a:p>
                      <a:r>
                        <a:rPr lang="zh-CN" altLang="en-US" sz="2000" dirty="0">
                          <a:effectLst/>
                        </a:rPr>
                        <a:t>完善文档版本控制</a:t>
                      </a:r>
                    </a:p>
                    <a:p>
                      <a:r>
                        <a:rPr lang="zh-CN" altLang="en-US" sz="2000" b="1" dirty="0">
                          <a:effectLst/>
                        </a:rPr>
                        <a:t>短期行动</a:t>
                      </a:r>
                      <a:r>
                        <a:rPr lang="zh-CN" altLang="en-US" sz="2000" dirty="0">
                          <a:effectLst/>
                        </a:rPr>
                        <a:t>（</a:t>
                      </a:r>
                      <a:r>
                        <a:rPr lang="en-US" altLang="zh-CN" sz="2000" dirty="0">
                          <a:effectLst/>
                        </a:rPr>
                        <a:t>2</a:t>
                      </a:r>
                      <a:r>
                        <a:rPr lang="zh-CN" altLang="en-US" sz="2000" dirty="0">
                          <a:effectLst/>
                        </a:rPr>
                        <a:t>周内）</a:t>
                      </a:r>
                      <a:r>
                        <a:rPr lang="en-US" altLang="zh-CN" sz="2000" dirty="0">
                          <a:effectLst/>
                        </a:rPr>
                        <a:t>:</a:t>
                      </a:r>
                    </a:p>
                    <a:p>
                      <a:r>
                        <a:rPr lang="zh-CN" altLang="en-US" sz="2000" dirty="0">
                          <a:effectLst/>
                        </a:rPr>
                        <a:t>进行</a:t>
                      </a:r>
                      <a:r>
                        <a:rPr lang="en-US" altLang="zh-CN" sz="2000" dirty="0">
                          <a:effectLst/>
                        </a:rPr>
                        <a:t>Y</a:t>
                      </a:r>
                      <a:r>
                        <a:rPr lang="zh-CN" altLang="en-US" sz="2000" dirty="0">
                          <a:effectLst/>
                        </a:rPr>
                        <a:t>向工况实物验证</a:t>
                      </a:r>
                    </a:p>
                    <a:p>
                      <a:r>
                        <a:rPr lang="zh-CN" altLang="en-US" sz="2000" dirty="0">
                          <a:effectLst/>
                        </a:rPr>
                        <a:t>完成供应商能力评估</a:t>
                      </a:r>
                    </a:p>
                    <a:p>
                      <a:r>
                        <a:rPr lang="zh-CN" altLang="en-US" sz="2000" dirty="0">
                          <a:effectLst/>
                        </a:rPr>
                        <a:t>制定风险缓解措施</a:t>
                      </a:r>
                    </a:p>
                    <a:p>
                      <a:r>
                        <a:rPr lang="zh-CN" altLang="en-US" sz="2000" b="1" dirty="0">
                          <a:effectLst/>
                        </a:rPr>
                        <a:t>中期行动</a:t>
                      </a:r>
                      <a:r>
                        <a:rPr lang="zh-CN" altLang="en-US" sz="2000" dirty="0">
                          <a:effectLst/>
                        </a:rPr>
                        <a:t>（</a:t>
                      </a:r>
                      <a:r>
                        <a:rPr lang="en-US" altLang="zh-CN" sz="2000" dirty="0">
                          <a:effectLst/>
                        </a:rPr>
                        <a:t>1</a:t>
                      </a:r>
                      <a:r>
                        <a:rPr lang="zh-CN" altLang="en-US" sz="2000" dirty="0">
                          <a:effectLst/>
                        </a:rPr>
                        <a:t>个月内）</a:t>
                      </a:r>
                      <a:r>
                        <a:rPr lang="en-US" altLang="zh-CN" sz="2000" dirty="0">
                          <a:effectLst/>
                        </a:rPr>
                        <a:t>:</a:t>
                      </a:r>
                    </a:p>
                    <a:p>
                      <a:r>
                        <a:rPr lang="zh-CN" altLang="en-US" sz="2000" dirty="0">
                          <a:effectLst/>
                        </a:rPr>
                        <a:t>完成所有验证试验</a:t>
                      </a:r>
                    </a:p>
                    <a:p>
                      <a:r>
                        <a:rPr lang="zh-CN" altLang="en-US" sz="2000" dirty="0">
                          <a:effectLst/>
                        </a:rPr>
                        <a:t>更新分析报告</a:t>
                      </a:r>
                    </a:p>
                    <a:p>
                      <a:r>
                        <a:rPr lang="zh-CN" altLang="en-US" sz="2000" dirty="0">
                          <a:effectLst/>
                        </a:rPr>
                        <a:t>准备</a:t>
                      </a:r>
                      <a:r>
                        <a:rPr lang="en-US" altLang="zh-CN" sz="2000" dirty="0">
                          <a:effectLst/>
                        </a:rPr>
                        <a:t>Gate 3</a:t>
                      </a:r>
                      <a:r>
                        <a:rPr lang="zh-CN" altLang="en-US" sz="2000" dirty="0">
                          <a:effectLst/>
                        </a:rPr>
                        <a:t>评审材料</a:t>
                      </a:r>
                    </a:p>
                    <a:p>
                      <a:r>
                        <a:rPr lang="zh-CN" altLang="en-US" sz="2000" b="1" dirty="0">
                          <a:effectLst/>
                        </a:rPr>
                        <a:t>结论</a:t>
                      </a:r>
                    </a:p>
                    <a:p>
                      <a:r>
                        <a:rPr lang="zh-CN" altLang="en-US" sz="2000" dirty="0">
                          <a:effectLst/>
                        </a:rPr>
                        <a:t>该报告在技术分析方面基本满足要求，但在风险管理和验证完整性方面存在不足。建议在进入</a:t>
                      </a:r>
                      <a:r>
                        <a:rPr lang="en-US" altLang="zh-CN" sz="2000" dirty="0">
                          <a:effectLst/>
                        </a:rPr>
                        <a:t>Gate 3</a:t>
                      </a:r>
                      <a:r>
                        <a:rPr lang="zh-CN" altLang="en-US" sz="2000" dirty="0">
                          <a:effectLst/>
                        </a:rPr>
                        <a:t>之前完成所有改进项目，确保项目风险可控。</a:t>
                      </a:r>
                      <a:endParaRPr lang="en-GB" sz="2000" dirty="0"/>
                    </a:p>
                  </a:txBody>
                  <a:tcPr/>
                </a:tc>
                <a:extLst>
                  <a:ext uri="{0D108BD9-81ED-4DB2-BD59-A6C34878D82A}">
                    <a16:rowId xmlns:a16="http://schemas.microsoft.com/office/drawing/2014/main" val="604853937"/>
                  </a:ext>
                </a:extLst>
              </a:tr>
            </a:tbl>
          </a:graphicData>
        </a:graphic>
      </p:graphicFrame>
    </p:spTree>
    <p:extLst>
      <p:ext uri="{BB962C8B-B14F-4D97-AF65-F5344CB8AC3E}">
        <p14:creationId xmlns:p14="http://schemas.microsoft.com/office/powerpoint/2010/main" val="1571144923"/>
      </p:ext>
    </p:extLst>
  </p:cSld>
  <p:clrMapOvr>
    <a:masterClrMapping/>
  </p:clrMapOvr>
  <p:transition spd="med"/>
  <p:extLst>
    <p:ext uri="{6950BFC3-D8DA-4A85-94F7-54DA5524770B}">
      <p188:commentRel xmlns:p188="http://schemas.microsoft.com/office/powerpoint/2018/8/main" r:id="rId2"/>
    </p:ext>
  </p:extLs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5D703-FB4A-0196-29AD-EE70E7E1AA99}"/>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173B6661-2105-4EDE-2835-7B9596AB8575}"/>
              </a:ext>
            </a:extLst>
          </p:cNvPr>
          <p:cNvSpPr txBox="1"/>
          <p:nvPr/>
        </p:nvSpPr>
        <p:spPr>
          <a:xfrm>
            <a:off x="1737559" y="755986"/>
            <a:ext cx="17078475" cy="646331"/>
          </a:xfrm>
          <a:prstGeom prst="rect">
            <a:avLst/>
          </a:prstGeom>
          <a:noFill/>
        </p:spPr>
        <p:txBody>
          <a:bodyPr wrap="square" numCol="1">
            <a:spAutoFit/>
          </a:bodyPr>
          <a:lstStyle/>
          <a:p>
            <a:pPr>
              <a:spcBef>
                <a:spcPts val="1500"/>
              </a:spcBef>
              <a:spcAft>
                <a:spcPts val="750"/>
              </a:spcAft>
              <a:buNone/>
            </a:pPr>
            <a:r>
              <a:rPr lang="en-US" altLang="zh-CN" sz="3600" b="1" dirty="0">
                <a:effectLst/>
              </a:rPr>
              <a:t>B</a:t>
            </a:r>
            <a:r>
              <a:rPr lang="zh-CN" altLang="en-US" sz="3600" b="1" dirty="0">
                <a:effectLst/>
              </a:rPr>
              <a:t>样阶段</a:t>
            </a:r>
            <a:r>
              <a:rPr lang="en-US" altLang="zh-CN" sz="3600" b="1" dirty="0"/>
              <a:t>《570-941A</a:t>
            </a:r>
            <a:r>
              <a:rPr lang="zh-CN" altLang="en-US" sz="3600" b="1" dirty="0"/>
              <a:t>电池包内部热仿真分析报告</a:t>
            </a:r>
            <a:r>
              <a:rPr lang="en-US" altLang="zh-CN" sz="3600" b="1" dirty="0"/>
              <a:t>-</a:t>
            </a:r>
            <a:r>
              <a:rPr lang="zh-CN" altLang="en-US" sz="3600" b="1" dirty="0"/>
              <a:t>低温快充</a:t>
            </a:r>
            <a:r>
              <a:rPr lang="en-US" altLang="zh-CN" sz="3600" b="1" dirty="0"/>
              <a:t>-2.5.pptx》</a:t>
            </a:r>
            <a:r>
              <a:rPr lang="zh-CN" altLang="en-US" sz="3600" b="1" dirty="0">
                <a:effectLst/>
              </a:rPr>
              <a:t>审核报告</a:t>
            </a:r>
          </a:p>
        </p:txBody>
      </p:sp>
      <p:graphicFrame>
        <p:nvGraphicFramePr>
          <p:cNvPr id="2" name="表格 1">
            <a:extLst>
              <a:ext uri="{FF2B5EF4-FFF2-40B4-BE49-F238E27FC236}">
                <a16:creationId xmlns:a16="http://schemas.microsoft.com/office/drawing/2014/main" id="{6B4736D8-15BA-4665-4FB0-957B762133DE}"/>
              </a:ext>
            </a:extLst>
          </p:cNvPr>
          <p:cNvGraphicFramePr>
            <a:graphicFrameLocks noGrp="1"/>
          </p:cNvGraphicFramePr>
          <p:nvPr>
            <p:extLst>
              <p:ext uri="{D42A27DB-BD31-4B8C-83A1-F6EECF244321}">
                <p14:modId xmlns:p14="http://schemas.microsoft.com/office/powerpoint/2010/main" val="2079133244"/>
              </p:ext>
            </p:extLst>
          </p:nvPr>
        </p:nvGraphicFramePr>
        <p:xfrm>
          <a:off x="662354" y="1738812"/>
          <a:ext cx="23059292" cy="14124538"/>
        </p:xfrm>
        <a:graphic>
          <a:graphicData uri="http://schemas.openxmlformats.org/drawingml/2006/table">
            <a:tbl>
              <a:tblPr firstRow="1" bandRow="1"/>
              <a:tblGrid>
                <a:gridCol w="3777299">
                  <a:extLst>
                    <a:ext uri="{9D8B030D-6E8A-4147-A177-3AD203B41FA5}">
                      <a16:colId xmlns:a16="http://schemas.microsoft.com/office/drawing/2014/main" val="520135011"/>
                    </a:ext>
                  </a:extLst>
                </a:gridCol>
                <a:gridCol w="6809873">
                  <a:extLst>
                    <a:ext uri="{9D8B030D-6E8A-4147-A177-3AD203B41FA5}">
                      <a16:colId xmlns:a16="http://schemas.microsoft.com/office/drawing/2014/main" val="585926975"/>
                    </a:ext>
                  </a:extLst>
                </a:gridCol>
                <a:gridCol w="6870032">
                  <a:extLst>
                    <a:ext uri="{9D8B030D-6E8A-4147-A177-3AD203B41FA5}">
                      <a16:colId xmlns:a16="http://schemas.microsoft.com/office/drawing/2014/main" val="3081416713"/>
                    </a:ext>
                  </a:extLst>
                </a:gridCol>
                <a:gridCol w="5602088">
                  <a:extLst>
                    <a:ext uri="{9D8B030D-6E8A-4147-A177-3AD203B41FA5}">
                      <a16:colId xmlns:a16="http://schemas.microsoft.com/office/drawing/2014/main" val="572010187"/>
                    </a:ext>
                  </a:extLst>
                </a:gridCol>
              </a:tblGrid>
              <a:tr h="901298">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审查清单制定</a:t>
                      </a:r>
                    </a:p>
                  </a:txBody>
                  <a:tcPr anchor="ctr"/>
                </a:tc>
                <a:tc gridSpan="2">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逐项审核结果</a:t>
                      </a:r>
                    </a:p>
                  </a:txBody>
                  <a:tcPr anchor="ctr"/>
                </a:tc>
                <a:tc hMerge="1">
                  <a:txBody>
                    <a:bodyPr/>
                    <a:lstStyle/>
                    <a:p>
                      <a:pPr algn="ctr"/>
                      <a:endParaRPr lang="en-GB" sz="2000" dirty="0"/>
                    </a:p>
                  </a:txBody>
                  <a:tcPr/>
                </a:tc>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总体评估</a:t>
                      </a:r>
                    </a:p>
                  </a:txBody>
                  <a:tcPr anchor="ctr"/>
                </a:tc>
                <a:extLst>
                  <a:ext uri="{0D108BD9-81ED-4DB2-BD59-A6C34878D82A}">
                    <a16:rowId xmlns:a16="http://schemas.microsoft.com/office/drawing/2014/main" val="2562292327"/>
                  </a:ext>
                </a:extLst>
              </a:tr>
              <a:tr h="10086326">
                <a:tc>
                  <a:txBody>
                    <a:bodyPr/>
                    <a:lstStyle/>
                    <a:p>
                      <a:r>
                        <a:rPr lang="en-US" altLang="zh-CN" sz="2000" b="1" dirty="0">
                          <a:effectLst/>
                        </a:rPr>
                        <a:t>1. </a:t>
                      </a:r>
                      <a:r>
                        <a:rPr lang="zh-CN" altLang="en-US" sz="2000" b="1" dirty="0">
                          <a:effectLst/>
                        </a:rPr>
                        <a:t>文档完整性审查</a:t>
                      </a:r>
                    </a:p>
                    <a:p>
                      <a:r>
                        <a:rPr lang="zh-CN" altLang="en-US" sz="2000" dirty="0">
                          <a:effectLst/>
                        </a:rPr>
                        <a:t>文档基本信息完整性</a:t>
                      </a:r>
                    </a:p>
                    <a:p>
                      <a:r>
                        <a:rPr lang="zh-CN" altLang="en-US" sz="2000" dirty="0">
                          <a:effectLst/>
                        </a:rPr>
                        <a:t>项目信息准确性</a:t>
                      </a:r>
                    </a:p>
                    <a:p>
                      <a:r>
                        <a:rPr lang="zh-CN" altLang="en-US" sz="2000" dirty="0">
                          <a:effectLst/>
                        </a:rPr>
                        <a:t>责任人及审核人信息</a:t>
                      </a:r>
                    </a:p>
                    <a:p>
                      <a:r>
                        <a:rPr lang="zh-CN" altLang="en-US" sz="2000" dirty="0">
                          <a:effectLst/>
                        </a:rPr>
                        <a:t>版本控制标识</a:t>
                      </a:r>
                    </a:p>
                    <a:p>
                      <a:r>
                        <a:rPr lang="en-US" altLang="zh-CN" sz="2000" b="1" dirty="0">
                          <a:effectLst/>
                        </a:rPr>
                        <a:t>2. </a:t>
                      </a:r>
                      <a:r>
                        <a:rPr lang="zh-CN" altLang="en-US" sz="2000" b="1" dirty="0">
                          <a:effectLst/>
                        </a:rPr>
                        <a:t>技术内容完整性审查</a:t>
                      </a:r>
                    </a:p>
                    <a:p>
                      <a:r>
                        <a:rPr lang="zh-CN" altLang="en-US" sz="2000" dirty="0">
                          <a:effectLst/>
                        </a:rPr>
                        <a:t>仿真模型描述</a:t>
                      </a:r>
                    </a:p>
                    <a:p>
                      <a:r>
                        <a:rPr lang="zh-CN" altLang="en-US" sz="2000" dirty="0">
                          <a:effectLst/>
                        </a:rPr>
                        <a:t>材质参数定义</a:t>
                      </a:r>
                    </a:p>
                    <a:p>
                      <a:r>
                        <a:rPr lang="zh-CN" altLang="en-US" sz="2000" dirty="0">
                          <a:effectLst/>
                        </a:rPr>
                        <a:t>边界条件设定</a:t>
                      </a:r>
                    </a:p>
                    <a:p>
                      <a:r>
                        <a:rPr lang="zh-CN" altLang="en-US" sz="2000" dirty="0">
                          <a:effectLst/>
                        </a:rPr>
                        <a:t>工况定义完整性</a:t>
                      </a:r>
                    </a:p>
                    <a:p>
                      <a:r>
                        <a:rPr lang="zh-CN" altLang="en-US" sz="2000" dirty="0">
                          <a:effectLst/>
                        </a:rPr>
                        <a:t>仿真结果数据完整性</a:t>
                      </a:r>
                    </a:p>
                    <a:p>
                      <a:r>
                        <a:rPr lang="en-US" altLang="zh-CN" sz="2000" b="1" dirty="0">
                          <a:effectLst/>
                        </a:rPr>
                        <a:t>3. </a:t>
                      </a:r>
                      <a:r>
                        <a:rPr lang="zh-CN" altLang="en-US" sz="2000" b="1" dirty="0">
                          <a:effectLst/>
                        </a:rPr>
                        <a:t>质量合规性审查</a:t>
                      </a:r>
                    </a:p>
                    <a:p>
                      <a:r>
                        <a:rPr lang="zh-CN" altLang="en-US" sz="2000" dirty="0">
                          <a:effectLst/>
                        </a:rPr>
                        <a:t>客户目标达成情况</a:t>
                      </a:r>
                    </a:p>
                    <a:p>
                      <a:r>
                        <a:rPr lang="zh-CN" altLang="en-US" sz="2000" dirty="0">
                          <a:effectLst/>
                        </a:rPr>
                        <a:t>技术指标符合性</a:t>
                      </a:r>
                    </a:p>
                    <a:p>
                      <a:r>
                        <a:rPr lang="zh-CN" altLang="en-US" sz="2000" dirty="0">
                          <a:effectLst/>
                        </a:rPr>
                        <a:t>安全裕度评估</a:t>
                      </a:r>
                    </a:p>
                    <a:p>
                      <a:r>
                        <a:rPr lang="zh-CN" altLang="en-US" sz="2000" dirty="0">
                          <a:effectLst/>
                        </a:rPr>
                        <a:t>风险识别与评估</a:t>
                      </a:r>
                    </a:p>
                    <a:p>
                      <a:r>
                        <a:rPr lang="en-US" altLang="zh-CN" sz="2000" b="1" dirty="0">
                          <a:effectLst/>
                        </a:rPr>
                        <a:t>4. </a:t>
                      </a:r>
                      <a:r>
                        <a:rPr lang="zh-CN" altLang="en-US" sz="2000" b="1" dirty="0">
                          <a:effectLst/>
                        </a:rPr>
                        <a:t>数据可靠性审查</a:t>
                      </a:r>
                    </a:p>
                    <a:p>
                      <a:r>
                        <a:rPr lang="zh-CN" altLang="en-US" sz="2000" dirty="0">
                          <a:effectLst/>
                        </a:rPr>
                        <a:t>仿真方法合理性</a:t>
                      </a:r>
                    </a:p>
                    <a:p>
                      <a:r>
                        <a:rPr lang="zh-CN" altLang="en-US" sz="2000" dirty="0">
                          <a:effectLst/>
                        </a:rPr>
                        <a:t>数据一致性</a:t>
                      </a:r>
                    </a:p>
                    <a:p>
                      <a:r>
                        <a:rPr lang="zh-CN" altLang="en-US" sz="2000" dirty="0">
                          <a:effectLst/>
                        </a:rPr>
                        <a:t>结果可重复性</a:t>
                      </a:r>
                    </a:p>
                    <a:p>
                      <a:r>
                        <a:rPr lang="zh-CN" altLang="en-US" sz="2000" dirty="0">
                          <a:effectLst/>
                        </a:rPr>
                        <a:t>异常数据分析</a:t>
                      </a:r>
                    </a:p>
                    <a:p>
                      <a:r>
                        <a:rPr lang="en-US" altLang="zh-CN" sz="2000" b="1" dirty="0">
                          <a:effectLst/>
                        </a:rPr>
                        <a:t>5. </a:t>
                      </a:r>
                      <a:r>
                        <a:rPr lang="zh-CN" altLang="en-US" sz="2000" b="1" dirty="0">
                          <a:effectLst/>
                        </a:rPr>
                        <a:t>项目管理审查</a:t>
                      </a:r>
                    </a:p>
                    <a:p>
                      <a:r>
                        <a:rPr lang="zh-CN" altLang="en-US" sz="2000" dirty="0">
                          <a:effectLst/>
                        </a:rPr>
                        <a:t>时间节点符合性</a:t>
                      </a:r>
                    </a:p>
                    <a:p>
                      <a:r>
                        <a:rPr lang="zh-CN" altLang="en-US" sz="2000" dirty="0">
                          <a:effectLst/>
                        </a:rPr>
                        <a:t>资源分配合理性</a:t>
                      </a:r>
                    </a:p>
                    <a:p>
                      <a:r>
                        <a:rPr lang="zh-CN" altLang="en-US" sz="2000" dirty="0">
                          <a:effectLst/>
                        </a:rPr>
                        <a:t>风险缓解措施</a:t>
                      </a:r>
                    </a:p>
                    <a:p>
                      <a:r>
                        <a:rPr lang="zh-CN" altLang="en-US" sz="2000" dirty="0">
                          <a:effectLst/>
                        </a:rPr>
                        <a:t>后续行动计划</a:t>
                      </a:r>
                    </a:p>
                    <a:p>
                      <a:pPr>
                        <a:spcBef>
                          <a:spcPts val="1200"/>
                        </a:spcBef>
                        <a:spcAft>
                          <a:spcPts val="600"/>
                        </a:spcAft>
                        <a:buNone/>
                      </a:pPr>
                      <a:endParaRPr lang="en-GB" sz="2000" dirty="0"/>
                    </a:p>
                  </a:txBody>
                  <a:tcPr/>
                </a:tc>
                <a:tc>
                  <a:txBody>
                    <a:bodyPr/>
                    <a:lstStyle/>
                    <a:p>
                      <a:r>
                        <a:rPr lang="en-US" altLang="zh-CN" sz="2000" b="1" dirty="0">
                          <a:effectLst/>
                        </a:rPr>
                        <a:t>1. </a:t>
                      </a:r>
                      <a:r>
                        <a:rPr lang="zh-CN" altLang="en-US" sz="2000" b="1" dirty="0">
                          <a:effectLst/>
                        </a:rPr>
                        <a:t>文档完整性审查</a:t>
                      </a:r>
                    </a:p>
                    <a:p>
                      <a:r>
                        <a:rPr lang="zh-CN" altLang="en-US" sz="2000" b="1" dirty="0">
                          <a:effectLst/>
                        </a:rPr>
                        <a:t>审查结果：⚠️ 部分通过</a:t>
                      </a:r>
                      <a:endParaRPr lang="en-GB" altLang="zh-CN" sz="2000" b="1" dirty="0">
                        <a:effectLst/>
                      </a:endParaRPr>
                    </a:p>
                    <a:p>
                      <a:r>
                        <a:rPr lang="zh-CN" altLang="en-US" sz="2000" b="1" dirty="0">
                          <a:effectLst/>
                        </a:rPr>
                        <a:t>问题识别：</a:t>
                      </a:r>
                      <a:r>
                        <a:rPr lang="zh-CN" altLang="en-US" sz="2000" dirty="0">
                          <a:effectLst/>
                        </a:rPr>
                        <a:t>文档基本信息基本完整，包含项目名称、时间、责任人、审核人</a:t>
                      </a:r>
                    </a:p>
                    <a:p>
                      <a:r>
                        <a:rPr lang="zh-CN" altLang="en-US" sz="2000" dirty="0">
                          <a:effectLst/>
                        </a:rPr>
                        <a:t>缺少文档版本号、修订历史、分发清单等关键信息</a:t>
                      </a:r>
                    </a:p>
                    <a:p>
                      <a:r>
                        <a:rPr lang="zh-CN" altLang="en-US" sz="2000" dirty="0">
                          <a:effectLst/>
                        </a:rPr>
                        <a:t>缺少文档保密等级标识</a:t>
                      </a:r>
                    </a:p>
                    <a:p>
                      <a:r>
                        <a:rPr lang="zh-CN" altLang="en-US" sz="2000" b="1" dirty="0">
                          <a:effectLst/>
                        </a:rPr>
                        <a:t>应对建议：</a:t>
                      </a:r>
                      <a:r>
                        <a:rPr lang="zh-CN" altLang="en-US" sz="2000" dirty="0">
                          <a:effectLst/>
                        </a:rPr>
                        <a:t>立即补充文档版本控制信息（建议版本：</a:t>
                      </a:r>
                      <a:r>
                        <a:rPr lang="en-US" altLang="zh-CN" sz="2000" dirty="0">
                          <a:effectLst/>
                        </a:rPr>
                        <a:t>B</a:t>
                      </a:r>
                      <a:r>
                        <a:rPr lang="zh-CN" altLang="en-US" sz="2000" dirty="0">
                          <a:effectLst/>
                        </a:rPr>
                        <a:t>样阶段 </a:t>
                      </a:r>
                      <a:r>
                        <a:rPr lang="en-US" altLang="zh-CN" sz="2000" dirty="0">
                          <a:effectLst/>
                        </a:rPr>
                        <a:t>v1.0</a:t>
                      </a:r>
                      <a:r>
                        <a:rPr lang="zh-CN" altLang="en-US" sz="2000" dirty="0">
                          <a:effectLst/>
                        </a:rPr>
                        <a:t>）</a:t>
                      </a:r>
                    </a:p>
                    <a:p>
                      <a:r>
                        <a:rPr lang="zh-CN" altLang="en-US" sz="2000" dirty="0">
                          <a:effectLst/>
                        </a:rPr>
                        <a:t>添加修订历史记录表</a:t>
                      </a:r>
                    </a:p>
                    <a:p>
                      <a:r>
                        <a:rPr lang="zh-CN" altLang="en-US" sz="2000" dirty="0">
                          <a:effectLst/>
                        </a:rPr>
                        <a:t>明确文档保密等级和分发范围</a:t>
                      </a:r>
                    </a:p>
                    <a:p>
                      <a:r>
                        <a:rPr lang="zh-CN" altLang="en-US" sz="2000" dirty="0">
                          <a:effectLst/>
                        </a:rPr>
                        <a:t>建立文档变更控制流程</a:t>
                      </a:r>
                    </a:p>
                    <a:p>
                      <a:r>
                        <a:rPr lang="en-US" altLang="zh-CN" sz="2000" b="1" dirty="0">
                          <a:effectLst/>
                        </a:rPr>
                        <a:t>2. </a:t>
                      </a:r>
                      <a:r>
                        <a:rPr lang="zh-CN" altLang="en-US" sz="2000" b="1" dirty="0">
                          <a:effectLst/>
                        </a:rPr>
                        <a:t>技术内容完整性审查</a:t>
                      </a:r>
                    </a:p>
                    <a:p>
                      <a:r>
                        <a:rPr lang="zh-CN" altLang="en-US" sz="2000" b="1" dirty="0">
                          <a:effectLst/>
                        </a:rPr>
                        <a:t>审查结果：❌ 不通过</a:t>
                      </a:r>
                      <a:endParaRPr lang="en-GB" altLang="zh-CN" sz="2000" b="1" dirty="0">
                        <a:effectLst/>
                      </a:endParaRPr>
                    </a:p>
                    <a:p>
                      <a:r>
                        <a:rPr lang="zh-CN" altLang="en-US" sz="2000" b="1" dirty="0">
                          <a:effectLst/>
                        </a:rPr>
                        <a:t>关键问题：</a:t>
                      </a:r>
                      <a:r>
                        <a:rPr lang="en-US" altLang="zh-CN" sz="2000" b="1" dirty="0">
                          <a:effectLst/>
                        </a:rPr>
                        <a:t>2.1 </a:t>
                      </a:r>
                      <a:r>
                        <a:rPr lang="zh-CN" altLang="en-US" sz="2000" b="1" dirty="0">
                          <a:effectLst/>
                        </a:rPr>
                        <a:t>仿真模型描述缺失</a:t>
                      </a:r>
                    </a:p>
                    <a:p>
                      <a:r>
                        <a:rPr lang="zh-CN" altLang="en-US" sz="2000" b="1" dirty="0">
                          <a:effectLst/>
                        </a:rPr>
                        <a:t>问题</a:t>
                      </a:r>
                      <a:r>
                        <a:rPr lang="zh-CN" altLang="en-US" sz="2000" dirty="0">
                          <a:effectLst/>
                        </a:rPr>
                        <a:t>：文档中仅列出</a:t>
                      </a:r>
                      <a:r>
                        <a:rPr lang="en-US" altLang="zh-CN" sz="2000" dirty="0">
                          <a:effectLst/>
                        </a:rPr>
                        <a:t>"</a:t>
                      </a:r>
                      <a:r>
                        <a:rPr lang="zh-CN" altLang="en-US" sz="2000" dirty="0">
                          <a:effectLst/>
                        </a:rPr>
                        <a:t>仿真模型</a:t>
                      </a:r>
                      <a:r>
                        <a:rPr lang="en-US" altLang="zh-CN" sz="2000" dirty="0">
                          <a:effectLst/>
                        </a:rPr>
                        <a:t>"</a:t>
                      </a:r>
                      <a:r>
                        <a:rPr lang="zh-CN" altLang="en-US" sz="2000" dirty="0">
                          <a:effectLst/>
                        </a:rPr>
                        <a:t>标题，但无具体内容</a:t>
                      </a:r>
                    </a:p>
                    <a:p>
                      <a:r>
                        <a:rPr lang="zh-CN" altLang="en-US" sz="2000" b="1" dirty="0">
                          <a:effectLst/>
                        </a:rPr>
                        <a:t>风险等级</a:t>
                      </a:r>
                      <a:r>
                        <a:rPr lang="zh-CN" altLang="en-US" sz="2000" dirty="0">
                          <a:effectLst/>
                        </a:rPr>
                        <a:t>：高</a:t>
                      </a:r>
                    </a:p>
                    <a:p>
                      <a:r>
                        <a:rPr lang="zh-CN" altLang="en-US" sz="2000" b="1" dirty="0">
                          <a:effectLst/>
                        </a:rPr>
                        <a:t>影响</a:t>
                      </a:r>
                      <a:r>
                        <a:rPr lang="zh-CN" altLang="en-US" sz="2000" dirty="0">
                          <a:effectLst/>
                        </a:rPr>
                        <a:t>：无法验证仿真方法的合理性和准确性</a:t>
                      </a:r>
                    </a:p>
                    <a:p>
                      <a:r>
                        <a:rPr lang="zh-CN" altLang="en-US" sz="2000" b="1" dirty="0">
                          <a:effectLst/>
                        </a:rPr>
                        <a:t>应对建议</a:t>
                      </a:r>
                      <a:r>
                        <a:rPr lang="zh-CN" altLang="en-US" sz="2000" dirty="0">
                          <a:effectLst/>
                        </a:rPr>
                        <a:t>：</a:t>
                      </a:r>
                    </a:p>
                    <a:p>
                      <a:r>
                        <a:rPr lang="zh-CN" altLang="en-US" sz="2000" dirty="0">
                          <a:effectLst/>
                        </a:rPr>
                        <a:t>补充完整的仿真模型描述</a:t>
                      </a:r>
                    </a:p>
                    <a:p>
                      <a:r>
                        <a:rPr lang="zh-CN" altLang="en-US" sz="2000" dirty="0">
                          <a:effectLst/>
                        </a:rPr>
                        <a:t>包含网格划分策略、边界条件设定</a:t>
                      </a:r>
                    </a:p>
                    <a:p>
                      <a:r>
                        <a:rPr lang="zh-CN" altLang="en-US" sz="2000" dirty="0">
                          <a:effectLst/>
                        </a:rPr>
                        <a:t>提供模型验证数据</a:t>
                      </a:r>
                    </a:p>
                    <a:p>
                      <a:r>
                        <a:rPr lang="zh-CN" altLang="en-US" sz="2000" dirty="0">
                          <a:effectLst/>
                        </a:rPr>
                        <a:t>建立模型变更控制流程</a:t>
                      </a:r>
                    </a:p>
                    <a:p>
                      <a:r>
                        <a:rPr lang="en-US" altLang="zh-CN" sz="2000" b="1" dirty="0">
                          <a:effectLst/>
                        </a:rPr>
                        <a:t>2.2 </a:t>
                      </a:r>
                      <a:r>
                        <a:rPr lang="zh-CN" altLang="en-US" sz="2000" b="1" dirty="0">
                          <a:effectLst/>
                        </a:rPr>
                        <a:t>材质参数定义缺失</a:t>
                      </a:r>
                    </a:p>
                    <a:p>
                      <a:r>
                        <a:rPr lang="zh-CN" altLang="en-US" sz="2000" b="1" dirty="0">
                          <a:effectLst/>
                        </a:rPr>
                        <a:t>问题</a:t>
                      </a:r>
                      <a:r>
                        <a:rPr lang="zh-CN" altLang="en-US" sz="2000" dirty="0">
                          <a:effectLst/>
                        </a:rPr>
                        <a:t>：文档中仅列出</a:t>
                      </a:r>
                      <a:r>
                        <a:rPr lang="en-US" altLang="zh-CN" sz="2000" dirty="0">
                          <a:effectLst/>
                        </a:rPr>
                        <a:t>"</a:t>
                      </a:r>
                      <a:r>
                        <a:rPr lang="zh-CN" altLang="en-US" sz="2000" dirty="0">
                          <a:effectLst/>
                        </a:rPr>
                        <a:t>材质参数</a:t>
                      </a:r>
                      <a:r>
                        <a:rPr lang="en-US" altLang="zh-CN" sz="2000" dirty="0">
                          <a:effectLst/>
                        </a:rPr>
                        <a:t>"</a:t>
                      </a:r>
                      <a:r>
                        <a:rPr lang="zh-CN" altLang="en-US" sz="2000" dirty="0">
                          <a:effectLst/>
                        </a:rPr>
                        <a:t>标题，但无具体参数值</a:t>
                      </a:r>
                    </a:p>
                    <a:p>
                      <a:r>
                        <a:rPr lang="zh-CN" altLang="en-US" sz="2000" b="1" dirty="0">
                          <a:effectLst/>
                        </a:rPr>
                        <a:t>风险等级</a:t>
                      </a:r>
                      <a:r>
                        <a:rPr lang="zh-CN" altLang="en-US" sz="2000" dirty="0">
                          <a:effectLst/>
                        </a:rPr>
                        <a:t>：高</a:t>
                      </a:r>
                    </a:p>
                    <a:p>
                      <a:r>
                        <a:rPr lang="zh-CN" altLang="en-US" sz="2000" b="1" dirty="0">
                          <a:effectLst/>
                        </a:rPr>
                        <a:t>影响</a:t>
                      </a:r>
                      <a:r>
                        <a:rPr lang="zh-CN" altLang="en-US" sz="2000" dirty="0">
                          <a:effectLst/>
                        </a:rPr>
                        <a:t>：仿真结果无法追溯和验证</a:t>
                      </a:r>
                    </a:p>
                    <a:p>
                      <a:r>
                        <a:rPr lang="zh-CN" altLang="en-US" sz="2000" b="1" dirty="0">
                          <a:effectLst/>
                        </a:rPr>
                        <a:t>应对建议</a:t>
                      </a:r>
                      <a:r>
                        <a:rPr lang="zh-CN" altLang="en-US" sz="2000" dirty="0">
                          <a:effectLst/>
                        </a:rPr>
                        <a:t>：</a:t>
                      </a:r>
                    </a:p>
                    <a:p>
                      <a:r>
                        <a:rPr lang="zh-CN" altLang="en-US" sz="2000" dirty="0">
                          <a:effectLst/>
                        </a:rPr>
                        <a:t>详细列出所有关键材质的热物理参数</a:t>
                      </a:r>
                    </a:p>
                    <a:p>
                      <a:r>
                        <a:rPr lang="zh-CN" altLang="en-US" sz="2000" dirty="0">
                          <a:effectLst/>
                        </a:rPr>
                        <a:t>包含参数来源和测试方法</a:t>
                      </a:r>
                    </a:p>
                    <a:p>
                      <a:r>
                        <a:rPr lang="zh-CN" altLang="en-US" sz="2000" dirty="0">
                          <a:effectLst/>
                        </a:rPr>
                        <a:t>建立参数数据库管理</a:t>
                      </a:r>
                    </a:p>
                    <a:p>
                      <a:r>
                        <a:rPr lang="zh-CN" altLang="en-US" sz="2000" dirty="0">
                          <a:effectLst/>
                        </a:rPr>
                        <a:t>定期更新参数有效性</a:t>
                      </a:r>
                    </a:p>
                    <a:p>
                      <a:r>
                        <a:rPr lang="en-US" altLang="zh-CN" sz="2000" b="1" dirty="0">
                          <a:effectLst/>
                        </a:rPr>
                        <a:t>3. </a:t>
                      </a:r>
                      <a:r>
                        <a:rPr lang="zh-CN" altLang="en-US" sz="2000" b="1" dirty="0">
                          <a:effectLst/>
                        </a:rPr>
                        <a:t>质量合规性审查</a:t>
                      </a:r>
                    </a:p>
                    <a:p>
                      <a:r>
                        <a:rPr lang="zh-CN" altLang="en-US" sz="2000" b="1" dirty="0">
                          <a:effectLst/>
                        </a:rPr>
                        <a:t>审查结果：⚠️ 部分通过</a:t>
                      </a:r>
                      <a:endParaRPr lang="en-GB" altLang="zh-CN" sz="2000" b="1" dirty="0">
                        <a:effectLst/>
                      </a:endParaRPr>
                    </a:p>
                    <a:p>
                      <a:r>
                        <a:rPr lang="zh-CN" altLang="en-US" sz="2000" b="1" dirty="0">
                          <a:effectLst/>
                        </a:rPr>
                        <a:t>问题识别：</a:t>
                      </a:r>
                      <a:r>
                        <a:rPr lang="en-US" altLang="zh-CN" sz="2000" b="1" dirty="0">
                          <a:effectLst/>
                        </a:rPr>
                        <a:t>3.1 </a:t>
                      </a:r>
                      <a:r>
                        <a:rPr lang="zh-CN" altLang="en-US" sz="2000" b="1" dirty="0">
                          <a:effectLst/>
                        </a:rPr>
                        <a:t>客户目标达成情况</a:t>
                      </a:r>
                    </a:p>
                    <a:p>
                      <a:r>
                        <a:rPr lang="en-US" altLang="zh-CN" sz="2000" b="1" dirty="0">
                          <a:effectLst/>
                        </a:rPr>
                        <a:t>-10℃</a:t>
                      </a:r>
                      <a:r>
                        <a:rPr lang="zh-CN" altLang="en-US" sz="2000" b="1" dirty="0">
                          <a:effectLst/>
                        </a:rPr>
                        <a:t>工况</a:t>
                      </a:r>
                      <a:r>
                        <a:rPr lang="zh-CN" altLang="en-US" sz="2000" dirty="0">
                          <a:effectLst/>
                        </a:rPr>
                        <a:t>：</a:t>
                      </a:r>
                    </a:p>
                    <a:p>
                      <a:r>
                        <a:rPr lang="zh-CN" altLang="en-US" sz="2000" dirty="0">
                          <a:effectLst/>
                        </a:rPr>
                        <a:t>客户目标：</a:t>
                      </a:r>
                      <a:r>
                        <a:rPr lang="en-US" altLang="zh-CN" sz="2000" dirty="0">
                          <a:effectLst/>
                        </a:rPr>
                        <a:t>0~80%SOC ≤32min</a:t>
                      </a:r>
                      <a:r>
                        <a:rPr lang="zh-CN" altLang="en-US" sz="2000" dirty="0">
                          <a:effectLst/>
                        </a:rPr>
                        <a:t>，温差≤</a:t>
                      </a:r>
                      <a:r>
                        <a:rPr lang="en-US" altLang="zh-CN" sz="2000" dirty="0">
                          <a:effectLst/>
                        </a:rPr>
                        <a:t>8℃</a:t>
                      </a:r>
                    </a:p>
                    <a:p>
                      <a:r>
                        <a:rPr lang="zh-CN" altLang="en-US" sz="2000" dirty="0">
                          <a:effectLst/>
                        </a:rPr>
                        <a:t>实际结果：</a:t>
                      </a:r>
                      <a:r>
                        <a:rPr lang="en-US" altLang="zh-CN" sz="2000" dirty="0">
                          <a:effectLst/>
                        </a:rPr>
                        <a:t>0~80%SOC 49.5min</a:t>
                      </a:r>
                      <a:r>
                        <a:rPr lang="zh-CN" altLang="en-US" sz="2000" dirty="0">
                          <a:effectLst/>
                        </a:rPr>
                        <a:t>，温差</a:t>
                      </a:r>
                      <a:r>
                        <a:rPr lang="en-US" altLang="zh-CN" sz="2000" dirty="0">
                          <a:effectLst/>
                        </a:rPr>
                        <a:t>6.4℃</a:t>
                      </a:r>
                    </a:p>
                    <a:p>
                      <a:r>
                        <a:rPr lang="zh-CN" altLang="en-US" sz="2000" b="1" dirty="0">
                          <a:effectLst/>
                        </a:rPr>
                        <a:t>结论</a:t>
                      </a:r>
                      <a:r>
                        <a:rPr lang="zh-CN" altLang="en-US" sz="2000" dirty="0">
                          <a:effectLst/>
                        </a:rPr>
                        <a:t>：时间超出目标</a:t>
                      </a:r>
                      <a:r>
                        <a:rPr lang="en-US" altLang="zh-CN" sz="2000" dirty="0">
                          <a:effectLst/>
                        </a:rPr>
                        <a:t>54.7%</a:t>
                      </a:r>
                      <a:r>
                        <a:rPr lang="zh-CN" altLang="en-US" sz="2000" dirty="0">
                          <a:effectLst/>
                        </a:rPr>
                        <a:t>，温差符合要求</a:t>
                      </a:r>
                    </a:p>
                    <a:p>
                      <a:r>
                        <a:rPr lang="en-US" altLang="zh-CN" sz="2000" b="1" dirty="0">
                          <a:effectLst/>
                        </a:rPr>
                        <a:t>-20℃</a:t>
                      </a:r>
                      <a:r>
                        <a:rPr lang="zh-CN" altLang="en-US" sz="2000" b="1" dirty="0">
                          <a:effectLst/>
                        </a:rPr>
                        <a:t>工况</a:t>
                      </a:r>
                      <a:r>
                        <a:rPr lang="zh-CN" altLang="en-US" sz="2000" dirty="0">
                          <a:effectLst/>
                        </a:rPr>
                        <a:t>：</a:t>
                      </a:r>
                    </a:p>
                    <a:p>
                      <a:r>
                        <a:rPr lang="zh-CN" altLang="en-US" sz="2000" dirty="0">
                          <a:effectLst/>
                        </a:rPr>
                        <a:t>客户目标：</a:t>
                      </a:r>
                      <a:r>
                        <a:rPr lang="en-US" altLang="zh-CN" sz="2000" dirty="0">
                          <a:effectLst/>
                        </a:rPr>
                        <a:t>0~89%SOC ≤60min</a:t>
                      </a:r>
                      <a:r>
                        <a:rPr lang="zh-CN" altLang="en-US" sz="2000" dirty="0">
                          <a:effectLst/>
                        </a:rPr>
                        <a:t>，温差≤</a:t>
                      </a:r>
                      <a:r>
                        <a:rPr lang="en-US" altLang="zh-CN" sz="2000" dirty="0">
                          <a:effectLst/>
                        </a:rPr>
                        <a:t>8℃</a:t>
                      </a:r>
                    </a:p>
                    <a:p>
                      <a:r>
                        <a:rPr lang="zh-CN" altLang="en-US" sz="2000" dirty="0">
                          <a:effectLst/>
                        </a:rPr>
                        <a:t>实际结果：</a:t>
                      </a:r>
                      <a:r>
                        <a:rPr lang="en-US" altLang="zh-CN" sz="2000" dirty="0">
                          <a:effectLst/>
                        </a:rPr>
                        <a:t>0~80%SOC 55.2min</a:t>
                      </a:r>
                      <a:r>
                        <a:rPr lang="zh-CN" altLang="en-US" sz="2000" dirty="0">
                          <a:effectLst/>
                        </a:rPr>
                        <a:t>，温差</a:t>
                      </a:r>
                      <a:r>
                        <a:rPr lang="en-US" altLang="zh-CN" sz="2000" dirty="0">
                          <a:effectLst/>
                        </a:rPr>
                        <a:t>7.4℃</a:t>
                      </a:r>
                    </a:p>
                    <a:p>
                      <a:r>
                        <a:rPr lang="zh-CN" altLang="en-US" sz="2000" b="1" dirty="0">
                          <a:effectLst/>
                        </a:rPr>
                        <a:t>结论</a:t>
                      </a:r>
                      <a:r>
                        <a:rPr lang="zh-CN" altLang="en-US" sz="2000" dirty="0">
                          <a:effectLst/>
                        </a:rPr>
                        <a:t>：时间接近目标，温差符合要求</a:t>
                      </a:r>
                    </a:p>
                    <a:p>
                      <a:pPr>
                        <a:spcBef>
                          <a:spcPts val="150"/>
                        </a:spcBef>
                        <a:spcAft>
                          <a:spcPts val="150"/>
                        </a:spcAft>
                        <a:buFont typeface="+mj-lt"/>
                        <a:buAutoNum type="arabicPeriod"/>
                      </a:pPr>
                      <a:endParaRPr lang="en-GB" sz="2000" dirty="0"/>
                    </a:p>
                  </a:txBody>
                  <a:tcPr/>
                </a:tc>
                <a:tc>
                  <a:txBody>
                    <a:bodyPr/>
                    <a:lstStyle/>
                    <a:p>
                      <a:r>
                        <a:rPr lang="en-US" altLang="zh-CN" sz="2000" b="1" dirty="0">
                          <a:effectLst/>
                        </a:rPr>
                        <a:t>3.2 </a:t>
                      </a:r>
                      <a:r>
                        <a:rPr lang="zh-CN" altLang="en-US" sz="2000" b="1" dirty="0">
                          <a:effectLst/>
                        </a:rPr>
                        <a:t>风险评估</a:t>
                      </a:r>
                    </a:p>
                    <a:p>
                      <a:r>
                        <a:rPr lang="zh-CN" altLang="en-US" sz="2000" b="1" dirty="0">
                          <a:effectLst/>
                        </a:rPr>
                        <a:t>高风险项</a:t>
                      </a:r>
                      <a:r>
                        <a:rPr lang="zh-CN" altLang="en-US" sz="2000" dirty="0">
                          <a:effectLst/>
                        </a:rPr>
                        <a:t>：充电时间严重超出客户目标</a:t>
                      </a:r>
                    </a:p>
                    <a:p>
                      <a:r>
                        <a:rPr lang="zh-CN" altLang="en-US" sz="2000" b="1" dirty="0">
                          <a:effectLst/>
                        </a:rPr>
                        <a:t>中风险项</a:t>
                      </a:r>
                      <a:r>
                        <a:rPr lang="zh-CN" altLang="en-US" sz="2000" dirty="0">
                          <a:effectLst/>
                        </a:rPr>
                        <a:t>：缺少安全裕度分析</a:t>
                      </a:r>
                    </a:p>
                    <a:p>
                      <a:r>
                        <a:rPr lang="zh-CN" altLang="en-US" sz="2000" b="1" dirty="0">
                          <a:effectLst/>
                        </a:rPr>
                        <a:t>应对建议</a:t>
                      </a:r>
                      <a:r>
                        <a:rPr lang="zh-CN" altLang="en-US" sz="2000" dirty="0">
                          <a:effectLst/>
                        </a:rPr>
                        <a:t>：</a:t>
                      </a:r>
                    </a:p>
                    <a:p>
                      <a:r>
                        <a:rPr lang="zh-CN" altLang="en-US" sz="2000" dirty="0">
                          <a:effectLst/>
                        </a:rPr>
                        <a:t>立即启动充电策略优化项目</a:t>
                      </a:r>
                    </a:p>
                    <a:p>
                      <a:r>
                        <a:rPr lang="zh-CN" altLang="en-US" sz="2000" dirty="0">
                          <a:effectLst/>
                        </a:rPr>
                        <a:t>建立充电时间改善计划</a:t>
                      </a:r>
                    </a:p>
                    <a:p>
                      <a:r>
                        <a:rPr lang="zh-CN" altLang="en-US" sz="2000" dirty="0">
                          <a:effectLst/>
                        </a:rPr>
                        <a:t>补充安全裕度分析报告</a:t>
                      </a:r>
                    </a:p>
                    <a:p>
                      <a:r>
                        <a:rPr lang="zh-CN" altLang="en-US" sz="2000" dirty="0">
                          <a:effectLst/>
                        </a:rPr>
                        <a:t>制定应急响应预案</a:t>
                      </a:r>
                    </a:p>
                    <a:p>
                      <a:r>
                        <a:rPr lang="en-US" altLang="zh-CN" sz="2000" b="1" dirty="0">
                          <a:effectLst/>
                        </a:rPr>
                        <a:t>4. </a:t>
                      </a:r>
                      <a:r>
                        <a:rPr lang="zh-CN" altLang="en-US" sz="2000" b="1" dirty="0">
                          <a:effectLst/>
                        </a:rPr>
                        <a:t>数据可靠性审查</a:t>
                      </a:r>
                    </a:p>
                    <a:p>
                      <a:r>
                        <a:rPr lang="zh-CN" altLang="en-US" sz="2000" b="1" dirty="0">
                          <a:effectLst/>
                        </a:rPr>
                        <a:t>审查结果：❌ 不通过</a:t>
                      </a:r>
                      <a:endParaRPr lang="en-GB" altLang="zh-CN" sz="2000" b="1" dirty="0">
                        <a:effectLst/>
                      </a:endParaRPr>
                    </a:p>
                    <a:p>
                      <a:r>
                        <a:rPr lang="zh-CN" altLang="en-US" sz="2000" b="1" dirty="0">
                          <a:effectLst/>
                        </a:rPr>
                        <a:t>关键问题：</a:t>
                      </a:r>
                      <a:r>
                        <a:rPr lang="en-US" altLang="zh-CN" sz="2000" b="1" dirty="0">
                          <a:effectLst/>
                        </a:rPr>
                        <a:t>4.1 </a:t>
                      </a:r>
                      <a:r>
                        <a:rPr lang="zh-CN" altLang="en-US" sz="2000" b="1" dirty="0">
                          <a:effectLst/>
                        </a:rPr>
                        <a:t>仿真方法合理性</a:t>
                      </a:r>
                    </a:p>
                    <a:p>
                      <a:r>
                        <a:rPr lang="zh-CN" altLang="en-US" sz="2000" b="1" dirty="0">
                          <a:effectLst/>
                        </a:rPr>
                        <a:t>问题</a:t>
                      </a:r>
                      <a:r>
                        <a:rPr lang="zh-CN" altLang="en-US" sz="2000" dirty="0">
                          <a:effectLst/>
                        </a:rPr>
                        <a:t>：缺少仿真软件、求解器、收敛标准等关键信息</a:t>
                      </a:r>
                    </a:p>
                    <a:p>
                      <a:r>
                        <a:rPr lang="zh-CN" altLang="en-US" sz="2000" b="1" dirty="0">
                          <a:effectLst/>
                        </a:rPr>
                        <a:t>风险等级</a:t>
                      </a:r>
                      <a:r>
                        <a:rPr lang="zh-CN" altLang="en-US" sz="2000" dirty="0">
                          <a:effectLst/>
                        </a:rPr>
                        <a:t>：高</a:t>
                      </a:r>
                    </a:p>
                    <a:p>
                      <a:r>
                        <a:rPr lang="zh-CN" altLang="en-US" sz="2000" b="1" dirty="0">
                          <a:effectLst/>
                        </a:rPr>
                        <a:t>应对建议</a:t>
                      </a:r>
                      <a:r>
                        <a:rPr lang="zh-CN" altLang="en-US" sz="2000" dirty="0">
                          <a:effectLst/>
                        </a:rPr>
                        <a:t>：</a:t>
                      </a:r>
                    </a:p>
                    <a:p>
                      <a:r>
                        <a:rPr lang="zh-CN" altLang="en-US" sz="2000" dirty="0">
                          <a:effectLst/>
                        </a:rPr>
                        <a:t>补充完整的仿真方法描述</a:t>
                      </a:r>
                    </a:p>
                    <a:p>
                      <a:r>
                        <a:rPr lang="zh-CN" altLang="en-US" sz="2000" dirty="0">
                          <a:effectLst/>
                        </a:rPr>
                        <a:t>提供网格独立性验证</a:t>
                      </a:r>
                    </a:p>
                    <a:p>
                      <a:r>
                        <a:rPr lang="zh-CN" altLang="en-US" sz="2000" dirty="0">
                          <a:effectLst/>
                        </a:rPr>
                        <a:t>建立仿真标准操作程序</a:t>
                      </a:r>
                    </a:p>
                    <a:p>
                      <a:r>
                        <a:rPr lang="zh-CN" altLang="en-US" sz="2000" dirty="0">
                          <a:effectLst/>
                        </a:rPr>
                        <a:t>定期进行仿真能力评估</a:t>
                      </a:r>
                    </a:p>
                    <a:p>
                      <a:r>
                        <a:rPr lang="en-US" altLang="zh-CN" sz="2000" b="1" dirty="0">
                          <a:effectLst/>
                        </a:rPr>
                        <a:t>4.2 </a:t>
                      </a:r>
                      <a:r>
                        <a:rPr lang="zh-CN" altLang="en-US" sz="2000" b="1" dirty="0">
                          <a:effectLst/>
                        </a:rPr>
                        <a:t>数据一致性</a:t>
                      </a:r>
                    </a:p>
                    <a:p>
                      <a:r>
                        <a:rPr lang="zh-CN" altLang="en-US" sz="2000" b="1" dirty="0">
                          <a:effectLst/>
                        </a:rPr>
                        <a:t>问题</a:t>
                      </a:r>
                      <a:r>
                        <a:rPr lang="zh-CN" altLang="en-US" sz="2000" dirty="0">
                          <a:effectLst/>
                        </a:rPr>
                        <a:t>：表格中时间单位不一致（</a:t>
                      </a:r>
                      <a:r>
                        <a:rPr lang="en-US" altLang="zh-CN" sz="2000" dirty="0">
                          <a:effectLst/>
                        </a:rPr>
                        <a:t>min vs s</a:t>
                      </a:r>
                      <a:r>
                        <a:rPr lang="zh-CN" altLang="en-US" sz="2000" dirty="0">
                          <a:effectLst/>
                        </a:rPr>
                        <a:t>）</a:t>
                      </a:r>
                    </a:p>
                    <a:p>
                      <a:r>
                        <a:rPr lang="zh-CN" altLang="en-US" sz="2000" b="1" dirty="0">
                          <a:effectLst/>
                        </a:rPr>
                        <a:t>风险等级</a:t>
                      </a:r>
                      <a:r>
                        <a:rPr lang="zh-CN" altLang="en-US" sz="2000" dirty="0">
                          <a:effectLst/>
                        </a:rPr>
                        <a:t>：中</a:t>
                      </a:r>
                    </a:p>
                    <a:p>
                      <a:r>
                        <a:rPr lang="zh-CN" altLang="en-US" sz="2000" b="1" dirty="0">
                          <a:effectLst/>
                        </a:rPr>
                        <a:t>应对建议</a:t>
                      </a:r>
                      <a:r>
                        <a:rPr lang="zh-CN" altLang="en-US" sz="2000" dirty="0">
                          <a:effectLst/>
                        </a:rPr>
                        <a:t>：</a:t>
                      </a:r>
                    </a:p>
                    <a:p>
                      <a:r>
                        <a:rPr lang="zh-CN" altLang="en-US" sz="2000" dirty="0">
                          <a:effectLst/>
                        </a:rPr>
                        <a:t>统一时间单位表示方法</a:t>
                      </a:r>
                    </a:p>
                    <a:p>
                      <a:r>
                        <a:rPr lang="zh-CN" altLang="en-US" sz="2000" dirty="0">
                          <a:effectLst/>
                        </a:rPr>
                        <a:t>建立数据标准化流程</a:t>
                      </a:r>
                    </a:p>
                    <a:p>
                      <a:r>
                        <a:rPr lang="zh-CN" altLang="en-US" sz="2000" dirty="0">
                          <a:effectLst/>
                        </a:rPr>
                        <a:t>加强数据审核机制</a:t>
                      </a:r>
                    </a:p>
                    <a:p>
                      <a:r>
                        <a:rPr lang="en-US" altLang="zh-CN" sz="2000" b="1" dirty="0">
                          <a:effectLst/>
                        </a:rPr>
                        <a:t>5. </a:t>
                      </a:r>
                      <a:r>
                        <a:rPr lang="zh-CN" altLang="en-US" sz="2000" b="1" dirty="0">
                          <a:effectLst/>
                        </a:rPr>
                        <a:t>项目管理审查</a:t>
                      </a:r>
                    </a:p>
                    <a:p>
                      <a:r>
                        <a:rPr lang="zh-CN" altLang="en-US" sz="2000" b="1" dirty="0">
                          <a:effectLst/>
                        </a:rPr>
                        <a:t>审查结果：⚠️ 部分通过</a:t>
                      </a:r>
                      <a:endParaRPr lang="en-GB" altLang="zh-CN" sz="2000" b="1" dirty="0">
                        <a:effectLst/>
                      </a:endParaRPr>
                    </a:p>
                    <a:p>
                      <a:r>
                        <a:rPr lang="zh-CN" altLang="en-US" sz="2000" b="1" dirty="0">
                          <a:effectLst/>
                        </a:rPr>
                        <a:t>问题识别：</a:t>
                      </a:r>
                      <a:r>
                        <a:rPr lang="en-US" altLang="zh-CN" sz="2000" b="1" dirty="0">
                          <a:effectLst/>
                        </a:rPr>
                        <a:t>5.1 </a:t>
                      </a:r>
                      <a:r>
                        <a:rPr lang="zh-CN" altLang="en-US" sz="2000" b="1" dirty="0">
                          <a:effectLst/>
                        </a:rPr>
                        <a:t>时间节点符合性</a:t>
                      </a:r>
                    </a:p>
                    <a:p>
                      <a:r>
                        <a:rPr lang="zh-CN" altLang="en-US" sz="2000" b="1" dirty="0">
                          <a:effectLst/>
                        </a:rPr>
                        <a:t>报告时间</a:t>
                      </a:r>
                      <a:r>
                        <a:rPr lang="zh-CN" altLang="en-US" sz="2000" dirty="0">
                          <a:effectLst/>
                        </a:rPr>
                        <a:t>：</a:t>
                      </a:r>
                      <a:r>
                        <a:rPr lang="en-US" altLang="zh-CN" sz="2000" dirty="0">
                          <a:effectLst/>
                        </a:rPr>
                        <a:t>2024.02.05</a:t>
                      </a:r>
                    </a:p>
                    <a:p>
                      <a:r>
                        <a:rPr lang="en-US" altLang="zh-CN" sz="2000" b="1" dirty="0">
                          <a:effectLst/>
                        </a:rPr>
                        <a:t>B</a:t>
                      </a:r>
                      <a:r>
                        <a:rPr lang="zh-CN" altLang="en-US" sz="2000" b="1" dirty="0">
                          <a:effectLst/>
                        </a:rPr>
                        <a:t>样阶段要求</a:t>
                      </a:r>
                      <a:r>
                        <a:rPr lang="zh-CN" altLang="en-US" sz="2000" dirty="0">
                          <a:effectLst/>
                        </a:rPr>
                        <a:t>：需要评估是否符合项目里程碑</a:t>
                      </a:r>
                    </a:p>
                    <a:p>
                      <a:r>
                        <a:rPr lang="zh-CN" altLang="en-US" sz="2000" b="1" dirty="0">
                          <a:effectLst/>
                        </a:rPr>
                        <a:t>应对建议</a:t>
                      </a:r>
                      <a:r>
                        <a:rPr lang="zh-CN" altLang="en-US" sz="2000" dirty="0">
                          <a:effectLst/>
                        </a:rPr>
                        <a:t>：</a:t>
                      </a:r>
                    </a:p>
                    <a:p>
                      <a:r>
                        <a:rPr lang="zh-CN" altLang="en-US" sz="2000" dirty="0">
                          <a:effectLst/>
                        </a:rPr>
                        <a:t>确认报告提交时间是否符合项目计划</a:t>
                      </a:r>
                    </a:p>
                    <a:p>
                      <a:r>
                        <a:rPr lang="zh-CN" altLang="en-US" sz="2000" dirty="0">
                          <a:effectLst/>
                        </a:rPr>
                        <a:t>评估对后续节点的影响</a:t>
                      </a:r>
                    </a:p>
                    <a:p>
                      <a:r>
                        <a:rPr lang="zh-CN" altLang="en-US" sz="2000" dirty="0">
                          <a:effectLst/>
                        </a:rPr>
                        <a:t>制定补救措施</a:t>
                      </a:r>
                    </a:p>
                    <a:p>
                      <a:r>
                        <a:rPr lang="en-US" altLang="zh-CN" sz="2000" b="1" dirty="0">
                          <a:effectLst/>
                        </a:rPr>
                        <a:t>5.2 </a:t>
                      </a:r>
                      <a:r>
                        <a:rPr lang="zh-CN" altLang="en-US" sz="2000" b="1" dirty="0">
                          <a:effectLst/>
                        </a:rPr>
                        <a:t>后续行动计划缺失</a:t>
                      </a:r>
                    </a:p>
                    <a:p>
                      <a:r>
                        <a:rPr lang="zh-CN" altLang="en-US" sz="2000" b="1" dirty="0">
                          <a:effectLst/>
                        </a:rPr>
                        <a:t>问题</a:t>
                      </a:r>
                      <a:r>
                        <a:rPr lang="zh-CN" altLang="en-US" sz="2000" dirty="0">
                          <a:effectLst/>
                        </a:rPr>
                        <a:t>：缺少针对不达标项的改进计划</a:t>
                      </a:r>
                    </a:p>
                    <a:p>
                      <a:r>
                        <a:rPr lang="zh-CN" altLang="en-US" sz="2000" b="1" dirty="0">
                          <a:effectLst/>
                        </a:rPr>
                        <a:t>应对建议</a:t>
                      </a:r>
                      <a:r>
                        <a:rPr lang="zh-CN" altLang="en-US" sz="2000" dirty="0">
                          <a:effectLst/>
                        </a:rPr>
                        <a:t>：</a:t>
                      </a:r>
                    </a:p>
                    <a:p>
                      <a:r>
                        <a:rPr lang="zh-CN" altLang="en-US" sz="2000" dirty="0">
                          <a:effectLst/>
                        </a:rPr>
                        <a:t>制定充电时间优化计划</a:t>
                      </a:r>
                    </a:p>
                    <a:p>
                      <a:r>
                        <a:rPr lang="zh-CN" altLang="en-US" sz="2000" dirty="0">
                          <a:effectLst/>
                        </a:rPr>
                        <a:t>建立技术问题跟踪机制</a:t>
                      </a:r>
                    </a:p>
                    <a:p>
                      <a:r>
                        <a:rPr lang="zh-CN" altLang="en-US" sz="2000" dirty="0">
                          <a:effectLst/>
                        </a:rPr>
                        <a:t>明确责任人和时间节点</a:t>
                      </a:r>
                    </a:p>
                    <a:p>
                      <a:pPr>
                        <a:spcBef>
                          <a:spcPts val="150"/>
                        </a:spcBef>
                        <a:spcAft>
                          <a:spcPts val="150"/>
                        </a:spcAft>
                        <a:buFont typeface="+mj-lt"/>
                        <a:buAutoNum type="arabicPeriod"/>
                      </a:pPr>
                      <a:endParaRPr lang="en-GB" sz="2000" dirty="0"/>
                    </a:p>
                  </a:txBody>
                  <a:tcPr/>
                </a:tc>
                <a:tc>
                  <a:txBody>
                    <a:bodyPr/>
                    <a:lstStyle/>
                    <a:p>
                      <a:r>
                        <a:rPr lang="zh-CN" altLang="en-US" sz="2000" b="1" dirty="0">
                          <a:effectLst/>
                        </a:rPr>
                        <a:t>主要问题汇总：</a:t>
                      </a:r>
                    </a:p>
                    <a:p>
                      <a:r>
                        <a:rPr lang="zh-CN" altLang="en-US" sz="2000" b="1" dirty="0">
                          <a:effectLst/>
                        </a:rPr>
                        <a:t>技术内容严重缺失</a:t>
                      </a:r>
                      <a:r>
                        <a:rPr lang="zh-CN" altLang="en-US" sz="2000" dirty="0">
                          <a:effectLst/>
                        </a:rPr>
                        <a:t>：仿真模型和材质参数完全缺失</a:t>
                      </a:r>
                    </a:p>
                    <a:p>
                      <a:r>
                        <a:rPr lang="zh-CN" altLang="en-US" sz="2000" b="1" dirty="0">
                          <a:effectLst/>
                        </a:rPr>
                        <a:t>客户目标未达成</a:t>
                      </a:r>
                      <a:r>
                        <a:rPr lang="zh-CN" altLang="en-US" sz="2000" dirty="0">
                          <a:effectLst/>
                        </a:rPr>
                        <a:t>：充电时间严重超出要求</a:t>
                      </a:r>
                    </a:p>
                    <a:p>
                      <a:r>
                        <a:rPr lang="zh-CN" altLang="en-US" sz="2000" b="1" dirty="0">
                          <a:effectLst/>
                        </a:rPr>
                        <a:t>数据可靠性不足</a:t>
                      </a:r>
                      <a:r>
                        <a:rPr lang="zh-CN" altLang="en-US" sz="2000" dirty="0">
                          <a:effectLst/>
                        </a:rPr>
                        <a:t>：缺少关键仿真方法信息</a:t>
                      </a:r>
                    </a:p>
                    <a:p>
                      <a:r>
                        <a:rPr lang="zh-CN" altLang="en-US" sz="2000" b="1" dirty="0">
                          <a:effectLst/>
                        </a:rPr>
                        <a:t>项目管理不完善</a:t>
                      </a:r>
                      <a:r>
                        <a:rPr lang="zh-CN" altLang="en-US" sz="2000" dirty="0">
                          <a:effectLst/>
                        </a:rPr>
                        <a:t>：缺少后续行动计划</a:t>
                      </a:r>
                    </a:p>
                    <a:p>
                      <a:r>
                        <a:rPr lang="zh-CN" altLang="en-US" sz="2000" b="1" dirty="0">
                          <a:effectLst/>
                        </a:rPr>
                        <a:t>紧急行动项（优先级排序）：</a:t>
                      </a:r>
                    </a:p>
                    <a:p>
                      <a:r>
                        <a:rPr lang="zh-CN" altLang="en-US" sz="2000" b="1" dirty="0">
                          <a:effectLst/>
                        </a:rPr>
                        <a:t>高优先级（立即执行）：</a:t>
                      </a:r>
                    </a:p>
                    <a:p>
                      <a:r>
                        <a:rPr lang="zh-CN" altLang="en-US" sz="2000" dirty="0">
                          <a:effectLst/>
                        </a:rPr>
                        <a:t>补充完整的仿真模型描述和材质参数</a:t>
                      </a:r>
                    </a:p>
                    <a:p>
                      <a:r>
                        <a:rPr lang="zh-CN" altLang="en-US" sz="2000" dirty="0">
                          <a:effectLst/>
                        </a:rPr>
                        <a:t>启动充电策略优化项目</a:t>
                      </a:r>
                    </a:p>
                    <a:p>
                      <a:r>
                        <a:rPr lang="zh-CN" altLang="en-US" sz="2000" dirty="0">
                          <a:effectLst/>
                        </a:rPr>
                        <a:t>建立技术问题跟踪机制</a:t>
                      </a:r>
                    </a:p>
                    <a:p>
                      <a:r>
                        <a:rPr lang="zh-CN" altLang="en-US" sz="2000" b="1" dirty="0">
                          <a:effectLst/>
                        </a:rPr>
                        <a:t>中优先级（</a:t>
                      </a:r>
                      <a:r>
                        <a:rPr lang="en-US" altLang="zh-CN" sz="2000" b="1" dirty="0">
                          <a:effectLst/>
                        </a:rPr>
                        <a:t>1</a:t>
                      </a:r>
                      <a:r>
                        <a:rPr lang="zh-CN" altLang="en-US" sz="2000" b="1" dirty="0">
                          <a:effectLst/>
                        </a:rPr>
                        <a:t>周内完成）：</a:t>
                      </a:r>
                    </a:p>
                    <a:p>
                      <a:r>
                        <a:rPr lang="zh-CN" altLang="en-US" sz="2000" dirty="0">
                          <a:effectLst/>
                        </a:rPr>
                        <a:t>完善文档版本控制</a:t>
                      </a:r>
                    </a:p>
                    <a:p>
                      <a:r>
                        <a:rPr lang="zh-CN" altLang="en-US" sz="2000" dirty="0">
                          <a:effectLst/>
                        </a:rPr>
                        <a:t>统一数据表示标准</a:t>
                      </a:r>
                    </a:p>
                    <a:p>
                      <a:r>
                        <a:rPr lang="zh-CN" altLang="en-US" sz="2000" dirty="0">
                          <a:effectLst/>
                        </a:rPr>
                        <a:t>制定详细改进计划</a:t>
                      </a:r>
                    </a:p>
                    <a:p>
                      <a:r>
                        <a:rPr lang="zh-CN" altLang="en-US" sz="2000" b="1" dirty="0">
                          <a:effectLst/>
                        </a:rPr>
                        <a:t>低优先级（</a:t>
                      </a:r>
                      <a:r>
                        <a:rPr lang="en-US" altLang="zh-CN" sz="2000" b="1" dirty="0">
                          <a:effectLst/>
                        </a:rPr>
                        <a:t>2</a:t>
                      </a:r>
                      <a:r>
                        <a:rPr lang="zh-CN" altLang="en-US" sz="2000" b="1" dirty="0">
                          <a:effectLst/>
                        </a:rPr>
                        <a:t>周内完成）：</a:t>
                      </a:r>
                    </a:p>
                    <a:p>
                      <a:r>
                        <a:rPr lang="zh-CN" altLang="en-US" sz="2000" dirty="0">
                          <a:effectLst/>
                        </a:rPr>
                        <a:t>建立仿真标准操作程序</a:t>
                      </a:r>
                    </a:p>
                    <a:p>
                      <a:r>
                        <a:rPr lang="zh-CN" altLang="en-US" sz="2000" dirty="0">
                          <a:effectLst/>
                        </a:rPr>
                        <a:t>完善项目管理流程</a:t>
                      </a:r>
                    </a:p>
                    <a:p>
                      <a:r>
                        <a:rPr lang="zh-CN" altLang="en-US" sz="2000" dirty="0">
                          <a:effectLst/>
                        </a:rPr>
                        <a:t>建立定期评审机制</a:t>
                      </a:r>
                    </a:p>
                    <a:p>
                      <a:r>
                        <a:rPr lang="zh-CN" altLang="en-US" sz="2000" b="1" dirty="0">
                          <a:effectLst/>
                        </a:rPr>
                        <a:t>风险评估：</a:t>
                      </a:r>
                    </a:p>
                    <a:p>
                      <a:r>
                        <a:rPr lang="zh-CN" altLang="en-US" sz="2000" b="1" dirty="0">
                          <a:effectLst/>
                        </a:rPr>
                        <a:t>项目延期风险</a:t>
                      </a:r>
                      <a:r>
                        <a:rPr lang="zh-CN" altLang="en-US" sz="2000" dirty="0">
                          <a:effectLst/>
                        </a:rPr>
                        <a:t>：高</a:t>
                      </a:r>
                    </a:p>
                    <a:p>
                      <a:r>
                        <a:rPr lang="zh-CN" altLang="en-US" sz="2000" b="1" dirty="0">
                          <a:effectLst/>
                        </a:rPr>
                        <a:t>客户满意度风险</a:t>
                      </a:r>
                      <a:r>
                        <a:rPr lang="zh-CN" altLang="en-US" sz="2000" dirty="0">
                          <a:effectLst/>
                        </a:rPr>
                        <a:t>：高</a:t>
                      </a:r>
                    </a:p>
                    <a:p>
                      <a:r>
                        <a:rPr lang="zh-CN" altLang="en-US" sz="2000" b="1" dirty="0">
                          <a:effectLst/>
                        </a:rPr>
                        <a:t>质量合规风险</a:t>
                      </a:r>
                      <a:r>
                        <a:rPr lang="zh-CN" altLang="en-US" sz="2000" dirty="0">
                          <a:effectLst/>
                        </a:rPr>
                        <a:t>：中</a:t>
                      </a:r>
                    </a:p>
                    <a:p>
                      <a:r>
                        <a:rPr lang="zh-CN" altLang="en-US" sz="2000" b="1" dirty="0">
                          <a:effectLst/>
                        </a:rPr>
                        <a:t>成本超支风险</a:t>
                      </a:r>
                      <a:r>
                        <a:rPr lang="zh-CN" altLang="en-US" sz="2000" dirty="0">
                          <a:effectLst/>
                        </a:rPr>
                        <a:t>：中</a:t>
                      </a:r>
                    </a:p>
                    <a:p>
                      <a:r>
                        <a:rPr lang="zh-CN" altLang="en-US" sz="2000" dirty="0">
                          <a:effectLst/>
                        </a:rPr>
                        <a:t>建议立即召开跨部门协调会议，制定详细的补救措施和时间计划，确保</a:t>
                      </a:r>
                      <a:r>
                        <a:rPr lang="en-US" altLang="zh-CN" sz="2000" dirty="0">
                          <a:effectLst/>
                        </a:rPr>
                        <a:t>B</a:t>
                      </a:r>
                      <a:r>
                        <a:rPr lang="zh-CN" altLang="en-US" sz="2000" dirty="0">
                          <a:effectLst/>
                        </a:rPr>
                        <a:t>样阶段目标达成。</a:t>
                      </a:r>
                      <a:endParaRPr lang="en-GB" sz="2000" dirty="0"/>
                    </a:p>
                  </a:txBody>
                  <a:tcPr/>
                </a:tc>
                <a:extLst>
                  <a:ext uri="{0D108BD9-81ED-4DB2-BD59-A6C34878D82A}">
                    <a16:rowId xmlns:a16="http://schemas.microsoft.com/office/drawing/2014/main" val="604853937"/>
                  </a:ext>
                </a:extLst>
              </a:tr>
            </a:tbl>
          </a:graphicData>
        </a:graphic>
      </p:graphicFrame>
    </p:spTree>
    <p:extLst>
      <p:ext uri="{BB962C8B-B14F-4D97-AF65-F5344CB8AC3E}">
        <p14:creationId xmlns:p14="http://schemas.microsoft.com/office/powerpoint/2010/main" val="1606716879"/>
      </p:ext>
    </p:extLst>
  </p:cSld>
  <p:clrMapOvr>
    <a:masterClrMapping/>
  </p:clrMapOvr>
  <p:transition spd="med"/>
  <p:extLst>
    <p:ext uri="{6950BFC3-D8DA-4A85-94F7-54DA5524770B}">
      <p188:commentRel xmlns:p188="http://schemas.microsoft.com/office/powerpoint/2018/8/main" r:id="rId2"/>
    </p:ext>
  </p:extLs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79821C-D542-C71E-D3B0-3435922A6360}"/>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6C8DB80A-6F3F-9B1A-7C44-74ECB460CC38}"/>
              </a:ext>
            </a:extLst>
          </p:cNvPr>
          <p:cNvSpPr txBox="1"/>
          <p:nvPr/>
        </p:nvSpPr>
        <p:spPr>
          <a:xfrm>
            <a:off x="1737559" y="755986"/>
            <a:ext cx="18032400" cy="646331"/>
          </a:xfrm>
          <a:prstGeom prst="rect">
            <a:avLst/>
          </a:prstGeom>
          <a:noFill/>
        </p:spPr>
        <p:txBody>
          <a:bodyPr wrap="square" numCol="1">
            <a:spAutoFit/>
          </a:bodyPr>
          <a:lstStyle/>
          <a:p>
            <a:pPr>
              <a:spcBef>
                <a:spcPts val="1500"/>
              </a:spcBef>
              <a:spcAft>
                <a:spcPts val="750"/>
              </a:spcAft>
              <a:buNone/>
            </a:pPr>
            <a:r>
              <a:rPr lang="en-US" altLang="zh-CN" sz="3600" b="1" dirty="0">
                <a:effectLst/>
              </a:rPr>
              <a:t>B</a:t>
            </a:r>
            <a:r>
              <a:rPr lang="zh-CN" altLang="en-US" sz="3600" b="1" dirty="0">
                <a:effectLst/>
              </a:rPr>
              <a:t>样阶段</a:t>
            </a:r>
            <a:r>
              <a:rPr lang="en-US" altLang="zh-CN" sz="3600" b="1" dirty="0"/>
              <a:t>《570-941A</a:t>
            </a:r>
            <a:r>
              <a:rPr lang="zh-CN" altLang="en-US" sz="3600" b="1" dirty="0"/>
              <a:t>电池包内部热仿真分析报告（常温快充、高温快充）</a:t>
            </a:r>
            <a:r>
              <a:rPr lang="en-US" altLang="zh-CN" sz="3600" b="1" dirty="0"/>
              <a:t>》</a:t>
            </a:r>
            <a:r>
              <a:rPr lang="zh-CN" altLang="en-US" sz="3600" b="1" dirty="0">
                <a:effectLst/>
              </a:rPr>
              <a:t>审核报告</a:t>
            </a:r>
          </a:p>
        </p:txBody>
      </p:sp>
      <p:graphicFrame>
        <p:nvGraphicFramePr>
          <p:cNvPr id="2" name="表格 1">
            <a:extLst>
              <a:ext uri="{FF2B5EF4-FFF2-40B4-BE49-F238E27FC236}">
                <a16:creationId xmlns:a16="http://schemas.microsoft.com/office/drawing/2014/main" id="{6C0A31DD-3F7F-F687-5B67-E8038151CB8E}"/>
              </a:ext>
            </a:extLst>
          </p:cNvPr>
          <p:cNvGraphicFramePr>
            <a:graphicFrameLocks noGrp="1"/>
          </p:cNvGraphicFramePr>
          <p:nvPr>
            <p:extLst>
              <p:ext uri="{D42A27DB-BD31-4B8C-83A1-F6EECF244321}">
                <p14:modId xmlns:p14="http://schemas.microsoft.com/office/powerpoint/2010/main" val="1395839755"/>
              </p:ext>
            </p:extLst>
          </p:nvPr>
        </p:nvGraphicFramePr>
        <p:xfrm>
          <a:off x="662354" y="1738812"/>
          <a:ext cx="23059292" cy="11523851"/>
        </p:xfrm>
        <a:graphic>
          <a:graphicData uri="http://schemas.openxmlformats.org/drawingml/2006/table">
            <a:tbl>
              <a:tblPr firstRow="1" bandRow="1"/>
              <a:tblGrid>
                <a:gridCol w="4451067">
                  <a:extLst>
                    <a:ext uri="{9D8B030D-6E8A-4147-A177-3AD203B41FA5}">
                      <a16:colId xmlns:a16="http://schemas.microsoft.com/office/drawing/2014/main" val="520135011"/>
                    </a:ext>
                  </a:extLst>
                </a:gridCol>
                <a:gridCol w="5979695">
                  <a:extLst>
                    <a:ext uri="{9D8B030D-6E8A-4147-A177-3AD203B41FA5}">
                      <a16:colId xmlns:a16="http://schemas.microsoft.com/office/drawing/2014/main" val="585926975"/>
                    </a:ext>
                  </a:extLst>
                </a:gridCol>
                <a:gridCol w="5113421">
                  <a:extLst>
                    <a:ext uri="{9D8B030D-6E8A-4147-A177-3AD203B41FA5}">
                      <a16:colId xmlns:a16="http://schemas.microsoft.com/office/drawing/2014/main" val="3081416713"/>
                    </a:ext>
                  </a:extLst>
                </a:gridCol>
                <a:gridCol w="7515109">
                  <a:extLst>
                    <a:ext uri="{9D8B030D-6E8A-4147-A177-3AD203B41FA5}">
                      <a16:colId xmlns:a16="http://schemas.microsoft.com/office/drawing/2014/main" val="572010187"/>
                    </a:ext>
                  </a:extLst>
                </a:gridCol>
              </a:tblGrid>
              <a:tr h="901298">
                <a:tc rowSpan="2">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审查清单制定</a:t>
                      </a:r>
                    </a:p>
                  </a:txBody>
                  <a:tcPr anchor="ctr"/>
                </a:tc>
                <a:tc gridSpan="2">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逐项审核结果</a:t>
                      </a:r>
                    </a:p>
                  </a:txBody>
                  <a:tcPr anchor="ctr"/>
                </a:tc>
                <a:tc hMerge="1">
                  <a:txBody>
                    <a:bodyPr/>
                    <a:lstStyle/>
                    <a:p>
                      <a:pPr algn="ctr"/>
                      <a:endParaRPr lang="en-GB" sz="2000" dirty="0"/>
                    </a:p>
                  </a:txBody>
                  <a:tcPr/>
                </a:tc>
                <a:tc rowSpan="2">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总体评估</a:t>
                      </a:r>
                    </a:p>
                  </a:txBody>
                  <a:tcPr anchor="ctr"/>
                </a:tc>
                <a:extLst>
                  <a:ext uri="{0D108BD9-81ED-4DB2-BD59-A6C34878D82A}">
                    <a16:rowId xmlns:a16="http://schemas.microsoft.com/office/drawing/2014/main" val="2562292327"/>
                  </a:ext>
                </a:extLst>
              </a:tr>
              <a:tr h="536227">
                <a:tc vMerge="1">
                  <a:txBody>
                    <a:bodyPr/>
                    <a:lstStyle/>
                    <a:p>
                      <a:pPr algn="ctr"/>
                      <a:endParaRPr lang="en-GB" sz="2000" dirty="0"/>
                    </a:p>
                  </a:txBody>
                  <a:tcPr/>
                </a:tc>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000" b="1">
                          <a:effectLst/>
                        </a:rPr>
                        <a:t>通过</a:t>
                      </a:r>
                      <a:r>
                        <a:rPr lang="zh-CN" altLang="en-US" sz="2000" b="1" dirty="0">
                          <a:effectLst/>
                        </a:rPr>
                        <a:t>项目</a:t>
                      </a:r>
                    </a:p>
                  </a:txBody>
                  <a:tcPr/>
                </a:tc>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000" b="1" dirty="0">
                          <a:effectLst/>
                        </a:rPr>
                        <a:t>需要确认</a:t>
                      </a:r>
                    </a:p>
                  </a:txBody>
                  <a:tcPr/>
                </a:tc>
                <a:tc vMerge="1">
                  <a:txBody>
                    <a:bodyPr/>
                    <a:lstStyle/>
                    <a:p>
                      <a:endParaRPr dirty="0"/>
                    </a:p>
                  </a:txBody>
                  <a:tcPr/>
                </a:tc>
                <a:extLst>
                  <a:ext uri="{0D108BD9-81ED-4DB2-BD59-A6C34878D82A}">
                    <a16:rowId xmlns:a16="http://schemas.microsoft.com/office/drawing/2014/main" val="3862020771"/>
                  </a:ext>
                </a:extLst>
              </a:tr>
              <a:tr h="10086326">
                <a:tc>
                  <a:txBody>
                    <a:bodyPr/>
                    <a:lstStyle/>
                    <a:p>
                      <a:r>
                        <a:rPr lang="en-US" altLang="zh-CN" sz="2000" b="1" dirty="0">
                          <a:effectLst/>
                        </a:rPr>
                        <a:t>1. </a:t>
                      </a:r>
                      <a:r>
                        <a:rPr lang="zh-CN" altLang="en-US" sz="2000" b="1" dirty="0">
                          <a:effectLst/>
                        </a:rPr>
                        <a:t>文档基本信息审查</a:t>
                      </a:r>
                    </a:p>
                    <a:p>
                      <a:pPr marL="342900" indent="-342900">
                        <a:buFont typeface="Arial" panose="020B0604020202020204" pitchFamily="34" charset="0"/>
                        <a:buChar char="•"/>
                      </a:pPr>
                      <a:r>
                        <a:rPr lang="zh-CN" altLang="en-US" sz="2000" dirty="0">
                          <a:effectLst/>
                        </a:rPr>
                        <a:t>项目信息完整性</a:t>
                      </a:r>
                    </a:p>
                    <a:p>
                      <a:pPr marL="342900" indent="-342900">
                        <a:buFont typeface="Arial" panose="020B0604020202020204" pitchFamily="34" charset="0"/>
                        <a:buChar char="•"/>
                      </a:pPr>
                      <a:r>
                        <a:rPr lang="zh-CN" altLang="en-US" sz="2000" dirty="0">
                          <a:effectLst/>
                        </a:rPr>
                        <a:t>版本控制与日期</a:t>
                      </a:r>
                    </a:p>
                    <a:p>
                      <a:pPr marL="342900" indent="-342900">
                        <a:buFont typeface="Arial" panose="020B0604020202020204" pitchFamily="34" charset="0"/>
                        <a:buChar char="•"/>
                      </a:pPr>
                      <a:r>
                        <a:rPr lang="zh-CN" altLang="en-US" sz="2000" dirty="0">
                          <a:effectLst/>
                        </a:rPr>
                        <a:t>责任人及审核人信息</a:t>
                      </a:r>
                    </a:p>
                    <a:p>
                      <a:pPr marL="342900" indent="-342900">
                        <a:buFont typeface="Arial" panose="020B0604020202020204" pitchFamily="34" charset="0"/>
                        <a:buChar char="•"/>
                      </a:pPr>
                      <a:r>
                        <a:rPr lang="zh-CN" altLang="en-US" sz="2000" dirty="0">
                          <a:effectLst/>
                        </a:rPr>
                        <a:t>文档结构完整性</a:t>
                      </a:r>
                    </a:p>
                    <a:p>
                      <a:r>
                        <a:rPr lang="en-US" altLang="zh-CN" sz="2000" b="1" dirty="0">
                          <a:effectLst/>
                        </a:rPr>
                        <a:t>2. </a:t>
                      </a:r>
                      <a:r>
                        <a:rPr lang="zh-CN" altLang="en-US" sz="2000" b="1" dirty="0">
                          <a:effectLst/>
                        </a:rPr>
                        <a:t>技术规范符合性审查</a:t>
                      </a:r>
                    </a:p>
                    <a:p>
                      <a:pPr marL="342900" indent="-342900">
                        <a:buFont typeface="Arial" panose="020B0604020202020204" pitchFamily="34" charset="0"/>
                        <a:buChar char="•"/>
                      </a:pPr>
                      <a:r>
                        <a:rPr lang="zh-CN" altLang="en-US" sz="2000" dirty="0">
                          <a:effectLst/>
                        </a:rPr>
                        <a:t>电芯参数完整性</a:t>
                      </a:r>
                    </a:p>
                    <a:p>
                      <a:pPr marL="342900" indent="-342900">
                        <a:buFont typeface="Arial" panose="020B0604020202020204" pitchFamily="34" charset="0"/>
                        <a:buChar char="•"/>
                      </a:pPr>
                      <a:r>
                        <a:rPr lang="en-US" altLang="zh-CN" sz="2000" dirty="0">
                          <a:effectLst/>
                        </a:rPr>
                        <a:t>PACK</a:t>
                      </a:r>
                      <a:r>
                        <a:rPr lang="zh-CN" altLang="en-US" sz="2000" dirty="0">
                          <a:effectLst/>
                        </a:rPr>
                        <a:t>基本信息准确性</a:t>
                      </a:r>
                    </a:p>
                    <a:p>
                      <a:pPr marL="342900" indent="-342900">
                        <a:buFont typeface="Arial" panose="020B0604020202020204" pitchFamily="34" charset="0"/>
                        <a:buChar char="•"/>
                      </a:pPr>
                      <a:r>
                        <a:rPr lang="zh-CN" altLang="en-US" sz="2000" dirty="0">
                          <a:effectLst/>
                        </a:rPr>
                        <a:t>充放电策略合理性</a:t>
                      </a:r>
                    </a:p>
                    <a:p>
                      <a:pPr marL="342900" indent="-342900">
                        <a:buFont typeface="Arial" panose="020B0604020202020204" pitchFamily="34" charset="0"/>
                        <a:buChar char="•"/>
                      </a:pPr>
                      <a:r>
                        <a:rPr lang="zh-CN" altLang="en-US" sz="2000" dirty="0">
                          <a:effectLst/>
                        </a:rPr>
                        <a:t>温度控制策略合规性</a:t>
                      </a:r>
                    </a:p>
                    <a:p>
                      <a:r>
                        <a:rPr lang="en-US" altLang="zh-CN" sz="2000" b="1" dirty="0">
                          <a:effectLst/>
                        </a:rPr>
                        <a:t>3. </a:t>
                      </a:r>
                      <a:r>
                        <a:rPr lang="zh-CN" altLang="en-US" sz="2000" b="1" dirty="0">
                          <a:effectLst/>
                        </a:rPr>
                        <a:t>仿真模型质量审查</a:t>
                      </a:r>
                    </a:p>
                    <a:p>
                      <a:pPr marL="342900" indent="-342900">
                        <a:buFont typeface="Arial" panose="020B0604020202020204" pitchFamily="34" charset="0"/>
                        <a:buChar char="•"/>
                      </a:pPr>
                      <a:r>
                        <a:rPr lang="zh-CN" altLang="en-US" sz="2000" dirty="0">
                          <a:effectLst/>
                        </a:rPr>
                        <a:t>材质参数完整性</a:t>
                      </a:r>
                    </a:p>
                    <a:p>
                      <a:pPr marL="342900" indent="-342900">
                        <a:buFont typeface="Arial" panose="020B0604020202020204" pitchFamily="34" charset="0"/>
                        <a:buChar char="•"/>
                      </a:pPr>
                      <a:r>
                        <a:rPr lang="zh-CN" altLang="en-US" sz="2000" dirty="0">
                          <a:effectLst/>
                        </a:rPr>
                        <a:t>边界条件设置合理性</a:t>
                      </a:r>
                    </a:p>
                    <a:p>
                      <a:pPr marL="342900" indent="-342900">
                        <a:buFont typeface="Arial" panose="020B0604020202020204" pitchFamily="34" charset="0"/>
                        <a:buChar char="•"/>
                      </a:pPr>
                      <a:r>
                        <a:rPr lang="zh-CN" altLang="en-US" sz="2000" dirty="0">
                          <a:effectLst/>
                        </a:rPr>
                        <a:t>网格质量与收敛性</a:t>
                      </a:r>
                    </a:p>
                    <a:p>
                      <a:pPr marL="342900" indent="-342900">
                        <a:buFont typeface="Arial" panose="020B0604020202020204" pitchFamily="34" charset="0"/>
                        <a:buChar char="•"/>
                      </a:pPr>
                      <a:r>
                        <a:rPr lang="zh-CN" altLang="en-US" sz="2000" dirty="0">
                          <a:effectLst/>
                        </a:rPr>
                        <a:t>模型验证方法</a:t>
                      </a:r>
                    </a:p>
                    <a:p>
                      <a:r>
                        <a:rPr lang="en-US" altLang="zh-CN" sz="2000" b="1" dirty="0">
                          <a:effectLst/>
                        </a:rPr>
                        <a:t>4. </a:t>
                      </a:r>
                      <a:r>
                        <a:rPr lang="zh-CN" altLang="en-US" sz="2000" b="1" dirty="0">
                          <a:effectLst/>
                        </a:rPr>
                        <a:t>仿真结果分析审查</a:t>
                      </a:r>
                    </a:p>
                    <a:p>
                      <a:pPr marL="342900" indent="-342900">
                        <a:buFont typeface="Arial" panose="020B0604020202020204" pitchFamily="34" charset="0"/>
                        <a:buChar char="•"/>
                      </a:pPr>
                      <a:r>
                        <a:rPr lang="zh-CN" altLang="en-US" sz="2000" dirty="0">
                          <a:effectLst/>
                        </a:rPr>
                        <a:t>工况覆盖完整性</a:t>
                      </a:r>
                    </a:p>
                    <a:p>
                      <a:pPr marL="342900" indent="-342900">
                        <a:buFont typeface="Arial" panose="020B0604020202020204" pitchFamily="34" charset="0"/>
                        <a:buChar char="•"/>
                      </a:pPr>
                      <a:r>
                        <a:rPr lang="zh-CN" altLang="en-US" sz="2000" dirty="0">
                          <a:effectLst/>
                        </a:rPr>
                        <a:t>结果数据准确性</a:t>
                      </a:r>
                    </a:p>
                    <a:p>
                      <a:pPr marL="342900" indent="-342900">
                        <a:buFont typeface="Arial" panose="020B0604020202020204" pitchFamily="34" charset="0"/>
                        <a:buChar char="•"/>
                      </a:pPr>
                      <a:r>
                        <a:rPr lang="zh-CN" altLang="en-US" sz="2000" dirty="0">
                          <a:effectLst/>
                        </a:rPr>
                        <a:t>结论可靠性</a:t>
                      </a:r>
                    </a:p>
                    <a:p>
                      <a:pPr marL="342900" indent="-342900">
                        <a:buFont typeface="Arial" panose="020B0604020202020204" pitchFamily="34" charset="0"/>
                        <a:buChar char="•"/>
                      </a:pPr>
                      <a:r>
                        <a:rPr lang="zh-CN" altLang="en-US" sz="2000" dirty="0">
                          <a:effectLst/>
                        </a:rPr>
                        <a:t>风险评估充分性</a:t>
                      </a:r>
                    </a:p>
                    <a:p>
                      <a:r>
                        <a:rPr lang="en-US" altLang="zh-CN" sz="2000" b="1" dirty="0">
                          <a:effectLst/>
                        </a:rPr>
                        <a:t>5. </a:t>
                      </a:r>
                      <a:r>
                        <a:rPr lang="zh-CN" altLang="en-US" sz="2000" b="1" dirty="0">
                          <a:effectLst/>
                        </a:rPr>
                        <a:t>质量门控审查</a:t>
                      </a:r>
                    </a:p>
                    <a:p>
                      <a:pPr marL="342900" indent="-342900">
                        <a:buFont typeface="Arial" panose="020B0604020202020204" pitchFamily="34" charset="0"/>
                        <a:buChar char="•"/>
                      </a:pPr>
                      <a:r>
                        <a:rPr lang="zh-CN" altLang="en-US" sz="2000" dirty="0">
                          <a:effectLst/>
                        </a:rPr>
                        <a:t>客户目标达成情况</a:t>
                      </a:r>
                    </a:p>
                    <a:p>
                      <a:pPr marL="342900" indent="-342900">
                        <a:buFont typeface="Arial" panose="020B0604020202020204" pitchFamily="34" charset="0"/>
                        <a:buChar char="•"/>
                      </a:pPr>
                      <a:r>
                        <a:rPr lang="zh-CN" altLang="en-US" sz="2000" dirty="0">
                          <a:effectLst/>
                        </a:rPr>
                        <a:t>安全裕度评估</a:t>
                      </a:r>
                    </a:p>
                    <a:p>
                      <a:pPr marL="342900" indent="-342900">
                        <a:buFont typeface="Arial" panose="020B0604020202020204" pitchFamily="34" charset="0"/>
                        <a:buChar char="•"/>
                      </a:pPr>
                      <a:r>
                        <a:rPr lang="zh-CN" altLang="en-US" sz="2000" dirty="0">
                          <a:effectLst/>
                        </a:rPr>
                        <a:t>优化建议可行性</a:t>
                      </a:r>
                    </a:p>
                    <a:p>
                      <a:pPr marL="342900" indent="-342900">
                        <a:buFont typeface="Arial" panose="020B0604020202020204" pitchFamily="34" charset="0"/>
                        <a:buChar char="•"/>
                      </a:pPr>
                      <a:r>
                        <a:rPr lang="zh-CN" altLang="en-US" sz="2000" dirty="0">
                          <a:effectLst/>
                        </a:rPr>
                        <a:t>后续验证计划</a:t>
                      </a:r>
                    </a:p>
                    <a:p>
                      <a:endParaRPr lang="en-GB" sz="2000" dirty="0"/>
                    </a:p>
                  </a:txBody>
                  <a:tcPr/>
                </a:tc>
                <a:tc>
                  <a:txBody>
                    <a:bodyPr/>
                    <a:lstStyle/>
                    <a:p>
                      <a:r>
                        <a:rPr lang="en-US" altLang="zh-CN" sz="2000" b="1" dirty="0">
                          <a:effectLst/>
                        </a:rPr>
                        <a:t>1. </a:t>
                      </a:r>
                      <a:r>
                        <a:rPr lang="zh-CN" altLang="en-US" sz="2000" b="1" dirty="0">
                          <a:effectLst/>
                        </a:rPr>
                        <a:t>文档基本信息审查</a:t>
                      </a:r>
                    </a:p>
                    <a:p>
                      <a:r>
                        <a:rPr lang="zh-CN" altLang="en-US" sz="2000" b="1" dirty="0">
                          <a:effectLst/>
                        </a:rPr>
                        <a:t>审查结果：✅ 通过</a:t>
                      </a:r>
                      <a:endParaRPr lang="en-GB" altLang="zh-CN" sz="2000" b="1" dirty="0">
                        <a:effectLst/>
                      </a:endParaRPr>
                    </a:p>
                    <a:p>
                      <a:r>
                        <a:rPr lang="zh-CN" altLang="en-US" sz="2000" b="1" dirty="0">
                          <a:effectLst/>
                        </a:rPr>
                        <a:t>详细分析：</a:t>
                      </a:r>
                      <a:r>
                        <a:rPr lang="zh-CN" altLang="en-US" sz="2000" dirty="0">
                          <a:effectLst/>
                        </a:rPr>
                        <a:t>项目信息完整：</a:t>
                      </a:r>
                      <a:r>
                        <a:rPr lang="en-US" altLang="zh-CN" sz="2000" dirty="0">
                          <a:effectLst/>
                        </a:rPr>
                        <a:t>570-941A</a:t>
                      </a:r>
                      <a:r>
                        <a:rPr lang="zh-CN" altLang="en-US" sz="2000" dirty="0">
                          <a:effectLst/>
                        </a:rPr>
                        <a:t>电池包项目，电芯型号</a:t>
                      </a:r>
                      <a:r>
                        <a:rPr lang="en-US" altLang="zh-CN" sz="2000" dirty="0">
                          <a:effectLst/>
                        </a:rPr>
                        <a:t>L221N113</a:t>
                      </a:r>
                    </a:p>
                    <a:p>
                      <a:r>
                        <a:rPr lang="zh-CN" altLang="en-US" sz="2000" dirty="0">
                          <a:effectLst/>
                        </a:rPr>
                        <a:t>版本控制规范：</a:t>
                      </a:r>
                      <a:r>
                        <a:rPr lang="en-US" altLang="zh-CN" sz="2000" dirty="0">
                          <a:effectLst/>
                        </a:rPr>
                        <a:t>2024.03.13</a:t>
                      </a:r>
                      <a:r>
                        <a:rPr lang="zh-CN" altLang="en-US" sz="2000" dirty="0">
                          <a:effectLst/>
                        </a:rPr>
                        <a:t>版本，责任人张亚，审核人刘洁</a:t>
                      </a:r>
                    </a:p>
                    <a:p>
                      <a:r>
                        <a:rPr lang="zh-CN" altLang="en-US" sz="2000" dirty="0">
                          <a:effectLst/>
                        </a:rPr>
                        <a:t>文档结构清晰：包含基本信息、仿真模型、材质参数、仿真结论、工况分析等完整章节</a:t>
                      </a:r>
                    </a:p>
                    <a:p>
                      <a:r>
                        <a:rPr lang="en-US" altLang="zh-CN" sz="2000" b="1" dirty="0">
                          <a:effectLst/>
                        </a:rPr>
                        <a:t>2. </a:t>
                      </a:r>
                      <a:r>
                        <a:rPr lang="zh-CN" altLang="en-US" sz="2000" b="1" dirty="0">
                          <a:effectLst/>
                        </a:rPr>
                        <a:t>技术规范符合性审查</a:t>
                      </a:r>
                    </a:p>
                    <a:p>
                      <a:r>
                        <a:rPr lang="zh-CN" altLang="en-US" sz="2000" b="1" dirty="0">
                          <a:effectLst/>
                        </a:rPr>
                        <a:t>审查结果：⚠️ 部分通过，存在风险项</a:t>
                      </a:r>
                      <a:endParaRPr lang="en-GB" altLang="zh-CN" sz="2000" b="1" dirty="0">
                        <a:effectLst/>
                      </a:endParaRPr>
                    </a:p>
                    <a:p>
                      <a:r>
                        <a:rPr lang="zh-CN" altLang="en-US" sz="2000" b="1" dirty="0">
                          <a:effectLst/>
                        </a:rPr>
                        <a:t>详细分析：✅ 通过项：</a:t>
                      </a:r>
                      <a:r>
                        <a:rPr lang="zh-CN" altLang="en-US" sz="2000" dirty="0">
                          <a:effectLst/>
                        </a:rPr>
                        <a:t>电芯参数完整：化学体系、尺寸、额定电压、容量、重量等关键参数齐全</a:t>
                      </a:r>
                    </a:p>
                    <a:p>
                      <a:r>
                        <a:rPr lang="en-US" altLang="zh-CN" sz="2000" dirty="0">
                          <a:effectLst/>
                        </a:rPr>
                        <a:t>PACK</a:t>
                      </a:r>
                      <a:r>
                        <a:rPr lang="zh-CN" altLang="en-US" sz="2000" dirty="0">
                          <a:effectLst/>
                        </a:rPr>
                        <a:t>基本信息准确：总电量</a:t>
                      </a:r>
                      <a:r>
                        <a:rPr lang="en-US" altLang="zh-CN" sz="2000" dirty="0">
                          <a:effectLst/>
                        </a:rPr>
                        <a:t>43.43kWh</a:t>
                      </a:r>
                      <a:r>
                        <a:rPr lang="zh-CN" altLang="en-US" sz="2000" dirty="0">
                          <a:effectLst/>
                        </a:rPr>
                        <a:t>，串并数</a:t>
                      </a:r>
                      <a:r>
                        <a:rPr lang="en-US" altLang="zh-CN" sz="2000" dirty="0">
                          <a:effectLst/>
                        </a:rPr>
                        <a:t>1P104S</a:t>
                      </a:r>
                      <a:r>
                        <a:rPr lang="zh-CN" altLang="en-US" sz="2000" dirty="0">
                          <a:effectLst/>
                        </a:rPr>
                        <a:t>，额定电压</a:t>
                      </a:r>
                      <a:r>
                        <a:rPr lang="en-US" altLang="zh-CN" sz="2000" dirty="0">
                          <a:effectLst/>
                        </a:rPr>
                        <a:t>381.68V</a:t>
                      </a:r>
                    </a:p>
                    <a:p>
                      <a:r>
                        <a:rPr lang="zh-CN" altLang="en-US" sz="2000" b="1" dirty="0">
                          <a:effectLst/>
                        </a:rPr>
                        <a:t>⚠️ 风险项：电芯热标定状态</a:t>
                      </a:r>
                      <a:r>
                        <a:rPr lang="zh-CN" altLang="en-US" sz="2000" dirty="0">
                          <a:effectLst/>
                        </a:rPr>
                        <a:t>：明确标注</a:t>
                      </a:r>
                      <a:r>
                        <a:rPr lang="en-US" altLang="zh-CN" sz="2000" dirty="0">
                          <a:effectLst/>
                        </a:rPr>
                        <a:t>"</a:t>
                      </a:r>
                      <a:r>
                        <a:rPr lang="zh-CN" altLang="en-US" sz="2000" dirty="0">
                          <a:effectLst/>
                        </a:rPr>
                        <a:t>电芯是否热标定：否</a:t>
                      </a:r>
                      <a:r>
                        <a:rPr lang="en-US" altLang="zh-CN" sz="2000" dirty="0">
                          <a:effectLst/>
                        </a:rPr>
                        <a:t>"</a:t>
                      </a:r>
                      <a:r>
                        <a:rPr lang="zh-CN" altLang="en-US" sz="2000" dirty="0">
                          <a:effectLst/>
                        </a:rPr>
                        <a:t>，这可能导致仿真精度不足</a:t>
                      </a:r>
                    </a:p>
                    <a:p>
                      <a:r>
                        <a:rPr lang="zh-CN" altLang="en-US" sz="2000" b="1" dirty="0">
                          <a:effectLst/>
                        </a:rPr>
                        <a:t>充放电策略复杂性</a:t>
                      </a:r>
                      <a:r>
                        <a:rPr lang="zh-CN" altLang="en-US" sz="2000" dirty="0">
                          <a:effectLst/>
                        </a:rPr>
                        <a:t>：策略包含多个温度阈值和</a:t>
                      </a:r>
                      <a:r>
                        <a:rPr lang="en-US" altLang="zh-CN" sz="2000" dirty="0">
                          <a:effectLst/>
                        </a:rPr>
                        <a:t>SOC</a:t>
                      </a:r>
                      <a:r>
                        <a:rPr lang="zh-CN" altLang="en-US" sz="2000" dirty="0">
                          <a:effectLst/>
                        </a:rPr>
                        <a:t>范围，增加了控制复杂度</a:t>
                      </a:r>
                    </a:p>
                    <a:p>
                      <a:r>
                        <a:rPr lang="zh-CN" altLang="en-US" sz="2000" b="1" dirty="0">
                          <a:effectLst/>
                        </a:rPr>
                        <a:t>建议措施：</a:t>
                      </a:r>
                      <a:r>
                        <a:rPr lang="zh-CN" altLang="en-US" sz="2000" dirty="0">
                          <a:effectLst/>
                        </a:rPr>
                        <a:t>建议进行电芯热标定测试，提高仿真精度</a:t>
                      </a:r>
                    </a:p>
                    <a:p>
                      <a:r>
                        <a:rPr lang="zh-CN" altLang="en-US" sz="2000" dirty="0">
                          <a:effectLst/>
                        </a:rPr>
                        <a:t>简化充放电策略，减少控制复杂度</a:t>
                      </a:r>
                    </a:p>
                    <a:p>
                      <a:r>
                        <a:rPr lang="en-US" altLang="zh-CN" sz="2000" b="1" dirty="0">
                          <a:effectLst/>
                        </a:rPr>
                        <a:t>3. </a:t>
                      </a:r>
                      <a:r>
                        <a:rPr lang="zh-CN" altLang="en-US" sz="2000" b="1" dirty="0">
                          <a:effectLst/>
                        </a:rPr>
                        <a:t>仿真模型质量审查</a:t>
                      </a:r>
                    </a:p>
                    <a:p>
                      <a:r>
                        <a:rPr lang="zh-CN" altLang="en-US" sz="2000" b="1" dirty="0">
                          <a:effectLst/>
                        </a:rPr>
                        <a:t>审查结果：✅ 通过</a:t>
                      </a:r>
                      <a:endParaRPr lang="en-GB" altLang="zh-CN" sz="2000" b="1" dirty="0">
                        <a:effectLst/>
                      </a:endParaRPr>
                    </a:p>
                    <a:p>
                      <a:r>
                        <a:rPr lang="zh-CN" altLang="en-US" sz="2000" b="1" dirty="0">
                          <a:effectLst/>
                        </a:rPr>
                        <a:t>详细分析：</a:t>
                      </a:r>
                      <a:r>
                        <a:rPr lang="zh-CN" altLang="en-US" sz="2000" dirty="0">
                          <a:effectLst/>
                        </a:rPr>
                        <a:t>材质参数完整：</a:t>
                      </a:r>
                      <a:r>
                        <a:rPr lang="en-US" altLang="zh-CN" sz="2000" dirty="0">
                          <a:effectLst/>
                        </a:rPr>
                        <a:t>25</a:t>
                      </a:r>
                      <a:r>
                        <a:rPr lang="zh-CN" altLang="en-US" sz="2000" dirty="0">
                          <a:effectLst/>
                        </a:rPr>
                        <a:t>种关键材料的热物性参数齐全</a:t>
                      </a:r>
                    </a:p>
                    <a:p>
                      <a:r>
                        <a:rPr lang="zh-CN" altLang="en-US" sz="2000" dirty="0">
                          <a:effectLst/>
                        </a:rPr>
                        <a:t>边界条件合理：冷却液温度、流量、环境温度等设置符合实际工况</a:t>
                      </a:r>
                    </a:p>
                    <a:p>
                      <a:r>
                        <a:rPr lang="zh-CN" altLang="en-US" sz="2000" dirty="0">
                          <a:effectLst/>
                        </a:rPr>
                        <a:t>模型结构清晰：包含</a:t>
                      </a:r>
                      <a:r>
                        <a:rPr lang="en-US" altLang="zh-CN" sz="2000" dirty="0">
                          <a:effectLst/>
                        </a:rPr>
                        <a:t>NTC</a:t>
                      </a:r>
                      <a:r>
                        <a:rPr lang="zh-CN" altLang="en-US" sz="2000" dirty="0">
                          <a:effectLst/>
                        </a:rPr>
                        <a:t>位置、冷却液流道等关键结构</a:t>
                      </a:r>
                    </a:p>
                    <a:p>
                      <a:pPr>
                        <a:spcBef>
                          <a:spcPts val="150"/>
                        </a:spcBef>
                        <a:spcAft>
                          <a:spcPts val="150"/>
                        </a:spcAft>
                        <a:buFont typeface="+mj-lt"/>
                        <a:buAutoNum type="arabicPeriod"/>
                      </a:pPr>
                      <a:endParaRPr lang="en-GB" sz="2000" dirty="0"/>
                    </a:p>
                  </a:txBody>
                  <a:tcPr/>
                </a:tc>
                <a:tc>
                  <a:txBody>
                    <a:bodyPr/>
                    <a:lstStyle/>
                    <a:p>
                      <a:r>
                        <a:rPr lang="en-US" altLang="zh-CN" sz="2000" b="1" dirty="0">
                          <a:effectLst/>
                        </a:rPr>
                        <a:t>4. </a:t>
                      </a:r>
                      <a:r>
                        <a:rPr lang="zh-CN" altLang="en-US" sz="2000" b="1" dirty="0">
                          <a:effectLst/>
                        </a:rPr>
                        <a:t>仿真结果分析审查</a:t>
                      </a:r>
                    </a:p>
                    <a:p>
                      <a:r>
                        <a:rPr lang="zh-CN" altLang="en-US" sz="2000" b="1" dirty="0">
                          <a:effectLst/>
                        </a:rPr>
                        <a:t>审查结果：✅ 通过</a:t>
                      </a:r>
                      <a:endParaRPr lang="en-GB" altLang="zh-CN" sz="2000" b="1" dirty="0">
                        <a:effectLst/>
                      </a:endParaRPr>
                    </a:p>
                    <a:p>
                      <a:r>
                        <a:rPr lang="zh-CN" altLang="en-US" sz="2000" b="1" dirty="0">
                          <a:effectLst/>
                        </a:rPr>
                        <a:t>详细分析：常温快充</a:t>
                      </a:r>
                      <a:r>
                        <a:rPr lang="en-US" altLang="zh-CN" sz="2000" b="1" dirty="0">
                          <a:effectLst/>
                        </a:rPr>
                        <a:t>1</a:t>
                      </a:r>
                      <a:r>
                        <a:rPr lang="zh-CN" altLang="en-US" sz="2000" b="1" dirty="0">
                          <a:effectLst/>
                        </a:rPr>
                        <a:t>工况：</a:t>
                      </a:r>
                      <a:endParaRPr lang="en-GB" altLang="zh-CN" sz="2000" b="1" dirty="0">
                        <a:effectLst/>
                      </a:endParaRPr>
                    </a:p>
                    <a:p>
                      <a:r>
                        <a:rPr lang="zh-CN" altLang="en-US" sz="2000" dirty="0">
                          <a:effectLst/>
                        </a:rPr>
                        <a:t>过程最高温度：</a:t>
                      </a:r>
                      <a:r>
                        <a:rPr lang="en-US" altLang="zh-CN" sz="2000" dirty="0">
                          <a:effectLst/>
                        </a:rPr>
                        <a:t>42.1℃</a:t>
                      </a:r>
                    </a:p>
                    <a:p>
                      <a:r>
                        <a:rPr lang="zh-CN" altLang="en-US" sz="2000" dirty="0">
                          <a:effectLst/>
                        </a:rPr>
                        <a:t>过程最大温差：</a:t>
                      </a:r>
                      <a:r>
                        <a:rPr lang="en-US" altLang="zh-CN" sz="2000" dirty="0">
                          <a:effectLst/>
                        </a:rPr>
                        <a:t>2.7℃</a:t>
                      </a:r>
                    </a:p>
                    <a:p>
                      <a:r>
                        <a:rPr lang="zh-CN" altLang="en-US" sz="2000" dirty="0">
                          <a:effectLst/>
                        </a:rPr>
                        <a:t>充电时间：</a:t>
                      </a:r>
                      <a:r>
                        <a:rPr lang="en-US" altLang="zh-CN" sz="2000" dirty="0">
                          <a:effectLst/>
                        </a:rPr>
                        <a:t>3273s</a:t>
                      </a:r>
                      <a:r>
                        <a:rPr lang="zh-CN" altLang="en-US" sz="2000" dirty="0">
                          <a:effectLst/>
                        </a:rPr>
                        <a:t>（</a:t>
                      </a:r>
                      <a:r>
                        <a:rPr lang="en-US" altLang="zh-CN" sz="2000" dirty="0">
                          <a:effectLst/>
                        </a:rPr>
                        <a:t>54.6</a:t>
                      </a:r>
                      <a:r>
                        <a:rPr lang="zh-CN" altLang="en-US" sz="2000" dirty="0">
                          <a:effectLst/>
                        </a:rPr>
                        <a:t>分钟）</a:t>
                      </a:r>
                    </a:p>
                    <a:p>
                      <a:r>
                        <a:rPr lang="en-US" altLang="zh-CN" sz="2000" dirty="0">
                          <a:effectLst/>
                        </a:rPr>
                        <a:t>10-80%SOC</a:t>
                      </a:r>
                      <a:r>
                        <a:rPr lang="zh-CN" altLang="en-US" sz="2000" dirty="0">
                          <a:effectLst/>
                        </a:rPr>
                        <a:t>时间：</a:t>
                      </a:r>
                      <a:r>
                        <a:rPr lang="en-US" altLang="zh-CN" sz="2000" dirty="0">
                          <a:effectLst/>
                        </a:rPr>
                        <a:t>29.75</a:t>
                      </a:r>
                      <a:r>
                        <a:rPr lang="zh-CN" altLang="en-US" sz="2000" dirty="0">
                          <a:effectLst/>
                        </a:rPr>
                        <a:t>分钟 ✅ 满足≤</a:t>
                      </a:r>
                      <a:r>
                        <a:rPr lang="en-US" altLang="zh-CN" sz="2000" dirty="0">
                          <a:effectLst/>
                        </a:rPr>
                        <a:t>30</a:t>
                      </a:r>
                      <a:r>
                        <a:rPr lang="zh-CN" altLang="en-US" sz="2000" dirty="0">
                          <a:effectLst/>
                        </a:rPr>
                        <a:t>分钟要求</a:t>
                      </a:r>
                    </a:p>
                    <a:p>
                      <a:r>
                        <a:rPr lang="zh-CN" altLang="en-US" sz="2000" b="1" dirty="0">
                          <a:effectLst/>
                        </a:rPr>
                        <a:t>常温快充</a:t>
                      </a:r>
                      <a:r>
                        <a:rPr lang="en-US" altLang="zh-CN" sz="2000" b="1" dirty="0">
                          <a:effectLst/>
                        </a:rPr>
                        <a:t>2</a:t>
                      </a:r>
                      <a:r>
                        <a:rPr lang="zh-CN" altLang="en-US" sz="2000" b="1" dirty="0">
                          <a:effectLst/>
                        </a:rPr>
                        <a:t>工况：</a:t>
                      </a:r>
                      <a:endParaRPr lang="en-GB" altLang="zh-CN" sz="2000" b="1" dirty="0">
                        <a:effectLst/>
                      </a:endParaRPr>
                    </a:p>
                    <a:p>
                      <a:r>
                        <a:rPr lang="zh-CN" altLang="en-US" sz="2000" dirty="0">
                          <a:effectLst/>
                        </a:rPr>
                        <a:t>过程最高温度：</a:t>
                      </a:r>
                      <a:r>
                        <a:rPr lang="en-US" altLang="zh-CN" sz="2000" dirty="0">
                          <a:effectLst/>
                        </a:rPr>
                        <a:t>39.0℃</a:t>
                      </a:r>
                    </a:p>
                    <a:p>
                      <a:r>
                        <a:rPr lang="zh-CN" altLang="en-US" sz="2000" dirty="0">
                          <a:effectLst/>
                        </a:rPr>
                        <a:t>过程最大温差：</a:t>
                      </a:r>
                      <a:r>
                        <a:rPr lang="en-US" altLang="zh-CN" sz="2000" dirty="0">
                          <a:effectLst/>
                        </a:rPr>
                        <a:t>2.2℃</a:t>
                      </a:r>
                    </a:p>
                    <a:p>
                      <a:r>
                        <a:rPr lang="zh-CN" altLang="en-US" sz="2000" dirty="0">
                          <a:effectLst/>
                        </a:rPr>
                        <a:t>充电时间：</a:t>
                      </a:r>
                      <a:r>
                        <a:rPr lang="en-US" altLang="zh-CN" sz="2000" dirty="0">
                          <a:effectLst/>
                        </a:rPr>
                        <a:t>1365s</a:t>
                      </a:r>
                      <a:r>
                        <a:rPr lang="zh-CN" altLang="en-US" sz="2000" dirty="0">
                          <a:effectLst/>
                        </a:rPr>
                        <a:t>（</a:t>
                      </a:r>
                      <a:r>
                        <a:rPr lang="en-US" altLang="zh-CN" sz="2000" dirty="0">
                          <a:effectLst/>
                        </a:rPr>
                        <a:t>22.8</a:t>
                      </a:r>
                      <a:r>
                        <a:rPr lang="zh-CN" altLang="en-US" sz="2000" dirty="0">
                          <a:effectLst/>
                        </a:rPr>
                        <a:t>分钟） ✅ 满足≤</a:t>
                      </a:r>
                      <a:r>
                        <a:rPr lang="en-US" altLang="zh-CN" sz="2000" dirty="0">
                          <a:effectLst/>
                        </a:rPr>
                        <a:t>24</a:t>
                      </a:r>
                      <a:r>
                        <a:rPr lang="zh-CN" altLang="en-US" sz="2000" dirty="0">
                          <a:effectLst/>
                        </a:rPr>
                        <a:t>分钟要求</a:t>
                      </a:r>
                    </a:p>
                    <a:p>
                      <a:r>
                        <a:rPr lang="zh-CN" altLang="en-US" sz="2000" b="1" dirty="0">
                          <a:effectLst/>
                        </a:rPr>
                        <a:t>高温快充工况：</a:t>
                      </a:r>
                      <a:endParaRPr lang="en-GB" altLang="zh-CN" sz="2000" b="1" dirty="0">
                        <a:effectLst/>
                      </a:endParaRPr>
                    </a:p>
                    <a:p>
                      <a:r>
                        <a:rPr lang="zh-CN" altLang="en-US" sz="2000" dirty="0">
                          <a:effectLst/>
                        </a:rPr>
                        <a:t>过程最高温度：</a:t>
                      </a:r>
                      <a:r>
                        <a:rPr lang="en-US" altLang="zh-CN" sz="2000" dirty="0">
                          <a:effectLst/>
                        </a:rPr>
                        <a:t>45.2℃</a:t>
                      </a:r>
                    </a:p>
                    <a:p>
                      <a:r>
                        <a:rPr lang="zh-CN" altLang="en-US" sz="2000" dirty="0">
                          <a:effectLst/>
                        </a:rPr>
                        <a:t>过程最大温差：</a:t>
                      </a:r>
                      <a:r>
                        <a:rPr lang="en-US" altLang="zh-CN" sz="2000" dirty="0">
                          <a:effectLst/>
                        </a:rPr>
                        <a:t>2.9℃</a:t>
                      </a:r>
                    </a:p>
                    <a:p>
                      <a:r>
                        <a:rPr lang="zh-CN" altLang="en-US" sz="2000" dirty="0">
                          <a:effectLst/>
                        </a:rPr>
                        <a:t>充电时间：</a:t>
                      </a:r>
                      <a:r>
                        <a:rPr lang="en-US" altLang="zh-CN" sz="2000" dirty="0">
                          <a:effectLst/>
                        </a:rPr>
                        <a:t>3423s</a:t>
                      </a:r>
                      <a:r>
                        <a:rPr lang="zh-CN" altLang="en-US" sz="2000" dirty="0">
                          <a:effectLst/>
                        </a:rPr>
                        <a:t>（</a:t>
                      </a:r>
                      <a:r>
                        <a:rPr lang="en-US" altLang="zh-CN" sz="2000" dirty="0">
                          <a:effectLst/>
                        </a:rPr>
                        <a:t>57.1</a:t>
                      </a:r>
                      <a:r>
                        <a:rPr lang="zh-CN" altLang="en-US" sz="2000" dirty="0">
                          <a:effectLst/>
                        </a:rPr>
                        <a:t>分钟）</a:t>
                      </a:r>
                    </a:p>
                    <a:p>
                      <a:r>
                        <a:rPr lang="en-US" altLang="zh-CN" sz="2000" dirty="0">
                          <a:effectLst/>
                        </a:rPr>
                        <a:t>10-80%SOC</a:t>
                      </a:r>
                      <a:r>
                        <a:rPr lang="zh-CN" altLang="en-US" sz="2000" dirty="0">
                          <a:effectLst/>
                        </a:rPr>
                        <a:t>时间：</a:t>
                      </a:r>
                      <a:r>
                        <a:rPr lang="en-US" altLang="zh-CN" sz="2000" dirty="0">
                          <a:effectLst/>
                        </a:rPr>
                        <a:t>32.25</a:t>
                      </a:r>
                      <a:r>
                        <a:rPr lang="zh-CN" altLang="en-US" sz="2000" dirty="0">
                          <a:effectLst/>
                        </a:rPr>
                        <a:t>分钟 ✅ 满足≤</a:t>
                      </a:r>
                      <a:r>
                        <a:rPr lang="en-US" altLang="zh-CN" sz="2000" dirty="0">
                          <a:effectLst/>
                        </a:rPr>
                        <a:t>38</a:t>
                      </a:r>
                      <a:r>
                        <a:rPr lang="zh-CN" altLang="en-US" sz="2000" dirty="0">
                          <a:effectLst/>
                        </a:rPr>
                        <a:t>分钟要求</a:t>
                      </a:r>
                    </a:p>
                    <a:p>
                      <a:r>
                        <a:rPr lang="en-US" altLang="zh-CN" sz="2000" b="1" dirty="0">
                          <a:effectLst/>
                        </a:rPr>
                        <a:t>5. </a:t>
                      </a:r>
                      <a:r>
                        <a:rPr lang="zh-CN" altLang="en-US" sz="2000" b="1" dirty="0">
                          <a:effectLst/>
                        </a:rPr>
                        <a:t>质量门控审查</a:t>
                      </a:r>
                    </a:p>
                    <a:p>
                      <a:r>
                        <a:rPr lang="zh-CN" altLang="en-US" sz="2000" b="1" dirty="0">
                          <a:effectLst/>
                        </a:rPr>
                        <a:t>审查结果：✅ 通过</a:t>
                      </a:r>
                      <a:endParaRPr lang="en-GB" altLang="zh-CN" sz="2000" b="1" dirty="0">
                        <a:effectLst/>
                      </a:endParaRPr>
                    </a:p>
                    <a:p>
                      <a:r>
                        <a:rPr lang="zh-CN" altLang="en-US" sz="2000" b="1" dirty="0">
                          <a:effectLst/>
                        </a:rPr>
                        <a:t>详细分析：</a:t>
                      </a:r>
                      <a:r>
                        <a:rPr lang="zh-CN" altLang="en-US" sz="2000" dirty="0">
                          <a:effectLst/>
                        </a:rPr>
                        <a:t>所有工况均满足客户目标要求</a:t>
                      </a:r>
                    </a:p>
                    <a:p>
                      <a:r>
                        <a:rPr lang="zh-CN" altLang="en-US" sz="2000" dirty="0">
                          <a:effectLst/>
                        </a:rPr>
                        <a:t>温差控制在</a:t>
                      </a:r>
                      <a:r>
                        <a:rPr lang="en-US" altLang="zh-CN" sz="2000" dirty="0">
                          <a:effectLst/>
                        </a:rPr>
                        <a:t>5℃</a:t>
                      </a:r>
                      <a:r>
                        <a:rPr lang="zh-CN" altLang="en-US" sz="2000" dirty="0">
                          <a:effectLst/>
                        </a:rPr>
                        <a:t>以内，满足要求</a:t>
                      </a:r>
                    </a:p>
                    <a:p>
                      <a:r>
                        <a:rPr lang="zh-CN" altLang="en-US" sz="2000" dirty="0">
                          <a:effectLst/>
                        </a:rPr>
                        <a:t>充电时间均在目标范围内</a:t>
                      </a:r>
                    </a:p>
                    <a:p>
                      <a:r>
                        <a:rPr lang="zh-CN" altLang="en-US" sz="2000" dirty="0">
                          <a:effectLst/>
                        </a:rPr>
                        <a:t>温度控制策略有效，液冷系统响应及时</a:t>
                      </a:r>
                    </a:p>
                    <a:p>
                      <a:pPr>
                        <a:spcBef>
                          <a:spcPts val="150"/>
                        </a:spcBef>
                        <a:spcAft>
                          <a:spcPts val="150"/>
                        </a:spcAft>
                        <a:buFont typeface="+mj-lt"/>
                        <a:buAutoNum type="arabicPeriod"/>
                      </a:pPr>
                      <a:endParaRPr lang="en-GB" sz="2000" dirty="0"/>
                    </a:p>
                  </a:txBody>
                  <a:tcPr/>
                </a:tc>
                <a:tc>
                  <a:txBody>
                    <a:bodyPr/>
                    <a:lstStyle/>
                    <a:p>
                      <a:r>
                        <a:rPr lang="zh-CN" altLang="en-US" sz="2000" b="1" dirty="0">
                          <a:effectLst/>
                        </a:rPr>
                        <a:t>评审结果：✅ 有条件通过</a:t>
                      </a:r>
                    </a:p>
                    <a:p>
                      <a:r>
                        <a:rPr lang="zh-CN" altLang="en-US" sz="2000" b="1" dirty="0">
                          <a:effectLst/>
                        </a:rPr>
                        <a:t>主要优势：</a:t>
                      </a:r>
                    </a:p>
                    <a:p>
                      <a:r>
                        <a:rPr lang="zh-CN" altLang="en-US" sz="2000" b="1" dirty="0">
                          <a:effectLst/>
                        </a:rPr>
                        <a:t>技术指标达标</a:t>
                      </a:r>
                      <a:r>
                        <a:rPr lang="zh-CN" altLang="en-US" sz="2000" dirty="0">
                          <a:effectLst/>
                        </a:rPr>
                        <a:t>：所有工况均满足客户目标要求</a:t>
                      </a:r>
                    </a:p>
                    <a:p>
                      <a:r>
                        <a:rPr lang="zh-CN" altLang="en-US" sz="2000" b="1" dirty="0">
                          <a:effectLst/>
                        </a:rPr>
                        <a:t>文档完整性好</a:t>
                      </a:r>
                      <a:r>
                        <a:rPr lang="zh-CN" altLang="en-US" sz="2000" dirty="0">
                          <a:effectLst/>
                        </a:rPr>
                        <a:t>：技术参数、仿真结果、分析结论齐全</a:t>
                      </a:r>
                    </a:p>
                    <a:p>
                      <a:r>
                        <a:rPr lang="zh-CN" altLang="en-US" sz="2000" b="1" dirty="0">
                          <a:effectLst/>
                        </a:rPr>
                        <a:t>控制策略有效</a:t>
                      </a:r>
                      <a:r>
                        <a:rPr lang="zh-CN" altLang="en-US" sz="2000" dirty="0">
                          <a:effectLst/>
                        </a:rPr>
                        <a:t>：温度控制和充放电策略设计合理</a:t>
                      </a:r>
                    </a:p>
                    <a:p>
                      <a:r>
                        <a:rPr lang="zh-CN" altLang="en-US" sz="2000" b="1" dirty="0">
                          <a:effectLst/>
                        </a:rPr>
                        <a:t>需要关注的风险项：</a:t>
                      </a:r>
                    </a:p>
                    <a:p>
                      <a:r>
                        <a:rPr lang="zh-CN" altLang="en-US" sz="2000" b="1" dirty="0">
                          <a:effectLst/>
                        </a:rPr>
                        <a:t>电芯热标定缺失</a:t>
                      </a:r>
                      <a:r>
                        <a:rPr lang="zh-CN" altLang="en-US" sz="2000" dirty="0">
                          <a:effectLst/>
                        </a:rPr>
                        <a:t> ⚠️</a:t>
                      </a:r>
                    </a:p>
                    <a:p>
                      <a:r>
                        <a:rPr lang="zh-CN" altLang="en-US" sz="2000" b="1" dirty="0">
                          <a:effectLst/>
                        </a:rPr>
                        <a:t>风险等级</a:t>
                      </a:r>
                      <a:r>
                        <a:rPr lang="zh-CN" altLang="en-US" sz="2000" dirty="0">
                          <a:effectLst/>
                        </a:rPr>
                        <a:t>：中等</a:t>
                      </a:r>
                    </a:p>
                    <a:p>
                      <a:r>
                        <a:rPr lang="zh-CN" altLang="en-US" sz="2000" b="1" dirty="0">
                          <a:effectLst/>
                        </a:rPr>
                        <a:t>影响</a:t>
                      </a:r>
                      <a:r>
                        <a:rPr lang="zh-CN" altLang="en-US" sz="2000" dirty="0">
                          <a:effectLst/>
                        </a:rPr>
                        <a:t>：可能影响仿真精度和实际性能预测</a:t>
                      </a:r>
                    </a:p>
                    <a:p>
                      <a:r>
                        <a:rPr lang="zh-CN" altLang="en-US" sz="2000" b="1" dirty="0">
                          <a:effectLst/>
                        </a:rPr>
                        <a:t>建议</a:t>
                      </a:r>
                      <a:r>
                        <a:rPr lang="zh-CN" altLang="en-US" sz="2000" dirty="0">
                          <a:effectLst/>
                        </a:rPr>
                        <a:t>：在</a:t>
                      </a:r>
                      <a:r>
                        <a:rPr lang="en-US" altLang="zh-CN" sz="2000" dirty="0">
                          <a:effectLst/>
                        </a:rPr>
                        <a:t>B</a:t>
                      </a:r>
                      <a:r>
                        <a:rPr lang="zh-CN" altLang="en-US" sz="2000" dirty="0">
                          <a:effectLst/>
                        </a:rPr>
                        <a:t>样验证阶段进行热标定测试</a:t>
                      </a:r>
                    </a:p>
                    <a:p>
                      <a:r>
                        <a:rPr lang="zh-CN" altLang="en-US" sz="2000" b="1" dirty="0">
                          <a:effectLst/>
                        </a:rPr>
                        <a:t>高温工况裕度较小</a:t>
                      </a:r>
                      <a:r>
                        <a:rPr lang="zh-CN" altLang="en-US" sz="2000" dirty="0">
                          <a:effectLst/>
                        </a:rPr>
                        <a:t> ⚠️</a:t>
                      </a:r>
                    </a:p>
                    <a:p>
                      <a:r>
                        <a:rPr lang="zh-CN" altLang="en-US" sz="2000" b="1" dirty="0">
                          <a:effectLst/>
                        </a:rPr>
                        <a:t>风险等级</a:t>
                      </a:r>
                      <a:r>
                        <a:rPr lang="zh-CN" altLang="en-US" sz="2000" dirty="0">
                          <a:effectLst/>
                        </a:rPr>
                        <a:t>：低</a:t>
                      </a:r>
                    </a:p>
                    <a:p>
                      <a:r>
                        <a:rPr lang="zh-CN" altLang="en-US" sz="2000" b="1" dirty="0">
                          <a:effectLst/>
                        </a:rPr>
                        <a:t>影响</a:t>
                      </a:r>
                      <a:r>
                        <a:rPr lang="zh-CN" altLang="en-US" sz="2000" dirty="0">
                          <a:effectLst/>
                        </a:rPr>
                        <a:t>：</a:t>
                      </a:r>
                      <a:r>
                        <a:rPr lang="en-US" altLang="zh-CN" sz="2000" dirty="0">
                          <a:effectLst/>
                        </a:rPr>
                        <a:t>45.2℃</a:t>
                      </a:r>
                      <a:r>
                        <a:rPr lang="zh-CN" altLang="en-US" sz="2000" dirty="0">
                          <a:effectLst/>
                        </a:rPr>
                        <a:t>接近安全限值</a:t>
                      </a:r>
                    </a:p>
                    <a:p>
                      <a:r>
                        <a:rPr lang="zh-CN" altLang="en-US" sz="2000" b="1" dirty="0">
                          <a:effectLst/>
                        </a:rPr>
                        <a:t>建议</a:t>
                      </a:r>
                      <a:r>
                        <a:rPr lang="zh-CN" altLang="en-US" sz="2000" dirty="0">
                          <a:effectLst/>
                        </a:rPr>
                        <a:t>：在样机测试中重点关注高温工况</a:t>
                      </a:r>
                    </a:p>
                    <a:p>
                      <a:r>
                        <a:rPr lang="zh-CN" altLang="en-US" sz="2000" b="1" dirty="0">
                          <a:effectLst/>
                        </a:rPr>
                        <a:t>后续行动建议：</a:t>
                      </a:r>
                    </a:p>
                    <a:p>
                      <a:r>
                        <a:rPr lang="zh-CN" altLang="en-US" sz="2000" b="1" dirty="0">
                          <a:effectLst/>
                        </a:rPr>
                        <a:t>立即行动项：</a:t>
                      </a:r>
                      <a:endParaRPr lang="zh-CN" altLang="en-US" sz="2000" dirty="0">
                        <a:effectLst/>
                      </a:endParaRPr>
                    </a:p>
                    <a:p>
                      <a:r>
                        <a:rPr lang="zh-CN" altLang="en-US" sz="2000" dirty="0">
                          <a:effectLst/>
                        </a:rPr>
                        <a:t>制定电芯热标定测试计划</a:t>
                      </a:r>
                    </a:p>
                    <a:p>
                      <a:r>
                        <a:rPr lang="zh-CN" altLang="en-US" sz="2000" dirty="0">
                          <a:effectLst/>
                        </a:rPr>
                        <a:t>准备样机验证测试方案</a:t>
                      </a:r>
                    </a:p>
                    <a:p>
                      <a:r>
                        <a:rPr lang="zh-CN" altLang="en-US" sz="2000" b="1" dirty="0">
                          <a:effectLst/>
                        </a:rPr>
                        <a:t>监控项：</a:t>
                      </a:r>
                      <a:endParaRPr lang="zh-CN" altLang="en-US" sz="2000" dirty="0">
                        <a:effectLst/>
                      </a:endParaRPr>
                    </a:p>
                    <a:p>
                      <a:r>
                        <a:rPr lang="zh-CN" altLang="en-US" sz="2000" dirty="0">
                          <a:effectLst/>
                        </a:rPr>
                        <a:t>跟踪样机测试结果</a:t>
                      </a:r>
                    </a:p>
                    <a:p>
                      <a:r>
                        <a:rPr lang="zh-CN" altLang="en-US" sz="2000" dirty="0">
                          <a:effectLst/>
                        </a:rPr>
                        <a:t>验证仿真精度</a:t>
                      </a:r>
                    </a:p>
                    <a:p>
                      <a:r>
                        <a:rPr lang="zh-CN" altLang="en-US" sz="2000" b="1" dirty="0">
                          <a:effectLst/>
                        </a:rPr>
                        <a:t>持续改进项：</a:t>
                      </a:r>
                      <a:endParaRPr lang="zh-CN" altLang="en-US" sz="2000" dirty="0">
                        <a:effectLst/>
                      </a:endParaRPr>
                    </a:p>
                    <a:p>
                      <a:r>
                        <a:rPr lang="zh-CN" altLang="en-US" sz="2000" dirty="0">
                          <a:effectLst/>
                        </a:rPr>
                        <a:t>优化温度控制策略</a:t>
                      </a:r>
                    </a:p>
                    <a:p>
                      <a:r>
                        <a:rPr lang="zh-CN" altLang="en-US" sz="2000" dirty="0">
                          <a:effectLst/>
                        </a:rPr>
                        <a:t>完善仿真模型精度</a:t>
                      </a:r>
                    </a:p>
                    <a:p>
                      <a:r>
                        <a:rPr lang="en-US" altLang="zh-CN" sz="2000" b="1" dirty="0">
                          <a:effectLst/>
                        </a:rPr>
                        <a:t>APQP</a:t>
                      </a:r>
                      <a:r>
                        <a:rPr lang="zh-CN" altLang="en-US" sz="2000" b="1" dirty="0">
                          <a:effectLst/>
                        </a:rPr>
                        <a:t>阶段建议：</a:t>
                      </a:r>
                    </a:p>
                    <a:p>
                      <a:r>
                        <a:rPr lang="zh-CN" altLang="en-US" sz="2000" b="1" dirty="0">
                          <a:effectLst/>
                        </a:rPr>
                        <a:t>当前阶段</a:t>
                      </a:r>
                      <a:r>
                        <a:rPr lang="zh-CN" altLang="en-US" sz="2000" dirty="0">
                          <a:effectLst/>
                        </a:rPr>
                        <a:t>：</a:t>
                      </a:r>
                      <a:r>
                        <a:rPr lang="en-US" altLang="zh-CN" sz="2000" dirty="0">
                          <a:effectLst/>
                        </a:rPr>
                        <a:t>B</a:t>
                      </a:r>
                      <a:r>
                        <a:rPr lang="zh-CN" altLang="en-US" sz="2000" dirty="0">
                          <a:effectLst/>
                        </a:rPr>
                        <a:t>样设计验证阶段</a:t>
                      </a:r>
                    </a:p>
                    <a:p>
                      <a:r>
                        <a:rPr lang="zh-CN" altLang="en-US" sz="2000" b="1" dirty="0">
                          <a:effectLst/>
                        </a:rPr>
                        <a:t>下一阶段</a:t>
                      </a:r>
                      <a:r>
                        <a:rPr lang="zh-CN" altLang="en-US" sz="2000" dirty="0">
                          <a:effectLst/>
                        </a:rPr>
                        <a:t>：</a:t>
                      </a:r>
                      <a:r>
                        <a:rPr lang="en-US" altLang="zh-CN" sz="2000" dirty="0">
                          <a:effectLst/>
                        </a:rPr>
                        <a:t>C</a:t>
                      </a:r>
                      <a:r>
                        <a:rPr lang="zh-CN" altLang="en-US" sz="2000" dirty="0">
                          <a:effectLst/>
                        </a:rPr>
                        <a:t>样试制验证</a:t>
                      </a:r>
                    </a:p>
                    <a:p>
                      <a:r>
                        <a:rPr lang="zh-CN" altLang="en-US" sz="2000" b="1" dirty="0">
                          <a:effectLst/>
                        </a:rPr>
                        <a:t>关键里程碑</a:t>
                      </a:r>
                      <a:r>
                        <a:rPr lang="zh-CN" altLang="en-US" sz="2000" dirty="0">
                          <a:effectLst/>
                        </a:rPr>
                        <a:t>：样机热性能验证测试</a:t>
                      </a:r>
                    </a:p>
                    <a:p>
                      <a:r>
                        <a:rPr lang="zh-CN" altLang="en-US" sz="2000" dirty="0">
                          <a:effectLst/>
                        </a:rPr>
                        <a:t>该报告在技术层面满足</a:t>
                      </a:r>
                      <a:r>
                        <a:rPr lang="en-US" altLang="zh-CN" sz="2000" dirty="0">
                          <a:effectLst/>
                        </a:rPr>
                        <a:t>B</a:t>
                      </a:r>
                      <a:r>
                        <a:rPr lang="zh-CN" altLang="en-US" sz="2000" dirty="0">
                          <a:effectLst/>
                        </a:rPr>
                        <a:t>样阶段要求，建议有条件通过，但需要重点关注电芯热标定和样机验证环节。</a:t>
                      </a:r>
                      <a:endParaRPr lang="en-GB" sz="2000" dirty="0"/>
                    </a:p>
                  </a:txBody>
                  <a:tcPr/>
                </a:tc>
                <a:extLst>
                  <a:ext uri="{0D108BD9-81ED-4DB2-BD59-A6C34878D82A}">
                    <a16:rowId xmlns:a16="http://schemas.microsoft.com/office/drawing/2014/main" val="604853937"/>
                  </a:ext>
                </a:extLst>
              </a:tr>
            </a:tbl>
          </a:graphicData>
        </a:graphic>
      </p:graphicFrame>
    </p:spTree>
    <p:extLst>
      <p:ext uri="{BB962C8B-B14F-4D97-AF65-F5344CB8AC3E}">
        <p14:creationId xmlns:p14="http://schemas.microsoft.com/office/powerpoint/2010/main" val="251217084"/>
      </p:ext>
    </p:extLst>
  </p:cSld>
  <p:clrMapOvr>
    <a:masterClrMapping/>
  </p:clrMapOvr>
  <p:transition spd="med"/>
  <p:extLst>
    <p:ext uri="{6950BFC3-D8DA-4A85-94F7-54DA5524770B}">
      <p188:commentRel xmlns:p188="http://schemas.microsoft.com/office/powerpoint/2018/8/main" r:id="rId2"/>
    </p:ext>
  </p:extLs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A8FE08-7CD8-75FE-7534-21A64A03229A}"/>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AF4C5AA0-DA9A-E5B2-9A0D-E288547D46FA}"/>
              </a:ext>
            </a:extLst>
          </p:cNvPr>
          <p:cNvSpPr txBox="1"/>
          <p:nvPr/>
        </p:nvSpPr>
        <p:spPr>
          <a:xfrm>
            <a:off x="1737559" y="755986"/>
            <a:ext cx="17078475" cy="646331"/>
          </a:xfrm>
          <a:prstGeom prst="rect">
            <a:avLst/>
          </a:prstGeom>
          <a:noFill/>
        </p:spPr>
        <p:txBody>
          <a:bodyPr wrap="square" numCol="1">
            <a:spAutoFit/>
          </a:bodyPr>
          <a:lstStyle/>
          <a:p>
            <a:pPr>
              <a:spcBef>
                <a:spcPts val="1500"/>
              </a:spcBef>
              <a:spcAft>
                <a:spcPts val="750"/>
              </a:spcAft>
              <a:buNone/>
            </a:pPr>
            <a:r>
              <a:rPr lang="en-US" altLang="zh-CN" sz="3600" b="1" dirty="0">
                <a:effectLst/>
              </a:rPr>
              <a:t>B</a:t>
            </a:r>
            <a:r>
              <a:rPr lang="zh-CN" altLang="en-US" sz="3600" b="1" dirty="0">
                <a:effectLst/>
              </a:rPr>
              <a:t>样阶段</a:t>
            </a:r>
            <a:r>
              <a:rPr lang="en-US" altLang="zh-CN" sz="3600" b="1" dirty="0"/>
              <a:t>《570-941</a:t>
            </a:r>
            <a:r>
              <a:rPr lang="zh-CN" altLang="en-US" sz="3600" b="1" dirty="0"/>
              <a:t>电池包内部热仿真分析报告</a:t>
            </a:r>
            <a:r>
              <a:rPr lang="en-US" altLang="zh-CN" sz="3600" b="1" dirty="0"/>
              <a:t>-</a:t>
            </a:r>
            <a:r>
              <a:rPr lang="zh-CN" altLang="en-US" sz="3600" b="1" dirty="0"/>
              <a:t>保温</a:t>
            </a:r>
            <a:r>
              <a:rPr lang="en-US" altLang="zh-CN" sz="3600" b="1" dirty="0"/>
              <a:t>0612.pptx》</a:t>
            </a:r>
            <a:r>
              <a:rPr lang="zh-CN" altLang="en-US" sz="3600" b="1" dirty="0">
                <a:effectLst/>
              </a:rPr>
              <a:t>审核报告</a:t>
            </a:r>
          </a:p>
        </p:txBody>
      </p:sp>
      <p:graphicFrame>
        <p:nvGraphicFramePr>
          <p:cNvPr id="2" name="表格 1">
            <a:extLst>
              <a:ext uri="{FF2B5EF4-FFF2-40B4-BE49-F238E27FC236}">
                <a16:creationId xmlns:a16="http://schemas.microsoft.com/office/drawing/2014/main" id="{660BFCA8-F522-1150-DD9B-0D56659DCA2F}"/>
              </a:ext>
            </a:extLst>
          </p:cNvPr>
          <p:cNvGraphicFramePr>
            <a:graphicFrameLocks noGrp="1"/>
          </p:cNvGraphicFramePr>
          <p:nvPr>
            <p:extLst>
              <p:ext uri="{D42A27DB-BD31-4B8C-83A1-F6EECF244321}">
                <p14:modId xmlns:p14="http://schemas.microsoft.com/office/powerpoint/2010/main" val="496916524"/>
              </p:ext>
            </p:extLst>
          </p:nvPr>
        </p:nvGraphicFramePr>
        <p:xfrm>
          <a:off x="662354" y="1738812"/>
          <a:ext cx="23059292" cy="11355938"/>
        </p:xfrm>
        <a:graphic>
          <a:graphicData uri="http://schemas.openxmlformats.org/drawingml/2006/table">
            <a:tbl>
              <a:tblPr firstRow="1" bandRow="1"/>
              <a:tblGrid>
                <a:gridCol w="4908267">
                  <a:extLst>
                    <a:ext uri="{9D8B030D-6E8A-4147-A177-3AD203B41FA5}">
                      <a16:colId xmlns:a16="http://schemas.microsoft.com/office/drawing/2014/main" val="520135011"/>
                    </a:ext>
                  </a:extLst>
                </a:gridCol>
                <a:gridCol w="6725653">
                  <a:extLst>
                    <a:ext uri="{9D8B030D-6E8A-4147-A177-3AD203B41FA5}">
                      <a16:colId xmlns:a16="http://schemas.microsoft.com/office/drawing/2014/main" val="585926975"/>
                    </a:ext>
                  </a:extLst>
                </a:gridCol>
                <a:gridCol w="5660549">
                  <a:extLst>
                    <a:ext uri="{9D8B030D-6E8A-4147-A177-3AD203B41FA5}">
                      <a16:colId xmlns:a16="http://schemas.microsoft.com/office/drawing/2014/main" val="3081416713"/>
                    </a:ext>
                  </a:extLst>
                </a:gridCol>
                <a:gridCol w="5764823">
                  <a:extLst>
                    <a:ext uri="{9D8B030D-6E8A-4147-A177-3AD203B41FA5}">
                      <a16:colId xmlns:a16="http://schemas.microsoft.com/office/drawing/2014/main" val="572010187"/>
                    </a:ext>
                  </a:extLst>
                </a:gridCol>
              </a:tblGrid>
              <a:tr h="901298">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审查清单制定</a:t>
                      </a:r>
                    </a:p>
                  </a:txBody>
                  <a:tcPr anchor="ctr"/>
                </a:tc>
                <a:tc gridSpan="2">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逐项审核结果</a:t>
                      </a:r>
                    </a:p>
                  </a:txBody>
                  <a:tcPr anchor="ctr"/>
                </a:tc>
                <a:tc hMerge="1">
                  <a:txBody>
                    <a:bodyPr/>
                    <a:lstStyle/>
                    <a:p>
                      <a:pPr algn="ctr"/>
                      <a:endParaRPr lang="en-GB" sz="2000" dirty="0"/>
                    </a:p>
                  </a:txBody>
                  <a:tcPr/>
                </a:tc>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总体评估</a:t>
                      </a:r>
                    </a:p>
                  </a:txBody>
                  <a:tcPr anchor="ctr"/>
                </a:tc>
                <a:extLst>
                  <a:ext uri="{0D108BD9-81ED-4DB2-BD59-A6C34878D82A}">
                    <a16:rowId xmlns:a16="http://schemas.microsoft.com/office/drawing/2014/main" val="2562292327"/>
                  </a:ext>
                </a:extLst>
              </a:tr>
              <a:tr h="10086326">
                <a:tc>
                  <a:txBody>
                    <a:bodyPr/>
                    <a:lstStyle/>
                    <a:p>
                      <a:r>
                        <a:rPr lang="en-US" altLang="zh-CN" sz="2000" b="1" dirty="0">
                          <a:effectLst/>
                        </a:rPr>
                        <a:t>1. </a:t>
                      </a:r>
                      <a:r>
                        <a:rPr lang="zh-CN" altLang="en-US" sz="2000" b="1" dirty="0">
                          <a:effectLst/>
                        </a:rPr>
                        <a:t>文档规范性审查（</a:t>
                      </a:r>
                      <a:r>
                        <a:rPr lang="en-US" altLang="zh-CN" sz="2000" b="1" dirty="0">
                          <a:effectLst/>
                        </a:rPr>
                        <a:t>Gate 2-3</a:t>
                      </a:r>
                      <a:r>
                        <a:rPr lang="zh-CN" altLang="en-US" sz="2000" b="1" dirty="0">
                          <a:effectLst/>
                        </a:rPr>
                        <a:t>要求）</a:t>
                      </a:r>
                    </a:p>
                    <a:p>
                      <a:r>
                        <a:rPr lang="en-US" altLang="zh-CN" sz="2000" b="1" dirty="0">
                          <a:effectLst/>
                        </a:rPr>
                        <a:t>1.1</a:t>
                      </a:r>
                      <a:r>
                        <a:rPr lang="zh-CN" altLang="en-US" sz="2000" dirty="0">
                          <a:effectLst/>
                        </a:rPr>
                        <a:t> 文档标识完整性（项目代号、版本、日期）</a:t>
                      </a:r>
                    </a:p>
                    <a:p>
                      <a:r>
                        <a:rPr lang="en-US" altLang="zh-CN" sz="2000" b="1" dirty="0">
                          <a:effectLst/>
                        </a:rPr>
                        <a:t>1.2</a:t>
                      </a:r>
                      <a:r>
                        <a:rPr lang="zh-CN" altLang="en-US" sz="2000" dirty="0">
                          <a:effectLst/>
                        </a:rPr>
                        <a:t> 责任人和审核人员信息</a:t>
                      </a:r>
                    </a:p>
                    <a:p>
                      <a:r>
                        <a:rPr lang="en-US" altLang="zh-CN" sz="2000" b="1" dirty="0">
                          <a:effectLst/>
                        </a:rPr>
                        <a:t>1.3</a:t>
                      </a:r>
                      <a:r>
                        <a:rPr lang="zh-CN" altLang="en-US" sz="2000" dirty="0">
                          <a:effectLst/>
                        </a:rPr>
                        <a:t> 文档结构完整性和逻辑性</a:t>
                      </a:r>
                    </a:p>
                    <a:p>
                      <a:r>
                        <a:rPr lang="en-US" altLang="zh-CN" sz="2000" b="1" dirty="0">
                          <a:effectLst/>
                        </a:rPr>
                        <a:t>1.4</a:t>
                      </a:r>
                      <a:r>
                        <a:rPr lang="zh-CN" altLang="en-US" sz="2000" dirty="0">
                          <a:effectLst/>
                        </a:rPr>
                        <a:t> 技术规范引用和标准符合性</a:t>
                      </a:r>
                    </a:p>
                    <a:p>
                      <a:r>
                        <a:rPr lang="en-US" altLang="zh-CN" sz="2000" b="1" dirty="0">
                          <a:effectLst/>
                        </a:rPr>
                        <a:t>2. </a:t>
                      </a:r>
                      <a:r>
                        <a:rPr lang="zh-CN" altLang="en-US" sz="2000" b="1" dirty="0">
                          <a:effectLst/>
                        </a:rPr>
                        <a:t>设计输入验证（</a:t>
                      </a:r>
                      <a:r>
                        <a:rPr lang="en-US" altLang="zh-CN" sz="2000" b="1" dirty="0">
                          <a:effectLst/>
                        </a:rPr>
                        <a:t>B</a:t>
                      </a:r>
                      <a:r>
                        <a:rPr lang="zh-CN" altLang="en-US" sz="2000" b="1" dirty="0">
                          <a:effectLst/>
                        </a:rPr>
                        <a:t>样阶段关键要求）</a:t>
                      </a:r>
                    </a:p>
                    <a:p>
                      <a:r>
                        <a:rPr lang="en-US" altLang="zh-CN" sz="2000" b="1" dirty="0">
                          <a:effectLst/>
                        </a:rPr>
                        <a:t>2.1</a:t>
                      </a:r>
                      <a:r>
                        <a:rPr lang="zh-CN" altLang="en-US" sz="2000" dirty="0">
                          <a:effectLst/>
                        </a:rPr>
                        <a:t> 电芯规格参数完整性和准确性</a:t>
                      </a:r>
                    </a:p>
                    <a:p>
                      <a:r>
                        <a:rPr lang="en-US" altLang="zh-CN" sz="2000" b="1" dirty="0">
                          <a:effectLst/>
                        </a:rPr>
                        <a:t>2.2</a:t>
                      </a:r>
                      <a:r>
                        <a:rPr lang="zh-CN" altLang="en-US" sz="2000" dirty="0">
                          <a:effectLst/>
                        </a:rPr>
                        <a:t> </a:t>
                      </a:r>
                      <a:r>
                        <a:rPr lang="en-US" altLang="zh-CN" sz="2000" dirty="0">
                          <a:effectLst/>
                        </a:rPr>
                        <a:t>PACK</a:t>
                      </a:r>
                      <a:r>
                        <a:rPr lang="zh-CN" altLang="en-US" sz="2000" dirty="0">
                          <a:effectLst/>
                        </a:rPr>
                        <a:t>系统参数验证</a:t>
                      </a:r>
                    </a:p>
                    <a:p>
                      <a:r>
                        <a:rPr lang="en-US" altLang="zh-CN" sz="2000" b="1" dirty="0">
                          <a:effectLst/>
                        </a:rPr>
                        <a:t>2.3</a:t>
                      </a:r>
                      <a:r>
                        <a:rPr lang="zh-CN" altLang="en-US" sz="2000" dirty="0">
                          <a:effectLst/>
                        </a:rPr>
                        <a:t> 材料参数数据库完整性</a:t>
                      </a:r>
                    </a:p>
                    <a:p>
                      <a:r>
                        <a:rPr lang="en-US" altLang="zh-CN" sz="2000" b="1" dirty="0">
                          <a:effectLst/>
                        </a:rPr>
                        <a:t>2.4</a:t>
                      </a:r>
                      <a:r>
                        <a:rPr lang="zh-CN" altLang="en-US" sz="2000" dirty="0">
                          <a:effectLst/>
                        </a:rPr>
                        <a:t> 边界条件和假设条件明确性</a:t>
                      </a:r>
                    </a:p>
                    <a:p>
                      <a:r>
                        <a:rPr lang="en-US" altLang="zh-CN" sz="2000" b="1" dirty="0">
                          <a:effectLst/>
                        </a:rPr>
                        <a:t>3. </a:t>
                      </a:r>
                      <a:r>
                        <a:rPr lang="zh-CN" altLang="en-US" sz="2000" b="1" dirty="0">
                          <a:effectLst/>
                        </a:rPr>
                        <a:t>仿真模型验证</a:t>
                      </a:r>
                    </a:p>
                    <a:p>
                      <a:r>
                        <a:rPr lang="en-US" altLang="zh-CN" sz="2000" b="1" dirty="0">
                          <a:effectLst/>
                        </a:rPr>
                        <a:t>3.1</a:t>
                      </a:r>
                      <a:r>
                        <a:rPr lang="zh-CN" altLang="en-US" sz="2000" dirty="0">
                          <a:effectLst/>
                        </a:rPr>
                        <a:t> 几何模型准确性验证</a:t>
                      </a:r>
                    </a:p>
                    <a:p>
                      <a:r>
                        <a:rPr lang="en-US" altLang="zh-CN" sz="2000" b="1" dirty="0">
                          <a:effectLst/>
                        </a:rPr>
                        <a:t>3.2</a:t>
                      </a:r>
                      <a:r>
                        <a:rPr lang="zh-CN" altLang="en-US" sz="2000" dirty="0">
                          <a:effectLst/>
                        </a:rPr>
                        <a:t> 网格质量和收敛性分析</a:t>
                      </a:r>
                    </a:p>
                    <a:p>
                      <a:r>
                        <a:rPr lang="en-US" altLang="zh-CN" sz="2000" b="1" dirty="0">
                          <a:effectLst/>
                        </a:rPr>
                        <a:t>3.3</a:t>
                      </a:r>
                      <a:r>
                        <a:rPr lang="zh-CN" altLang="en-US" sz="2000" dirty="0">
                          <a:effectLst/>
                        </a:rPr>
                        <a:t> 材料属性模型适用性</a:t>
                      </a:r>
                    </a:p>
                    <a:p>
                      <a:r>
                        <a:rPr lang="en-US" altLang="zh-CN" sz="2000" b="1" dirty="0">
                          <a:effectLst/>
                        </a:rPr>
                        <a:t>3.4</a:t>
                      </a:r>
                      <a:r>
                        <a:rPr lang="zh-CN" altLang="en-US" sz="2000" dirty="0">
                          <a:effectLst/>
                        </a:rPr>
                        <a:t> 热源模型和边界条件设置</a:t>
                      </a:r>
                    </a:p>
                    <a:p>
                      <a:r>
                        <a:rPr lang="en-US" altLang="zh-CN" sz="2000" b="1" dirty="0">
                          <a:effectLst/>
                        </a:rPr>
                        <a:t>4. </a:t>
                      </a:r>
                      <a:r>
                        <a:rPr lang="zh-CN" altLang="en-US" sz="2000" b="1" dirty="0">
                          <a:effectLst/>
                        </a:rPr>
                        <a:t>试验工况设计验证</a:t>
                      </a:r>
                    </a:p>
                    <a:p>
                      <a:r>
                        <a:rPr lang="en-US" altLang="zh-CN" sz="2000" b="1" dirty="0">
                          <a:effectLst/>
                        </a:rPr>
                        <a:t>4.1</a:t>
                      </a:r>
                      <a:r>
                        <a:rPr lang="zh-CN" altLang="en-US" sz="2000" dirty="0">
                          <a:effectLst/>
                        </a:rPr>
                        <a:t> 工况设置合理性（温度范围、时间设定）</a:t>
                      </a:r>
                    </a:p>
                    <a:p>
                      <a:r>
                        <a:rPr lang="en-US" altLang="zh-CN" sz="2000" b="1" dirty="0">
                          <a:effectLst/>
                        </a:rPr>
                        <a:t>4.2</a:t>
                      </a:r>
                      <a:r>
                        <a:rPr lang="zh-CN" altLang="en-US" sz="2000" dirty="0">
                          <a:effectLst/>
                        </a:rPr>
                        <a:t> 客户目标要求符合性</a:t>
                      </a:r>
                    </a:p>
                    <a:p>
                      <a:r>
                        <a:rPr lang="en-US" altLang="zh-CN" sz="2000" b="1" dirty="0">
                          <a:effectLst/>
                        </a:rPr>
                        <a:t>4.3</a:t>
                      </a:r>
                      <a:r>
                        <a:rPr lang="zh-CN" altLang="en-US" sz="2000" dirty="0">
                          <a:effectLst/>
                        </a:rPr>
                        <a:t> 安全限值和性能指标</a:t>
                      </a:r>
                    </a:p>
                    <a:p>
                      <a:r>
                        <a:rPr lang="en-US" altLang="zh-CN" sz="2000" b="1" dirty="0">
                          <a:effectLst/>
                        </a:rPr>
                        <a:t>4.4</a:t>
                      </a:r>
                      <a:r>
                        <a:rPr lang="zh-CN" altLang="en-US" sz="2000" dirty="0">
                          <a:effectLst/>
                        </a:rPr>
                        <a:t> 测试点布置合理性</a:t>
                      </a:r>
                    </a:p>
                    <a:p>
                      <a:r>
                        <a:rPr lang="en-US" altLang="zh-CN" sz="2000" b="1" dirty="0">
                          <a:effectLst/>
                        </a:rPr>
                        <a:t>5. </a:t>
                      </a:r>
                      <a:r>
                        <a:rPr lang="zh-CN" altLang="en-US" sz="2000" b="1" dirty="0">
                          <a:effectLst/>
                        </a:rPr>
                        <a:t>结果分析完整性</a:t>
                      </a:r>
                    </a:p>
                    <a:p>
                      <a:r>
                        <a:rPr lang="en-US" altLang="zh-CN" sz="2000" b="1" dirty="0">
                          <a:effectLst/>
                        </a:rPr>
                        <a:t>5.1</a:t>
                      </a:r>
                      <a:r>
                        <a:rPr lang="zh-CN" altLang="en-US" sz="2000" dirty="0">
                          <a:effectLst/>
                        </a:rPr>
                        <a:t> 数据分析方法和结论逻辑性</a:t>
                      </a:r>
                    </a:p>
                    <a:p>
                      <a:r>
                        <a:rPr lang="en-US" altLang="zh-CN" sz="2000" b="1" dirty="0">
                          <a:effectLst/>
                        </a:rPr>
                        <a:t>5.2</a:t>
                      </a:r>
                      <a:r>
                        <a:rPr lang="zh-CN" altLang="en-US" sz="2000" dirty="0">
                          <a:effectLst/>
                        </a:rPr>
                        <a:t> 风险识别和评估</a:t>
                      </a:r>
                    </a:p>
                    <a:p>
                      <a:r>
                        <a:rPr lang="en-US" altLang="zh-CN" sz="2000" b="1" dirty="0">
                          <a:effectLst/>
                        </a:rPr>
                        <a:t>5.3</a:t>
                      </a:r>
                      <a:r>
                        <a:rPr lang="zh-CN" altLang="en-US" sz="2000" dirty="0">
                          <a:effectLst/>
                        </a:rPr>
                        <a:t> 改进建议可行性</a:t>
                      </a:r>
                    </a:p>
                    <a:p>
                      <a:r>
                        <a:rPr lang="en-US" altLang="zh-CN" sz="2000" b="1" dirty="0">
                          <a:effectLst/>
                        </a:rPr>
                        <a:t>5.4</a:t>
                      </a:r>
                      <a:r>
                        <a:rPr lang="zh-CN" altLang="en-US" sz="2000" dirty="0">
                          <a:effectLst/>
                        </a:rPr>
                        <a:t> 下阶段工作规划</a:t>
                      </a:r>
                    </a:p>
                    <a:p>
                      <a:r>
                        <a:rPr lang="en-US" altLang="zh-CN" sz="2000" b="1" dirty="0">
                          <a:effectLst/>
                        </a:rPr>
                        <a:t>6. </a:t>
                      </a:r>
                      <a:r>
                        <a:rPr lang="zh-CN" altLang="en-US" sz="2000" b="1" dirty="0">
                          <a:effectLst/>
                        </a:rPr>
                        <a:t>质量门禁符合性</a:t>
                      </a:r>
                    </a:p>
                    <a:p>
                      <a:r>
                        <a:rPr lang="en-US" altLang="zh-CN" sz="2000" b="1" dirty="0">
                          <a:effectLst/>
                        </a:rPr>
                        <a:t>6.1</a:t>
                      </a:r>
                      <a:r>
                        <a:rPr lang="zh-CN" altLang="en-US" sz="2000" dirty="0">
                          <a:effectLst/>
                        </a:rPr>
                        <a:t> </a:t>
                      </a:r>
                      <a:r>
                        <a:rPr lang="en-US" altLang="zh-CN" sz="2000" dirty="0">
                          <a:effectLst/>
                        </a:rPr>
                        <a:t>Gate 2-3</a:t>
                      </a:r>
                      <a:r>
                        <a:rPr lang="zh-CN" altLang="en-US" sz="2000" dirty="0">
                          <a:effectLst/>
                        </a:rPr>
                        <a:t>阶段交付物要求</a:t>
                      </a:r>
                    </a:p>
                    <a:p>
                      <a:r>
                        <a:rPr lang="en-US" altLang="zh-CN" sz="2000" b="1" dirty="0">
                          <a:effectLst/>
                        </a:rPr>
                        <a:t>6.2</a:t>
                      </a:r>
                      <a:r>
                        <a:rPr lang="zh-CN" altLang="en-US" sz="2000" dirty="0">
                          <a:effectLst/>
                        </a:rPr>
                        <a:t> </a:t>
                      </a:r>
                      <a:r>
                        <a:rPr lang="en-US" altLang="zh-CN" sz="2000" dirty="0">
                          <a:effectLst/>
                        </a:rPr>
                        <a:t>DV</a:t>
                      </a:r>
                      <a:r>
                        <a:rPr lang="zh-CN" altLang="en-US" sz="2000" dirty="0">
                          <a:effectLst/>
                        </a:rPr>
                        <a:t>试验计划匹配度</a:t>
                      </a:r>
                    </a:p>
                    <a:p>
                      <a:r>
                        <a:rPr lang="en-US" altLang="zh-CN" sz="2000" b="1" dirty="0">
                          <a:effectLst/>
                        </a:rPr>
                        <a:t>6.3</a:t>
                      </a:r>
                      <a:r>
                        <a:rPr lang="zh-CN" altLang="en-US" sz="2000" dirty="0">
                          <a:effectLst/>
                        </a:rPr>
                        <a:t> 设计变更影响评估</a:t>
                      </a:r>
                    </a:p>
                    <a:p>
                      <a:r>
                        <a:rPr lang="en-US" altLang="zh-CN" sz="2000" b="1" dirty="0">
                          <a:effectLst/>
                        </a:rPr>
                        <a:t>6.4</a:t>
                      </a:r>
                      <a:r>
                        <a:rPr lang="zh-CN" altLang="en-US" sz="2000" dirty="0">
                          <a:effectLst/>
                        </a:rPr>
                        <a:t> 项目进度里程碑符合性</a:t>
                      </a:r>
                    </a:p>
                  </a:txBody>
                  <a:tcPr/>
                </a:tc>
                <a:tc>
                  <a:txBody>
                    <a:bodyPr/>
                    <a:lstStyle/>
                    <a:p>
                      <a:r>
                        <a:rPr lang="en-US" altLang="zh-CN" sz="2000" b="1" dirty="0">
                          <a:effectLst/>
                        </a:rPr>
                        <a:t>1. </a:t>
                      </a:r>
                      <a:r>
                        <a:rPr lang="zh-CN" altLang="en-US" sz="2000" b="1" dirty="0">
                          <a:effectLst/>
                        </a:rPr>
                        <a:t>文档规范性审查</a:t>
                      </a:r>
                    </a:p>
                    <a:p>
                      <a:r>
                        <a:rPr lang="en-US" altLang="zh-CN" sz="2000" b="1" dirty="0">
                          <a:effectLst/>
                        </a:rPr>
                        <a:t>1.1 </a:t>
                      </a:r>
                      <a:r>
                        <a:rPr lang="zh-CN" altLang="en-US" sz="2000" b="1" dirty="0">
                          <a:effectLst/>
                        </a:rPr>
                        <a:t>文档标识完整性</a:t>
                      </a:r>
                      <a:r>
                        <a:rPr lang="zh-CN" altLang="en-US" sz="2000" dirty="0">
                          <a:effectLst/>
                        </a:rPr>
                        <a:t> </a:t>
                      </a:r>
                      <a:r>
                        <a:rPr lang="en-US" altLang="zh-CN" sz="2000" dirty="0">
                          <a:effectLst/>
                        </a:rPr>
                        <a:t>- ⚠️ </a:t>
                      </a:r>
                      <a:r>
                        <a:rPr lang="zh-CN" altLang="en-US" sz="2000" b="1" dirty="0">
                          <a:effectLst/>
                        </a:rPr>
                        <a:t>部分通过</a:t>
                      </a:r>
                      <a:r>
                        <a:rPr lang="zh-CN" altLang="en-US" sz="2000" dirty="0">
                          <a:effectLst/>
                        </a:rPr>
                        <a:t>✅ 项目代号：</a:t>
                      </a:r>
                      <a:r>
                        <a:rPr lang="en-US" altLang="zh-CN" sz="2000" dirty="0">
                          <a:effectLst/>
                        </a:rPr>
                        <a:t>570-941A </a:t>
                      </a:r>
                      <a:r>
                        <a:rPr lang="zh-CN" altLang="en-US" sz="2000" dirty="0">
                          <a:effectLst/>
                        </a:rPr>
                        <a:t>明确</a:t>
                      </a:r>
                    </a:p>
                    <a:p>
                      <a:r>
                        <a:rPr lang="zh-CN" altLang="en-US" sz="2000" dirty="0">
                          <a:effectLst/>
                        </a:rPr>
                        <a:t>✅ 时间：</a:t>
                      </a:r>
                      <a:r>
                        <a:rPr lang="en-US" altLang="zh-CN" sz="2000" dirty="0">
                          <a:effectLst/>
                        </a:rPr>
                        <a:t>2024.06.11</a:t>
                      </a:r>
                    </a:p>
                    <a:p>
                      <a:r>
                        <a:rPr lang="en-US" altLang="zh-CN" sz="2000" dirty="0">
                          <a:effectLst/>
                        </a:rPr>
                        <a:t>✅ </a:t>
                      </a:r>
                      <a:r>
                        <a:rPr lang="zh-CN" altLang="en-US" sz="2000" dirty="0">
                          <a:effectLst/>
                        </a:rPr>
                        <a:t>责任人：张亚，审核：聂怀想</a:t>
                      </a:r>
                    </a:p>
                    <a:p>
                      <a:r>
                        <a:rPr lang="zh-CN" altLang="en-US" sz="2000" dirty="0">
                          <a:effectLst/>
                        </a:rPr>
                        <a:t>❌ </a:t>
                      </a:r>
                      <a:r>
                        <a:rPr lang="zh-CN" altLang="en-US" sz="2000" b="1" dirty="0">
                          <a:effectLst/>
                        </a:rPr>
                        <a:t>问题</a:t>
                      </a:r>
                      <a:r>
                        <a:rPr lang="zh-CN" altLang="en-US" sz="2000" dirty="0">
                          <a:effectLst/>
                        </a:rPr>
                        <a:t>：缺少文档版本号、文档编号、修订历史</a:t>
                      </a:r>
                    </a:p>
                    <a:p>
                      <a:r>
                        <a:rPr lang="en-US" altLang="zh-CN" sz="2000" b="1" dirty="0">
                          <a:effectLst/>
                        </a:rPr>
                        <a:t>1.2 </a:t>
                      </a:r>
                      <a:r>
                        <a:rPr lang="zh-CN" altLang="en-US" sz="2000" b="1" dirty="0">
                          <a:effectLst/>
                        </a:rPr>
                        <a:t>责任人信息</a:t>
                      </a:r>
                      <a:r>
                        <a:rPr lang="zh-CN" altLang="en-US" sz="2000" dirty="0">
                          <a:effectLst/>
                        </a:rPr>
                        <a:t> </a:t>
                      </a:r>
                      <a:r>
                        <a:rPr lang="en-US" altLang="zh-CN" sz="2000" dirty="0">
                          <a:effectLst/>
                        </a:rPr>
                        <a:t>- ✅ </a:t>
                      </a:r>
                      <a:r>
                        <a:rPr lang="zh-CN" altLang="en-US" sz="2000" b="1" dirty="0">
                          <a:effectLst/>
                        </a:rPr>
                        <a:t>通过</a:t>
                      </a:r>
                      <a:r>
                        <a:rPr lang="zh-CN" altLang="en-US" sz="2000" dirty="0">
                          <a:effectLst/>
                        </a:rPr>
                        <a:t>责任人和审核人员信息完整</a:t>
                      </a:r>
                    </a:p>
                    <a:p>
                      <a:r>
                        <a:rPr lang="en-US" altLang="zh-CN" sz="2000" b="1" dirty="0">
                          <a:effectLst/>
                        </a:rPr>
                        <a:t>1.3 </a:t>
                      </a:r>
                      <a:r>
                        <a:rPr lang="zh-CN" altLang="en-US" sz="2000" b="1" dirty="0">
                          <a:effectLst/>
                        </a:rPr>
                        <a:t>文档结构</a:t>
                      </a:r>
                      <a:r>
                        <a:rPr lang="zh-CN" altLang="en-US" sz="2000" dirty="0">
                          <a:effectLst/>
                        </a:rPr>
                        <a:t> </a:t>
                      </a:r>
                      <a:r>
                        <a:rPr lang="en-US" altLang="zh-CN" sz="2000" dirty="0">
                          <a:effectLst/>
                        </a:rPr>
                        <a:t>- ⚠️ </a:t>
                      </a:r>
                      <a:r>
                        <a:rPr lang="zh-CN" altLang="en-US" sz="2000" b="1" dirty="0">
                          <a:effectLst/>
                        </a:rPr>
                        <a:t>部分通过</a:t>
                      </a:r>
                      <a:r>
                        <a:rPr lang="zh-CN" altLang="en-US" sz="2000" dirty="0">
                          <a:effectLst/>
                        </a:rPr>
                        <a:t>✅ 基本结构合理：基本信息→仿真模型→材质参数→结论建议→工况分析</a:t>
                      </a:r>
                    </a:p>
                    <a:p>
                      <a:r>
                        <a:rPr lang="zh-CN" altLang="en-US" sz="2000" dirty="0">
                          <a:effectLst/>
                        </a:rPr>
                        <a:t>❌ </a:t>
                      </a:r>
                      <a:r>
                        <a:rPr lang="zh-CN" altLang="en-US" sz="2000" b="1" dirty="0">
                          <a:effectLst/>
                        </a:rPr>
                        <a:t>问题</a:t>
                      </a:r>
                      <a:r>
                        <a:rPr lang="zh-CN" altLang="en-US" sz="2000" dirty="0">
                          <a:effectLst/>
                        </a:rPr>
                        <a:t>：缺少前言、目的、范围、参考标准等标准章节</a:t>
                      </a:r>
                    </a:p>
                    <a:p>
                      <a:r>
                        <a:rPr lang="en-US" altLang="zh-CN" sz="2000" b="1" dirty="0">
                          <a:effectLst/>
                        </a:rPr>
                        <a:t>1.4 </a:t>
                      </a:r>
                      <a:r>
                        <a:rPr lang="zh-CN" altLang="en-US" sz="2000" b="1" dirty="0">
                          <a:effectLst/>
                        </a:rPr>
                        <a:t>技术规范引用</a:t>
                      </a:r>
                      <a:r>
                        <a:rPr lang="zh-CN" altLang="en-US" sz="2000" dirty="0">
                          <a:effectLst/>
                        </a:rPr>
                        <a:t> </a:t>
                      </a:r>
                      <a:r>
                        <a:rPr lang="en-US" altLang="zh-CN" sz="2000" dirty="0">
                          <a:effectLst/>
                        </a:rPr>
                        <a:t>- ❌ </a:t>
                      </a:r>
                      <a:r>
                        <a:rPr lang="zh-CN" altLang="en-US" sz="2000" b="1" dirty="0">
                          <a:effectLst/>
                        </a:rPr>
                        <a:t>不通过严重问题</a:t>
                      </a:r>
                      <a:r>
                        <a:rPr lang="zh-CN" altLang="en-US" sz="2000" dirty="0">
                          <a:effectLst/>
                        </a:rPr>
                        <a:t>：缺少相关技术标准引用（如</a:t>
                      </a:r>
                      <a:r>
                        <a:rPr lang="en-US" altLang="zh-CN" sz="2000" dirty="0">
                          <a:effectLst/>
                        </a:rPr>
                        <a:t>GB/T 31467</a:t>
                      </a:r>
                      <a:r>
                        <a:rPr lang="zh-CN" altLang="en-US" sz="2000" dirty="0">
                          <a:effectLst/>
                        </a:rPr>
                        <a:t>系列、</a:t>
                      </a:r>
                      <a:r>
                        <a:rPr lang="en-US" altLang="zh-CN" sz="2000" dirty="0">
                          <a:effectLst/>
                        </a:rPr>
                        <a:t>QC/T 743</a:t>
                      </a:r>
                      <a:r>
                        <a:rPr lang="zh-CN" altLang="en-US" sz="2000" dirty="0">
                          <a:effectLst/>
                        </a:rPr>
                        <a:t>等）</a:t>
                      </a:r>
                    </a:p>
                    <a:p>
                      <a:r>
                        <a:rPr lang="en-US" altLang="zh-CN" sz="2000" b="1" dirty="0">
                          <a:effectLst/>
                        </a:rPr>
                        <a:t>2. </a:t>
                      </a:r>
                      <a:r>
                        <a:rPr lang="zh-CN" altLang="en-US" sz="2000" b="1" dirty="0">
                          <a:effectLst/>
                        </a:rPr>
                        <a:t>设计输入验证</a:t>
                      </a:r>
                    </a:p>
                    <a:p>
                      <a:r>
                        <a:rPr lang="en-US" altLang="zh-CN" sz="2000" b="1" dirty="0">
                          <a:effectLst/>
                        </a:rPr>
                        <a:t>2.1 </a:t>
                      </a:r>
                      <a:r>
                        <a:rPr lang="zh-CN" altLang="en-US" sz="2000" b="1" dirty="0">
                          <a:effectLst/>
                        </a:rPr>
                        <a:t>电芯规格参数</a:t>
                      </a:r>
                      <a:r>
                        <a:rPr lang="zh-CN" altLang="en-US" sz="2000" dirty="0">
                          <a:effectLst/>
                        </a:rPr>
                        <a:t> </a:t>
                      </a:r>
                      <a:r>
                        <a:rPr lang="en-US" altLang="zh-CN" sz="2000" dirty="0">
                          <a:effectLst/>
                        </a:rPr>
                        <a:t>- ⚠️ </a:t>
                      </a:r>
                      <a:r>
                        <a:rPr lang="zh-CN" altLang="en-US" sz="2000" b="1" dirty="0">
                          <a:effectLst/>
                        </a:rPr>
                        <a:t>部分通过</a:t>
                      </a:r>
                      <a:r>
                        <a:rPr lang="zh-CN" altLang="en-US" sz="2000" dirty="0">
                          <a:effectLst/>
                        </a:rPr>
                        <a:t>✅ 基本参数完整：</a:t>
                      </a:r>
                      <a:r>
                        <a:rPr lang="en-US" altLang="zh-CN" sz="2000" dirty="0">
                          <a:effectLst/>
                        </a:rPr>
                        <a:t>L221N113</a:t>
                      </a:r>
                      <a:r>
                        <a:rPr lang="zh-CN" altLang="en-US" sz="2000" dirty="0">
                          <a:effectLst/>
                        </a:rPr>
                        <a:t>、尺寸、容量、电压等</a:t>
                      </a:r>
                    </a:p>
                    <a:p>
                      <a:r>
                        <a:rPr lang="zh-CN" altLang="en-US" sz="2000" dirty="0">
                          <a:effectLst/>
                        </a:rPr>
                        <a:t>❌ </a:t>
                      </a:r>
                      <a:r>
                        <a:rPr lang="zh-CN" altLang="en-US" sz="2000" b="1" dirty="0">
                          <a:effectLst/>
                        </a:rPr>
                        <a:t>问题</a:t>
                      </a:r>
                      <a:r>
                        <a:rPr lang="zh-CN" altLang="en-US" sz="2000" dirty="0">
                          <a:effectLst/>
                        </a:rPr>
                        <a:t>：电芯是否热标定显示</a:t>
                      </a:r>
                      <a:r>
                        <a:rPr lang="en-US" altLang="zh-CN" sz="2000" dirty="0">
                          <a:effectLst/>
                        </a:rPr>
                        <a:t>"</a:t>
                      </a:r>
                      <a:r>
                        <a:rPr lang="zh-CN" altLang="en-US" sz="2000" dirty="0">
                          <a:effectLst/>
                        </a:rPr>
                        <a:t>否</a:t>
                      </a:r>
                      <a:r>
                        <a:rPr lang="en-US" altLang="zh-CN" sz="2000" dirty="0">
                          <a:effectLst/>
                        </a:rPr>
                        <a:t>" - </a:t>
                      </a:r>
                      <a:r>
                        <a:rPr lang="zh-CN" altLang="en-US" sz="2000" dirty="0">
                          <a:effectLst/>
                        </a:rPr>
                        <a:t>这对仿真准确性构成重大风险</a:t>
                      </a:r>
                    </a:p>
                    <a:p>
                      <a:r>
                        <a:rPr lang="en-US" altLang="zh-CN" sz="2000" b="1" dirty="0">
                          <a:effectLst/>
                        </a:rPr>
                        <a:t>2.2 PACK</a:t>
                      </a:r>
                      <a:r>
                        <a:rPr lang="zh-CN" altLang="en-US" sz="2000" b="1" dirty="0">
                          <a:effectLst/>
                        </a:rPr>
                        <a:t>系统参数</a:t>
                      </a:r>
                      <a:r>
                        <a:rPr lang="zh-CN" altLang="en-US" sz="2000" dirty="0">
                          <a:effectLst/>
                        </a:rPr>
                        <a:t> </a:t>
                      </a:r>
                      <a:r>
                        <a:rPr lang="en-US" altLang="zh-CN" sz="2000" dirty="0">
                          <a:effectLst/>
                        </a:rPr>
                        <a:t>- ✅ </a:t>
                      </a:r>
                      <a:r>
                        <a:rPr lang="zh-CN" altLang="en-US" sz="2000" b="1" dirty="0">
                          <a:effectLst/>
                        </a:rPr>
                        <a:t>通过</a:t>
                      </a:r>
                      <a:r>
                        <a:rPr lang="en-US" altLang="zh-CN" sz="2000" dirty="0">
                          <a:effectLst/>
                        </a:rPr>
                        <a:t>PACK</a:t>
                      </a:r>
                      <a:r>
                        <a:rPr lang="zh-CN" altLang="en-US" sz="2000" dirty="0">
                          <a:effectLst/>
                        </a:rPr>
                        <a:t>基本信息完整，</a:t>
                      </a:r>
                      <a:r>
                        <a:rPr lang="en-US" altLang="zh-CN" sz="2000" dirty="0">
                          <a:effectLst/>
                        </a:rPr>
                        <a:t>1P104S</a:t>
                      </a:r>
                      <a:r>
                        <a:rPr lang="zh-CN" altLang="en-US" sz="2000" dirty="0">
                          <a:effectLst/>
                        </a:rPr>
                        <a:t>配置明确</a:t>
                      </a:r>
                    </a:p>
                    <a:p>
                      <a:r>
                        <a:rPr lang="en-US" altLang="zh-CN" sz="2000" b="1" dirty="0">
                          <a:effectLst/>
                        </a:rPr>
                        <a:t>2.3 </a:t>
                      </a:r>
                      <a:r>
                        <a:rPr lang="zh-CN" altLang="en-US" sz="2000" b="1" dirty="0">
                          <a:effectLst/>
                        </a:rPr>
                        <a:t>材料参数数据库</a:t>
                      </a:r>
                      <a:r>
                        <a:rPr lang="zh-CN" altLang="en-US" sz="2000" dirty="0">
                          <a:effectLst/>
                        </a:rPr>
                        <a:t> </a:t>
                      </a:r>
                      <a:r>
                        <a:rPr lang="en-US" altLang="zh-CN" sz="2000" dirty="0">
                          <a:effectLst/>
                        </a:rPr>
                        <a:t>- ⚠️ </a:t>
                      </a:r>
                      <a:r>
                        <a:rPr lang="zh-CN" altLang="en-US" sz="2000" b="1" dirty="0">
                          <a:effectLst/>
                        </a:rPr>
                        <a:t>部分通过</a:t>
                      </a:r>
                      <a:r>
                        <a:rPr lang="zh-CN" altLang="en-US" sz="2000" dirty="0">
                          <a:effectLst/>
                        </a:rPr>
                        <a:t>✅ 材料参数表详细，包含</a:t>
                      </a:r>
                      <a:r>
                        <a:rPr lang="en-US" altLang="zh-CN" sz="2000" dirty="0">
                          <a:effectLst/>
                        </a:rPr>
                        <a:t>24</a:t>
                      </a:r>
                      <a:r>
                        <a:rPr lang="zh-CN" altLang="en-US" sz="2000" dirty="0">
                          <a:effectLst/>
                        </a:rPr>
                        <a:t>种材料的热物性参数</a:t>
                      </a:r>
                    </a:p>
                    <a:p>
                      <a:r>
                        <a:rPr lang="zh-CN" altLang="en-US" sz="2000" dirty="0">
                          <a:effectLst/>
                        </a:rPr>
                        <a:t>❌ </a:t>
                      </a:r>
                      <a:r>
                        <a:rPr lang="zh-CN" altLang="en-US" sz="2000" b="1" dirty="0">
                          <a:effectLst/>
                        </a:rPr>
                        <a:t>问题</a:t>
                      </a:r>
                      <a:r>
                        <a:rPr lang="zh-CN" altLang="en-US" sz="2000" dirty="0">
                          <a:effectLst/>
                        </a:rPr>
                        <a:t>：部分材料参数来源和验证状态不明确</a:t>
                      </a:r>
                    </a:p>
                    <a:p>
                      <a:r>
                        <a:rPr lang="en-US" altLang="zh-CN" sz="2000" b="1" dirty="0">
                          <a:effectLst/>
                        </a:rPr>
                        <a:t>2.4 </a:t>
                      </a:r>
                      <a:r>
                        <a:rPr lang="zh-CN" altLang="en-US" sz="2000" b="1" dirty="0">
                          <a:effectLst/>
                        </a:rPr>
                        <a:t>边界条件设置</a:t>
                      </a:r>
                      <a:r>
                        <a:rPr lang="zh-CN" altLang="en-US" sz="2000" dirty="0">
                          <a:effectLst/>
                        </a:rPr>
                        <a:t> </a:t>
                      </a:r>
                      <a:r>
                        <a:rPr lang="en-US" altLang="zh-CN" sz="2000" dirty="0">
                          <a:effectLst/>
                        </a:rPr>
                        <a:t>- ⚠️ </a:t>
                      </a:r>
                      <a:r>
                        <a:rPr lang="zh-CN" altLang="en-US" sz="2000" b="1" dirty="0">
                          <a:effectLst/>
                        </a:rPr>
                        <a:t>部分通过</a:t>
                      </a:r>
                      <a:r>
                        <a:rPr lang="zh-CN" altLang="en-US" sz="2000" dirty="0">
                          <a:effectLst/>
                        </a:rPr>
                        <a:t>✅ 工况条件明确</a:t>
                      </a:r>
                    </a:p>
                    <a:p>
                      <a:r>
                        <a:rPr lang="zh-CN" altLang="en-US" sz="2000" dirty="0">
                          <a:effectLst/>
                        </a:rPr>
                        <a:t>❌ </a:t>
                      </a:r>
                      <a:r>
                        <a:rPr lang="zh-CN" altLang="en-US" sz="2000" b="1" dirty="0">
                          <a:effectLst/>
                        </a:rPr>
                        <a:t>问题</a:t>
                      </a:r>
                      <a:r>
                        <a:rPr lang="zh-CN" altLang="en-US" sz="2000" dirty="0">
                          <a:effectLst/>
                        </a:rPr>
                        <a:t>：对流系数、辐射系数等关键边界参数未明确说明</a:t>
                      </a:r>
                    </a:p>
                    <a:p>
                      <a:r>
                        <a:rPr lang="en-US" altLang="zh-CN" sz="2000" b="1" dirty="0">
                          <a:effectLst/>
                        </a:rPr>
                        <a:t>3. </a:t>
                      </a:r>
                      <a:r>
                        <a:rPr lang="zh-CN" altLang="en-US" sz="2000" b="1" dirty="0">
                          <a:effectLst/>
                        </a:rPr>
                        <a:t>仿真模型验证</a:t>
                      </a:r>
                    </a:p>
                    <a:p>
                      <a:r>
                        <a:rPr lang="en-US" altLang="zh-CN" sz="2000" b="1" dirty="0">
                          <a:effectLst/>
                        </a:rPr>
                        <a:t>3.1 </a:t>
                      </a:r>
                      <a:r>
                        <a:rPr lang="zh-CN" altLang="en-US" sz="2000" b="1" dirty="0">
                          <a:effectLst/>
                        </a:rPr>
                        <a:t>几何模型准确性</a:t>
                      </a:r>
                      <a:r>
                        <a:rPr lang="zh-CN" altLang="en-US" sz="2000" dirty="0">
                          <a:effectLst/>
                        </a:rPr>
                        <a:t> </a:t>
                      </a:r>
                      <a:r>
                        <a:rPr lang="en-US" altLang="zh-CN" sz="2000" dirty="0">
                          <a:effectLst/>
                        </a:rPr>
                        <a:t>- ⚠️ </a:t>
                      </a:r>
                      <a:r>
                        <a:rPr lang="zh-CN" altLang="en-US" sz="2000" b="1" dirty="0">
                          <a:effectLst/>
                        </a:rPr>
                        <a:t>部分通过</a:t>
                      </a:r>
                      <a:r>
                        <a:rPr lang="zh-CN" altLang="en-US" sz="2000" dirty="0">
                          <a:effectLst/>
                        </a:rPr>
                        <a:t>✅ 提供了</a:t>
                      </a:r>
                      <a:r>
                        <a:rPr lang="en-US" altLang="zh-CN" sz="2000" dirty="0">
                          <a:effectLst/>
                        </a:rPr>
                        <a:t>PACK</a:t>
                      </a:r>
                      <a:r>
                        <a:rPr lang="zh-CN" altLang="en-US" sz="2000" dirty="0">
                          <a:effectLst/>
                        </a:rPr>
                        <a:t>数模、</a:t>
                      </a:r>
                      <a:r>
                        <a:rPr lang="en-US" altLang="zh-CN" sz="2000" dirty="0">
                          <a:effectLst/>
                        </a:rPr>
                        <a:t>NTC</a:t>
                      </a:r>
                      <a:r>
                        <a:rPr lang="zh-CN" altLang="en-US" sz="2000" dirty="0">
                          <a:effectLst/>
                        </a:rPr>
                        <a:t>位置、冷却液数模</a:t>
                      </a:r>
                    </a:p>
                    <a:p>
                      <a:r>
                        <a:rPr lang="zh-CN" altLang="en-US" sz="2000" dirty="0">
                          <a:effectLst/>
                        </a:rPr>
                        <a:t>❌ </a:t>
                      </a:r>
                      <a:r>
                        <a:rPr lang="zh-CN" altLang="en-US" sz="2000" b="1" dirty="0">
                          <a:effectLst/>
                        </a:rPr>
                        <a:t>问题</a:t>
                      </a:r>
                      <a:r>
                        <a:rPr lang="zh-CN" altLang="en-US" sz="2000" dirty="0">
                          <a:effectLst/>
                        </a:rPr>
                        <a:t>：缺少模型简化说明和验证对比</a:t>
                      </a:r>
                    </a:p>
                    <a:p>
                      <a:r>
                        <a:rPr lang="en-US" altLang="zh-CN" sz="2000" b="1" dirty="0">
                          <a:effectLst/>
                        </a:rPr>
                        <a:t>3.2 </a:t>
                      </a:r>
                      <a:r>
                        <a:rPr lang="zh-CN" altLang="en-US" sz="2000" b="1" dirty="0">
                          <a:effectLst/>
                        </a:rPr>
                        <a:t>网格质量分析</a:t>
                      </a:r>
                      <a:r>
                        <a:rPr lang="zh-CN" altLang="en-US" sz="2000" dirty="0">
                          <a:effectLst/>
                        </a:rPr>
                        <a:t> </a:t>
                      </a:r>
                      <a:r>
                        <a:rPr lang="en-US" altLang="zh-CN" sz="2000" dirty="0">
                          <a:effectLst/>
                        </a:rPr>
                        <a:t>- ❌ </a:t>
                      </a:r>
                      <a:r>
                        <a:rPr lang="zh-CN" altLang="en-US" sz="2000" b="1" dirty="0">
                          <a:effectLst/>
                        </a:rPr>
                        <a:t>不通过严重问题</a:t>
                      </a:r>
                      <a:r>
                        <a:rPr lang="zh-CN" altLang="en-US" sz="2000" dirty="0">
                          <a:effectLst/>
                        </a:rPr>
                        <a:t>：未提供网格无关性验证和收敛性分析</a:t>
                      </a:r>
                    </a:p>
                    <a:p>
                      <a:r>
                        <a:rPr lang="en-US" altLang="zh-CN" sz="2000" b="1" dirty="0">
                          <a:effectLst/>
                        </a:rPr>
                        <a:t>3.3 </a:t>
                      </a:r>
                      <a:r>
                        <a:rPr lang="zh-CN" altLang="en-US" sz="2000" b="1" dirty="0">
                          <a:effectLst/>
                        </a:rPr>
                        <a:t>材料属性模型</a:t>
                      </a:r>
                      <a:r>
                        <a:rPr lang="zh-CN" altLang="en-US" sz="2000" dirty="0">
                          <a:effectLst/>
                        </a:rPr>
                        <a:t> </a:t>
                      </a:r>
                      <a:r>
                        <a:rPr lang="en-US" altLang="zh-CN" sz="2000" dirty="0">
                          <a:effectLst/>
                        </a:rPr>
                        <a:t>- ⚠️ </a:t>
                      </a:r>
                      <a:r>
                        <a:rPr lang="zh-CN" altLang="en-US" sz="2000" b="1" dirty="0">
                          <a:effectLst/>
                        </a:rPr>
                        <a:t>部分通过</a:t>
                      </a:r>
                      <a:r>
                        <a:rPr lang="zh-CN" altLang="en-US" sz="2000" dirty="0">
                          <a:effectLst/>
                        </a:rPr>
                        <a:t>✅ 材料参数相对完整</a:t>
                      </a:r>
                    </a:p>
                    <a:p>
                      <a:r>
                        <a:rPr lang="zh-CN" altLang="en-US" sz="2000" dirty="0">
                          <a:effectLst/>
                        </a:rPr>
                        <a:t>❌ </a:t>
                      </a:r>
                      <a:r>
                        <a:rPr lang="zh-CN" altLang="en-US" sz="2000" b="1" dirty="0">
                          <a:effectLst/>
                        </a:rPr>
                        <a:t>问题</a:t>
                      </a:r>
                      <a:r>
                        <a:rPr lang="zh-CN" altLang="en-US" sz="2000" dirty="0">
                          <a:effectLst/>
                        </a:rPr>
                        <a:t>：电芯生热模型和温度相关性参数缺失</a:t>
                      </a:r>
                    </a:p>
                    <a:p>
                      <a:r>
                        <a:rPr lang="en-US" altLang="zh-CN" sz="2000" b="1" dirty="0">
                          <a:effectLst/>
                        </a:rPr>
                        <a:t>3.4 </a:t>
                      </a:r>
                      <a:r>
                        <a:rPr lang="zh-CN" altLang="en-US" sz="2000" b="1" dirty="0">
                          <a:effectLst/>
                        </a:rPr>
                        <a:t>热源模型设置</a:t>
                      </a:r>
                      <a:r>
                        <a:rPr lang="zh-CN" altLang="en-US" sz="2000" dirty="0">
                          <a:effectLst/>
                        </a:rPr>
                        <a:t> </a:t>
                      </a:r>
                      <a:r>
                        <a:rPr lang="en-US" altLang="zh-CN" sz="2000" dirty="0">
                          <a:effectLst/>
                        </a:rPr>
                        <a:t>- ❌ </a:t>
                      </a:r>
                      <a:r>
                        <a:rPr lang="zh-CN" altLang="en-US" sz="2000" b="1" dirty="0">
                          <a:effectLst/>
                        </a:rPr>
                        <a:t>不通过严重问题</a:t>
                      </a:r>
                      <a:r>
                        <a:rPr lang="zh-CN" altLang="en-US" sz="2000" dirty="0">
                          <a:effectLst/>
                        </a:rPr>
                        <a:t>：缺少电芯生热模型详细说明，仅有充放电</a:t>
                      </a:r>
                      <a:r>
                        <a:rPr lang="en-US" altLang="zh-CN" sz="2000" dirty="0">
                          <a:effectLst/>
                        </a:rPr>
                        <a:t>MAP</a:t>
                      </a:r>
                      <a:r>
                        <a:rPr lang="zh-CN" altLang="en-US" sz="2000" dirty="0">
                          <a:effectLst/>
                        </a:rPr>
                        <a:t>不足以描述保温工况</a:t>
                      </a:r>
                    </a:p>
                  </a:txBody>
                  <a:tcPr/>
                </a:tc>
                <a:tc>
                  <a:txBody>
                    <a:bodyPr/>
                    <a:lstStyle/>
                    <a:p>
                      <a:r>
                        <a:rPr lang="en-US" altLang="zh-CN" sz="2000" b="1" dirty="0">
                          <a:effectLst/>
                        </a:rPr>
                        <a:t>4. </a:t>
                      </a:r>
                      <a:r>
                        <a:rPr lang="zh-CN" altLang="en-US" sz="2000" b="1" dirty="0">
                          <a:effectLst/>
                        </a:rPr>
                        <a:t>试验工况设计验证</a:t>
                      </a:r>
                    </a:p>
                    <a:p>
                      <a:r>
                        <a:rPr lang="en-US" altLang="zh-CN" sz="2000" b="1" dirty="0">
                          <a:effectLst/>
                        </a:rPr>
                        <a:t>4.1 </a:t>
                      </a:r>
                      <a:r>
                        <a:rPr lang="zh-CN" altLang="en-US" sz="2000" b="1" dirty="0">
                          <a:effectLst/>
                        </a:rPr>
                        <a:t>工况设置合理性</a:t>
                      </a:r>
                      <a:r>
                        <a:rPr lang="zh-CN" altLang="en-US" sz="2000" dirty="0">
                          <a:effectLst/>
                        </a:rPr>
                        <a:t> </a:t>
                      </a:r>
                      <a:r>
                        <a:rPr lang="en-US" altLang="zh-CN" sz="2000" dirty="0">
                          <a:effectLst/>
                        </a:rPr>
                        <a:t>- ⚠️ </a:t>
                      </a:r>
                      <a:r>
                        <a:rPr lang="zh-CN" altLang="en-US" sz="2000" b="1" dirty="0">
                          <a:effectLst/>
                        </a:rPr>
                        <a:t>部分通过</a:t>
                      </a:r>
                      <a:r>
                        <a:rPr lang="zh-CN" altLang="en-US" sz="2000" dirty="0">
                          <a:effectLst/>
                        </a:rPr>
                        <a:t>✅ 高温保温（</a:t>
                      </a:r>
                      <a:r>
                        <a:rPr lang="en-US" altLang="zh-CN" sz="2000" dirty="0">
                          <a:effectLst/>
                        </a:rPr>
                        <a:t>45℃→38℃</a:t>
                      </a:r>
                      <a:r>
                        <a:rPr lang="zh-CN" altLang="en-US" sz="2000" dirty="0">
                          <a:effectLst/>
                        </a:rPr>
                        <a:t>）、低温保温（</a:t>
                      </a:r>
                      <a:r>
                        <a:rPr lang="en-US" altLang="zh-CN" sz="2000" dirty="0">
                          <a:effectLst/>
                        </a:rPr>
                        <a:t>-20℃→0℃</a:t>
                      </a:r>
                      <a:r>
                        <a:rPr lang="zh-CN" altLang="en-US" sz="2000" dirty="0">
                          <a:effectLst/>
                        </a:rPr>
                        <a:t>）工况设置合理</a:t>
                      </a:r>
                    </a:p>
                    <a:p>
                      <a:r>
                        <a:rPr lang="zh-CN" altLang="en-US" sz="2000" dirty="0">
                          <a:effectLst/>
                        </a:rPr>
                        <a:t>❌ </a:t>
                      </a:r>
                      <a:r>
                        <a:rPr lang="zh-CN" altLang="en-US" sz="2000" b="1" dirty="0">
                          <a:effectLst/>
                        </a:rPr>
                        <a:t>问题</a:t>
                      </a:r>
                      <a:r>
                        <a:rPr lang="zh-CN" altLang="en-US" sz="2000" dirty="0">
                          <a:effectLst/>
                        </a:rPr>
                        <a:t>：缺少中间温度工况，工况覆盖不够全面</a:t>
                      </a:r>
                    </a:p>
                    <a:p>
                      <a:r>
                        <a:rPr lang="en-US" altLang="zh-CN" sz="2000" b="1" dirty="0">
                          <a:effectLst/>
                        </a:rPr>
                        <a:t>4.2 </a:t>
                      </a:r>
                      <a:r>
                        <a:rPr lang="zh-CN" altLang="en-US" sz="2000" b="1" dirty="0">
                          <a:effectLst/>
                        </a:rPr>
                        <a:t>客户目标符合性</a:t>
                      </a:r>
                      <a:r>
                        <a:rPr lang="zh-CN" altLang="en-US" sz="2000" dirty="0">
                          <a:effectLst/>
                        </a:rPr>
                        <a:t> </a:t>
                      </a:r>
                      <a:r>
                        <a:rPr lang="en-US" altLang="zh-CN" sz="2000" dirty="0">
                          <a:effectLst/>
                        </a:rPr>
                        <a:t>- ✅ </a:t>
                      </a:r>
                      <a:r>
                        <a:rPr lang="zh-CN" altLang="en-US" sz="2000" b="1" dirty="0">
                          <a:effectLst/>
                        </a:rPr>
                        <a:t>通过</a:t>
                      </a:r>
                      <a:r>
                        <a:rPr lang="zh-CN" altLang="en-US" sz="2000" dirty="0">
                          <a:effectLst/>
                        </a:rPr>
                        <a:t>保温时间≥</a:t>
                      </a:r>
                      <a:r>
                        <a:rPr lang="en-US" altLang="zh-CN" sz="2000" dirty="0">
                          <a:effectLst/>
                        </a:rPr>
                        <a:t>6h</a:t>
                      </a:r>
                      <a:r>
                        <a:rPr lang="zh-CN" altLang="en-US" sz="2000" dirty="0">
                          <a:effectLst/>
                        </a:rPr>
                        <a:t>，温差≤</a:t>
                      </a:r>
                      <a:r>
                        <a:rPr lang="en-US" altLang="zh-CN" sz="2000" dirty="0">
                          <a:effectLst/>
                        </a:rPr>
                        <a:t>5℃</a:t>
                      </a:r>
                      <a:r>
                        <a:rPr lang="zh-CN" altLang="en-US" sz="2000" dirty="0">
                          <a:effectLst/>
                        </a:rPr>
                        <a:t>的目标明确</a:t>
                      </a:r>
                    </a:p>
                    <a:p>
                      <a:r>
                        <a:rPr lang="en-US" altLang="zh-CN" sz="2000" b="1" dirty="0">
                          <a:effectLst/>
                        </a:rPr>
                        <a:t>4.3 </a:t>
                      </a:r>
                      <a:r>
                        <a:rPr lang="zh-CN" altLang="en-US" sz="2000" b="1" dirty="0">
                          <a:effectLst/>
                        </a:rPr>
                        <a:t>安全限值</a:t>
                      </a:r>
                      <a:r>
                        <a:rPr lang="zh-CN" altLang="en-US" sz="2000" dirty="0">
                          <a:effectLst/>
                        </a:rPr>
                        <a:t> </a:t>
                      </a:r>
                      <a:r>
                        <a:rPr lang="en-US" altLang="zh-CN" sz="2000" dirty="0">
                          <a:effectLst/>
                        </a:rPr>
                        <a:t>- ⚠️ </a:t>
                      </a:r>
                      <a:r>
                        <a:rPr lang="zh-CN" altLang="en-US" sz="2000" b="1" dirty="0">
                          <a:effectLst/>
                        </a:rPr>
                        <a:t>部分通过</a:t>
                      </a:r>
                      <a:r>
                        <a:rPr lang="zh-CN" altLang="en-US" sz="2000" dirty="0">
                          <a:effectLst/>
                        </a:rPr>
                        <a:t>❌ </a:t>
                      </a:r>
                      <a:r>
                        <a:rPr lang="zh-CN" altLang="en-US" sz="2000" b="1" dirty="0">
                          <a:effectLst/>
                        </a:rPr>
                        <a:t>问题</a:t>
                      </a:r>
                      <a:r>
                        <a:rPr lang="zh-CN" altLang="en-US" sz="2000" dirty="0">
                          <a:effectLst/>
                        </a:rPr>
                        <a:t>：未明确电芯工作温度安全窗口和极限值</a:t>
                      </a:r>
                    </a:p>
                    <a:p>
                      <a:r>
                        <a:rPr lang="en-US" altLang="zh-CN" sz="2000" b="1" dirty="0">
                          <a:effectLst/>
                        </a:rPr>
                        <a:t>4.4 </a:t>
                      </a:r>
                      <a:r>
                        <a:rPr lang="zh-CN" altLang="en-US" sz="2000" b="1" dirty="0">
                          <a:effectLst/>
                        </a:rPr>
                        <a:t>测试点布置</a:t>
                      </a:r>
                      <a:r>
                        <a:rPr lang="zh-CN" altLang="en-US" sz="2000" dirty="0">
                          <a:effectLst/>
                        </a:rPr>
                        <a:t> </a:t>
                      </a:r>
                      <a:r>
                        <a:rPr lang="en-US" altLang="zh-CN" sz="2000" dirty="0">
                          <a:effectLst/>
                        </a:rPr>
                        <a:t>- ⚠️ </a:t>
                      </a:r>
                      <a:r>
                        <a:rPr lang="zh-CN" altLang="en-US" sz="2000" b="1" dirty="0">
                          <a:effectLst/>
                        </a:rPr>
                        <a:t>部分通过</a:t>
                      </a:r>
                      <a:r>
                        <a:rPr lang="zh-CN" altLang="en-US" sz="2000" dirty="0">
                          <a:effectLst/>
                        </a:rPr>
                        <a:t>✅ 提供</a:t>
                      </a:r>
                      <a:r>
                        <a:rPr lang="en-US" altLang="zh-CN" sz="2000" dirty="0">
                          <a:effectLst/>
                        </a:rPr>
                        <a:t>NTC</a:t>
                      </a:r>
                      <a:r>
                        <a:rPr lang="zh-CN" altLang="en-US" sz="2000" dirty="0">
                          <a:effectLst/>
                        </a:rPr>
                        <a:t>位置示意图</a:t>
                      </a:r>
                    </a:p>
                    <a:p>
                      <a:r>
                        <a:rPr lang="zh-CN" altLang="en-US" sz="2000" dirty="0">
                          <a:effectLst/>
                        </a:rPr>
                        <a:t>❌ </a:t>
                      </a:r>
                      <a:r>
                        <a:rPr lang="zh-CN" altLang="en-US" sz="2000" b="1" dirty="0">
                          <a:effectLst/>
                        </a:rPr>
                        <a:t>问题</a:t>
                      </a:r>
                      <a:r>
                        <a:rPr lang="zh-CN" altLang="en-US" sz="2000" dirty="0">
                          <a:effectLst/>
                        </a:rPr>
                        <a:t>：</a:t>
                      </a:r>
                      <a:r>
                        <a:rPr lang="en-US" altLang="zh-CN" sz="2000" dirty="0">
                          <a:effectLst/>
                        </a:rPr>
                        <a:t>NTC</a:t>
                      </a:r>
                      <a:r>
                        <a:rPr lang="zh-CN" altLang="en-US" sz="2000" dirty="0">
                          <a:effectLst/>
                        </a:rPr>
                        <a:t>数量和代表性需要验证说明</a:t>
                      </a:r>
                    </a:p>
                    <a:p>
                      <a:r>
                        <a:rPr lang="en-US" altLang="zh-CN" sz="2000" b="1" dirty="0">
                          <a:effectLst/>
                        </a:rPr>
                        <a:t>5. </a:t>
                      </a:r>
                      <a:r>
                        <a:rPr lang="zh-CN" altLang="en-US" sz="2000" b="1" dirty="0">
                          <a:effectLst/>
                        </a:rPr>
                        <a:t>结果分析完整性</a:t>
                      </a:r>
                    </a:p>
                    <a:p>
                      <a:r>
                        <a:rPr lang="en-US" altLang="zh-CN" sz="2000" b="1" dirty="0">
                          <a:effectLst/>
                        </a:rPr>
                        <a:t>5.1 </a:t>
                      </a:r>
                      <a:r>
                        <a:rPr lang="zh-CN" altLang="en-US" sz="2000" b="1" dirty="0">
                          <a:effectLst/>
                        </a:rPr>
                        <a:t>数据分析方法</a:t>
                      </a:r>
                      <a:r>
                        <a:rPr lang="zh-CN" altLang="en-US" sz="2000" dirty="0">
                          <a:effectLst/>
                        </a:rPr>
                        <a:t> </a:t>
                      </a:r>
                      <a:r>
                        <a:rPr lang="en-US" altLang="zh-CN" sz="2000" dirty="0">
                          <a:effectLst/>
                        </a:rPr>
                        <a:t>- ⚠️ </a:t>
                      </a:r>
                      <a:r>
                        <a:rPr lang="zh-CN" altLang="en-US" sz="2000" b="1" dirty="0">
                          <a:effectLst/>
                        </a:rPr>
                        <a:t>部分通过</a:t>
                      </a:r>
                      <a:r>
                        <a:rPr lang="zh-CN" altLang="en-US" sz="2000" dirty="0">
                          <a:effectLst/>
                        </a:rPr>
                        <a:t>✅ 提供了温度曲线和换热量分析</a:t>
                      </a:r>
                    </a:p>
                    <a:p>
                      <a:r>
                        <a:rPr lang="zh-CN" altLang="en-US" sz="2000" dirty="0">
                          <a:effectLst/>
                        </a:rPr>
                        <a:t>❌ </a:t>
                      </a:r>
                      <a:r>
                        <a:rPr lang="zh-CN" altLang="en-US" sz="2000" b="1" dirty="0">
                          <a:effectLst/>
                        </a:rPr>
                        <a:t>问题</a:t>
                      </a:r>
                      <a:r>
                        <a:rPr lang="zh-CN" altLang="en-US" sz="2000" dirty="0">
                          <a:effectLst/>
                        </a:rPr>
                        <a:t>：缺少统计分析和不确定度评估</a:t>
                      </a:r>
                    </a:p>
                    <a:p>
                      <a:r>
                        <a:rPr lang="en-US" altLang="zh-CN" sz="2000" b="1" dirty="0">
                          <a:effectLst/>
                        </a:rPr>
                        <a:t>5.2 </a:t>
                      </a:r>
                      <a:r>
                        <a:rPr lang="zh-CN" altLang="en-US" sz="2000" b="1" dirty="0">
                          <a:effectLst/>
                        </a:rPr>
                        <a:t>风险识别</a:t>
                      </a:r>
                      <a:r>
                        <a:rPr lang="zh-CN" altLang="en-US" sz="2000" dirty="0">
                          <a:effectLst/>
                        </a:rPr>
                        <a:t> </a:t>
                      </a:r>
                      <a:r>
                        <a:rPr lang="en-US" altLang="zh-CN" sz="2000" dirty="0">
                          <a:effectLst/>
                        </a:rPr>
                        <a:t>- ❌ </a:t>
                      </a:r>
                      <a:r>
                        <a:rPr lang="zh-CN" altLang="en-US" sz="2000" b="1" dirty="0">
                          <a:effectLst/>
                        </a:rPr>
                        <a:t>不通过严重问题</a:t>
                      </a:r>
                      <a:r>
                        <a:rPr lang="zh-CN" altLang="en-US" sz="2000" dirty="0">
                          <a:effectLst/>
                        </a:rPr>
                        <a:t>：两个工况均未达到</a:t>
                      </a:r>
                      <a:r>
                        <a:rPr lang="en-US" altLang="zh-CN" sz="2000" dirty="0">
                          <a:effectLst/>
                        </a:rPr>
                        <a:t>6</a:t>
                      </a:r>
                      <a:r>
                        <a:rPr lang="zh-CN" altLang="en-US" sz="2000" dirty="0">
                          <a:effectLst/>
                        </a:rPr>
                        <a:t>小时保温目标，但风险评估不足</a:t>
                      </a:r>
                    </a:p>
                    <a:p>
                      <a:r>
                        <a:rPr lang="zh-CN" altLang="en-US" sz="2000" dirty="0">
                          <a:effectLst/>
                        </a:rPr>
                        <a:t>高温保温：</a:t>
                      </a:r>
                      <a:r>
                        <a:rPr lang="en-US" altLang="zh-CN" sz="2000" dirty="0">
                          <a:effectLst/>
                        </a:rPr>
                        <a:t>4.15h</a:t>
                      </a:r>
                      <a:r>
                        <a:rPr lang="zh-CN" altLang="en-US" sz="2000" dirty="0">
                          <a:effectLst/>
                        </a:rPr>
                        <a:t>（目标</a:t>
                      </a:r>
                      <a:r>
                        <a:rPr lang="en-US" altLang="zh-CN" sz="2000" dirty="0">
                          <a:effectLst/>
                        </a:rPr>
                        <a:t>6h</a:t>
                      </a:r>
                      <a:r>
                        <a:rPr lang="zh-CN" altLang="en-US" sz="2000" dirty="0">
                          <a:effectLst/>
                        </a:rPr>
                        <a:t>）</a:t>
                      </a:r>
                    </a:p>
                    <a:p>
                      <a:r>
                        <a:rPr lang="zh-CN" altLang="en-US" sz="2000" dirty="0">
                          <a:effectLst/>
                        </a:rPr>
                        <a:t>低温保温：</a:t>
                      </a:r>
                      <a:r>
                        <a:rPr lang="en-US" altLang="zh-CN" sz="2000" dirty="0">
                          <a:effectLst/>
                        </a:rPr>
                        <a:t>4.36h</a:t>
                      </a:r>
                      <a:r>
                        <a:rPr lang="zh-CN" altLang="en-US" sz="2000" dirty="0">
                          <a:effectLst/>
                        </a:rPr>
                        <a:t>（目标</a:t>
                      </a:r>
                      <a:r>
                        <a:rPr lang="en-US" altLang="zh-CN" sz="2000" dirty="0">
                          <a:effectLst/>
                        </a:rPr>
                        <a:t>6h</a:t>
                      </a:r>
                      <a:r>
                        <a:rPr lang="zh-CN" altLang="en-US" sz="2000" dirty="0">
                          <a:effectLst/>
                        </a:rPr>
                        <a:t>），温差</a:t>
                      </a:r>
                      <a:r>
                        <a:rPr lang="en-US" altLang="zh-CN" sz="2000" dirty="0">
                          <a:effectLst/>
                        </a:rPr>
                        <a:t>10.2℃</a:t>
                      </a:r>
                      <a:r>
                        <a:rPr lang="zh-CN" altLang="en-US" sz="2000" dirty="0">
                          <a:effectLst/>
                        </a:rPr>
                        <a:t>（目标≤</a:t>
                      </a:r>
                      <a:r>
                        <a:rPr lang="en-US" altLang="zh-CN" sz="2000" dirty="0">
                          <a:effectLst/>
                        </a:rPr>
                        <a:t>5℃</a:t>
                      </a:r>
                      <a:r>
                        <a:rPr lang="zh-CN" altLang="en-US" sz="2000" dirty="0">
                          <a:effectLst/>
                        </a:rPr>
                        <a:t>）</a:t>
                      </a:r>
                    </a:p>
                    <a:p>
                      <a:r>
                        <a:rPr lang="en-US" altLang="zh-CN" sz="2000" b="1" dirty="0">
                          <a:effectLst/>
                        </a:rPr>
                        <a:t>5.3 </a:t>
                      </a:r>
                      <a:r>
                        <a:rPr lang="zh-CN" altLang="en-US" sz="2000" b="1" dirty="0">
                          <a:effectLst/>
                        </a:rPr>
                        <a:t>改进建议</a:t>
                      </a:r>
                      <a:r>
                        <a:rPr lang="zh-CN" altLang="en-US" sz="2000" dirty="0">
                          <a:effectLst/>
                        </a:rPr>
                        <a:t> </a:t>
                      </a:r>
                      <a:r>
                        <a:rPr lang="en-US" altLang="zh-CN" sz="2000" dirty="0">
                          <a:effectLst/>
                        </a:rPr>
                        <a:t>- ❌ </a:t>
                      </a:r>
                      <a:r>
                        <a:rPr lang="zh-CN" altLang="en-US" sz="2000" b="1" dirty="0">
                          <a:effectLst/>
                        </a:rPr>
                        <a:t>不通过严重问题</a:t>
                      </a:r>
                      <a:r>
                        <a:rPr lang="zh-CN" altLang="en-US" sz="2000" dirty="0">
                          <a:effectLst/>
                        </a:rPr>
                        <a:t>：仿真结论显示</a:t>
                      </a:r>
                      <a:r>
                        <a:rPr lang="en-US" altLang="zh-CN" sz="2000" dirty="0">
                          <a:effectLst/>
                        </a:rPr>
                        <a:t>"</a:t>
                      </a:r>
                      <a:r>
                        <a:rPr lang="zh-CN" altLang="en-US" sz="2000" dirty="0">
                          <a:effectLst/>
                        </a:rPr>
                        <a:t>不通过</a:t>
                      </a:r>
                      <a:r>
                        <a:rPr lang="en-US" altLang="zh-CN" sz="2000" dirty="0">
                          <a:effectLst/>
                        </a:rPr>
                        <a:t>"</a:t>
                      </a:r>
                      <a:r>
                        <a:rPr lang="zh-CN" altLang="en-US" sz="2000" dirty="0">
                          <a:effectLst/>
                        </a:rPr>
                        <a:t>但缺少具体改进措施</a:t>
                      </a:r>
                    </a:p>
                    <a:p>
                      <a:r>
                        <a:rPr lang="en-US" altLang="zh-CN" sz="2000" b="1" dirty="0">
                          <a:effectLst/>
                        </a:rPr>
                        <a:t>5.4 </a:t>
                      </a:r>
                      <a:r>
                        <a:rPr lang="zh-CN" altLang="en-US" sz="2000" b="1" dirty="0">
                          <a:effectLst/>
                        </a:rPr>
                        <a:t>下阶段工作</a:t>
                      </a:r>
                      <a:r>
                        <a:rPr lang="zh-CN" altLang="en-US" sz="2000" dirty="0">
                          <a:effectLst/>
                        </a:rPr>
                        <a:t> </a:t>
                      </a:r>
                      <a:r>
                        <a:rPr lang="en-US" altLang="zh-CN" sz="2000" dirty="0">
                          <a:effectLst/>
                        </a:rPr>
                        <a:t>- ❌ </a:t>
                      </a:r>
                      <a:r>
                        <a:rPr lang="zh-CN" altLang="en-US" sz="2000" b="1" dirty="0">
                          <a:effectLst/>
                        </a:rPr>
                        <a:t>不通过问题</a:t>
                      </a:r>
                      <a:r>
                        <a:rPr lang="zh-CN" altLang="en-US" sz="2000" dirty="0">
                          <a:effectLst/>
                        </a:rPr>
                        <a:t>：缺少后续验证计划和设计优化方案</a:t>
                      </a:r>
                    </a:p>
                    <a:p>
                      <a:r>
                        <a:rPr lang="en-US" altLang="zh-CN" sz="2000" b="1" dirty="0">
                          <a:effectLst/>
                        </a:rPr>
                        <a:t>6. </a:t>
                      </a:r>
                      <a:r>
                        <a:rPr lang="zh-CN" altLang="en-US" sz="2000" b="1" dirty="0">
                          <a:effectLst/>
                        </a:rPr>
                        <a:t>质量门禁符合性</a:t>
                      </a:r>
                    </a:p>
                    <a:p>
                      <a:r>
                        <a:rPr lang="en-US" altLang="zh-CN" sz="2000" b="1" dirty="0">
                          <a:effectLst/>
                        </a:rPr>
                        <a:t>6.1 Gate 2-3</a:t>
                      </a:r>
                      <a:r>
                        <a:rPr lang="zh-CN" altLang="en-US" sz="2000" b="1" dirty="0">
                          <a:effectLst/>
                        </a:rPr>
                        <a:t>交付物</a:t>
                      </a:r>
                      <a:r>
                        <a:rPr lang="zh-CN" altLang="en-US" sz="2000" dirty="0">
                          <a:effectLst/>
                        </a:rPr>
                        <a:t> </a:t>
                      </a:r>
                      <a:r>
                        <a:rPr lang="en-US" altLang="zh-CN" sz="2000" dirty="0">
                          <a:effectLst/>
                        </a:rPr>
                        <a:t>- ❌ </a:t>
                      </a:r>
                      <a:r>
                        <a:rPr lang="zh-CN" altLang="en-US" sz="2000" b="1" dirty="0">
                          <a:effectLst/>
                        </a:rPr>
                        <a:t>不通过严重问题</a:t>
                      </a:r>
                      <a:r>
                        <a:rPr lang="zh-CN" altLang="en-US" sz="2000" dirty="0">
                          <a:effectLst/>
                        </a:rPr>
                        <a:t>：作为</a:t>
                      </a:r>
                      <a:r>
                        <a:rPr lang="en-US" altLang="zh-CN" sz="2000" dirty="0">
                          <a:effectLst/>
                        </a:rPr>
                        <a:t>B</a:t>
                      </a:r>
                      <a:r>
                        <a:rPr lang="zh-CN" altLang="en-US" sz="2000" dirty="0">
                          <a:effectLst/>
                        </a:rPr>
                        <a:t>样阶段关键验证报告，结论为</a:t>
                      </a:r>
                      <a:r>
                        <a:rPr lang="en-US" altLang="zh-CN" sz="2000" dirty="0">
                          <a:effectLst/>
                        </a:rPr>
                        <a:t>"</a:t>
                      </a:r>
                      <a:r>
                        <a:rPr lang="zh-CN" altLang="en-US" sz="2000" dirty="0">
                          <a:effectLst/>
                        </a:rPr>
                        <a:t>不通过</a:t>
                      </a:r>
                      <a:r>
                        <a:rPr lang="en-US" altLang="zh-CN" sz="2000" dirty="0">
                          <a:effectLst/>
                        </a:rPr>
                        <a:t>"</a:t>
                      </a:r>
                      <a:r>
                        <a:rPr lang="zh-CN" altLang="en-US" sz="2000" dirty="0">
                          <a:effectLst/>
                        </a:rPr>
                        <a:t>需要明确的纠正措施</a:t>
                      </a:r>
                    </a:p>
                    <a:p>
                      <a:r>
                        <a:rPr lang="en-US" altLang="zh-CN" sz="2000" b="1" dirty="0">
                          <a:effectLst/>
                        </a:rPr>
                        <a:t>6.2 DV</a:t>
                      </a:r>
                      <a:r>
                        <a:rPr lang="zh-CN" altLang="en-US" sz="2000" b="1" dirty="0">
                          <a:effectLst/>
                        </a:rPr>
                        <a:t>试验匹配</a:t>
                      </a:r>
                      <a:r>
                        <a:rPr lang="zh-CN" altLang="en-US" sz="2000" dirty="0">
                          <a:effectLst/>
                        </a:rPr>
                        <a:t> </a:t>
                      </a:r>
                      <a:r>
                        <a:rPr lang="en-US" altLang="zh-CN" sz="2000" dirty="0">
                          <a:effectLst/>
                        </a:rPr>
                        <a:t>- ❌ </a:t>
                      </a:r>
                      <a:r>
                        <a:rPr lang="zh-CN" altLang="en-US" sz="2000" b="1" dirty="0">
                          <a:effectLst/>
                        </a:rPr>
                        <a:t>不通过问题</a:t>
                      </a:r>
                      <a:r>
                        <a:rPr lang="zh-CN" altLang="en-US" sz="2000" dirty="0">
                          <a:effectLst/>
                        </a:rPr>
                        <a:t>：缺少与物理试验的对比验证计划</a:t>
                      </a:r>
                    </a:p>
                  </a:txBody>
                  <a:tcPr/>
                </a:tc>
                <a:tc>
                  <a:txBody>
                    <a:bodyPr/>
                    <a:lstStyle/>
                    <a:p>
                      <a:r>
                        <a:rPr lang="zh-CN" altLang="en-US" sz="2000" b="1" dirty="0">
                          <a:effectLst/>
                        </a:rPr>
                        <a:t>关键问题汇总：</a:t>
                      </a:r>
                    </a:p>
                    <a:p>
                      <a:r>
                        <a:rPr lang="zh-CN" altLang="en-US" sz="2000" b="1" dirty="0">
                          <a:effectLst/>
                        </a:rPr>
                        <a:t>设计风险高</a:t>
                      </a:r>
                      <a:r>
                        <a:rPr lang="zh-CN" altLang="en-US" sz="2000" dirty="0">
                          <a:effectLst/>
                        </a:rPr>
                        <a:t> </a:t>
                      </a:r>
                      <a:r>
                        <a:rPr lang="en-US" altLang="zh-CN" sz="2000" dirty="0">
                          <a:effectLst/>
                        </a:rPr>
                        <a:t>- </a:t>
                      </a:r>
                      <a:r>
                        <a:rPr lang="zh-CN" altLang="en-US" sz="2000" dirty="0">
                          <a:effectLst/>
                        </a:rPr>
                        <a:t>仿真结果显示保温性能未达到客户要求</a:t>
                      </a:r>
                    </a:p>
                    <a:p>
                      <a:r>
                        <a:rPr lang="zh-CN" altLang="en-US" sz="2000" b="1" dirty="0">
                          <a:effectLst/>
                        </a:rPr>
                        <a:t>技术完整性不足</a:t>
                      </a:r>
                      <a:r>
                        <a:rPr lang="zh-CN" altLang="en-US" sz="2000" dirty="0">
                          <a:effectLst/>
                        </a:rPr>
                        <a:t> </a:t>
                      </a:r>
                      <a:r>
                        <a:rPr lang="en-US" altLang="zh-CN" sz="2000" dirty="0">
                          <a:effectLst/>
                        </a:rPr>
                        <a:t>- </a:t>
                      </a:r>
                      <a:r>
                        <a:rPr lang="zh-CN" altLang="en-US" sz="2000" dirty="0">
                          <a:effectLst/>
                        </a:rPr>
                        <a:t>仿真模型验证和分析深度不够</a:t>
                      </a:r>
                    </a:p>
                    <a:p>
                      <a:r>
                        <a:rPr lang="zh-CN" altLang="en-US" sz="2000" b="1" dirty="0">
                          <a:effectLst/>
                        </a:rPr>
                        <a:t>质量管控缺失</a:t>
                      </a:r>
                      <a:r>
                        <a:rPr lang="zh-CN" altLang="en-US" sz="2000" dirty="0">
                          <a:effectLst/>
                        </a:rPr>
                        <a:t> </a:t>
                      </a:r>
                      <a:r>
                        <a:rPr lang="en-US" altLang="zh-CN" sz="2000" dirty="0">
                          <a:effectLst/>
                        </a:rPr>
                        <a:t>- </a:t>
                      </a:r>
                      <a:r>
                        <a:rPr lang="zh-CN" altLang="en-US" sz="2000" dirty="0">
                          <a:effectLst/>
                        </a:rPr>
                        <a:t>缺少标准流程要求的验证环节</a:t>
                      </a:r>
                    </a:p>
                    <a:p>
                      <a:r>
                        <a:rPr lang="zh-CN" altLang="en-US" sz="2000" b="1" dirty="0">
                          <a:effectLst/>
                        </a:rPr>
                        <a:t>四、详细改进建议</a:t>
                      </a:r>
                    </a:p>
                    <a:p>
                      <a:r>
                        <a:rPr lang="zh-CN" altLang="en-US" sz="2000" b="1" dirty="0">
                          <a:effectLst/>
                        </a:rPr>
                        <a:t>🚨 立即行动项（</a:t>
                      </a:r>
                      <a:r>
                        <a:rPr lang="en-US" altLang="zh-CN" sz="2000" b="1" dirty="0">
                          <a:effectLst/>
                        </a:rPr>
                        <a:t>Priority 1</a:t>
                      </a:r>
                      <a:r>
                        <a:rPr lang="zh-CN" altLang="en-US" sz="2000" b="1" dirty="0">
                          <a:effectLst/>
                        </a:rPr>
                        <a:t>）</a:t>
                      </a:r>
                    </a:p>
                    <a:p>
                      <a:r>
                        <a:rPr lang="zh-CN" altLang="en-US" sz="2000" b="1" dirty="0">
                          <a:effectLst/>
                        </a:rPr>
                        <a:t>强化保温设计</a:t>
                      </a:r>
                      <a:endParaRPr lang="zh-CN" altLang="en-US" sz="2000" dirty="0">
                        <a:effectLst/>
                      </a:endParaRPr>
                    </a:p>
                    <a:p>
                      <a:r>
                        <a:rPr lang="zh-CN" altLang="en-US" sz="2000" dirty="0">
                          <a:effectLst/>
                        </a:rPr>
                        <a:t>增加保温材料厚度或改进材料规格</a:t>
                      </a:r>
                    </a:p>
                    <a:p>
                      <a:r>
                        <a:rPr lang="zh-CN" altLang="en-US" sz="2000" dirty="0">
                          <a:effectLst/>
                        </a:rPr>
                        <a:t>优化保温结构设计，重点改善底部换热问题</a:t>
                      </a:r>
                    </a:p>
                    <a:p>
                      <a:r>
                        <a:rPr lang="zh-CN" altLang="en-US" sz="2000" dirty="0">
                          <a:effectLst/>
                        </a:rPr>
                        <a:t>考虑主动保温策略（如保温加热）</a:t>
                      </a:r>
                    </a:p>
                    <a:p>
                      <a:r>
                        <a:rPr lang="zh-CN" altLang="en-US" sz="2000" b="1" dirty="0">
                          <a:effectLst/>
                        </a:rPr>
                        <a:t>完善仿真验证</a:t>
                      </a:r>
                      <a:endParaRPr lang="zh-CN" altLang="en-US" sz="2000" dirty="0">
                        <a:effectLst/>
                      </a:endParaRPr>
                    </a:p>
                    <a:p>
                      <a:r>
                        <a:rPr lang="zh-CN" altLang="en-US" sz="2000" dirty="0">
                          <a:effectLst/>
                        </a:rPr>
                        <a:t>进行网格无关性分析</a:t>
                      </a:r>
                    </a:p>
                    <a:p>
                      <a:r>
                        <a:rPr lang="zh-CN" altLang="en-US" sz="2000" dirty="0">
                          <a:effectLst/>
                        </a:rPr>
                        <a:t>增加电芯热标定数据</a:t>
                      </a:r>
                    </a:p>
                    <a:p>
                      <a:r>
                        <a:rPr lang="zh-CN" altLang="en-US" sz="2000" dirty="0">
                          <a:effectLst/>
                        </a:rPr>
                        <a:t>补充边界条件验证</a:t>
                      </a:r>
                    </a:p>
                    <a:p>
                      <a:r>
                        <a:rPr lang="zh-CN" altLang="en-US" sz="2000" b="1" dirty="0">
                          <a:effectLst/>
                        </a:rPr>
                        <a:t>制定纠正措施计划</a:t>
                      </a:r>
                      <a:endParaRPr lang="zh-CN" altLang="en-US" sz="2000" dirty="0">
                        <a:effectLst/>
                      </a:endParaRPr>
                    </a:p>
                    <a:p>
                      <a:r>
                        <a:rPr lang="zh-CN" altLang="en-US" sz="2000" dirty="0">
                          <a:effectLst/>
                        </a:rPr>
                        <a:t>设计变更方案及时间计划</a:t>
                      </a:r>
                    </a:p>
                    <a:p>
                      <a:r>
                        <a:rPr lang="zh-CN" altLang="en-US" sz="2000" dirty="0">
                          <a:effectLst/>
                        </a:rPr>
                        <a:t>成本影响评估</a:t>
                      </a:r>
                    </a:p>
                    <a:p>
                      <a:r>
                        <a:rPr lang="zh-CN" altLang="en-US" sz="2000" dirty="0">
                          <a:effectLst/>
                        </a:rPr>
                        <a:t>供应商能力确认</a:t>
                      </a:r>
                    </a:p>
                    <a:p>
                      <a:r>
                        <a:rPr lang="zh-CN" altLang="en-US" sz="2000" b="1" dirty="0">
                          <a:effectLst/>
                        </a:rPr>
                        <a:t>📋 后续完善项（</a:t>
                      </a:r>
                      <a:r>
                        <a:rPr lang="en-US" altLang="zh-CN" sz="2000" b="1" dirty="0">
                          <a:effectLst/>
                        </a:rPr>
                        <a:t>Priority 2</a:t>
                      </a:r>
                      <a:r>
                        <a:rPr lang="zh-CN" altLang="en-US" sz="2000" b="1" dirty="0">
                          <a:effectLst/>
                        </a:rPr>
                        <a:t>）</a:t>
                      </a:r>
                    </a:p>
                    <a:p>
                      <a:r>
                        <a:rPr lang="zh-CN" altLang="en-US" sz="2000" b="1" dirty="0">
                          <a:effectLst/>
                        </a:rPr>
                        <a:t>文档标准化</a:t>
                      </a:r>
                      <a:endParaRPr lang="zh-CN" altLang="en-US" sz="2000" dirty="0">
                        <a:effectLst/>
                      </a:endParaRPr>
                    </a:p>
                    <a:p>
                      <a:r>
                        <a:rPr lang="zh-CN" altLang="en-US" sz="2000" dirty="0">
                          <a:effectLst/>
                        </a:rPr>
                        <a:t>补充标准引用和技术规范</a:t>
                      </a:r>
                    </a:p>
                    <a:p>
                      <a:r>
                        <a:rPr lang="zh-CN" altLang="en-US" sz="2000" dirty="0">
                          <a:effectLst/>
                        </a:rPr>
                        <a:t>完善文档版本管理</a:t>
                      </a:r>
                    </a:p>
                    <a:p>
                      <a:r>
                        <a:rPr lang="zh-CN" altLang="en-US" sz="2000" dirty="0">
                          <a:effectLst/>
                        </a:rPr>
                        <a:t>增加详细的分析说明</a:t>
                      </a:r>
                    </a:p>
                    <a:p>
                      <a:r>
                        <a:rPr lang="zh-CN" altLang="en-US" sz="2000" b="1" dirty="0">
                          <a:effectLst/>
                        </a:rPr>
                        <a:t>扩展验证范围</a:t>
                      </a:r>
                      <a:endParaRPr lang="zh-CN" altLang="en-US" sz="2000" dirty="0">
                        <a:effectLst/>
                      </a:endParaRPr>
                    </a:p>
                    <a:p>
                      <a:r>
                        <a:rPr lang="zh-CN" altLang="en-US" sz="2000" dirty="0">
                          <a:effectLst/>
                        </a:rPr>
                        <a:t>增加中间温度工况仿真</a:t>
                      </a:r>
                    </a:p>
                    <a:p>
                      <a:r>
                        <a:rPr lang="zh-CN" altLang="en-US" sz="2000" dirty="0">
                          <a:effectLst/>
                        </a:rPr>
                        <a:t>进行敏感性分析</a:t>
                      </a:r>
                    </a:p>
                    <a:p>
                      <a:r>
                        <a:rPr lang="zh-CN" altLang="en-US" sz="2000" dirty="0">
                          <a:effectLst/>
                        </a:rPr>
                        <a:t>规划物理验证试验</a:t>
                      </a:r>
                    </a:p>
                    <a:p>
                      <a:pPr>
                        <a:spcBef>
                          <a:spcPts val="150"/>
                        </a:spcBef>
                        <a:spcAft>
                          <a:spcPts val="150"/>
                        </a:spcAft>
                        <a:buFont typeface="+mj-lt"/>
                        <a:buNone/>
                      </a:pPr>
                      <a:endParaRPr lang="en-GB" sz="2000" dirty="0"/>
                    </a:p>
                  </a:txBody>
                  <a:tcPr/>
                </a:tc>
                <a:extLst>
                  <a:ext uri="{0D108BD9-81ED-4DB2-BD59-A6C34878D82A}">
                    <a16:rowId xmlns:a16="http://schemas.microsoft.com/office/drawing/2014/main" val="604853937"/>
                  </a:ext>
                </a:extLst>
              </a:tr>
            </a:tbl>
          </a:graphicData>
        </a:graphic>
      </p:graphicFrame>
    </p:spTree>
    <p:extLst>
      <p:ext uri="{BB962C8B-B14F-4D97-AF65-F5344CB8AC3E}">
        <p14:creationId xmlns:p14="http://schemas.microsoft.com/office/powerpoint/2010/main" val="3623201452"/>
      </p:ext>
    </p:extLst>
  </p:cSld>
  <p:clrMapOvr>
    <a:masterClrMapping/>
  </p:clrMapOvr>
  <p:transition spd="med"/>
  <p:extLst>
    <p:ext uri="{6950BFC3-D8DA-4A85-94F7-54DA5524770B}">
      <p188:commentRel xmlns:p188="http://schemas.microsoft.com/office/powerpoint/2018/8/main" r:id="rId2"/>
    </p:ext>
  </p:extLs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262740-C191-19F7-10F7-D55D6F9AEE09}"/>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4909A176-95FB-4579-E1BB-59BF443ACE44}"/>
              </a:ext>
            </a:extLst>
          </p:cNvPr>
          <p:cNvSpPr txBox="1"/>
          <p:nvPr/>
        </p:nvSpPr>
        <p:spPr>
          <a:xfrm>
            <a:off x="1737559" y="755986"/>
            <a:ext cx="18673531" cy="646331"/>
          </a:xfrm>
          <a:prstGeom prst="rect">
            <a:avLst/>
          </a:prstGeom>
          <a:noFill/>
        </p:spPr>
        <p:txBody>
          <a:bodyPr wrap="square" numCol="1">
            <a:spAutoFit/>
          </a:bodyPr>
          <a:lstStyle/>
          <a:p>
            <a:pPr>
              <a:spcBef>
                <a:spcPts val="1500"/>
              </a:spcBef>
              <a:spcAft>
                <a:spcPts val="750"/>
              </a:spcAft>
              <a:buNone/>
            </a:pPr>
            <a:r>
              <a:rPr lang="en-US" altLang="zh-CN" sz="3600" b="1" dirty="0">
                <a:effectLst/>
              </a:rPr>
              <a:t>B</a:t>
            </a:r>
            <a:r>
              <a:rPr lang="zh-CN" altLang="en-US" sz="3600" b="1" dirty="0">
                <a:effectLst/>
              </a:rPr>
              <a:t>样阶段</a:t>
            </a:r>
            <a:r>
              <a:rPr lang="en-US" altLang="zh-CN" sz="3600" b="1" dirty="0"/>
              <a:t>《570_941B</a:t>
            </a:r>
            <a:r>
              <a:rPr lang="zh-CN" altLang="en-US" sz="3600" b="1" dirty="0"/>
              <a:t>电池包机械冲击仿真分析</a:t>
            </a:r>
            <a:r>
              <a:rPr lang="en-US" altLang="zh-CN" sz="3600" b="1" dirty="0"/>
              <a:t>-20240603(</a:t>
            </a:r>
            <a:r>
              <a:rPr lang="zh-CN" altLang="en-US" sz="3600" b="1" dirty="0"/>
              <a:t>纵梁灌胶</a:t>
            </a:r>
            <a:r>
              <a:rPr lang="en-US" altLang="zh-CN" sz="3600" b="1" dirty="0"/>
              <a:t>).pptx》</a:t>
            </a:r>
            <a:r>
              <a:rPr lang="zh-CN" altLang="en-US" sz="3600" b="1" dirty="0">
                <a:effectLst/>
              </a:rPr>
              <a:t>审核报告</a:t>
            </a:r>
          </a:p>
        </p:txBody>
      </p:sp>
      <p:graphicFrame>
        <p:nvGraphicFramePr>
          <p:cNvPr id="2" name="表格 1">
            <a:extLst>
              <a:ext uri="{FF2B5EF4-FFF2-40B4-BE49-F238E27FC236}">
                <a16:creationId xmlns:a16="http://schemas.microsoft.com/office/drawing/2014/main" id="{42996951-8C99-F2F5-D9A6-CE88AA44ED1D}"/>
              </a:ext>
            </a:extLst>
          </p:cNvPr>
          <p:cNvGraphicFramePr>
            <a:graphicFrameLocks noGrp="1"/>
          </p:cNvGraphicFramePr>
          <p:nvPr>
            <p:extLst>
              <p:ext uri="{D42A27DB-BD31-4B8C-83A1-F6EECF244321}">
                <p14:modId xmlns:p14="http://schemas.microsoft.com/office/powerpoint/2010/main" val="1743670496"/>
              </p:ext>
            </p:extLst>
          </p:nvPr>
        </p:nvGraphicFramePr>
        <p:xfrm>
          <a:off x="662354" y="1738812"/>
          <a:ext cx="23059292" cy="12173784"/>
        </p:xfrm>
        <a:graphic>
          <a:graphicData uri="http://schemas.openxmlformats.org/drawingml/2006/table">
            <a:tbl>
              <a:tblPr firstRow="1" bandRow="1"/>
              <a:tblGrid>
                <a:gridCol w="4607171">
                  <a:extLst>
                    <a:ext uri="{9D8B030D-6E8A-4147-A177-3AD203B41FA5}">
                      <a16:colId xmlns:a16="http://schemas.microsoft.com/office/drawing/2014/main" val="520135011"/>
                    </a:ext>
                  </a:extLst>
                </a:gridCol>
                <a:gridCol w="5908430">
                  <a:extLst>
                    <a:ext uri="{9D8B030D-6E8A-4147-A177-3AD203B41FA5}">
                      <a16:colId xmlns:a16="http://schemas.microsoft.com/office/drawing/2014/main" val="585926975"/>
                    </a:ext>
                  </a:extLst>
                </a:gridCol>
                <a:gridCol w="6778868">
                  <a:extLst>
                    <a:ext uri="{9D8B030D-6E8A-4147-A177-3AD203B41FA5}">
                      <a16:colId xmlns:a16="http://schemas.microsoft.com/office/drawing/2014/main" val="3081416713"/>
                    </a:ext>
                  </a:extLst>
                </a:gridCol>
                <a:gridCol w="5764823">
                  <a:extLst>
                    <a:ext uri="{9D8B030D-6E8A-4147-A177-3AD203B41FA5}">
                      <a16:colId xmlns:a16="http://schemas.microsoft.com/office/drawing/2014/main" val="572010187"/>
                    </a:ext>
                  </a:extLst>
                </a:gridCol>
              </a:tblGrid>
              <a:tr h="901298">
                <a:tc rowSpan="2">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审查清单制定</a:t>
                      </a:r>
                    </a:p>
                  </a:txBody>
                  <a:tcPr anchor="ctr"/>
                </a:tc>
                <a:tc gridSpan="2">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逐项审核结果</a:t>
                      </a:r>
                    </a:p>
                  </a:txBody>
                  <a:tcPr anchor="ctr"/>
                </a:tc>
                <a:tc hMerge="1">
                  <a:txBody>
                    <a:bodyPr/>
                    <a:lstStyle/>
                    <a:p>
                      <a:pPr algn="ctr"/>
                      <a:endParaRPr lang="en-GB" sz="2000" dirty="0"/>
                    </a:p>
                  </a:txBody>
                  <a:tcPr/>
                </a:tc>
                <a:tc rowSpan="2">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总体评估</a:t>
                      </a:r>
                    </a:p>
                  </a:txBody>
                  <a:tcPr anchor="ctr"/>
                </a:tc>
                <a:extLst>
                  <a:ext uri="{0D108BD9-81ED-4DB2-BD59-A6C34878D82A}">
                    <a16:rowId xmlns:a16="http://schemas.microsoft.com/office/drawing/2014/main" val="2562292327"/>
                  </a:ext>
                </a:extLst>
              </a:tr>
              <a:tr h="513046">
                <a:tc vMerge="1">
                  <a:txBody>
                    <a:bodyPr/>
                    <a:lstStyle/>
                    <a:p>
                      <a:pPr algn="ctr"/>
                      <a:endParaRPr lang="en-GB" sz="2000" dirty="0"/>
                    </a:p>
                  </a:txBody>
                  <a:tcPr/>
                </a:tc>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000" b="1">
                          <a:effectLst/>
                        </a:rPr>
                        <a:t>通过</a:t>
                      </a:r>
                      <a:r>
                        <a:rPr lang="zh-CN" altLang="en-US" sz="2000" b="1" dirty="0">
                          <a:effectLst/>
                        </a:rPr>
                        <a:t>项目</a:t>
                      </a:r>
                    </a:p>
                  </a:txBody>
                  <a:tcPr/>
                </a:tc>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000" b="1" dirty="0">
                          <a:effectLst/>
                        </a:rPr>
                        <a:t>❌ 不通过项目</a:t>
                      </a:r>
                    </a:p>
                  </a:txBody>
                  <a:tcPr/>
                </a:tc>
                <a:tc vMerge="1">
                  <a:txBody>
                    <a:bodyPr/>
                    <a:lstStyle/>
                    <a:p>
                      <a:endParaRPr dirty="0"/>
                    </a:p>
                  </a:txBody>
                  <a:tcPr/>
                </a:tc>
                <a:extLst>
                  <a:ext uri="{0D108BD9-81ED-4DB2-BD59-A6C34878D82A}">
                    <a16:rowId xmlns:a16="http://schemas.microsoft.com/office/drawing/2014/main" val="3862020771"/>
                  </a:ext>
                </a:extLst>
              </a:tr>
              <a:tr h="10086326">
                <a:tc>
                  <a:txBody>
                    <a:bodyPr/>
                    <a:lstStyle/>
                    <a:p>
                      <a:r>
                        <a:rPr lang="en-US" altLang="zh-CN" sz="2000" b="1" dirty="0">
                          <a:effectLst/>
                        </a:rPr>
                        <a:t>1. </a:t>
                      </a:r>
                      <a:r>
                        <a:rPr lang="zh-CN" altLang="en-US" sz="2000" b="1" dirty="0">
                          <a:effectLst/>
                        </a:rPr>
                        <a:t>文档结构与完整性</a:t>
                      </a:r>
                    </a:p>
                    <a:p>
                      <a:r>
                        <a:rPr lang="zh-CN" altLang="en-US" sz="2000" dirty="0">
                          <a:effectLst/>
                        </a:rPr>
                        <a:t>项目基本信息完整性</a:t>
                      </a:r>
                    </a:p>
                    <a:p>
                      <a:r>
                        <a:rPr lang="zh-CN" altLang="en-US" sz="2000" dirty="0">
                          <a:effectLst/>
                        </a:rPr>
                        <a:t>技术规范引用准确性</a:t>
                      </a:r>
                    </a:p>
                    <a:p>
                      <a:r>
                        <a:rPr lang="zh-CN" altLang="en-US" sz="2000" dirty="0">
                          <a:effectLst/>
                        </a:rPr>
                        <a:t>分析目标明确性</a:t>
                      </a:r>
                    </a:p>
                    <a:p>
                      <a:r>
                        <a:rPr lang="zh-CN" altLang="en-US" sz="2000" dirty="0">
                          <a:effectLst/>
                        </a:rPr>
                        <a:t>结论与建议清晰性</a:t>
                      </a:r>
                    </a:p>
                    <a:p>
                      <a:r>
                        <a:rPr lang="en-US" altLang="zh-CN" sz="2000" b="1" dirty="0">
                          <a:effectLst/>
                        </a:rPr>
                        <a:t>2. </a:t>
                      </a:r>
                      <a:r>
                        <a:rPr lang="zh-CN" altLang="en-US" sz="2000" b="1" dirty="0">
                          <a:effectLst/>
                        </a:rPr>
                        <a:t>技术规范符合性</a:t>
                      </a:r>
                    </a:p>
                    <a:p>
                      <a:r>
                        <a:rPr lang="zh-CN" altLang="en-US" sz="2000" dirty="0">
                          <a:effectLst/>
                        </a:rPr>
                        <a:t>标准规范引用正确性</a:t>
                      </a:r>
                    </a:p>
                    <a:p>
                      <a:r>
                        <a:rPr lang="zh-CN" altLang="en-US" sz="2000" dirty="0">
                          <a:effectLst/>
                        </a:rPr>
                        <a:t>工况定义合理性</a:t>
                      </a:r>
                    </a:p>
                    <a:p>
                      <a:r>
                        <a:rPr lang="zh-CN" altLang="en-US" sz="2000" dirty="0">
                          <a:effectLst/>
                        </a:rPr>
                        <a:t>判定标准适用性</a:t>
                      </a:r>
                    </a:p>
                    <a:p>
                      <a:r>
                        <a:rPr lang="zh-CN" altLang="en-US" sz="2000" dirty="0">
                          <a:effectLst/>
                        </a:rPr>
                        <a:t>安全系数合理性</a:t>
                      </a:r>
                    </a:p>
                    <a:p>
                      <a:r>
                        <a:rPr lang="en-US" altLang="zh-CN" sz="2000" b="1" dirty="0">
                          <a:effectLst/>
                        </a:rPr>
                        <a:t>3. </a:t>
                      </a:r>
                      <a:r>
                        <a:rPr lang="zh-CN" altLang="en-US" sz="2000" b="1" dirty="0">
                          <a:effectLst/>
                        </a:rPr>
                        <a:t>分析质量与可靠性</a:t>
                      </a:r>
                    </a:p>
                    <a:p>
                      <a:r>
                        <a:rPr lang="zh-CN" altLang="en-US" sz="2000" dirty="0">
                          <a:effectLst/>
                        </a:rPr>
                        <a:t>模型简化合理性</a:t>
                      </a:r>
                    </a:p>
                    <a:p>
                      <a:r>
                        <a:rPr lang="zh-CN" altLang="en-US" sz="2000" dirty="0">
                          <a:effectLst/>
                        </a:rPr>
                        <a:t>边界条件设置正确性</a:t>
                      </a:r>
                    </a:p>
                    <a:p>
                      <a:r>
                        <a:rPr lang="zh-CN" altLang="en-US" sz="2000" dirty="0">
                          <a:effectLst/>
                        </a:rPr>
                        <a:t>材料参数准确性</a:t>
                      </a:r>
                    </a:p>
                    <a:p>
                      <a:r>
                        <a:rPr lang="zh-CN" altLang="en-US" sz="2000" dirty="0">
                          <a:effectLst/>
                        </a:rPr>
                        <a:t>网格质量评估</a:t>
                      </a:r>
                    </a:p>
                    <a:p>
                      <a:r>
                        <a:rPr lang="en-US" altLang="zh-CN" sz="2000" b="1" dirty="0">
                          <a:effectLst/>
                        </a:rPr>
                        <a:t>4. </a:t>
                      </a:r>
                      <a:r>
                        <a:rPr lang="zh-CN" altLang="en-US" sz="2000" b="1" dirty="0">
                          <a:effectLst/>
                        </a:rPr>
                        <a:t>结果评估与风险分析</a:t>
                      </a:r>
                    </a:p>
                    <a:p>
                      <a:r>
                        <a:rPr lang="zh-CN" altLang="en-US" sz="2000" dirty="0">
                          <a:effectLst/>
                        </a:rPr>
                        <a:t>结果判读准确性</a:t>
                      </a:r>
                    </a:p>
                    <a:p>
                      <a:r>
                        <a:rPr lang="zh-CN" altLang="en-US" sz="2000" dirty="0">
                          <a:effectLst/>
                        </a:rPr>
                        <a:t>风险识别完整性</a:t>
                      </a:r>
                    </a:p>
                    <a:p>
                      <a:r>
                        <a:rPr lang="zh-CN" altLang="en-US" sz="2000" dirty="0">
                          <a:effectLst/>
                        </a:rPr>
                        <a:t>失效模式分析</a:t>
                      </a:r>
                    </a:p>
                    <a:p>
                      <a:r>
                        <a:rPr lang="zh-CN" altLang="en-US" sz="2000" dirty="0">
                          <a:effectLst/>
                        </a:rPr>
                        <a:t>改进建议可行性</a:t>
                      </a:r>
                    </a:p>
                    <a:p>
                      <a:r>
                        <a:rPr lang="en-US" altLang="zh-CN" sz="2000" b="1" dirty="0">
                          <a:effectLst/>
                        </a:rPr>
                        <a:t>5. </a:t>
                      </a:r>
                      <a:r>
                        <a:rPr lang="zh-CN" altLang="en-US" sz="2000" b="1" dirty="0">
                          <a:effectLst/>
                        </a:rPr>
                        <a:t>项目管理与交付</a:t>
                      </a:r>
                    </a:p>
                    <a:p>
                      <a:r>
                        <a:rPr lang="zh-CN" altLang="en-US" sz="2000" dirty="0">
                          <a:effectLst/>
                        </a:rPr>
                        <a:t>版本控制规范性</a:t>
                      </a:r>
                    </a:p>
                    <a:p>
                      <a:r>
                        <a:rPr lang="zh-CN" altLang="en-US" sz="2000" dirty="0">
                          <a:effectLst/>
                        </a:rPr>
                        <a:t>评审记录完整性</a:t>
                      </a:r>
                    </a:p>
                    <a:p>
                      <a:r>
                        <a:rPr lang="zh-CN" altLang="en-US" sz="2000" dirty="0">
                          <a:effectLst/>
                        </a:rPr>
                        <a:t>后续行动明确性</a:t>
                      </a:r>
                    </a:p>
                    <a:p>
                      <a:r>
                        <a:rPr lang="zh-CN" altLang="en-US" sz="2000" dirty="0">
                          <a:effectLst/>
                        </a:rPr>
                        <a:t>文档可追溯性</a:t>
                      </a:r>
                    </a:p>
                    <a:p>
                      <a:pPr>
                        <a:spcBef>
                          <a:spcPts val="1200"/>
                        </a:spcBef>
                        <a:spcAft>
                          <a:spcPts val="600"/>
                        </a:spcAft>
                        <a:buNone/>
                      </a:pPr>
                      <a:endParaRPr lang="en-GB" sz="2000" dirty="0"/>
                    </a:p>
                  </a:txBody>
                  <a:tcPr/>
                </a:tc>
                <a:tc>
                  <a:txBody>
                    <a:bodyPr/>
                    <a:lstStyle/>
                    <a:p>
                      <a:r>
                        <a:rPr lang="zh-CN" altLang="en-US" sz="2000" b="1" dirty="0">
                          <a:effectLst/>
                        </a:rPr>
                        <a:t>✅ 通过项目</a:t>
                      </a:r>
                    </a:p>
                    <a:p>
                      <a:r>
                        <a:rPr lang="en-US" altLang="zh-CN" sz="2000" b="1" dirty="0">
                          <a:effectLst/>
                        </a:rPr>
                        <a:t>1. </a:t>
                      </a:r>
                      <a:r>
                        <a:rPr lang="zh-CN" altLang="en-US" sz="2000" b="1" dirty="0">
                          <a:effectLst/>
                        </a:rPr>
                        <a:t>文档结构与完整性</a:t>
                      </a:r>
                    </a:p>
                    <a:p>
                      <a:r>
                        <a:rPr lang="zh-CN" altLang="en-US" sz="2000" b="1" dirty="0">
                          <a:effectLst/>
                        </a:rPr>
                        <a:t>评审结果：通过</a:t>
                      </a:r>
                      <a:r>
                        <a:rPr lang="zh-CN" altLang="en-US" sz="2000" dirty="0">
                          <a:effectLst/>
                        </a:rPr>
                        <a:t>项目背景描述清晰，明确了</a:t>
                      </a:r>
                      <a:r>
                        <a:rPr lang="en-US" altLang="zh-CN" sz="2000" dirty="0">
                          <a:effectLst/>
                        </a:rPr>
                        <a:t>B</a:t>
                      </a:r>
                      <a:r>
                        <a:rPr lang="zh-CN" altLang="en-US" sz="2000" dirty="0">
                          <a:effectLst/>
                        </a:rPr>
                        <a:t>样阶段</a:t>
                      </a:r>
                      <a:r>
                        <a:rPr lang="en-US" altLang="zh-CN" sz="2000" dirty="0">
                          <a:effectLst/>
                        </a:rPr>
                        <a:t>570_941B</a:t>
                      </a:r>
                      <a:r>
                        <a:rPr lang="zh-CN" altLang="en-US" sz="2000" dirty="0">
                          <a:effectLst/>
                        </a:rPr>
                        <a:t>电池包机械冲击仿真分析目标</a:t>
                      </a:r>
                    </a:p>
                    <a:p>
                      <a:r>
                        <a:rPr lang="zh-CN" altLang="en-US" sz="2000" dirty="0">
                          <a:effectLst/>
                        </a:rPr>
                        <a:t>目录结构合理，涵盖了项目概况、工况材料、仿真结论和详细结果</a:t>
                      </a:r>
                    </a:p>
                    <a:p>
                      <a:r>
                        <a:rPr lang="zh-CN" altLang="en-US" sz="2000" dirty="0">
                          <a:effectLst/>
                        </a:rPr>
                        <a:t>模型介绍包含了关键信息（约束条件、总重量</a:t>
                      </a:r>
                      <a:r>
                        <a:rPr lang="en-US" altLang="zh-CN" sz="2000" dirty="0">
                          <a:effectLst/>
                        </a:rPr>
                        <a:t>256.55kg</a:t>
                      </a:r>
                      <a:r>
                        <a:rPr lang="zh-CN" altLang="en-US" sz="2000" dirty="0">
                          <a:effectLst/>
                        </a:rPr>
                        <a:t>）</a:t>
                      </a:r>
                    </a:p>
                    <a:p>
                      <a:r>
                        <a:rPr lang="en-US" altLang="zh-CN" sz="2000" b="1" dirty="0">
                          <a:effectLst/>
                        </a:rPr>
                        <a:t>2. </a:t>
                      </a:r>
                      <a:r>
                        <a:rPr lang="zh-CN" altLang="en-US" sz="2000" b="1" dirty="0">
                          <a:effectLst/>
                        </a:rPr>
                        <a:t>技术规范符合性</a:t>
                      </a:r>
                    </a:p>
                    <a:p>
                      <a:r>
                        <a:rPr lang="zh-CN" altLang="en-US" sz="2000" b="1" dirty="0">
                          <a:effectLst/>
                        </a:rPr>
                        <a:t>评审结果：通过</a:t>
                      </a:r>
                      <a:r>
                        <a:rPr lang="zh-CN" altLang="en-US" sz="2000" dirty="0">
                          <a:effectLst/>
                        </a:rPr>
                        <a:t>正确引用了</a:t>
                      </a:r>
                      <a:r>
                        <a:rPr lang="en-US" altLang="zh-CN" sz="2000" dirty="0">
                          <a:effectLst/>
                        </a:rPr>
                        <a:t>Q-JLJ166002-2022</a:t>
                      </a:r>
                      <a:r>
                        <a:rPr lang="zh-CN" altLang="en-US" sz="2000" dirty="0">
                          <a:effectLst/>
                        </a:rPr>
                        <a:t>标准规范</a:t>
                      </a:r>
                    </a:p>
                    <a:p>
                      <a:r>
                        <a:rPr lang="zh-CN" altLang="en-US" sz="2000" dirty="0">
                          <a:effectLst/>
                        </a:rPr>
                        <a:t>工况定义明确：</a:t>
                      </a:r>
                      <a:r>
                        <a:rPr lang="en-US" altLang="zh-CN" sz="2000" dirty="0">
                          <a:effectLst/>
                        </a:rPr>
                        <a:t>20g10ms Z</a:t>
                      </a:r>
                      <a:r>
                        <a:rPr lang="zh-CN" altLang="en-US" sz="2000" dirty="0">
                          <a:effectLst/>
                        </a:rPr>
                        <a:t>方向冲击</a:t>
                      </a:r>
                    </a:p>
                    <a:p>
                      <a:r>
                        <a:rPr lang="zh-CN" altLang="en-US" sz="2000" dirty="0">
                          <a:effectLst/>
                        </a:rPr>
                        <a:t>安全判定条件定义合理：应力</a:t>
                      </a:r>
                      <a:r>
                        <a:rPr lang="en-US" altLang="zh-CN" sz="2000" dirty="0">
                          <a:effectLst/>
                        </a:rPr>
                        <a:t>&lt;</a:t>
                      </a:r>
                      <a:r>
                        <a:rPr lang="zh-CN" altLang="en-US" sz="2000" dirty="0">
                          <a:effectLst/>
                        </a:rPr>
                        <a:t>屈服强度或塑性应变</a:t>
                      </a:r>
                      <a:r>
                        <a:rPr lang="en-US" altLang="zh-CN" sz="2000" dirty="0">
                          <a:effectLst/>
                        </a:rPr>
                        <a:t>&lt;0.2</a:t>
                      </a:r>
                      <a:r>
                        <a:rPr lang="en-US" altLang="zh-CN" sz="2000" i="1" dirty="0">
                          <a:effectLst/>
                        </a:rPr>
                        <a:t>A</a:t>
                      </a:r>
                      <a:endParaRPr lang="zh-CN" altLang="en-US" sz="2000" dirty="0">
                        <a:effectLst/>
                      </a:endParaRPr>
                    </a:p>
                    <a:p>
                      <a:r>
                        <a:rPr lang="en-US" altLang="zh-CN" sz="2000" b="1" dirty="0">
                          <a:effectLst/>
                        </a:rPr>
                        <a:t>3. </a:t>
                      </a:r>
                      <a:r>
                        <a:rPr lang="zh-CN" altLang="en-US" sz="2000" b="1" dirty="0">
                          <a:effectLst/>
                        </a:rPr>
                        <a:t>分析质量与可靠性</a:t>
                      </a:r>
                    </a:p>
                    <a:p>
                      <a:r>
                        <a:rPr lang="zh-CN" altLang="en-US" sz="2000" b="1" dirty="0">
                          <a:effectLst/>
                        </a:rPr>
                        <a:t>评审结果：通过</a:t>
                      </a:r>
                      <a:r>
                        <a:rPr lang="zh-CN" altLang="en-US" sz="2000" dirty="0">
                          <a:effectLst/>
                        </a:rPr>
                        <a:t>材料参数表格完整，包含</a:t>
                      </a:r>
                      <a:r>
                        <a:rPr lang="en-US" altLang="zh-CN" sz="2000" dirty="0">
                          <a:effectLst/>
                        </a:rPr>
                        <a:t>7</a:t>
                      </a:r>
                      <a:r>
                        <a:rPr lang="zh-CN" altLang="en-US" sz="2000" dirty="0">
                          <a:effectLst/>
                        </a:rPr>
                        <a:t>个关键部件的力学性能</a:t>
                      </a:r>
                    </a:p>
                    <a:p>
                      <a:r>
                        <a:rPr lang="zh-CN" altLang="en-US" sz="2000" dirty="0">
                          <a:effectLst/>
                        </a:rPr>
                        <a:t>边界条件设置合理（约束电池包安装点）</a:t>
                      </a:r>
                    </a:p>
                    <a:p>
                      <a:r>
                        <a:rPr lang="zh-CN" altLang="en-US" sz="2000" dirty="0">
                          <a:effectLst/>
                        </a:rPr>
                        <a:t>有限元模型可视化展示清晰</a:t>
                      </a:r>
                      <a:endParaRPr lang="en-GB" altLang="zh-CN" sz="2000" dirty="0">
                        <a:effectLst/>
                      </a:endParaRPr>
                    </a:p>
                    <a:p>
                      <a:endParaRPr lang="zh-CN" altLang="en-US" sz="2000" dirty="0">
                        <a:effectLst/>
                      </a:endParaRPr>
                    </a:p>
                    <a:p>
                      <a:r>
                        <a:rPr lang="zh-CN" altLang="en-US" sz="2000" b="1" dirty="0">
                          <a:effectLst/>
                        </a:rPr>
                        <a:t>⚠️ 需要关注项目</a:t>
                      </a:r>
                    </a:p>
                    <a:p>
                      <a:r>
                        <a:rPr lang="en-US" altLang="zh-CN" sz="2000" b="1" dirty="0">
                          <a:effectLst/>
                        </a:rPr>
                        <a:t>4. </a:t>
                      </a:r>
                      <a:r>
                        <a:rPr lang="zh-CN" altLang="en-US" sz="2000" b="1" dirty="0">
                          <a:effectLst/>
                        </a:rPr>
                        <a:t>结果评估与风险分析</a:t>
                      </a:r>
                    </a:p>
                    <a:p>
                      <a:r>
                        <a:rPr lang="zh-CN" altLang="en-US" sz="2000" b="1" dirty="0">
                          <a:effectLst/>
                        </a:rPr>
                        <a:t>评审结果：需要改进</a:t>
                      </a:r>
                      <a:endParaRPr lang="en-GB" altLang="zh-CN" sz="2000" b="1" dirty="0">
                        <a:effectLst/>
                      </a:endParaRPr>
                    </a:p>
                    <a:p>
                      <a:r>
                        <a:rPr lang="zh-CN" altLang="en-US" sz="2000" b="1" dirty="0">
                          <a:effectLst/>
                        </a:rPr>
                        <a:t>问题识别：底部导热胶和侧面溢胶失效风险</a:t>
                      </a:r>
                      <a:endParaRPr lang="zh-CN" altLang="en-US" sz="2000" dirty="0">
                        <a:effectLst/>
                      </a:endParaRPr>
                    </a:p>
                    <a:p>
                      <a:r>
                        <a:rPr lang="en-US" altLang="zh-CN" sz="2000" dirty="0">
                          <a:effectLst/>
                        </a:rPr>
                        <a:t>Z</a:t>
                      </a:r>
                      <a:r>
                        <a:rPr lang="zh-CN" altLang="en-US" sz="2000" dirty="0">
                          <a:effectLst/>
                        </a:rPr>
                        <a:t>正向：切应力</a:t>
                      </a:r>
                      <a:r>
                        <a:rPr lang="en-US" altLang="zh-CN" sz="2000" dirty="0">
                          <a:effectLst/>
                        </a:rPr>
                        <a:t>4.02MPa &gt; </a:t>
                      </a:r>
                      <a:r>
                        <a:rPr lang="zh-CN" altLang="en-US" sz="2000" dirty="0">
                          <a:effectLst/>
                        </a:rPr>
                        <a:t>阈值</a:t>
                      </a:r>
                      <a:r>
                        <a:rPr lang="en-US" altLang="zh-CN" sz="2000" dirty="0">
                          <a:effectLst/>
                        </a:rPr>
                        <a:t>3.12MPa</a:t>
                      </a:r>
                    </a:p>
                    <a:p>
                      <a:r>
                        <a:rPr lang="en-US" altLang="zh-CN" sz="2000" dirty="0">
                          <a:effectLst/>
                        </a:rPr>
                        <a:t>Z</a:t>
                      </a:r>
                      <a:r>
                        <a:rPr lang="zh-CN" altLang="en-US" sz="2000" dirty="0">
                          <a:effectLst/>
                        </a:rPr>
                        <a:t>负向：切应力</a:t>
                      </a:r>
                      <a:r>
                        <a:rPr lang="en-US" altLang="zh-CN" sz="2000" dirty="0">
                          <a:effectLst/>
                        </a:rPr>
                        <a:t>7.54MPa &gt; </a:t>
                      </a:r>
                      <a:r>
                        <a:rPr lang="zh-CN" altLang="en-US" sz="2000" dirty="0">
                          <a:effectLst/>
                        </a:rPr>
                        <a:t>阈值</a:t>
                      </a:r>
                      <a:r>
                        <a:rPr lang="en-US" altLang="zh-CN" sz="2000" dirty="0">
                          <a:effectLst/>
                        </a:rPr>
                        <a:t>3.12MPa</a:t>
                      </a:r>
                      <a:r>
                        <a:rPr lang="zh-CN" altLang="en-US" sz="2000" dirty="0">
                          <a:effectLst/>
                        </a:rPr>
                        <a:t>，拉应力</a:t>
                      </a:r>
                      <a:r>
                        <a:rPr lang="en-US" altLang="zh-CN" sz="2000" dirty="0">
                          <a:effectLst/>
                        </a:rPr>
                        <a:t>22.77MPa &gt; </a:t>
                      </a:r>
                      <a:r>
                        <a:rPr lang="zh-CN" altLang="en-US" sz="2000" dirty="0">
                          <a:effectLst/>
                        </a:rPr>
                        <a:t>阈值</a:t>
                      </a:r>
                      <a:r>
                        <a:rPr lang="en-US" altLang="zh-CN" sz="2000" dirty="0">
                          <a:effectLst/>
                        </a:rPr>
                        <a:t>3.05MPa</a:t>
                      </a:r>
                    </a:p>
                    <a:p>
                      <a:r>
                        <a:rPr lang="zh-CN" altLang="en-US" sz="2000" dirty="0">
                          <a:effectLst/>
                        </a:rPr>
                        <a:t>虽然失效面积</a:t>
                      </a:r>
                      <a:r>
                        <a:rPr lang="en-US" altLang="zh-CN" sz="2000" dirty="0">
                          <a:effectLst/>
                        </a:rPr>
                        <a:t>&lt;5%</a:t>
                      </a:r>
                      <a:r>
                        <a:rPr lang="zh-CN" altLang="en-US" sz="2000" dirty="0">
                          <a:effectLst/>
                        </a:rPr>
                        <a:t>，但应力超标幅度较大</a:t>
                      </a:r>
                    </a:p>
                    <a:p>
                      <a:r>
                        <a:rPr lang="zh-CN" altLang="en-US" sz="2000" b="1" dirty="0">
                          <a:effectLst/>
                        </a:rPr>
                        <a:t>液冷板塑性应变接近极限</a:t>
                      </a:r>
                      <a:endParaRPr lang="zh-CN" altLang="en-US" sz="2000" dirty="0">
                        <a:effectLst/>
                      </a:endParaRPr>
                    </a:p>
                    <a:p>
                      <a:r>
                        <a:rPr lang="en-US" altLang="zh-CN" sz="2000" dirty="0">
                          <a:effectLst/>
                        </a:rPr>
                        <a:t>Z</a:t>
                      </a:r>
                      <a:r>
                        <a:rPr lang="zh-CN" altLang="en-US" sz="2000" dirty="0">
                          <a:effectLst/>
                        </a:rPr>
                        <a:t>正向：</a:t>
                      </a:r>
                      <a:r>
                        <a:rPr lang="en-US" altLang="zh-CN" sz="2000" dirty="0">
                          <a:effectLst/>
                        </a:rPr>
                        <a:t>2.61%</a:t>
                      </a:r>
                      <a:r>
                        <a:rPr lang="zh-CN" altLang="en-US" sz="2000" dirty="0">
                          <a:effectLst/>
                        </a:rPr>
                        <a:t>接近</a:t>
                      </a:r>
                      <a:r>
                        <a:rPr lang="en-US" altLang="zh-CN" sz="2000" dirty="0">
                          <a:effectLst/>
                        </a:rPr>
                        <a:t>5%</a:t>
                      </a:r>
                      <a:r>
                        <a:rPr lang="zh-CN" altLang="en-US" sz="2000" dirty="0">
                          <a:effectLst/>
                        </a:rPr>
                        <a:t>阈值</a:t>
                      </a:r>
                    </a:p>
                    <a:p>
                      <a:r>
                        <a:rPr lang="zh-CN" altLang="en-US" sz="2000" dirty="0">
                          <a:effectLst/>
                        </a:rPr>
                        <a:t>需要关注疲劳累积效应</a:t>
                      </a:r>
                    </a:p>
                    <a:p>
                      <a:r>
                        <a:rPr lang="zh-CN" altLang="en-US" sz="2000" b="1" dirty="0">
                          <a:effectLst/>
                        </a:rPr>
                        <a:t>改进建议：短期措施（</a:t>
                      </a:r>
                      <a:r>
                        <a:rPr lang="en-US" altLang="zh-CN" sz="2000" b="1" dirty="0">
                          <a:effectLst/>
                        </a:rPr>
                        <a:t>1-2</a:t>
                      </a:r>
                      <a:r>
                        <a:rPr lang="zh-CN" altLang="en-US" sz="2000" b="1" dirty="0">
                          <a:effectLst/>
                        </a:rPr>
                        <a:t>周内）：</a:t>
                      </a:r>
                      <a:endParaRPr lang="zh-CN" altLang="en-US" sz="2000" dirty="0">
                        <a:effectLst/>
                      </a:endParaRPr>
                    </a:p>
                    <a:p>
                      <a:r>
                        <a:rPr lang="zh-CN" altLang="en-US" sz="2000" dirty="0">
                          <a:effectLst/>
                        </a:rPr>
                        <a:t>对导热胶失效区域进行详细应力分布分析</a:t>
                      </a:r>
                    </a:p>
                    <a:p>
                      <a:r>
                        <a:rPr lang="zh-CN" altLang="en-US" sz="2000" dirty="0">
                          <a:effectLst/>
                        </a:rPr>
                        <a:t>评估失效面积</a:t>
                      </a:r>
                      <a:r>
                        <a:rPr lang="en-US" altLang="zh-CN" sz="2000" dirty="0">
                          <a:effectLst/>
                        </a:rPr>
                        <a:t>&lt;5%</a:t>
                      </a:r>
                      <a:r>
                        <a:rPr lang="zh-CN" altLang="en-US" sz="2000" dirty="0">
                          <a:effectLst/>
                        </a:rPr>
                        <a:t>的接受标准合理性</a:t>
                      </a:r>
                    </a:p>
                    <a:p>
                      <a:r>
                        <a:rPr lang="zh-CN" altLang="en-US" sz="2000" dirty="0">
                          <a:effectLst/>
                        </a:rPr>
                        <a:t>制定导热胶材料性能验证计划</a:t>
                      </a:r>
                      <a:endParaRPr lang="en-GB" sz="2000" dirty="0"/>
                    </a:p>
                  </a:txBody>
                  <a:tcPr/>
                </a:tc>
                <a:tc>
                  <a:txBody>
                    <a:bodyPr/>
                    <a:lstStyle/>
                    <a:p>
                      <a:r>
                        <a:rPr lang="zh-CN" altLang="en-US" sz="2000" b="1" dirty="0">
                          <a:effectLst/>
                        </a:rPr>
                        <a:t>中期措施（</a:t>
                      </a:r>
                      <a:r>
                        <a:rPr lang="en-US" altLang="zh-CN" sz="2000" b="1" dirty="0">
                          <a:effectLst/>
                        </a:rPr>
                        <a:t>1</a:t>
                      </a:r>
                      <a:r>
                        <a:rPr lang="zh-CN" altLang="en-US" sz="2000" b="1" dirty="0">
                          <a:effectLst/>
                        </a:rPr>
                        <a:t>个月内）：</a:t>
                      </a:r>
                      <a:endParaRPr lang="zh-CN" altLang="en-US" sz="2000" dirty="0">
                        <a:effectLst/>
                      </a:endParaRPr>
                    </a:p>
                    <a:p>
                      <a:r>
                        <a:rPr lang="zh-CN" altLang="en-US" sz="2000" dirty="0">
                          <a:effectLst/>
                        </a:rPr>
                        <a:t>优化导热胶厚度或材料选择</a:t>
                      </a:r>
                    </a:p>
                    <a:p>
                      <a:r>
                        <a:rPr lang="zh-CN" altLang="en-US" sz="2000" dirty="0">
                          <a:effectLst/>
                        </a:rPr>
                        <a:t>考虑增加机械固定措施</a:t>
                      </a:r>
                    </a:p>
                    <a:p>
                      <a:r>
                        <a:rPr lang="zh-CN" altLang="en-US" sz="2000" dirty="0">
                          <a:effectLst/>
                        </a:rPr>
                        <a:t>进行液冷板疲劳寿命评估</a:t>
                      </a:r>
                    </a:p>
                    <a:p>
                      <a:r>
                        <a:rPr lang="zh-CN" altLang="en-US" sz="2000" b="1" dirty="0">
                          <a:effectLst/>
                        </a:rPr>
                        <a:t>长期措施（</a:t>
                      </a:r>
                      <a:r>
                        <a:rPr lang="en-US" altLang="zh-CN" sz="2000" b="1" dirty="0">
                          <a:effectLst/>
                        </a:rPr>
                        <a:t>2-3</a:t>
                      </a:r>
                      <a:r>
                        <a:rPr lang="zh-CN" altLang="en-US" sz="2000" b="1" dirty="0">
                          <a:effectLst/>
                        </a:rPr>
                        <a:t>个月内）：</a:t>
                      </a:r>
                      <a:endParaRPr lang="zh-CN" altLang="en-US" sz="2000" dirty="0">
                        <a:effectLst/>
                      </a:endParaRPr>
                    </a:p>
                    <a:p>
                      <a:r>
                        <a:rPr lang="zh-CN" altLang="en-US" sz="2000" dirty="0">
                          <a:effectLst/>
                        </a:rPr>
                        <a:t>考虑结构优化设计</a:t>
                      </a:r>
                    </a:p>
                    <a:p>
                      <a:r>
                        <a:rPr lang="zh-CN" altLang="en-US" sz="2000" dirty="0">
                          <a:effectLst/>
                        </a:rPr>
                        <a:t>建立导热胶失效监控机制</a:t>
                      </a:r>
                    </a:p>
                    <a:p>
                      <a:r>
                        <a:rPr lang="zh-CN" altLang="en-US" sz="2000" dirty="0">
                          <a:effectLst/>
                        </a:rPr>
                        <a:t>制定</a:t>
                      </a:r>
                      <a:r>
                        <a:rPr lang="en-US" altLang="zh-CN" sz="2000" dirty="0">
                          <a:effectLst/>
                        </a:rPr>
                        <a:t>PPAP</a:t>
                      </a:r>
                      <a:r>
                        <a:rPr lang="zh-CN" altLang="en-US" sz="2000" dirty="0">
                          <a:effectLst/>
                        </a:rPr>
                        <a:t>阶段的验证计划</a:t>
                      </a:r>
                    </a:p>
                    <a:p>
                      <a:r>
                        <a:rPr lang="zh-CN" altLang="en-US" sz="2000" b="1" dirty="0">
                          <a:effectLst/>
                        </a:rPr>
                        <a:t>❌ 不通过项目</a:t>
                      </a:r>
                    </a:p>
                    <a:p>
                      <a:r>
                        <a:rPr lang="en-US" altLang="zh-CN" sz="2000" b="1" dirty="0">
                          <a:effectLst/>
                        </a:rPr>
                        <a:t>5. </a:t>
                      </a:r>
                      <a:r>
                        <a:rPr lang="zh-CN" altLang="en-US" sz="2000" b="1" dirty="0">
                          <a:effectLst/>
                        </a:rPr>
                        <a:t>项目管理与交付</a:t>
                      </a:r>
                    </a:p>
                    <a:p>
                      <a:r>
                        <a:rPr lang="zh-CN" altLang="en-US" sz="2000" b="1" dirty="0">
                          <a:effectLst/>
                        </a:rPr>
                        <a:t>评审结果：不通过</a:t>
                      </a:r>
                      <a:endParaRPr lang="en-GB" altLang="zh-CN" sz="2000" b="1" dirty="0">
                        <a:effectLst/>
                      </a:endParaRPr>
                    </a:p>
                    <a:p>
                      <a:r>
                        <a:rPr lang="zh-CN" altLang="en-US" sz="2000" b="1" dirty="0">
                          <a:effectLst/>
                        </a:rPr>
                        <a:t>具体问题：缺少关键项目管理信息</a:t>
                      </a:r>
                      <a:endParaRPr lang="zh-CN" altLang="en-US" sz="2000" dirty="0">
                        <a:effectLst/>
                      </a:endParaRPr>
                    </a:p>
                    <a:p>
                      <a:r>
                        <a:rPr lang="zh-CN" altLang="en-US" sz="2000" dirty="0">
                          <a:effectLst/>
                        </a:rPr>
                        <a:t>无分析人员、审核人员信息</a:t>
                      </a:r>
                    </a:p>
                    <a:p>
                      <a:r>
                        <a:rPr lang="zh-CN" altLang="en-US" sz="2000" dirty="0">
                          <a:effectLst/>
                        </a:rPr>
                        <a:t>无分析日期、版本号</a:t>
                      </a:r>
                    </a:p>
                    <a:p>
                      <a:r>
                        <a:rPr lang="zh-CN" altLang="en-US" sz="2000" dirty="0">
                          <a:effectLst/>
                        </a:rPr>
                        <a:t>无相关标准规范完整引用</a:t>
                      </a:r>
                    </a:p>
                    <a:p>
                      <a:r>
                        <a:rPr lang="zh-CN" altLang="en-US" sz="2000" b="1" dirty="0">
                          <a:effectLst/>
                        </a:rPr>
                        <a:t>文档可追溯性不足</a:t>
                      </a:r>
                      <a:endParaRPr lang="zh-CN" altLang="en-US" sz="2000" dirty="0">
                        <a:effectLst/>
                      </a:endParaRPr>
                    </a:p>
                    <a:p>
                      <a:r>
                        <a:rPr lang="zh-CN" altLang="en-US" sz="2000" dirty="0">
                          <a:effectLst/>
                        </a:rPr>
                        <a:t>缺少模型文件版本信息</a:t>
                      </a:r>
                    </a:p>
                    <a:p>
                      <a:r>
                        <a:rPr lang="zh-CN" altLang="en-US" sz="2000" dirty="0">
                          <a:effectLst/>
                        </a:rPr>
                        <a:t>无网格质量评估报告</a:t>
                      </a:r>
                    </a:p>
                    <a:p>
                      <a:r>
                        <a:rPr lang="zh-CN" altLang="en-US" sz="2000" dirty="0">
                          <a:effectLst/>
                        </a:rPr>
                        <a:t>缺少收敛性分析记录</a:t>
                      </a:r>
                    </a:p>
                    <a:p>
                      <a:r>
                        <a:rPr lang="zh-CN" altLang="en-US" sz="2000" b="1" dirty="0">
                          <a:effectLst/>
                        </a:rPr>
                        <a:t>后续行动不明确</a:t>
                      </a:r>
                      <a:endParaRPr lang="zh-CN" altLang="en-US" sz="2000" dirty="0">
                        <a:effectLst/>
                      </a:endParaRPr>
                    </a:p>
                    <a:p>
                      <a:r>
                        <a:rPr lang="zh-CN" altLang="en-US" sz="2000" dirty="0">
                          <a:effectLst/>
                        </a:rPr>
                        <a:t>无具体改进时间节点</a:t>
                      </a:r>
                    </a:p>
                    <a:p>
                      <a:r>
                        <a:rPr lang="zh-CN" altLang="en-US" sz="2000" dirty="0">
                          <a:effectLst/>
                        </a:rPr>
                        <a:t>缺少验证测试计划</a:t>
                      </a:r>
                    </a:p>
                    <a:p>
                      <a:r>
                        <a:rPr lang="zh-CN" altLang="en-US" sz="2000" dirty="0">
                          <a:effectLst/>
                        </a:rPr>
                        <a:t>无风险评估更新机制</a:t>
                      </a:r>
                    </a:p>
                    <a:p>
                      <a:r>
                        <a:rPr lang="zh-CN" altLang="en-US" sz="2000" b="1" dirty="0">
                          <a:effectLst/>
                        </a:rPr>
                        <a:t>应对建议：立即补充（本周内）：</a:t>
                      </a:r>
                      <a:endParaRPr lang="zh-CN" altLang="en-US" sz="2000" dirty="0">
                        <a:effectLst/>
                      </a:endParaRPr>
                    </a:p>
                    <a:p>
                      <a:r>
                        <a:rPr lang="zh-CN" altLang="en-US" sz="2000" dirty="0">
                          <a:effectLst/>
                        </a:rPr>
                        <a:t>添加文档版本控制信息</a:t>
                      </a:r>
                    </a:p>
                    <a:p>
                      <a:r>
                        <a:rPr lang="zh-CN" altLang="en-US" sz="2000" dirty="0">
                          <a:effectLst/>
                        </a:rPr>
                        <a:t>补充分析人员资质证明</a:t>
                      </a:r>
                    </a:p>
                    <a:p>
                      <a:r>
                        <a:rPr lang="zh-CN" altLang="en-US" sz="2000" dirty="0">
                          <a:effectLst/>
                        </a:rPr>
                        <a:t>完善标准规范引用清单</a:t>
                      </a:r>
                    </a:p>
                    <a:p>
                      <a:r>
                        <a:rPr lang="zh-CN" altLang="en-US" sz="2000" b="1" dirty="0">
                          <a:effectLst/>
                        </a:rPr>
                        <a:t>建立跟踪机制（</a:t>
                      </a:r>
                      <a:r>
                        <a:rPr lang="en-US" altLang="zh-CN" sz="2000" b="1" dirty="0">
                          <a:effectLst/>
                        </a:rPr>
                        <a:t>2</a:t>
                      </a:r>
                      <a:r>
                        <a:rPr lang="zh-CN" altLang="en-US" sz="2000" b="1" dirty="0">
                          <a:effectLst/>
                        </a:rPr>
                        <a:t>周内）：</a:t>
                      </a:r>
                      <a:endParaRPr lang="zh-CN" altLang="en-US" sz="2000" dirty="0">
                        <a:effectLst/>
                      </a:endParaRPr>
                    </a:p>
                    <a:p>
                      <a:r>
                        <a:rPr lang="zh-CN" altLang="en-US" sz="2000" dirty="0">
                          <a:effectLst/>
                        </a:rPr>
                        <a:t>制定导热胶失效风险跟踪表</a:t>
                      </a:r>
                    </a:p>
                    <a:p>
                      <a:r>
                        <a:rPr lang="zh-CN" altLang="en-US" sz="2000" dirty="0">
                          <a:effectLst/>
                        </a:rPr>
                        <a:t>建立液冷板疲劳监控计划</a:t>
                      </a:r>
                    </a:p>
                    <a:p>
                      <a:r>
                        <a:rPr lang="zh-CN" altLang="en-US" sz="2000" dirty="0">
                          <a:effectLst/>
                        </a:rPr>
                        <a:t>设置定期评审节点</a:t>
                      </a:r>
                    </a:p>
                    <a:p>
                      <a:r>
                        <a:rPr lang="zh-CN" altLang="en-US" sz="2000" b="1" dirty="0">
                          <a:effectLst/>
                        </a:rPr>
                        <a:t>完善交付标准（</a:t>
                      </a:r>
                      <a:r>
                        <a:rPr lang="en-US" altLang="zh-CN" sz="2000" b="1" dirty="0">
                          <a:effectLst/>
                        </a:rPr>
                        <a:t>1</a:t>
                      </a:r>
                      <a:r>
                        <a:rPr lang="zh-CN" altLang="en-US" sz="2000" b="1" dirty="0">
                          <a:effectLst/>
                        </a:rPr>
                        <a:t>个月内）：</a:t>
                      </a:r>
                      <a:endParaRPr lang="zh-CN" altLang="en-US" sz="2000" dirty="0">
                        <a:effectLst/>
                      </a:endParaRPr>
                    </a:p>
                    <a:p>
                      <a:r>
                        <a:rPr lang="zh-CN" altLang="en-US" sz="2000" dirty="0">
                          <a:effectLst/>
                        </a:rPr>
                        <a:t>制定仿真分析报告模板</a:t>
                      </a:r>
                    </a:p>
                    <a:p>
                      <a:r>
                        <a:rPr lang="zh-CN" altLang="en-US" sz="2000" dirty="0">
                          <a:effectLst/>
                        </a:rPr>
                        <a:t>建立质量门禁检查清单</a:t>
                      </a:r>
                    </a:p>
                    <a:p>
                      <a:r>
                        <a:rPr lang="zh-CN" altLang="en-US" sz="2000" dirty="0">
                          <a:effectLst/>
                        </a:rPr>
                        <a:t>完善文档管理体系</a:t>
                      </a:r>
                      <a:endParaRPr lang="en-GB" sz="2000" dirty="0"/>
                    </a:p>
                  </a:txBody>
                  <a:tcPr/>
                </a:tc>
                <a:tc>
                  <a:txBody>
                    <a:bodyPr/>
                    <a:lstStyle/>
                    <a:p>
                      <a:r>
                        <a:rPr lang="zh-CN" altLang="en-US" sz="2000" b="1" dirty="0">
                          <a:effectLst/>
                        </a:rPr>
                        <a:t>评审结果：有条件通过</a:t>
                      </a:r>
                      <a:endParaRPr lang="en-GB" altLang="zh-CN" sz="2000" b="1" dirty="0">
                        <a:effectLst/>
                      </a:endParaRPr>
                    </a:p>
                    <a:p>
                      <a:endParaRPr lang="en-GB" altLang="zh-CN" sz="2000" b="1" dirty="0">
                        <a:effectLst/>
                      </a:endParaRPr>
                    </a:p>
                    <a:p>
                      <a:r>
                        <a:rPr lang="zh-CN" altLang="en-US" sz="2000" b="1" dirty="0">
                          <a:effectLst/>
                        </a:rPr>
                        <a:t>主要风险：</a:t>
                      </a:r>
                      <a:endParaRPr lang="en-GB" altLang="zh-CN" sz="2000" b="1" dirty="0">
                        <a:effectLst/>
                      </a:endParaRPr>
                    </a:p>
                    <a:p>
                      <a:r>
                        <a:rPr lang="zh-CN" altLang="en-US" sz="2000" dirty="0">
                          <a:effectLst/>
                        </a:rPr>
                        <a:t>导热胶失效风险需要重点关注</a:t>
                      </a:r>
                    </a:p>
                    <a:p>
                      <a:r>
                        <a:rPr lang="zh-CN" altLang="en-US" sz="2000" dirty="0">
                          <a:effectLst/>
                        </a:rPr>
                        <a:t>液冷板疲劳性能需要进一步验证</a:t>
                      </a:r>
                    </a:p>
                    <a:p>
                      <a:r>
                        <a:rPr lang="zh-CN" altLang="en-US" sz="2000" dirty="0">
                          <a:effectLst/>
                        </a:rPr>
                        <a:t>项目管理规范性需要立即改进</a:t>
                      </a:r>
                      <a:endParaRPr lang="en-GB" altLang="zh-CN" sz="2000" dirty="0">
                        <a:effectLst/>
                      </a:endParaRPr>
                    </a:p>
                    <a:p>
                      <a:endParaRPr lang="zh-CN" altLang="en-US" sz="2000" dirty="0">
                        <a:effectLst/>
                      </a:endParaRPr>
                    </a:p>
                    <a:p>
                      <a:r>
                        <a:rPr lang="zh-CN" altLang="en-US" sz="2000" b="1" dirty="0">
                          <a:effectLst/>
                        </a:rPr>
                        <a:t>建议行动：</a:t>
                      </a:r>
                      <a:endParaRPr lang="en-GB" altLang="zh-CN" sz="2000" b="1" dirty="0">
                        <a:effectLst/>
                      </a:endParaRPr>
                    </a:p>
                    <a:p>
                      <a:r>
                        <a:rPr lang="zh-CN" altLang="en-US" sz="2000" dirty="0">
                          <a:effectLst/>
                        </a:rPr>
                        <a:t>立即启动导热胶失效风险评估</a:t>
                      </a:r>
                    </a:p>
                    <a:p>
                      <a:r>
                        <a:rPr lang="zh-CN" altLang="en-US" sz="2000" dirty="0">
                          <a:effectLst/>
                        </a:rPr>
                        <a:t>完善项目管理文档体系</a:t>
                      </a:r>
                    </a:p>
                    <a:p>
                      <a:r>
                        <a:rPr lang="zh-CN" altLang="en-US" sz="2000" dirty="0">
                          <a:effectLst/>
                        </a:rPr>
                        <a:t>制定详细的验证测试计划</a:t>
                      </a:r>
                    </a:p>
                    <a:p>
                      <a:r>
                        <a:rPr lang="zh-CN" altLang="en-US" sz="2000" dirty="0">
                          <a:effectLst/>
                        </a:rPr>
                        <a:t>建立定期风险评审机制</a:t>
                      </a:r>
                      <a:endParaRPr lang="en-GB" altLang="zh-CN" sz="2000" dirty="0">
                        <a:effectLst/>
                      </a:endParaRPr>
                    </a:p>
                    <a:p>
                      <a:endParaRPr lang="zh-CN" altLang="en-US" sz="2000" dirty="0">
                        <a:effectLst/>
                      </a:endParaRPr>
                    </a:p>
                    <a:p>
                      <a:r>
                        <a:rPr lang="zh-CN" altLang="en-US" sz="2000" b="1" dirty="0">
                          <a:effectLst/>
                        </a:rPr>
                        <a:t>下一阶段重点：</a:t>
                      </a:r>
                      <a:endParaRPr lang="en-GB" altLang="zh-CN" sz="2000" b="1" dirty="0">
                        <a:effectLst/>
                      </a:endParaRPr>
                    </a:p>
                    <a:p>
                      <a:r>
                        <a:rPr lang="zh-CN" altLang="en-US" sz="2000" dirty="0">
                          <a:effectLst/>
                        </a:rPr>
                        <a:t>重点关注</a:t>
                      </a:r>
                      <a:r>
                        <a:rPr lang="en-US" altLang="zh-CN" sz="2000" dirty="0">
                          <a:effectLst/>
                        </a:rPr>
                        <a:t>PPAP</a:t>
                      </a:r>
                      <a:r>
                        <a:rPr lang="zh-CN" altLang="en-US" sz="2000" dirty="0">
                          <a:effectLst/>
                        </a:rPr>
                        <a:t>阶段的实物验证</a:t>
                      </a:r>
                    </a:p>
                    <a:p>
                      <a:r>
                        <a:rPr lang="zh-CN" altLang="en-US" sz="2000" dirty="0">
                          <a:effectLst/>
                        </a:rPr>
                        <a:t>建立失效模式监控体系</a:t>
                      </a:r>
                    </a:p>
                    <a:p>
                      <a:r>
                        <a:rPr lang="zh-CN" altLang="en-US" sz="2000" dirty="0">
                          <a:effectLst/>
                        </a:rPr>
                        <a:t>完善设计验证计划（</a:t>
                      </a:r>
                      <a:r>
                        <a:rPr lang="en-US" altLang="zh-CN" sz="2000" dirty="0">
                          <a:effectLst/>
                        </a:rPr>
                        <a:t>DVP&amp;R</a:t>
                      </a:r>
                      <a:r>
                        <a:rPr lang="zh-CN" altLang="en-US" sz="2000" dirty="0">
                          <a:effectLst/>
                        </a:rPr>
                        <a:t>）</a:t>
                      </a:r>
                    </a:p>
                    <a:p>
                      <a:r>
                        <a:rPr lang="zh-CN" altLang="en-US" sz="2000" dirty="0">
                          <a:effectLst/>
                        </a:rPr>
                        <a:t>此评审结果将影响项目进入下一阶段的进度，建议在解决关键风险后再进行</a:t>
                      </a:r>
                      <a:r>
                        <a:rPr lang="en-US" altLang="zh-CN" sz="2000" dirty="0">
                          <a:effectLst/>
                        </a:rPr>
                        <a:t>Gate 3</a:t>
                      </a:r>
                      <a:r>
                        <a:rPr lang="zh-CN" altLang="en-US" sz="2000" dirty="0">
                          <a:effectLst/>
                        </a:rPr>
                        <a:t>评审。</a:t>
                      </a:r>
                      <a:endParaRPr lang="en-GB" sz="2000" dirty="0"/>
                    </a:p>
                  </a:txBody>
                  <a:tcPr/>
                </a:tc>
                <a:extLst>
                  <a:ext uri="{0D108BD9-81ED-4DB2-BD59-A6C34878D82A}">
                    <a16:rowId xmlns:a16="http://schemas.microsoft.com/office/drawing/2014/main" val="604853937"/>
                  </a:ext>
                </a:extLst>
              </a:tr>
            </a:tbl>
          </a:graphicData>
        </a:graphic>
      </p:graphicFrame>
    </p:spTree>
    <p:extLst>
      <p:ext uri="{BB962C8B-B14F-4D97-AF65-F5344CB8AC3E}">
        <p14:creationId xmlns:p14="http://schemas.microsoft.com/office/powerpoint/2010/main" val="3593004670"/>
      </p:ext>
    </p:extLst>
  </p:cSld>
  <p:clrMapOvr>
    <a:masterClrMapping/>
  </p:clrMapOvr>
  <p:transition spd="med"/>
  <p:extLst>
    <p:ext uri="{6950BFC3-D8DA-4A85-94F7-54DA5524770B}">
      <p188:commentRel xmlns:p188="http://schemas.microsoft.com/office/powerpoint/2018/8/main" r:id="rId2"/>
    </p:ext>
  </p:extLs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2B5514-54FE-F7AE-CA0C-D2480DE3318E}"/>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359BB9CE-7E7A-50AA-4EAC-EF3EC587031F}"/>
              </a:ext>
            </a:extLst>
          </p:cNvPr>
          <p:cNvSpPr txBox="1"/>
          <p:nvPr/>
        </p:nvSpPr>
        <p:spPr>
          <a:xfrm>
            <a:off x="1737559" y="755986"/>
            <a:ext cx="17078475" cy="646331"/>
          </a:xfrm>
          <a:prstGeom prst="rect">
            <a:avLst/>
          </a:prstGeom>
          <a:noFill/>
        </p:spPr>
        <p:txBody>
          <a:bodyPr wrap="square" numCol="1">
            <a:spAutoFit/>
          </a:bodyPr>
          <a:lstStyle/>
          <a:p>
            <a:pPr>
              <a:spcBef>
                <a:spcPts val="1500"/>
              </a:spcBef>
              <a:spcAft>
                <a:spcPts val="750"/>
              </a:spcAft>
              <a:buNone/>
            </a:pPr>
            <a:r>
              <a:rPr lang="en-US" altLang="zh-CN" sz="3600" b="1" dirty="0">
                <a:effectLst/>
              </a:rPr>
              <a:t>B</a:t>
            </a:r>
            <a:r>
              <a:rPr lang="zh-CN" altLang="en-US" sz="3600" b="1" dirty="0">
                <a:effectLst/>
              </a:rPr>
              <a:t>样阶段</a:t>
            </a:r>
            <a:r>
              <a:rPr lang="en-US" altLang="zh-CN" sz="3600" b="1" dirty="0"/>
              <a:t>《570-941</a:t>
            </a:r>
            <a:r>
              <a:rPr lang="zh-CN" altLang="en-US" sz="3600" b="1" dirty="0"/>
              <a:t>电池包内部热仿真分析报告</a:t>
            </a:r>
            <a:r>
              <a:rPr lang="en-US" altLang="zh-CN" sz="3600" b="1" dirty="0"/>
              <a:t>-</a:t>
            </a:r>
            <a:r>
              <a:rPr lang="zh-CN" altLang="en-US" sz="3600" b="1" dirty="0"/>
              <a:t>保温（无灌胶）</a:t>
            </a:r>
            <a:r>
              <a:rPr lang="en-US" altLang="zh-CN" sz="3600" b="1" dirty="0"/>
              <a:t>.pptx》</a:t>
            </a:r>
            <a:r>
              <a:rPr lang="zh-CN" altLang="en-US" sz="3600" b="1" dirty="0">
                <a:effectLst/>
              </a:rPr>
              <a:t>审核报告</a:t>
            </a:r>
          </a:p>
        </p:txBody>
      </p:sp>
      <p:graphicFrame>
        <p:nvGraphicFramePr>
          <p:cNvPr id="2" name="表格 1">
            <a:extLst>
              <a:ext uri="{FF2B5EF4-FFF2-40B4-BE49-F238E27FC236}">
                <a16:creationId xmlns:a16="http://schemas.microsoft.com/office/drawing/2014/main" id="{6E8B47C3-4143-C30C-0D56-0F65A60121F2}"/>
              </a:ext>
            </a:extLst>
          </p:cNvPr>
          <p:cNvGraphicFramePr>
            <a:graphicFrameLocks noGrp="1"/>
          </p:cNvGraphicFramePr>
          <p:nvPr>
            <p:extLst>
              <p:ext uri="{D42A27DB-BD31-4B8C-83A1-F6EECF244321}">
                <p14:modId xmlns:p14="http://schemas.microsoft.com/office/powerpoint/2010/main" val="1478989375"/>
              </p:ext>
            </p:extLst>
          </p:nvPr>
        </p:nvGraphicFramePr>
        <p:xfrm>
          <a:off x="662354" y="1420613"/>
          <a:ext cx="22149521" cy="12305249"/>
        </p:xfrm>
        <a:graphic>
          <a:graphicData uri="http://schemas.openxmlformats.org/drawingml/2006/table">
            <a:tbl>
              <a:tblPr firstRow="1" bandRow="1"/>
              <a:tblGrid>
                <a:gridCol w="5900536">
                  <a:extLst>
                    <a:ext uri="{9D8B030D-6E8A-4147-A177-3AD203B41FA5}">
                      <a16:colId xmlns:a16="http://schemas.microsoft.com/office/drawing/2014/main" val="520135011"/>
                    </a:ext>
                  </a:extLst>
                </a:gridCol>
                <a:gridCol w="7567095">
                  <a:extLst>
                    <a:ext uri="{9D8B030D-6E8A-4147-A177-3AD203B41FA5}">
                      <a16:colId xmlns:a16="http://schemas.microsoft.com/office/drawing/2014/main" val="585926975"/>
                    </a:ext>
                  </a:extLst>
                </a:gridCol>
                <a:gridCol w="8681890">
                  <a:extLst>
                    <a:ext uri="{9D8B030D-6E8A-4147-A177-3AD203B41FA5}">
                      <a16:colId xmlns:a16="http://schemas.microsoft.com/office/drawing/2014/main" val="3081416713"/>
                    </a:ext>
                  </a:extLst>
                </a:gridCol>
              </a:tblGrid>
              <a:tr h="631409">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审查清单制定</a:t>
                      </a:r>
                    </a:p>
                  </a:txBody>
                  <a:tcPr anchor="ctr"/>
                </a:tc>
                <a:tc gridSpan="2">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逐项审核结果</a:t>
                      </a:r>
                    </a:p>
                  </a:txBody>
                  <a:tcPr anchor="ctr"/>
                </a:tc>
                <a:tc hMerge="1">
                  <a:txBody>
                    <a:bodyPr/>
                    <a:lstStyle/>
                    <a:p>
                      <a:pPr algn="ctr"/>
                      <a:endParaRPr lang="en-GB" sz="2000" dirty="0"/>
                    </a:p>
                  </a:txBody>
                  <a:tcPr/>
                </a:tc>
                <a:extLst>
                  <a:ext uri="{0D108BD9-81ED-4DB2-BD59-A6C34878D82A}">
                    <a16:rowId xmlns:a16="http://schemas.microsoft.com/office/drawing/2014/main" val="2562292327"/>
                  </a:ext>
                </a:extLst>
              </a:tr>
              <a:tr h="10086326">
                <a:tc>
                  <a:txBody>
                    <a:bodyPr/>
                    <a:lstStyle/>
                    <a:p>
                      <a:r>
                        <a:rPr lang="en-US" altLang="zh-CN" sz="2000" b="1" dirty="0">
                          <a:effectLst/>
                        </a:rPr>
                        <a:t>1. </a:t>
                      </a:r>
                      <a:r>
                        <a:rPr lang="zh-CN" altLang="en-US" sz="2000" b="1" dirty="0">
                          <a:effectLst/>
                        </a:rPr>
                        <a:t>文档完整性审查</a:t>
                      </a:r>
                    </a:p>
                    <a:p>
                      <a:r>
                        <a:rPr lang="zh-CN" altLang="en-US" sz="2000" dirty="0">
                          <a:effectLst/>
                        </a:rPr>
                        <a:t>报告封面信息完整性</a:t>
                      </a:r>
                    </a:p>
                    <a:p>
                      <a:r>
                        <a:rPr lang="zh-CN" altLang="en-US" sz="2000" dirty="0">
                          <a:effectLst/>
                        </a:rPr>
                        <a:t>目录结构合理性</a:t>
                      </a:r>
                    </a:p>
                    <a:p>
                      <a:r>
                        <a:rPr lang="zh-CN" altLang="en-US" sz="2000" dirty="0">
                          <a:effectLst/>
                        </a:rPr>
                        <a:t>页码和图表编号规范性</a:t>
                      </a:r>
                    </a:p>
                    <a:p>
                      <a:r>
                        <a:rPr lang="zh-CN" altLang="en-US" sz="2000" dirty="0">
                          <a:effectLst/>
                        </a:rPr>
                        <a:t>版本控制标识</a:t>
                      </a:r>
                    </a:p>
                    <a:p>
                      <a:r>
                        <a:rPr lang="en-US" altLang="zh-CN" sz="2000" b="1" dirty="0">
                          <a:effectLst/>
                        </a:rPr>
                        <a:t>2. </a:t>
                      </a:r>
                      <a:r>
                        <a:rPr lang="zh-CN" altLang="en-US" sz="2000" b="1" dirty="0">
                          <a:effectLst/>
                        </a:rPr>
                        <a:t>技术内容审查</a:t>
                      </a:r>
                    </a:p>
                    <a:p>
                      <a:r>
                        <a:rPr lang="zh-CN" altLang="en-US" sz="2000" dirty="0">
                          <a:effectLst/>
                        </a:rPr>
                        <a:t>产品规格参数准确性</a:t>
                      </a:r>
                    </a:p>
                    <a:p>
                      <a:r>
                        <a:rPr lang="zh-CN" altLang="en-US" sz="2000" dirty="0">
                          <a:effectLst/>
                        </a:rPr>
                        <a:t>仿真模型合理性</a:t>
                      </a:r>
                    </a:p>
                    <a:p>
                      <a:r>
                        <a:rPr lang="zh-CN" altLang="en-US" sz="2000" dirty="0">
                          <a:effectLst/>
                        </a:rPr>
                        <a:t>边界条件设置正确性</a:t>
                      </a:r>
                    </a:p>
                    <a:p>
                      <a:r>
                        <a:rPr lang="zh-CN" altLang="en-US" sz="2000" dirty="0">
                          <a:effectLst/>
                        </a:rPr>
                        <a:t>材质参数完整性</a:t>
                      </a:r>
                    </a:p>
                    <a:p>
                      <a:r>
                        <a:rPr lang="zh-CN" altLang="en-US" sz="2000" dirty="0">
                          <a:effectLst/>
                        </a:rPr>
                        <a:t>仿真结果可信度</a:t>
                      </a:r>
                    </a:p>
                    <a:p>
                      <a:r>
                        <a:rPr lang="en-US" altLang="zh-CN" sz="2000" b="1" dirty="0">
                          <a:effectLst/>
                        </a:rPr>
                        <a:t>3. </a:t>
                      </a:r>
                      <a:r>
                        <a:rPr lang="zh-CN" altLang="en-US" sz="2000" b="1" dirty="0">
                          <a:effectLst/>
                        </a:rPr>
                        <a:t>质量合规性审查</a:t>
                      </a:r>
                    </a:p>
                    <a:p>
                      <a:r>
                        <a:rPr lang="zh-CN" altLang="en-US" sz="2000" dirty="0">
                          <a:effectLst/>
                        </a:rPr>
                        <a:t>客户需求满足度</a:t>
                      </a:r>
                    </a:p>
                    <a:p>
                      <a:r>
                        <a:rPr lang="zh-CN" altLang="en-US" sz="2000" dirty="0">
                          <a:effectLst/>
                        </a:rPr>
                        <a:t>技术标准符合性</a:t>
                      </a:r>
                    </a:p>
                    <a:p>
                      <a:r>
                        <a:rPr lang="zh-CN" altLang="en-US" sz="2000" dirty="0">
                          <a:effectLst/>
                        </a:rPr>
                        <a:t>风险评估完整性</a:t>
                      </a:r>
                    </a:p>
                    <a:p>
                      <a:r>
                        <a:rPr lang="zh-CN" altLang="en-US" sz="2000" dirty="0">
                          <a:effectLst/>
                        </a:rPr>
                        <a:t>改进建议可行性</a:t>
                      </a:r>
                    </a:p>
                    <a:p>
                      <a:r>
                        <a:rPr lang="en-US" altLang="zh-CN" sz="2000" b="1" dirty="0">
                          <a:effectLst/>
                        </a:rPr>
                        <a:t>4. </a:t>
                      </a:r>
                      <a:r>
                        <a:rPr lang="zh-CN" altLang="en-US" sz="2000" b="1" dirty="0">
                          <a:effectLst/>
                        </a:rPr>
                        <a:t>项目管理审查</a:t>
                      </a:r>
                    </a:p>
                    <a:p>
                      <a:r>
                        <a:rPr lang="zh-CN" altLang="en-US" sz="2000" dirty="0">
                          <a:effectLst/>
                        </a:rPr>
                        <a:t>时间节点控制</a:t>
                      </a:r>
                    </a:p>
                    <a:p>
                      <a:r>
                        <a:rPr lang="zh-CN" altLang="en-US" sz="2000" dirty="0">
                          <a:effectLst/>
                        </a:rPr>
                        <a:t>资源分配合理性</a:t>
                      </a:r>
                    </a:p>
                    <a:p>
                      <a:r>
                        <a:rPr lang="zh-CN" altLang="en-US" sz="2000" dirty="0">
                          <a:effectLst/>
                        </a:rPr>
                        <a:t>跨部门协调有效性</a:t>
                      </a:r>
                    </a:p>
                    <a:p>
                      <a:r>
                        <a:rPr lang="zh-CN" altLang="en-US" sz="2000" dirty="0">
                          <a:effectLst/>
                        </a:rPr>
                        <a:t>风险管控措施</a:t>
                      </a:r>
                    </a:p>
                  </a:txBody>
                  <a:tcPr/>
                </a:tc>
                <a:tc>
                  <a:txBody>
                    <a:bodyPr/>
                    <a:lstStyle/>
                    <a:p>
                      <a:r>
                        <a:rPr lang="en-US" altLang="zh-CN" sz="2000" b="1" dirty="0">
                          <a:effectLst/>
                        </a:rPr>
                        <a:t>2.1 </a:t>
                      </a:r>
                      <a:r>
                        <a:rPr lang="zh-CN" altLang="en-US" sz="2000" b="1" dirty="0">
                          <a:effectLst/>
                        </a:rPr>
                        <a:t>文档完整性审查</a:t>
                      </a:r>
                    </a:p>
                    <a:p>
                      <a:r>
                        <a:rPr lang="zh-CN" altLang="en-US" sz="2000" b="1" dirty="0">
                          <a:effectLst/>
                        </a:rPr>
                        <a:t>✅ 通过项目</a:t>
                      </a:r>
                      <a:r>
                        <a:rPr lang="en-US" altLang="zh-CN" sz="2000" b="1" dirty="0">
                          <a:effectLst/>
                        </a:rPr>
                        <a:t>:</a:t>
                      </a:r>
                    </a:p>
                    <a:p>
                      <a:r>
                        <a:rPr lang="zh-CN" altLang="en-US" sz="2000" b="1" dirty="0">
                          <a:effectLst/>
                        </a:rPr>
                        <a:t>报告基本信息完整</a:t>
                      </a:r>
                      <a:endParaRPr lang="zh-CN" altLang="en-US" sz="2000" dirty="0">
                        <a:effectLst/>
                      </a:endParaRPr>
                    </a:p>
                    <a:p>
                      <a:r>
                        <a:rPr lang="zh-CN" altLang="en-US" sz="2000" dirty="0">
                          <a:effectLst/>
                        </a:rPr>
                        <a:t>项目代号、时间、责任人、审核人信息齐全</a:t>
                      </a:r>
                    </a:p>
                    <a:p>
                      <a:r>
                        <a:rPr lang="zh-CN" altLang="en-US" sz="2000" dirty="0">
                          <a:effectLst/>
                        </a:rPr>
                        <a:t>文档结构清晰，包含基本信息、仿真模型、材质参数、仿真结论等章节</a:t>
                      </a:r>
                    </a:p>
                    <a:p>
                      <a:r>
                        <a:rPr lang="zh-CN" altLang="en-US" sz="2000" b="1" dirty="0">
                          <a:effectLst/>
                        </a:rPr>
                        <a:t>图表编号规范</a:t>
                      </a:r>
                      <a:endParaRPr lang="zh-CN" altLang="en-US" sz="2000" dirty="0">
                        <a:effectLst/>
                      </a:endParaRPr>
                    </a:p>
                    <a:p>
                      <a:r>
                        <a:rPr lang="zh-CN" altLang="en-US" sz="2000" dirty="0">
                          <a:effectLst/>
                        </a:rPr>
                        <a:t>图</a:t>
                      </a:r>
                      <a:r>
                        <a:rPr lang="en-US" altLang="zh-CN" sz="2000" dirty="0">
                          <a:effectLst/>
                        </a:rPr>
                        <a:t>1-</a:t>
                      </a:r>
                      <a:r>
                        <a:rPr lang="zh-CN" altLang="en-US" sz="2000" dirty="0">
                          <a:effectLst/>
                        </a:rPr>
                        <a:t>图</a:t>
                      </a:r>
                      <a:r>
                        <a:rPr lang="en-US" altLang="zh-CN" sz="2000" dirty="0">
                          <a:effectLst/>
                        </a:rPr>
                        <a:t>5</a:t>
                      </a:r>
                      <a:r>
                        <a:rPr lang="zh-CN" altLang="en-US" sz="2000" dirty="0">
                          <a:effectLst/>
                        </a:rPr>
                        <a:t>编号连续，符合技术文档规范</a:t>
                      </a:r>
                    </a:p>
                    <a:p>
                      <a:r>
                        <a:rPr lang="zh-CN" altLang="en-US" sz="2000" dirty="0">
                          <a:effectLst/>
                        </a:rPr>
                        <a:t>表格编号清晰，便于查阅</a:t>
                      </a:r>
                    </a:p>
                    <a:p>
                      <a:r>
                        <a:rPr lang="zh-CN" altLang="en-US" sz="2000" b="1" dirty="0">
                          <a:effectLst/>
                        </a:rPr>
                        <a:t>❌ 不通过项目</a:t>
                      </a:r>
                      <a:r>
                        <a:rPr lang="en-US" altLang="zh-CN" sz="2000" b="1" dirty="0">
                          <a:effectLst/>
                        </a:rPr>
                        <a:t>:</a:t>
                      </a:r>
                    </a:p>
                    <a:p>
                      <a:r>
                        <a:rPr lang="zh-CN" altLang="en-US" sz="2000" b="1" dirty="0">
                          <a:effectLst/>
                        </a:rPr>
                        <a:t>文档版本控制缺失</a:t>
                      </a:r>
                      <a:endParaRPr lang="zh-CN" altLang="en-US" sz="2000" dirty="0">
                        <a:effectLst/>
                      </a:endParaRPr>
                    </a:p>
                    <a:p>
                      <a:r>
                        <a:rPr lang="zh-CN" altLang="en-US" sz="2000" b="1" dirty="0">
                          <a:effectLst/>
                        </a:rPr>
                        <a:t>问题</a:t>
                      </a:r>
                      <a:r>
                        <a:rPr lang="en-US" altLang="zh-CN" sz="2000" dirty="0">
                          <a:effectLst/>
                        </a:rPr>
                        <a:t>: </a:t>
                      </a:r>
                      <a:r>
                        <a:rPr lang="zh-CN" altLang="en-US" sz="2000" dirty="0">
                          <a:effectLst/>
                        </a:rPr>
                        <a:t>未明确标识文档版本号</a:t>
                      </a:r>
                    </a:p>
                    <a:p>
                      <a:r>
                        <a:rPr lang="zh-CN" altLang="en-US" sz="2000" b="1" dirty="0">
                          <a:effectLst/>
                        </a:rPr>
                        <a:t>风险</a:t>
                      </a:r>
                      <a:r>
                        <a:rPr lang="en-US" altLang="zh-CN" sz="2000" dirty="0">
                          <a:effectLst/>
                        </a:rPr>
                        <a:t>: </a:t>
                      </a:r>
                      <a:r>
                        <a:rPr lang="zh-CN" altLang="en-US" sz="2000" dirty="0">
                          <a:effectLst/>
                        </a:rPr>
                        <a:t>可能导致版本混乱，影响后续设计变更追踪</a:t>
                      </a:r>
                    </a:p>
                    <a:p>
                      <a:r>
                        <a:rPr lang="zh-CN" altLang="en-US" sz="2000" b="1" dirty="0">
                          <a:effectLst/>
                        </a:rPr>
                        <a:t>建议</a:t>
                      </a:r>
                      <a:r>
                        <a:rPr lang="en-US" altLang="zh-CN" sz="2000" dirty="0">
                          <a:effectLst/>
                        </a:rPr>
                        <a:t>: </a:t>
                      </a:r>
                      <a:r>
                        <a:rPr lang="zh-CN" altLang="en-US" sz="2000" dirty="0">
                          <a:effectLst/>
                        </a:rPr>
                        <a:t>添加版本号标识，建立版本控制体系</a:t>
                      </a:r>
                    </a:p>
                    <a:p>
                      <a:r>
                        <a:rPr lang="zh-CN" altLang="en-US" sz="2000" b="1" dirty="0">
                          <a:effectLst/>
                        </a:rPr>
                        <a:t>目录结构不完整</a:t>
                      </a:r>
                      <a:endParaRPr lang="zh-CN" altLang="en-US" sz="2000" dirty="0">
                        <a:effectLst/>
                      </a:endParaRPr>
                    </a:p>
                    <a:p>
                      <a:r>
                        <a:rPr lang="zh-CN" altLang="en-US" sz="2000" b="1" dirty="0">
                          <a:effectLst/>
                        </a:rPr>
                        <a:t>问题</a:t>
                      </a:r>
                      <a:r>
                        <a:rPr lang="en-US" altLang="zh-CN" sz="2000" dirty="0">
                          <a:effectLst/>
                        </a:rPr>
                        <a:t>: </a:t>
                      </a:r>
                      <a:r>
                        <a:rPr lang="zh-CN" altLang="en-US" sz="2000" dirty="0">
                          <a:effectLst/>
                        </a:rPr>
                        <a:t>缺少详细的目录页</a:t>
                      </a:r>
                    </a:p>
                    <a:p>
                      <a:r>
                        <a:rPr lang="zh-CN" altLang="en-US" sz="2000" b="1" dirty="0">
                          <a:effectLst/>
                        </a:rPr>
                        <a:t>风险</a:t>
                      </a:r>
                      <a:r>
                        <a:rPr lang="en-US" altLang="zh-CN" sz="2000" dirty="0">
                          <a:effectLst/>
                        </a:rPr>
                        <a:t>: </a:t>
                      </a:r>
                      <a:r>
                        <a:rPr lang="zh-CN" altLang="en-US" sz="2000" dirty="0">
                          <a:effectLst/>
                        </a:rPr>
                        <a:t>影响文档可读性和专业性</a:t>
                      </a:r>
                    </a:p>
                    <a:p>
                      <a:r>
                        <a:rPr lang="zh-CN" altLang="en-US" sz="2000" b="1" dirty="0">
                          <a:effectLst/>
                        </a:rPr>
                        <a:t>建议</a:t>
                      </a:r>
                      <a:r>
                        <a:rPr lang="en-US" altLang="zh-CN" sz="2000" dirty="0">
                          <a:effectLst/>
                        </a:rPr>
                        <a:t>: </a:t>
                      </a:r>
                      <a:r>
                        <a:rPr lang="zh-CN" altLang="en-US" sz="2000" dirty="0">
                          <a:effectLst/>
                        </a:rPr>
                        <a:t>补充完整目录，包含章节页码</a:t>
                      </a:r>
                    </a:p>
                    <a:p>
                      <a:r>
                        <a:rPr lang="en-US" altLang="zh-CN" sz="2000" b="1" dirty="0">
                          <a:effectLst/>
                        </a:rPr>
                        <a:t>2.2 </a:t>
                      </a:r>
                      <a:r>
                        <a:rPr lang="zh-CN" altLang="en-US" sz="2000" b="1" dirty="0">
                          <a:effectLst/>
                        </a:rPr>
                        <a:t>技术内容审查</a:t>
                      </a:r>
                    </a:p>
                    <a:p>
                      <a:r>
                        <a:rPr lang="zh-CN" altLang="en-US" sz="2000" b="1" dirty="0">
                          <a:effectLst/>
                        </a:rPr>
                        <a:t>✅ 通过项目</a:t>
                      </a:r>
                      <a:r>
                        <a:rPr lang="en-US" altLang="zh-CN" sz="2000" b="1" dirty="0">
                          <a:effectLst/>
                        </a:rPr>
                        <a:t>:</a:t>
                      </a:r>
                    </a:p>
                    <a:p>
                      <a:r>
                        <a:rPr lang="zh-CN" altLang="en-US" sz="2000" b="1" dirty="0">
                          <a:effectLst/>
                        </a:rPr>
                        <a:t>产品规格参数详细</a:t>
                      </a:r>
                      <a:endParaRPr lang="zh-CN" altLang="en-US" sz="2000" dirty="0">
                        <a:effectLst/>
                      </a:endParaRPr>
                    </a:p>
                    <a:p>
                      <a:r>
                        <a:rPr lang="zh-CN" altLang="en-US" sz="2000" dirty="0">
                          <a:effectLst/>
                        </a:rPr>
                        <a:t>电芯参数完整：</a:t>
                      </a:r>
                      <a:r>
                        <a:rPr lang="en-US" altLang="zh-CN" sz="2000" dirty="0">
                          <a:effectLst/>
                        </a:rPr>
                        <a:t>L221N113</a:t>
                      </a:r>
                      <a:r>
                        <a:rPr lang="zh-CN" altLang="en-US" sz="2000" dirty="0">
                          <a:effectLst/>
                        </a:rPr>
                        <a:t>，</a:t>
                      </a:r>
                      <a:r>
                        <a:rPr lang="en-US" altLang="zh-CN" sz="2000" dirty="0">
                          <a:effectLst/>
                        </a:rPr>
                        <a:t>113.5Ah@1C</a:t>
                      </a:r>
                      <a:r>
                        <a:rPr lang="zh-CN" altLang="en-US" sz="2000" dirty="0">
                          <a:effectLst/>
                        </a:rPr>
                        <a:t>，</a:t>
                      </a:r>
                      <a:r>
                        <a:rPr lang="en-US" altLang="zh-CN" sz="2000" dirty="0">
                          <a:effectLst/>
                        </a:rPr>
                        <a:t>1P104S</a:t>
                      </a:r>
                      <a:r>
                        <a:rPr lang="zh-CN" altLang="en-US" sz="2000" dirty="0">
                          <a:effectLst/>
                        </a:rPr>
                        <a:t>配置</a:t>
                      </a:r>
                    </a:p>
                    <a:p>
                      <a:r>
                        <a:rPr lang="en-US" altLang="zh-CN" sz="2000" dirty="0">
                          <a:effectLst/>
                        </a:rPr>
                        <a:t>PACK</a:t>
                      </a:r>
                      <a:r>
                        <a:rPr lang="zh-CN" altLang="en-US" sz="2000" dirty="0">
                          <a:effectLst/>
                        </a:rPr>
                        <a:t>参数明确：</a:t>
                      </a:r>
                      <a:r>
                        <a:rPr lang="en-US" altLang="zh-CN" sz="2000" dirty="0">
                          <a:effectLst/>
                        </a:rPr>
                        <a:t>43.43kWh</a:t>
                      </a:r>
                      <a:r>
                        <a:rPr lang="zh-CN" altLang="en-US" sz="2000" dirty="0">
                          <a:effectLst/>
                        </a:rPr>
                        <a:t>，</a:t>
                      </a:r>
                      <a:r>
                        <a:rPr lang="en-US" altLang="zh-CN" sz="2000" dirty="0">
                          <a:effectLst/>
                        </a:rPr>
                        <a:t>381.68V@1C</a:t>
                      </a:r>
                    </a:p>
                    <a:p>
                      <a:r>
                        <a:rPr lang="zh-CN" altLang="en-US" sz="2000" dirty="0">
                          <a:effectLst/>
                        </a:rPr>
                        <a:t>尺寸规格准确：</a:t>
                      </a:r>
                      <a:r>
                        <a:rPr lang="en-US" altLang="zh-CN" sz="2000" dirty="0">
                          <a:effectLst/>
                        </a:rPr>
                        <a:t>33.36×220.8×105.88mm</a:t>
                      </a:r>
                    </a:p>
                    <a:p>
                      <a:r>
                        <a:rPr lang="zh-CN" altLang="en-US" sz="2000" b="1" dirty="0">
                          <a:effectLst/>
                        </a:rPr>
                        <a:t>材质参数全面</a:t>
                      </a:r>
                      <a:endParaRPr lang="zh-CN" altLang="en-US" sz="2000" dirty="0">
                        <a:effectLst/>
                      </a:endParaRPr>
                    </a:p>
                    <a:p>
                      <a:r>
                        <a:rPr lang="zh-CN" altLang="en-US" sz="2000" dirty="0">
                          <a:effectLst/>
                        </a:rPr>
                        <a:t>涵盖</a:t>
                      </a:r>
                      <a:r>
                        <a:rPr lang="en-US" altLang="zh-CN" sz="2000" dirty="0">
                          <a:effectLst/>
                        </a:rPr>
                        <a:t>24</a:t>
                      </a:r>
                      <a:r>
                        <a:rPr lang="zh-CN" altLang="en-US" sz="2000" dirty="0">
                          <a:effectLst/>
                        </a:rPr>
                        <a:t>种关键材料</a:t>
                      </a:r>
                    </a:p>
                    <a:p>
                      <a:r>
                        <a:rPr lang="zh-CN" altLang="en-US" sz="2000" dirty="0">
                          <a:effectLst/>
                        </a:rPr>
                        <a:t>包含密度、比热容、导热系数等关键热物性参数</a:t>
                      </a:r>
                    </a:p>
                    <a:p>
                      <a:r>
                        <a:rPr lang="zh-CN" altLang="en-US" sz="2000" dirty="0">
                          <a:effectLst/>
                        </a:rPr>
                        <a:t>材料选择符合行业标准</a:t>
                      </a:r>
                    </a:p>
                    <a:p>
                      <a:r>
                        <a:rPr lang="zh-CN" altLang="en-US" sz="2000" b="1" dirty="0">
                          <a:effectLst/>
                        </a:rPr>
                        <a:t>❌ 不通过项目</a:t>
                      </a:r>
                      <a:r>
                        <a:rPr lang="en-US" altLang="zh-CN" sz="2000" b="1" dirty="0">
                          <a:effectLst/>
                        </a:rPr>
                        <a:t>:</a:t>
                      </a:r>
                    </a:p>
                    <a:p>
                      <a:r>
                        <a:rPr lang="zh-CN" altLang="en-US" sz="2000" b="1" dirty="0">
                          <a:effectLst/>
                        </a:rPr>
                        <a:t>仿真模型验证不足</a:t>
                      </a:r>
                      <a:endParaRPr lang="zh-CN" altLang="en-US" sz="2000" dirty="0">
                        <a:effectLst/>
                      </a:endParaRPr>
                    </a:p>
                    <a:p>
                      <a:r>
                        <a:rPr lang="zh-CN" altLang="en-US" sz="2000" b="1" dirty="0">
                          <a:effectLst/>
                        </a:rPr>
                        <a:t>问题</a:t>
                      </a:r>
                      <a:r>
                        <a:rPr lang="en-US" altLang="zh-CN" sz="2000" dirty="0">
                          <a:effectLst/>
                        </a:rPr>
                        <a:t>: </a:t>
                      </a:r>
                      <a:r>
                        <a:rPr lang="zh-CN" altLang="en-US" sz="2000" dirty="0">
                          <a:effectLst/>
                        </a:rPr>
                        <a:t>缺少仿真模型与实测数据的对比验证</a:t>
                      </a:r>
                    </a:p>
                    <a:p>
                      <a:r>
                        <a:rPr lang="zh-CN" altLang="en-US" sz="2000" b="1" dirty="0">
                          <a:effectLst/>
                        </a:rPr>
                        <a:t>风险</a:t>
                      </a:r>
                      <a:r>
                        <a:rPr lang="en-US" altLang="zh-CN" sz="2000" dirty="0">
                          <a:effectLst/>
                        </a:rPr>
                        <a:t>: </a:t>
                      </a:r>
                      <a:r>
                        <a:rPr lang="zh-CN" altLang="en-US" sz="2000" dirty="0">
                          <a:effectLst/>
                        </a:rPr>
                        <a:t>仿真结果可信度存疑，可能影响设计决策</a:t>
                      </a:r>
                    </a:p>
                    <a:p>
                      <a:r>
                        <a:rPr lang="zh-CN" altLang="en-US" sz="2000" b="1" dirty="0">
                          <a:effectLst/>
                        </a:rPr>
                        <a:t>建议</a:t>
                      </a:r>
                      <a:r>
                        <a:rPr lang="en-US" altLang="zh-CN" sz="2000" dirty="0">
                          <a:effectLst/>
                        </a:rPr>
                        <a:t>:</a:t>
                      </a:r>
                    </a:p>
                    <a:p>
                      <a:r>
                        <a:rPr lang="zh-CN" altLang="en-US" sz="2000" dirty="0">
                          <a:effectLst/>
                        </a:rPr>
                        <a:t>补充模型验证章节</a:t>
                      </a:r>
                    </a:p>
                    <a:p>
                      <a:r>
                        <a:rPr lang="zh-CN" altLang="en-US" sz="2000" dirty="0">
                          <a:effectLst/>
                        </a:rPr>
                        <a:t>提供仿真与实测对比数据</a:t>
                      </a:r>
                    </a:p>
                    <a:p>
                      <a:r>
                        <a:rPr lang="zh-CN" altLang="en-US" sz="2000" dirty="0">
                          <a:effectLst/>
                        </a:rPr>
                        <a:t>建立模型精度评估标准</a:t>
                      </a:r>
                    </a:p>
                    <a:p>
                      <a:pPr>
                        <a:spcBef>
                          <a:spcPts val="150"/>
                        </a:spcBef>
                        <a:spcAft>
                          <a:spcPts val="150"/>
                        </a:spcAft>
                        <a:buFont typeface="+mj-lt"/>
                        <a:buAutoNum type="arabicPeriod"/>
                      </a:pPr>
                      <a:endParaRPr lang="en-GB" sz="2000" dirty="0"/>
                    </a:p>
                  </a:txBody>
                  <a:tcPr/>
                </a:tc>
                <a:tc>
                  <a:txBody>
                    <a:bodyPr/>
                    <a:lstStyle/>
                    <a:p>
                      <a:r>
                        <a:rPr lang="zh-CN" altLang="en-US" sz="2000" b="1" dirty="0">
                          <a:effectLst/>
                        </a:rPr>
                        <a:t>边界条件设置不明确</a:t>
                      </a:r>
                      <a:endParaRPr lang="zh-CN" altLang="en-US" sz="2000" dirty="0">
                        <a:effectLst/>
                      </a:endParaRPr>
                    </a:p>
                    <a:p>
                      <a:r>
                        <a:rPr lang="zh-CN" altLang="en-US" sz="2000" b="1" dirty="0">
                          <a:effectLst/>
                        </a:rPr>
                        <a:t>问题</a:t>
                      </a:r>
                      <a:r>
                        <a:rPr lang="en-US" altLang="zh-CN" sz="2000" dirty="0">
                          <a:effectLst/>
                        </a:rPr>
                        <a:t>: </a:t>
                      </a:r>
                      <a:r>
                        <a:rPr lang="zh-CN" altLang="en-US" sz="2000" dirty="0">
                          <a:effectLst/>
                        </a:rPr>
                        <a:t>环境温度、初始条件等边界条件描述不够详细</a:t>
                      </a:r>
                    </a:p>
                    <a:p>
                      <a:r>
                        <a:rPr lang="zh-CN" altLang="en-US" sz="2000" b="1" dirty="0">
                          <a:effectLst/>
                        </a:rPr>
                        <a:t>风险</a:t>
                      </a:r>
                      <a:r>
                        <a:rPr lang="en-US" altLang="zh-CN" sz="2000" dirty="0">
                          <a:effectLst/>
                        </a:rPr>
                        <a:t>: </a:t>
                      </a:r>
                      <a:r>
                        <a:rPr lang="zh-CN" altLang="en-US" sz="2000" dirty="0">
                          <a:effectLst/>
                        </a:rPr>
                        <a:t>可能导致仿真结果不可重现</a:t>
                      </a:r>
                    </a:p>
                    <a:p>
                      <a:r>
                        <a:rPr lang="zh-CN" altLang="en-US" sz="2000" b="1" dirty="0">
                          <a:effectLst/>
                        </a:rPr>
                        <a:t>建议</a:t>
                      </a:r>
                      <a:r>
                        <a:rPr lang="en-US" altLang="zh-CN" sz="2000" dirty="0">
                          <a:effectLst/>
                        </a:rPr>
                        <a:t>:</a:t>
                      </a:r>
                    </a:p>
                    <a:p>
                      <a:r>
                        <a:rPr lang="zh-CN" altLang="en-US" sz="2000" dirty="0">
                          <a:effectLst/>
                        </a:rPr>
                        <a:t>详细说明所有边界条件</a:t>
                      </a:r>
                    </a:p>
                    <a:p>
                      <a:r>
                        <a:rPr lang="zh-CN" altLang="en-US" sz="2000" dirty="0">
                          <a:effectLst/>
                        </a:rPr>
                        <a:t>提供边界条件设置依据</a:t>
                      </a:r>
                    </a:p>
                    <a:p>
                      <a:r>
                        <a:rPr lang="zh-CN" altLang="en-US" sz="2000" dirty="0">
                          <a:effectLst/>
                        </a:rPr>
                        <a:t>说明边界条件对结果的影响</a:t>
                      </a:r>
                    </a:p>
                    <a:p>
                      <a:r>
                        <a:rPr lang="zh-CN" altLang="en-US" sz="2000" b="1" dirty="0">
                          <a:effectLst/>
                        </a:rPr>
                        <a:t>热标定状态缺失</a:t>
                      </a:r>
                      <a:endParaRPr lang="zh-CN" altLang="en-US" sz="2000" dirty="0">
                        <a:effectLst/>
                      </a:endParaRPr>
                    </a:p>
                    <a:p>
                      <a:r>
                        <a:rPr lang="zh-CN" altLang="en-US" sz="2000" b="1" dirty="0">
                          <a:effectLst/>
                        </a:rPr>
                        <a:t>问题</a:t>
                      </a:r>
                      <a:r>
                        <a:rPr lang="en-US" altLang="zh-CN" sz="2000" dirty="0">
                          <a:effectLst/>
                        </a:rPr>
                        <a:t>: </a:t>
                      </a:r>
                      <a:r>
                        <a:rPr lang="zh-CN" altLang="en-US" sz="2000" dirty="0">
                          <a:effectLst/>
                        </a:rPr>
                        <a:t>电芯热标定状态为</a:t>
                      </a:r>
                      <a:r>
                        <a:rPr lang="en-US" altLang="zh-CN" sz="2000" dirty="0">
                          <a:effectLst/>
                        </a:rPr>
                        <a:t>"</a:t>
                      </a:r>
                      <a:r>
                        <a:rPr lang="zh-CN" altLang="en-US" sz="2000" dirty="0">
                          <a:effectLst/>
                        </a:rPr>
                        <a:t>否</a:t>
                      </a:r>
                      <a:r>
                        <a:rPr lang="en-US" altLang="zh-CN" sz="2000" dirty="0">
                          <a:effectLst/>
                        </a:rPr>
                        <a:t>"</a:t>
                      </a:r>
                      <a:r>
                        <a:rPr lang="zh-CN" altLang="en-US" sz="2000" dirty="0">
                          <a:effectLst/>
                        </a:rPr>
                        <a:t>，但未说明影响</a:t>
                      </a:r>
                    </a:p>
                    <a:p>
                      <a:r>
                        <a:rPr lang="zh-CN" altLang="en-US" sz="2000" b="1" dirty="0">
                          <a:effectLst/>
                        </a:rPr>
                        <a:t>风险</a:t>
                      </a:r>
                      <a:r>
                        <a:rPr lang="en-US" altLang="zh-CN" sz="2000" dirty="0">
                          <a:effectLst/>
                        </a:rPr>
                        <a:t>: </a:t>
                      </a:r>
                      <a:r>
                        <a:rPr lang="zh-CN" altLang="en-US" sz="2000" dirty="0">
                          <a:effectLst/>
                        </a:rPr>
                        <a:t>可能影响仿真精度和结果可靠性</a:t>
                      </a:r>
                    </a:p>
                    <a:p>
                      <a:r>
                        <a:rPr lang="zh-CN" altLang="en-US" sz="2000" b="1" dirty="0">
                          <a:effectLst/>
                        </a:rPr>
                        <a:t>建议</a:t>
                      </a:r>
                      <a:r>
                        <a:rPr lang="en-US" altLang="zh-CN" sz="2000" dirty="0">
                          <a:effectLst/>
                        </a:rPr>
                        <a:t>:</a:t>
                      </a:r>
                    </a:p>
                    <a:p>
                      <a:r>
                        <a:rPr lang="zh-CN" altLang="en-US" sz="2000" dirty="0">
                          <a:effectLst/>
                        </a:rPr>
                        <a:t>评估热标定缺失对仿真结果的影响</a:t>
                      </a:r>
                    </a:p>
                    <a:p>
                      <a:r>
                        <a:rPr lang="zh-CN" altLang="en-US" sz="2000" dirty="0">
                          <a:effectLst/>
                        </a:rPr>
                        <a:t>制定热标定计划</a:t>
                      </a:r>
                    </a:p>
                    <a:p>
                      <a:r>
                        <a:rPr lang="zh-CN" altLang="en-US" sz="2000" dirty="0">
                          <a:effectLst/>
                        </a:rPr>
                        <a:t>考虑使用替代方案</a:t>
                      </a:r>
                    </a:p>
                    <a:p>
                      <a:r>
                        <a:rPr lang="en-US" altLang="zh-CN" sz="2000" b="1" dirty="0">
                          <a:effectLst/>
                        </a:rPr>
                        <a:t>2.3 </a:t>
                      </a:r>
                      <a:r>
                        <a:rPr lang="zh-CN" altLang="en-US" sz="2000" b="1" dirty="0">
                          <a:effectLst/>
                        </a:rPr>
                        <a:t>质量合规性审查</a:t>
                      </a:r>
                    </a:p>
                    <a:p>
                      <a:r>
                        <a:rPr lang="zh-CN" altLang="en-US" sz="2000" b="1" dirty="0">
                          <a:effectLst/>
                        </a:rPr>
                        <a:t>❌ 不通过项目</a:t>
                      </a:r>
                      <a:r>
                        <a:rPr lang="en-US" altLang="zh-CN" sz="2000" b="1" dirty="0">
                          <a:effectLst/>
                        </a:rPr>
                        <a:t>:</a:t>
                      </a:r>
                    </a:p>
                    <a:p>
                      <a:r>
                        <a:rPr lang="zh-CN" altLang="en-US" sz="2000" b="1" dirty="0">
                          <a:effectLst/>
                        </a:rPr>
                        <a:t>客户需求未满足</a:t>
                      </a:r>
                      <a:endParaRPr lang="zh-CN" altLang="en-US" sz="2000" dirty="0">
                        <a:effectLst/>
                      </a:endParaRPr>
                    </a:p>
                    <a:p>
                      <a:r>
                        <a:rPr lang="zh-CN" altLang="en-US" sz="2000" b="1" dirty="0">
                          <a:effectLst/>
                        </a:rPr>
                        <a:t>问题</a:t>
                      </a:r>
                      <a:r>
                        <a:rPr lang="en-US" altLang="zh-CN" sz="2000" dirty="0">
                          <a:effectLst/>
                        </a:rPr>
                        <a:t>: </a:t>
                      </a:r>
                      <a:r>
                        <a:rPr lang="zh-CN" altLang="en-US" sz="2000" dirty="0">
                          <a:effectLst/>
                        </a:rPr>
                        <a:t>客户目标保温时间</a:t>
                      </a:r>
                      <a:r>
                        <a:rPr lang="en-US" altLang="zh-CN" sz="2000" dirty="0">
                          <a:effectLst/>
                        </a:rPr>
                        <a:t>26h</a:t>
                      </a:r>
                      <a:r>
                        <a:rPr lang="zh-CN" altLang="en-US" sz="2000" dirty="0">
                          <a:effectLst/>
                        </a:rPr>
                        <a:t>，温差≤</a:t>
                      </a:r>
                      <a:r>
                        <a:rPr lang="en-US" altLang="zh-CN" sz="2000" dirty="0">
                          <a:effectLst/>
                        </a:rPr>
                        <a:t>8℃</a:t>
                      </a:r>
                      <a:r>
                        <a:rPr lang="zh-CN" altLang="en-US" sz="2000" dirty="0">
                          <a:effectLst/>
                        </a:rPr>
                        <a:t>，但仿真结果仅</a:t>
                      </a:r>
                      <a:r>
                        <a:rPr lang="en-US" altLang="zh-CN" sz="2000" dirty="0">
                          <a:effectLst/>
                        </a:rPr>
                        <a:t>4.37h</a:t>
                      </a:r>
                      <a:r>
                        <a:rPr lang="zh-CN" altLang="en-US" sz="2000" dirty="0">
                          <a:effectLst/>
                        </a:rPr>
                        <a:t>，温差</a:t>
                      </a:r>
                      <a:r>
                        <a:rPr lang="en-US" altLang="zh-CN" sz="2000" dirty="0">
                          <a:effectLst/>
                        </a:rPr>
                        <a:t>10.3℃</a:t>
                      </a:r>
                    </a:p>
                    <a:p>
                      <a:r>
                        <a:rPr lang="zh-CN" altLang="en-US" sz="2000" b="1" dirty="0">
                          <a:effectLst/>
                        </a:rPr>
                        <a:t>风险</a:t>
                      </a:r>
                      <a:r>
                        <a:rPr lang="en-US" altLang="zh-CN" sz="2000" dirty="0">
                          <a:effectLst/>
                        </a:rPr>
                        <a:t>: </a:t>
                      </a:r>
                      <a:r>
                        <a:rPr lang="zh-CN" altLang="en-US" sz="2000" dirty="0">
                          <a:effectLst/>
                        </a:rPr>
                        <a:t>产品性能不达标，可能影响客户满意度</a:t>
                      </a:r>
                    </a:p>
                    <a:p>
                      <a:r>
                        <a:rPr lang="zh-CN" altLang="en-US" sz="2000" b="1" dirty="0">
                          <a:effectLst/>
                        </a:rPr>
                        <a:t>建议</a:t>
                      </a:r>
                      <a:r>
                        <a:rPr lang="en-US" altLang="zh-CN" sz="2000" dirty="0">
                          <a:effectLst/>
                        </a:rPr>
                        <a:t>:</a:t>
                      </a:r>
                    </a:p>
                    <a:p>
                      <a:r>
                        <a:rPr lang="zh-CN" altLang="en-US" sz="2000" dirty="0">
                          <a:effectLst/>
                        </a:rPr>
                        <a:t>立即启动设计优化方案</a:t>
                      </a:r>
                    </a:p>
                    <a:p>
                      <a:r>
                        <a:rPr lang="zh-CN" altLang="en-US" sz="2000" dirty="0">
                          <a:effectLst/>
                        </a:rPr>
                        <a:t>评估增加保温材料的可行性</a:t>
                      </a:r>
                    </a:p>
                    <a:p>
                      <a:r>
                        <a:rPr lang="zh-CN" altLang="en-US" sz="2000" dirty="0">
                          <a:effectLst/>
                        </a:rPr>
                        <a:t>考虑结构优化方案</a:t>
                      </a:r>
                    </a:p>
                    <a:p>
                      <a:r>
                        <a:rPr lang="zh-CN" altLang="en-US" sz="2000" dirty="0">
                          <a:effectLst/>
                        </a:rPr>
                        <a:t>制定详细改进计划和时间节点</a:t>
                      </a:r>
                    </a:p>
                    <a:p>
                      <a:r>
                        <a:rPr lang="zh-CN" altLang="en-US" sz="2000" b="1" dirty="0">
                          <a:effectLst/>
                        </a:rPr>
                        <a:t>风险评估不完整</a:t>
                      </a:r>
                      <a:endParaRPr lang="zh-CN" altLang="en-US" sz="2000" dirty="0">
                        <a:effectLst/>
                      </a:endParaRPr>
                    </a:p>
                    <a:p>
                      <a:r>
                        <a:rPr lang="zh-CN" altLang="en-US" sz="2000" b="1" dirty="0">
                          <a:effectLst/>
                        </a:rPr>
                        <a:t>问题</a:t>
                      </a:r>
                      <a:r>
                        <a:rPr lang="en-US" altLang="zh-CN" sz="2000" dirty="0">
                          <a:effectLst/>
                        </a:rPr>
                        <a:t>: </a:t>
                      </a:r>
                      <a:r>
                        <a:rPr lang="zh-CN" altLang="en-US" sz="2000" dirty="0">
                          <a:effectLst/>
                        </a:rPr>
                        <a:t>未对性能不达标进行风险评估</a:t>
                      </a:r>
                    </a:p>
                    <a:p>
                      <a:r>
                        <a:rPr lang="zh-CN" altLang="en-US" sz="2000" b="1" dirty="0">
                          <a:effectLst/>
                        </a:rPr>
                        <a:t>风险</a:t>
                      </a:r>
                      <a:r>
                        <a:rPr lang="en-US" altLang="zh-CN" sz="2000" dirty="0">
                          <a:effectLst/>
                        </a:rPr>
                        <a:t>: </a:t>
                      </a:r>
                      <a:r>
                        <a:rPr lang="zh-CN" altLang="en-US" sz="2000" dirty="0">
                          <a:effectLst/>
                        </a:rPr>
                        <a:t>可能影响项目进度和成本控制</a:t>
                      </a:r>
                    </a:p>
                    <a:p>
                      <a:r>
                        <a:rPr lang="zh-CN" altLang="en-US" sz="2000" b="1" dirty="0">
                          <a:effectLst/>
                        </a:rPr>
                        <a:t>建议</a:t>
                      </a:r>
                      <a:r>
                        <a:rPr lang="en-US" altLang="zh-CN" sz="2000" dirty="0">
                          <a:effectLst/>
                        </a:rPr>
                        <a:t>:</a:t>
                      </a:r>
                    </a:p>
                    <a:p>
                      <a:r>
                        <a:rPr lang="zh-CN" altLang="en-US" sz="2000" dirty="0">
                          <a:effectLst/>
                        </a:rPr>
                        <a:t>建立风险评估矩阵</a:t>
                      </a:r>
                    </a:p>
                    <a:p>
                      <a:r>
                        <a:rPr lang="zh-CN" altLang="en-US" sz="2000" dirty="0">
                          <a:effectLst/>
                        </a:rPr>
                        <a:t>制定风险缓解措施</a:t>
                      </a:r>
                    </a:p>
                    <a:p>
                      <a:r>
                        <a:rPr lang="zh-CN" altLang="en-US" sz="2000" dirty="0">
                          <a:effectLst/>
                        </a:rPr>
                        <a:t>评估对项目时间线的影响</a:t>
                      </a:r>
                    </a:p>
                    <a:p>
                      <a:r>
                        <a:rPr lang="zh-CN" altLang="en-US" sz="2000" b="1" dirty="0">
                          <a:effectLst/>
                        </a:rPr>
                        <a:t>改进建议缺乏可操作性</a:t>
                      </a:r>
                      <a:endParaRPr lang="zh-CN" altLang="en-US" sz="2000" dirty="0">
                        <a:effectLst/>
                      </a:endParaRPr>
                    </a:p>
                    <a:p>
                      <a:r>
                        <a:rPr lang="zh-CN" altLang="en-US" sz="2000" b="1" dirty="0">
                          <a:effectLst/>
                        </a:rPr>
                        <a:t>问题</a:t>
                      </a:r>
                      <a:r>
                        <a:rPr lang="en-US" altLang="zh-CN" sz="2000" dirty="0">
                          <a:effectLst/>
                        </a:rPr>
                        <a:t>: </a:t>
                      </a:r>
                      <a:r>
                        <a:rPr lang="zh-CN" altLang="en-US" sz="2000" dirty="0">
                          <a:effectLst/>
                        </a:rPr>
                        <a:t>改进建议过于简单，缺乏具体实施方案</a:t>
                      </a:r>
                    </a:p>
                    <a:p>
                      <a:r>
                        <a:rPr lang="zh-CN" altLang="en-US" sz="2000" b="1" dirty="0">
                          <a:effectLst/>
                        </a:rPr>
                        <a:t>风险</a:t>
                      </a:r>
                      <a:r>
                        <a:rPr lang="en-US" altLang="zh-CN" sz="2000" dirty="0">
                          <a:effectLst/>
                        </a:rPr>
                        <a:t>: </a:t>
                      </a:r>
                      <a:r>
                        <a:rPr lang="zh-CN" altLang="en-US" sz="2000" dirty="0">
                          <a:effectLst/>
                        </a:rPr>
                        <a:t>可能导致改进措施执行不力</a:t>
                      </a:r>
                    </a:p>
                    <a:p>
                      <a:r>
                        <a:rPr lang="zh-CN" altLang="en-US" sz="2000" b="1" dirty="0">
                          <a:effectLst/>
                        </a:rPr>
                        <a:t>建议</a:t>
                      </a:r>
                      <a:r>
                        <a:rPr lang="en-US" altLang="zh-CN" sz="2000" dirty="0">
                          <a:effectLst/>
                        </a:rPr>
                        <a:t>:</a:t>
                      </a:r>
                    </a:p>
                    <a:p>
                      <a:r>
                        <a:rPr lang="zh-CN" altLang="en-US" sz="2000" dirty="0">
                          <a:effectLst/>
                        </a:rPr>
                        <a:t>制定详细的改进实施计划</a:t>
                      </a:r>
                    </a:p>
                    <a:p>
                      <a:r>
                        <a:rPr lang="zh-CN" altLang="en-US" sz="2000" dirty="0">
                          <a:effectLst/>
                        </a:rPr>
                        <a:t>明确责任人、时间节点、资源需求</a:t>
                      </a:r>
                    </a:p>
                    <a:p>
                      <a:r>
                        <a:rPr lang="zh-CN" altLang="en-US" sz="2000" dirty="0">
                          <a:effectLst/>
                        </a:rPr>
                        <a:t>建立改进效果评估机制</a:t>
                      </a:r>
                      <a:endParaRPr lang="en-GB" sz="2000" dirty="0"/>
                    </a:p>
                  </a:txBody>
                  <a:tcPr/>
                </a:tc>
                <a:extLst>
                  <a:ext uri="{0D108BD9-81ED-4DB2-BD59-A6C34878D82A}">
                    <a16:rowId xmlns:a16="http://schemas.microsoft.com/office/drawing/2014/main" val="604853937"/>
                  </a:ext>
                </a:extLst>
              </a:tr>
            </a:tbl>
          </a:graphicData>
        </a:graphic>
      </p:graphicFrame>
    </p:spTree>
    <p:extLst>
      <p:ext uri="{BB962C8B-B14F-4D97-AF65-F5344CB8AC3E}">
        <p14:creationId xmlns:p14="http://schemas.microsoft.com/office/powerpoint/2010/main" val="1068670592"/>
      </p:ext>
    </p:extLst>
  </p:cSld>
  <p:clrMapOvr>
    <a:masterClrMapping/>
  </p:clrMapOvr>
  <p:transition spd="med"/>
  <p:extLst>
    <p:ext uri="{6950BFC3-D8DA-4A85-94F7-54DA5524770B}">
      <p188:commentRel xmlns:p188="http://schemas.microsoft.com/office/powerpoint/2018/8/main" r:id="rId2"/>
    </p:ext>
  </p:extLs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B6768-7712-CE22-850E-CDB3598ECA43}"/>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6B8E6337-FB16-0AAA-6EF1-061713E85DEA}"/>
              </a:ext>
            </a:extLst>
          </p:cNvPr>
          <p:cNvSpPr txBox="1"/>
          <p:nvPr/>
        </p:nvSpPr>
        <p:spPr>
          <a:xfrm>
            <a:off x="1737558" y="755986"/>
            <a:ext cx="19702715" cy="646331"/>
          </a:xfrm>
          <a:prstGeom prst="rect">
            <a:avLst/>
          </a:prstGeom>
          <a:noFill/>
        </p:spPr>
        <p:txBody>
          <a:bodyPr wrap="square" numCol="1">
            <a:spAutoFit/>
          </a:bodyPr>
          <a:lstStyle/>
          <a:p>
            <a:pPr>
              <a:spcBef>
                <a:spcPts val="1500"/>
              </a:spcBef>
              <a:spcAft>
                <a:spcPts val="750"/>
              </a:spcAft>
              <a:buNone/>
            </a:pPr>
            <a:r>
              <a:rPr lang="en-US" altLang="zh-CN" sz="3600" b="1" dirty="0">
                <a:effectLst/>
              </a:rPr>
              <a:t>B</a:t>
            </a:r>
            <a:r>
              <a:rPr lang="zh-CN" altLang="en-US" sz="3600" b="1" dirty="0">
                <a:effectLst/>
              </a:rPr>
              <a:t>样阶段</a:t>
            </a:r>
            <a:r>
              <a:rPr lang="en-US" altLang="zh-CN" sz="3600" b="1" dirty="0"/>
              <a:t>《 570-941</a:t>
            </a:r>
            <a:r>
              <a:rPr lang="zh-CN" altLang="en-US" sz="3600" b="1" dirty="0"/>
              <a:t>电池包内部热仿真分析报告</a:t>
            </a:r>
            <a:r>
              <a:rPr lang="en-US" altLang="zh-CN" sz="3600" b="1" dirty="0"/>
              <a:t>-</a:t>
            </a:r>
            <a:r>
              <a:rPr lang="zh-CN" altLang="en-US" sz="3600" b="1" dirty="0"/>
              <a:t>保温（无灌胶）</a:t>
            </a:r>
            <a:r>
              <a:rPr lang="en-US" altLang="zh-CN" sz="3600" b="1" dirty="0"/>
              <a:t>.pptx 》</a:t>
            </a:r>
            <a:r>
              <a:rPr lang="zh-CN" altLang="en-US" sz="3600" b="1" dirty="0">
                <a:effectLst/>
              </a:rPr>
              <a:t>审核报告（续）</a:t>
            </a:r>
          </a:p>
        </p:txBody>
      </p:sp>
      <p:graphicFrame>
        <p:nvGraphicFramePr>
          <p:cNvPr id="2" name="表格 1">
            <a:extLst>
              <a:ext uri="{FF2B5EF4-FFF2-40B4-BE49-F238E27FC236}">
                <a16:creationId xmlns:a16="http://schemas.microsoft.com/office/drawing/2014/main" id="{DE48B958-CC29-A76F-41E6-9BFF58446B07}"/>
              </a:ext>
            </a:extLst>
          </p:cNvPr>
          <p:cNvGraphicFramePr>
            <a:graphicFrameLocks noGrp="1"/>
          </p:cNvGraphicFramePr>
          <p:nvPr>
            <p:extLst>
              <p:ext uri="{D42A27DB-BD31-4B8C-83A1-F6EECF244321}">
                <p14:modId xmlns:p14="http://schemas.microsoft.com/office/powerpoint/2010/main" val="3624295556"/>
              </p:ext>
            </p:extLst>
          </p:nvPr>
        </p:nvGraphicFramePr>
        <p:xfrm>
          <a:off x="662354" y="1738812"/>
          <a:ext cx="22751099" cy="10989796"/>
        </p:xfrm>
        <a:graphic>
          <a:graphicData uri="http://schemas.openxmlformats.org/drawingml/2006/table">
            <a:tbl>
              <a:tblPr firstRow="1" bandRow="1"/>
              <a:tblGrid>
                <a:gridCol w="7284977">
                  <a:extLst>
                    <a:ext uri="{9D8B030D-6E8A-4147-A177-3AD203B41FA5}">
                      <a16:colId xmlns:a16="http://schemas.microsoft.com/office/drawing/2014/main" val="585926975"/>
                    </a:ext>
                  </a:extLst>
                </a:gridCol>
                <a:gridCol w="8358210">
                  <a:extLst>
                    <a:ext uri="{9D8B030D-6E8A-4147-A177-3AD203B41FA5}">
                      <a16:colId xmlns:a16="http://schemas.microsoft.com/office/drawing/2014/main" val="3081416713"/>
                    </a:ext>
                  </a:extLst>
                </a:gridCol>
                <a:gridCol w="7107912">
                  <a:extLst>
                    <a:ext uri="{9D8B030D-6E8A-4147-A177-3AD203B41FA5}">
                      <a16:colId xmlns:a16="http://schemas.microsoft.com/office/drawing/2014/main" val="572010187"/>
                    </a:ext>
                  </a:extLst>
                </a:gridCol>
              </a:tblGrid>
              <a:tr h="535156">
                <a:tc gridSpan="2">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逐项审核结果</a:t>
                      </a:r>
                    </a:p>
                  </a:txBody>
                  <a:tcPr anchor="ctr"/>
                </a:tc>
                <a:tc hMerge="1">
                  <a:txBody>
                    <a:bodyPr/>
                    <a:lstStyle/>
                    <a:p>
                      <a:pPr algn="ctr"/>
                      <a:endParaRPr lang="en-GB" sz="2000" dirty="0"/>
                    </a:p>
                  </a:txBody>
                  <a:tcPr/>
                </a:tc>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总体评估</a:t>
                      </a:r>
                    </a:p>
                  </a:txBody>
                  <a:tcPr anchor="ctr"/>
                </a:tc>
                <a:extLst>
                  <a:ext uri="{0D108BD9-81ED-4DB2-BD59-A6C34878D82A}">
                    <a16:rowId xmlns:a16="http://schemas.microsoft.com/office/drawing/2014/main" val="2562292327"/>
                  </a:ext>
                </a:extLst>
              </a:tr>
              <a:tr h="10086326">
                <a:tc>
                  <a:txBody>
                    <a:bodyPr/>
                    <a:lstStyle/>
                    <a:p>
                      <a:r>
                        <a:rPr lang="en-US" altLang="zh-CN" sz="2000" b="1" dirty="0">
                          <a:effectLst/>
                        </a:rPr>
                        <a:t>2.4 </a:t>
                      </a:r>
                      <a:r>
                        <a:rPr lang="zh-CN" altLang="en-US" sz="2000" b="1" dirty="0">
                          <a:effectLst/>
                        </a:rPr>
                        <a:t>项目管理审查</a:t>
                      </a:r>
                    </a:p>
                    <a:p>
                      <a:r>
                        <a:rPr lang="zh-CN" altLang="en-US" sz="2000" b="1" dirty="0">
                          <a:effectLst/>
                        </a:rPr>
                        <a:t>❌ 不通过项目</a:t>
                      </a:r>
                      <a:r>
                        <a:rPr lang="en-US" altLang="zh-CN" sz="2000" b="1" dirty="0">
                          <a:effectLst/>
                        </a:rPr>
                        <a:t>:</a:t>
                      </a:r>
                    </a:p>
                    <a:p>
                      <a:r>
                        <a:rPr lang="zh-CN" altLang="en-US" sz="2000" b="1" dirty="0">
                          <a:effectLst/>
                        </a:rPr>
                        <a:t>项目进度风险</a:t>
                      </a:r>
                      <a:endParaRPr lang="zh-CN" altLang="en-US" sz="2000" dirty="0">
                        <a:effectLst/>
                      </a:endParaRPr>
                    </a:p>
                    <a:p>
                      <a:r>
                        <a:rPr lang="zh-CN" altLang="en-US" sz="2000" b="1" dirty="0">
                          <a:effectLst/>
                        </a:rPr>
                        <a:t>问题</a:t>
                      </a:r>
                      <a:r>
                        <a:rPr lang="en-US" altLang="zh-CN" sz="2000" dirty="0">
                          <a:effectLst/>
                        </a:rPr>
                        <a:t>: B</a:t>
                      </a:r>
                      <a:r>
                        <a:rPr lang="zh-CN" altLang="en-US" sz="2000" dirty="0">
                          <a:effectLst/>
                        </a:rPr>
                        <a:t>样阶段出现重大性能偏差，可能影响后续节点</a:t>
                      </a:r>
                    </a:p>
                    <a:p>
                      <a:r>
                        <a:rPr lang="zh-CN" altLang="en-US" sz="2000" b="1" dirty="0">
                          <a:effectLst/>
                        </a:rPr>
                        <a:t>风险</a:t>
                      </a:r>
                      <a:r>
                        <a:rPr lang="en-US" altLang="zh-CN" sz="2000" dirty="0">
                          <a:effectLst/>
                        </a:rPr>
                        <a:t>: </a:t>
                      </a:r>
                      <a:r>
                        <a:rPr lang="zh-CN" altLang="en-US" sz="2000" dirty="0">
                          <a:effectLst/>
                        </a:rPr>
                        <a:t>影响</a:t>
                      </a:r>
                      <a:r>
                        <a:rPr lang="en-US" altLang="zh-CN" sz="2000" dirty="0">
                          <a:effectLst/>
                        </a:rPr>
                        <a:t>Gate 3</a:t>
                      </a:r>
                      <a:r>
                        <a:rPr lang="zh-CN" altLang="en-US" sz="2000" dirty="0">
                          <a:effectLst/>
                        </a:rPr>
                        <a:t>到</a:t>
                      </a:r>
                      <a:r>
                        <a:rPr lang="en-US" altLang="zh-CN" sz="2000" dirty="0">
                          <a:effectLst/>
                        </a:rPr>
                        <a:t>Gate 4</a:t>
                      </a:r>
                      <a:r>
                        <a:rPr lang="zh-CN" altLang="en-US" sz="2000" dirty="0">
                          <a:effectLst/>
                        </a:rPr>
                        <a:t>的过渡</a:t>
                      </a:r>
                    </a:p>
                    <a:p>
                      <a:r>
                        <a:rPr lang="zh-CN" altLang="en-US" sz="2000" b="1" dirty="0">
                          <a:effectLst/>
                        </a:rPr>
                        <a:t>建议</a:t>
                      </a:r>
                      <a:r>
                        <a:rPr lang="en-US" altLang="zh-CN" sz="2000" dirty="0">
                          <a:effectLst/>
                        </a:rPr>
                        <a:t>:</a:t>
                      </a:r>
                    </a:p>
                    <a:p>
                      <a:r>
                        <a:rPr lang="zh-CN" altLang="en-US" sz="2000" dirty="0">
                          <a:effectLst/>
                        </a:rPr>
                        <a:t>重新评估项目时间线</a:t>
                      </a:r>
                    </a:p>
                    <a:p>
                      <a:r>
                        <a:rPr lang="zh-CN" altLang="en-US" sz="2000" dirty="0">
                          <a:effectLst/>
                        </a:rPr>
                        <a:t>制定赶工计划</a:t>
                      </a:r>
                    </a:p>
                    <a:p>
                      <a:r>
                        <a:rPr lang="zh-CN" altLang="en-US" sz="2000" dirty="0">
                          <a:effectLst/>
                        </a:rPr>
                        <a:t>与客户沟通进度调整</a:t>
                      </a:r>
                    </a:p>
                    <a:p>
                      <a:r>
                        <a:rPr lang="zh-CN" altLang="en-US" sz="2000" b="1" dirty="0">
                          <a:effectLst/>
                        </a:rPr>
                        <a:t>跨部门协调不足</a:t>
                      </a:r>
                      <a:endParaRPr lang="zh-CN" altLang="en-US" sz="2000" dirty="0">
                        <a:effectLst/>
                      </a:endParaRPr>
                    </a:p>
                    <a:p>
                      <a:r>
                        <a:rPr lang="zh-CN" altLang="en-US" sz="2000" b="1" dirty="0">
                          <a:effectLst/>
                        </a:rPr>
                        <a:t>问题</a:t>
                      </a:r>
                      <a:r>
                        <a:rPr lang="en-US" altLang="zh-CN" sz="2000" dirty="0">
                          <a:effectLst/>
                        </a:rPr>
                        <a:t>: </a:t>
                      </a:r>
                      <a:r>
                        <a:rPr lang="zh-CN" altLang="en-US" sz="2000" dirty="0">
                          <a:effectLst/>
                        </a:rPr>
                        <a:t>热仿真结果需要与结构、材料等部门协调优化</a:t>
                      </a:r>
                    </a:p>
                    <a:p>
                      <a:r>
                        <a:rPr lang="zh-CN" altLang="en-US" sz="2000" b="1" dirty="0">
                          <a:effectLst/>
                        </a:rPr>
                        <a:t>风险</a:t>
                      </a:r>
                      <a:r>
                        <a:rPr lang="en-US" altLang="zh-CN" sz="2000" dirty="0">
                          <a:effectLst/>
                        </a:rPr>
                        <a:t>: </a:t>
                      </a:r>
                      <a:r>
                        <a:rPr lang="zh-CN" altLang="en-US" sz="2000" dirty="0">
                          <a:effectLst/>
                        </a:rPr>
                        <a:t>可能影响整体解决方案的制定</a:t>
                      </a:r>
                    </a:p>
                    <a:p>
                      <a:r>
                        <a:rPr lang="zh-CN" altLang="en-US" sz="2000" b="1" dirty="0">
                          <a:effectLst/>
                        </a:rPr>
                        <a:t>建议</a:t>
                      </a:r>
                      <a:r>
                        <a:rPr lang="en-US" altLang="zh-CN" sz="2000" dirty="0">
                          <a:effectLst/>
                        </a:rPr>
                        <a:t>:</a:t>
                      </a:r>
                    </a:p>
                    <a:p>
                      <a:r>
                        <a:rPr lang="zh-CN" altLang="en-US" sz="2000" dirty="0">
                          <a:effectLst/>
                        </a:rPr>
                        <a:t>建立跨部门协调机制</a:t>
                      </a:r>
                    </a:p>
                    <a:p>
                      <a:r>
                        <a:rPr lang="zh-CN" altLang="en-US" sz="2000" dirty="0">
                          <a:effectLst/>
                        </a:rPr>
                        <a:t>定期召开技术协调会议</a:t>
                      </a:r>
                    </a:p>
                    <a:p>
                      <a:r>
                        <a:rPr lang="zh-CN" altLang="en-US" sz="2000" dirty="0">
                          <a:effectLst/>
                        </a:rPr>
                        <a:t>明确各部门职责分工</a:t>
                      </a:r>
                    </a:p>
                    <a:p>
                      <a:r>
                        <a:rPr lang="en-US" altLang="zh-CN" sz="2000" b="1" dirty="0">
                          <a:effectLst/>
                        </a:rPr>
                        <a:t>3.1 </a:t>
                      </a:r>
                      <a:r>
                        <a:rPr lang="zh-CN" altLang="en-US" sz="2000" b="1" dirty="0">
                          <a:effectLst/>
                        </a:rPr>
                        <a:t>高风险项目</a:t>
                      </a:r>
                    </a:p>
                    <a:p>
                      <a:r>
                        <a:rPr lang="zh-CN" altLang="en-US" sz="2000" b="1" dirty="0">
                          <a:effectLst/>
                        </a:rPr>
                        <a:t>性能不达标风险</a:t>
                      </a:r>
                      <a:r>
                        <a:rPr lang="zh-CN" altLang="en-US" sz="2000" dirty="0">
                          <a:effectLst/>
                        </a:rPr>
                        <a:t> </a:t>
                      </a:r>
                      <a:r>
                        <a:rPr lang="en-US" altLang="zh-CN" sz="2000" dirty="0">
                          <a:effectLst/>
                        </a:rPr>
                        <a:t>(</a:t>
                      </a:r>
                      <a:r>
                        <a:rPr lang="zh-CN" altLang="en-US" sz="2000" dirty="0">
                          <a:effectLst/>
                        </a:rPr>
                        <a:t>优先级</a:t>
                      </a:r>
                      <a:r>
                        <a:rPr lang="en-US" altLang="zh-CN" sz="2000" dirty="0">
                          <a:effectLst/>
                        </a:rPr>
                        <a:t>: </a:t>
                      </a:r>
                      <a:r>
                        <a:rPr lang="zh-CN" altLang="en-US" sz="2000" dirty="0">
                          <a:effectLst/>
                        </a:rPr>
                        <a:t>高</a:t>
                      </a:r>
                      <a:r>
                        <a:rPr lang="en-US" altLang="zh-CN" sz="2000" dirty="0">
                          <a:effectLst/>
                        </a:rPr>
                        <a:t>)</a:t>
                      </a:r>
                    </a:p>
                    <a:p>
                      <a:r>
                        <a:rPr lang="zh-CN" altLang="en-US" sz="2000" dirty="0">
                          <a:effectLst/>
                        </a:rPr>
                        <a:t>保温时间仅为目标的</a:t>
                      </a:r>
                      <a:r>
                        <a:rPr lang="en-US" altLang="zh-CN" sz="2000" dirty="0">
                          <a:effectLst/>
                        </a:rPr>
                        <a:t>16.8%</a:t>
                      </a:r>
                    </a:p>
                    <a:p>
                      <a:r>
                        <a:rPr lang="zh-CN" altLang="en-US" sz="2000" dirty="0">
                          <a:effectLst/>
                        </a:rPr>
                        <a:t>温差超出目标</a:t>
                      </a:r>
                      <a:r>
                        <a:rPr lang="en-US" altLang="zh-CN" sz="2000" dirty="0">
                          <a:effectLst/>
                        </a:rPr>
                        <a:t>28.8%</a:t>
                      </a:r>
                    </a:p>
                    <a:p>
                      <a:r>
                        <a:rPr lang="zh-CN" altLang="en-US" sz="2000" dirty="0">
                          <a:effectLst/>
                        </a:rPr>
                        <a:t>直接影响产品竞争力</a:t>
                      </a:r>
                    </a:p>
                    <a:p>
                      <a:r>
                        <a:rPr lang="zh-CN" altLang="en-US" sz="2000" b="1" dirty="0">
                          <a:effectLst/>
                        </a:rPr>
                        <a:t>项目延期风险</a:t>
                      </a:r>
                      <a:r>
                        <a:rPr lang="zh-CN" altLang="en-US" sz="2000" dirty="0">
                          <a:effectLst/>
                        </a:rPr>
                        <a:t> </a:t>
                      </a:r>
                      <a:r>
                        <a:rPr lang="en-US" altLang="zh-CN" sz="2000" dirty="0">
                          <a:effectLst/>
                        </a:rPr>
                        <a:t>(</a:t>
                      </a:r>
                      <a:r>
                        <a:rPr lang="zh-CN" altLang="en-US" sz="2000" dirty="0">
                          <a:effectLst/>
                        </a:rPr>
                        <a:t>优先级</a:t>
                      </a:r>
                      <a:r>
                        <a:rPr lang="en-US" altLang="zh-CN" sz="2000" dirty="0">
                          <a:effectLst/>
                        </a:rPr>
                        <a:t>: </a:t>
                      </a:r>
                      <a:r>
                        <a:rPr lang="zh-CN" altLang="en-US" sz="2000" dirty="0">
                          <a:effectLst/>
                        </a:rPr>
                        <a:t>高</a:t>
                      </a:r>
                      <a:r>
                        <a:rPr lang="en-US" altLang="zh-CN" sz="2000" dirty="0">
                          <a:effectLst/>
                        </a:rPr>
                        <a:t>)</a:t>
                      </a:r>
                    </a:p>
                    <a:p>
                      <a:r>
                        <a:rPr lang="zh-CN" altLang="en-US" sz="2000" dirty="0">
                          <a:effectLst/>
                        </a:rPr>
                        <a:t>需要重新设计优化</a:t>
                      </a:r>
                    </a:p>
                    <a:p>
                      <a:r>
                        <a:rPr lang="zh-CN" altLang="en-US" sz="2000" dirty="0">
                          <a:effectLst/>
                        </a:rPr>
                        <a:t>可能影响后续验证节点</a:t>
                      </a:r>
                    </a:p>
                    <a:p>
                      <a:r>
                        <a:rPr lang="zh-CN" altLang="en-US" sz="2000" dirty="0">
                          <a:effectLst/>
                        </a:rPr>
                        <a:t>增加项目成本</a:t>
                      </a:r>
                    </a:p>
                    <a:p>
                      <a:r>
                        <a:rPr lang="en-US" altLang="zh-CN" sz="2000" b="1" dirty="0">
                          <a:effectLst/>
                        </a:rPr>
                        <a:t>3.2 </a:t>
                      </a:r>
                      <a:r>
                        <a:rPr lang="zh-CN" altLang="en-US" sz="2000" b="1" dirty="0">
                          <a:effectLst/>
                        </a:rPr>
                        <a:t>中风险项目</a:t>
                      </a:r>
                    </a:p>
                    <a:p>
                      <a:r>
                        <a:rPr lang="zh-CN" altLang="en-US" sz="2000" b="1" dirty="0">
                          <a:effectLst/>
                        </a:rPr>
                        <a:t>技术方案风险</a:t>
                      </a:r>
                      <a:endParaRPr lang="zh-CN" altLang="en-US" sz="2000" dirty="0">
                        <a:effectLst/>
                      </a:endParaRPr>
                    </a:p>
                    <a:p>
                      <a:r>
                        <a:rPr lang="zh-CN" altLang="en-US" sz="2000" dirty="0">
                          <a:effectLst/>
                        </a:rPr>
                        <a:t>仿真模型验证不足</a:t>
                      </a:r>
                    </a:p>
                    <a:p>
                      <a:r>
                        <a:rPr lang="zh-CN" altLang="en-US" sz="2000" dirty="0">
                          <a:effectLst/>
                        </a:rPr>
                        <a:t>边界条件设置不明确</a:t>
                      </a:r>
                    </a:p>
                    <a:p>
                      <a:r>
                        <a:rPr lang="zh-CN" altLang="en-US" sz="2000" dirty="0">
                          <a:effectLst/>
                        </a:rPr>
                        <a:t>可能影响设计决策准确性</a:t>
                      </a:r>
                    </a:p>
                    <a:p>
                      <a:r>
                        <a:rPr lang="zh-CN" altLang="en-US" sz="2000" b="1" dirty="0">
                          <a:effectLst/>
                        </a:rPr>
                        <a:t>质量管控风险</a:t>
                      </a:r>
                      <a:endParaRPr lang="zh-CN" altLang="en-US" sz="2000" dirty="0">
                        <a:effectLst/>
                      </a:endParaRPr>
                    </a:p>
                    <a:p>
                      <a:r>
                        <a:rPr lang="zh-CN" altLang="en-US" sz="2000" dirty="0">
                          <a:effectLst/>
                        </a:rPr>
                        <a:t>缺少完整的风险评估</a:t>
                      </a:r>
                    </a:p>
                    <a:p>
                      <a:r>
                        <a:rPr lang="zh-CN" altLang="en-US" sz="2000" dirty="0">
                          <a:effectLst/>
                        </a:rPr>
                        <a:t>改进措施可操作性不足</a:t>
                      </a:r>
                    </a:p>
                    <a:p>
                      <a:r>
                        <a:rPr lang="zh-CN" altLang="en-US" sz="2000" dirty="0">
                          <a:effectLst/>
                        </a:rPr>
                        <a:t>可能影响质量目标达成</a:t>
                      </a:r>
                      <a:endParaRPr lang="en-GB" sz="2000" dirty="0"/>
                    </a:p>
                  </a:txBody>
                  <a:tcPr/>
                </a:tc>
                <a:tc>
                  <a:txBody>
                    <a:bodyPr/>
                    <a:lstStyle/>
                    <a:p>
                      <a:r>
                        <a:rPr lang="zh-CN" altLang="en-US" sz="2000" b="1" dirty="0">
                          <a:effectLst/>
                        </a:rPr>
                        <a:t>四、改进建议与行动计划</a:t>
                      </a:r>
                    </a:p>
                    <a:p>
                      <a:r>
                        <a:rPr lang="en-US" altLang="zh-CN" sz="2000" b="1" dirty="0">
                          <a:effectLst/>
                        </a:rPr>
                        <a:t>4.1 </a:t>
                      </a:r>
                      <a:r>
                        <a:rPr lang="zh-CN" altLang="en-US" sz="2000" b="1" dirty="0">
                          <a:effectLst/>
                        </a:rPr>
                        <a:t>立即行动项目 </a:t>
                      </a:r>
                      <a:r>
                        <a:rPr lang="en-US" altLang="zh-CN" sz="2000" b="1" dirty="0">
                          <a:effectLst/>
                        </a:rPr>
                        <a:t>(1-2</a:t>
                      </a:r>
                      <a:r>
                        <a:rPr lang="zh-CN" altLang="en-US" sz="2000" b="1" dirty="0">
                          <a:effectLst/>
                        </a:rPr>
                        <a:t>周内</a:t>
                      </a:r>
                      <a:r>
                        <a:rPr lang="en-US" altLang="zh-CN" sz="2000" b="1" dirty="0">
                          <a:effectLst/>
                        </a:rPr>
                        <a:t>)</a:t>
                      </a:r>
                    </a:p>
                    <a:p>
                      <a:r>
                        <a:rPr lang="zh-CN" altLang="en-US" sz="2000" b="1" dirty="0">
                          <a:effectLst/>
                        </a:rPr>
                        <a:t>启动设计优化</a:t>
                      </a:r>
                      <a:endParaRPr lang="zh-CN" altLang="en-US" sz="2000" dirty="0">
                        <a:effectLst/>
                      </a:endParaRPr>
                    </a:p>
                    <a:p>
                      <a:r>
                        <a:rPr lang="zh-CN" altLang="en-US" sz="2000" dirty="0">
                          <a:effectLst/>
                        </a:rPr>
                        <a:t>责任人</a:t>
                      </a:r>
                      <a:r>
                        <a:rPr lang="en-US" altLang="zh-CN" sz="2000" dirty="0">
                          <a:effectLst/>
                        </a:rPr>
                        <a:t>: </a:t>
                      </a:r>
                      <a:r>
                        <a:rPr lang="zh-CN" altLang="en-US" sz="2000" dirty="0">
                          <a:effectLst/>
                        </a:rPr>
                        <a:t>张亚</a:t>
                      </a:r>
                    </a:p>
                    <a:p>
                      <a:r>
                        <a:rPr lang="zh-CN" altLang="en-US" sz="2000" dirty="0">
                          <a:effectLst/>
                        </a:rPr>
                        <a:t>时间节点</a:t>
                      </a:r>
                      <a:r>
                        <a:rPr lang="en-US" altLang="zh-CN" sz="2000" dirty="0">
                          <a:effectLst/>
                        </a:rPr>
                        <a:t>: 1</a:t>
                      </a:r>
                      <a:r>
                        <a:rPr lang="zh-CN" altLang="en-US" sz="2000" dirty="0">
                          <a:effectLst/>
                        </a:rPr>
                        <a:t>周内完成初步方案</a:t>
                      </a:r>
                    </a:p>
                    <a:p>
                      <a:r>
                        <a:rPr lang="zh-CN" altLang="en-US" sz="2000" dirty="0">
                          <a:effectLst/>
                        </a:rPr>
                        <a:t>目标</a:t>
                      </a:r>
                      <a:r>
                        <a:rPr lang="en-US" altLang="zh-CN" sz="2000" dirty="0">
                          <a:effectLst/>
                        </a:rPr>
                        <a:t>: </a:t>
                      </a:r>
                      <a:r>
                        <a:rPr lang="zh-CN" altLang="en-US" sz="2000" dirty="0">
                          <a:effectLst/>
                        </a:rPr>
                        <a:t>保温时间≥</a:t>
                      </a:r>
                      <a:r>
                        <a:rPr lang="en-US" altLang="zh-CN" sz="2000" dirty="0">
                          <a:effectLst/>
                        </a:rPr>
                        <a:t>20h</a:t>
                      </a:r>
                      <a:r>
                        <a:rPr lang="zh-CN" altLang="en-US" sz="2000" dirty="0">
                          <a:effectLst/>
                        </a:rPr>
                        <a:t>，温差≤</a:t>
                      </a:r>
                      <a:r>
                        <a:rPr lang="en-US" altLang="zh-CN" sz="2000" dirty="0">
                          <a:effectLst/>
                        </a:rPr>
                        <a:t>8℃</a:t>
                      </a:r>
                    </a:p>
                    <a:p>
                      <a:r>
                        <a:rPr lang="zh-CN" altLang="en-US" sz="2000" b="1" dirty="0">
                          <a:effectLst/>
                        </a:rPr>
                        <a:t>补充模型验证</a:t>
                      </a:r>
                      <a:endParaRPr lang="zh-CN" altLang="en-US" sz="2000" dirty="0">
                        <a:effectLst/>
                      </a:endParaRPr>
                    </a:p>
                    <a:p>
                      <a:r>
                        <a:rPr lang="zh-CN" altLang="en-US" sz="2000" dirty="0">
                          <a:effectLst/>
                        </a:rPr>
                        <a:t>责任人</a:t>
                      </a:r>
                      <a:r>
                        <a:rPr lang="en-US" altLang="zh-CN" sz="2000" dirty="0">
                          <a:effectLst/>
                        </a:rPr>
                        <a:t>: </a:t>
                      </a:r>
                      <a:r>
                        <a:rPr lang="zh-CN" altLang="en-US" sz="2000" dirty="0">
                          <a:effectLst/>
                        </a:rPr>
                        <a:t>仿真团队</a:t>
                      </a:r>
                    </a:p>
                    <a:p>
                      <a:r>
                        <a:rPr lang="zh-CN" altLang="en-US" sz="2000" dirty="0">
                          <a:effectLst/>
                        </a:rPr>
                        <a:t>时间节点</a:t>
                      </a:r>
                      <a:r>
                        <a:rPr lang="en-US" altLang="zh-CN" sz="2000" dirty="0">
                          <a:effectLst/>
                        </a:rPr>
                        <a:t>: 2</a:t>
                      </a:r>
                      <a:r>
                        <a:rPr lang="zh-CN" altLang="en-US" sz="2000" dirty="0">
                          <a:effectLst/>
                        </a:rPr>
                        <a:t>周内完成</a:t>
                      </a:r>
                    </a:p>
                    <a:p>
                      <a:r>
                        <a:rPr lang="zh-CN" altLang="en-US" sz="2000" dirty="0">
                          <a:effectLst/>
                        </a:rPr>
                        <a:t>目标</a:t>
                      </a:r>
                      <a:r>
                        <a:rPr lang="en-US" altLang="zh-CN" sz="2000" dirty="0">
                          <a:effectLst/>
                        </a:rPr>
                        <a:t>: </a:t>
                      </a:r>
                      <a:r>
                        <a:rPr lang="zh-CN" altLang="en-US" sz="2000" dirty="0">
                          <a:effectLst/>
                        </a:rPr>
                        <a:t>建立仿真精度评估体系</a:t>
                      </a:r>
                    </a:p>
                    <a:p>
                      <a:r>
                        <a:rPr lang="zh-CN" altLang="en-US" sz="2000" b="1" dirty="0">
                          <a:effectLst/>
                        </a:rPr>
                        <a:t>制定详细改进计划</a:t>
                      </a:r>
                      <a:endParaRPr lang="zh-CN" altLang="en-US" sz="2000" dirty="0">
                        <a:effectLst/>
                      </a:endParaRPr>
                    </a:p>
                    <a:p>
                      <a:r>
                        <a:rPr lang="zh-CN" altLang="en-US" sz="2000" dirty="0">
                          <a:effectLst/>
                        </a:rPr>
                        <a:t>责任人</a:t>
                      </a:r>
                      <a:r>
                        <a:rPr lang="en-US" altLang="zh-CN" sz="2000" dirty="0">
                          <a:effectLst/>
                        </a:rPr>
                        <a:t>: </a:t>
                      </a:r>
                      <a:r>
                        <a:rPr lang="zh-CN" altLang="en-US" sz="2000" dirty="0">
                          <a:effectLst/>
                        </a:rPr>
                        <a:t>项目经理</a:t>
                      </a:r>
                    </a:p>
                    <a:p>
                      <a:r>
                        <a:rPr lang="zh-CN" altLang="en-US" sz="2000" dirty="0">
                          <a:effectLst/>
                        </a:rPr>
                        <a:t>时间节点</a:t>
                      </a:r>
                      <a:r>
                        <a:rPr lang="en-US" altLang="zh-CN" sz="2000" dirty="0">
                          <a:effectLst/>
                        </a:rPr>
                        <a:t>: 1</a:t>
                      </a:r>
                      <a:r>
                        <a:rPr lang="zh-CN" altLang="en-US" sz="2000" dirty="0">
                          <a:effectLst/>
                        </a:rPr>
                        <a:t>周内完成</a:t>
                      </a:r>
                    </a:p>
                    <a:p>
                      <a:r>
                        <a:rPr lang="zh-CN" altLang="en-US" sz="2000" dirty="0">
                          <a:effectLst/>
                        </a:rPr>
                        <a:t>目标</a:t>
                      </a:r>
                      <a:r>
                        <a:rPr lang="en-US" altLang="zh-CN" sz="2000" dirty="0">
                          <a:effectLst/>
                        </a:rPr>
                        <a:t>: </a:t>
                      </a:r>
                      <a:r>
                        <a:rPr lang="zh-CN" altLang="en-US" sz="2000" dirty="0">
                          <a:effectLst/>
                        </a:rPr>
                        <a:t>明确改进路径和时间节点</a:t>
                      </a:r>
                    </a:p>
                    <a:p>
                      <a:r>
                        <a:rPr lang="en-US" altLang="zh-CN" sz="2000" b="1" dirty="0">
                          <a:effectLst/>
                        </a:rPr>
                        <a:t>4.2 </a:t>
                      </a:r>
                      <a:r>
                        <a:rPr lang="zh-CN" altLang="en-US" sz="2000" b="1" dirty="0">
                          <a:effectLst/>
                        </a:rPr>
                        <a:t>短期行动项目 </a:t>
                      </a:r>
                      <a:r>
                        <a:rPr lang="en-US" altLang="zh-CN" sz="2000" b="1" dirty="0">
                          <a:effectLst/>
                        </a:rPr>
                        <a:t>(1</a:t>
                      </a:r>
                      <a:r>
                        <a:rPr lang="zh-CN" altLang="en-US" sz="2000" b="1" dirty="0">
                          <a:effectLst/>
                        </a:rPr>
                        <a:t>个月内</a:t>
                      </a:r>
                      <a:r>
                        <a:rPr lang="en-US" altLang="zh-CN" sz="2000" b="1" dirty="0">
                          <a:effectLst/>
                        </a:rPr>
                        <a:t>)</a:t>
                      </a:r>
                    </a:p>
                    <a:p>
                      <a:r>
                        <a:rPr lang="zh-CN" altLang="en-US" sz="2000" b="1" dirty="0">
                          <a:effectLst/>
                        </a:rPr>
                        <a:t>建立跨部门协调机制</a:t>
                      </a:r>
                      <a:endParaRPr lang="zh-CN" altLang="en-US" sz="2000" dirty="0">
                        <a:effectLst/>
                      </a:endParaRPr>
                    </a:p>
                    <a:p>
                      <a:r>
                        <a:rPr lang="zh-CN" altLang="en-US" sz="2000" dirty="0">
                          <a:effectLst/>
                        </a:rPr>
                        <a:t>责任人</a:t>
                      </a:r>
                      <a:r>
                        <a:rPr lang="en-US" altLang="zh-CN" sz="2000" dirty="0">
                          <a:effectLst/>
                        </a:rPr>
                        <a:t>: </a:t>
                      </a:r>
                      <a:r>
                        <a:rPr lang="zh-CN" altLang="en-US" sz="2000" dirty="0">
                          <a:effectLst/>
                        </a:rPr>
                        <a:t>项目经理</a:t>
                      </a:r>
                    </a:p>
                    <a:p>
                      <a:r>
                        <a:rPr lang="zh-CN" altLang="en-US" sz="2000" dirty="0">
                          <a:effectLst/>
                        </a:rPr>
                        <a:t>时间节点</a:t>
                      </a:r>
                      <a:r>
                        <a:rPr lang="en-US" altLang="zh-CN" sz="2000" dirty="0">
                          <a:effectLst/>
                        </a:rPr>
                        <a:t>: 2</a:t>
                      </a:r>
                      <a:r>
                        <a:rPr lang="zh-CN" altLang="en-US" sz="2000" dirty="0">
                          <a:effectLst/>
                        </a:rPr>
                        <a:t>周内建立</a:t>
                      </a:r>
                    </a:p>
                    <a:p>
                      <a:r>
                        <a:rPr lang="zh-CN" altLang="en-US" sz="2000" dirty="0">
                          <a:effectLst/>
                        </a:rPr>
                        <a:t>目标</a:t>
                      </a:r>
                      <a:r>
                        <a:rPr lang="en-US" altLang="zh-CN" sz="2000" dirty="0">
                          <a:effectLst/>
                        </a:rPr>
                        <a:t>: </a:t>
                      </a:r>
                      <a:r>
                        <a:rPr lang="zh-CN" altLang="en-US" sz="2000" dirty="0">
                          <a:effectLst/>
                        </a:rPr>
                        <a:t>确保技术方案协调一致</a:t>
                      </a:r>
                    </a:p>
                    <a:p>
                      <a:r>
                        <a:rPr lang="zh-CN" altLang="en-US" sz="2000" b="1" dirty="0">
                          <a:effectLst/>
                        </a:rPr>
                        <a:t>完善风险评估体系</a:t>
                      </a:r>
                      <a:endParaRPr lang="zh-CN" altLang="en-US" sz="2000" dirty="0">
                        <a:effectLst/>
                      </a:endParaRPr>
                    </a:p>
                    <a:p>
                      <a:r>
                        <a:rPr lang="zh-CN" altLang="en-US" sz="2000" dirty="0">
                          <a:effectLst/>
                        </a:rPr>
                        <a:t>责任人</a:t>
                      </a:r>
                      <a:r>
                        <a:rPr lang="en-US" altLang="zh-CN" sz="2000" dirty="0">
                          <a:effectLst/>
                        </a:rPr>
                        <a:t>: </a:t>
                      </a:r>
                      <a:r>
                        <a:rPr lang="zh-CN" altLang="en-US" sz="2000" dirty="0">
                          <a:effectLst/>
                        </a:rPr>
                        <a:t>质量工程师</a:t>
                      </a:r>
                    </a:p>
                    <a:p>
                      <a:r>
                        <a:rPr lang="zh-CN" altLang="en-US" sz="2000" dirty="0">
                          <a:effectLst/>
                        </a:rPr>
                        <a:t>时间节点</a:t>
                      </a:r>
                      <a:r>
                        <a:rPr lang="en-US" altLang="zh-CN" sz="2000" dirty="0">
                          <a:effectLst/>
                        </a:rPr>
                        <a:t>: 1</a:t>
                      </a:r>
                      <a:r>
                        <a:rPr lang="zh-CN" altLang="en-US" sz="2000" dirty="0">
                          <a:effectLst/>
                        </a:rPr>
                        <a:t>个月内完成</a:t>
                      </a:r>
                    </a:p>
                    <a:p>
                      <a:r>
                        <a:rPr lang="zh-CN" altLang="en-US" sz="2000" dirty="0">
                          <a:effectLst/>
                        </a:rPr>
                        <a:t>目标</a:t>
                      </a:r>
                      <a:r>
                        <a:rPr lang="en-US" altLang="zh-CN" sz="2000" dirty="0">
                          <a:effectLst/>
                        </a:rPr>
                        <a:t>: </a:t>
                      </a:r>
                      <a:r>
                        <a:rPr lang="zh-CN" altLang="en-US" sz="2000" dirty="0">
                          <a:effectLst/>
                        </a:rPr>
                        <a:t>建立完整的风险管控体系</a:t>
                      </a:r>
                    </a:p>
                    <a:p>
                      <a:r>
                        <a:rPr lang="en-US" altLang="zh-CN" sz="2000" b="1" dirty="0">
                          <a:effectLst/>
                        </a:rPr>
                        <a:t>4.3 </a:t>
                      </a:r>
                      <a:r>
                        <a:rPr lang="zh-CN" altLang="en-US" sz="2000" b="1" dirty="0">
                          <a:effectLst/>
                        </a:rPr>
                        <a:t>长期改进项目 </a:t>
                      </a:r>
                      <a:r>
                        <a:rPr lang="en-US" altLang="zh-CN" sz="2000" b="1" dirty="0">
                          <a:effectLst/>
                        </a:rPr>
                        <a:t>(3</a:t>
                      </a:r>
                      <a:r>
                        <a:rPr lang="zh-CN" altLang="en-US" sz="2000" b="1" dirty="0">
                          <a:effectLst/>
                        </a:rPr>
                        <a:t>个月内</a:t>
                      </a:r>
                      <a:r>
                        <a:rPr lang="en-US" altLang="zh-CN" sz="2000" b="1" dirty="0">
                          <a:effectLst/>
                        </a:rPr>
                        <a:t>)</a:t>
                      </a:r>
                    </a:p>
                    <a:p>
                      <a:r>
                        <a:rPr lang="zh-CN" altLang="en-US" sz="2000" b="1" dirty="0">
                          <a:effectLst/>
                        </a:rPr>
                        <a:t>建立热标定体系</a:t>
                      </a:r>
                      <a:endParaRPr lang="zh-CN" altLang="en-US" sz="2000" dirty="0">
                        <a:effectLst/>
                      </a:endParaRPr>
                    </a:p>
                    <a:p>
                      <a:r>
                        <a:rPr lang="zh-CN" altLang="en-US" sz="2000" dirty="0">
                          <a:effectLst/>
                        </a:rPr>
                        <a:t>责任人</a:t>
                      </a:r>
                      <a:r>
                        <a:rPr lang="en-US" altLang="zh-CN" sz="2000" dirty="0">
                          <a:effectLst/>
                        </a:rPr>
                        <a:t>: </a:t>
                      </a:r>
                      <a:r>
                        <a:rPr lang="zh-CN" altLang="en-US" sz="2000" dirty="0">
                          <a:effectLst/>
                        </a:rPr>
                        <a:t>测试工程师</a:t>
                      </a:r>
                    </a:p>
                    <a:p>
                      <a:r>
                        <a:rPr lang="zh-CN" altLang="en-US" sz="2000" dirty="0">
                          <a:effectLst/>
                        </a:rPr>
                        <a:t>时间节点</a:t>
                      </a:r>
                      <a:r>
                        <a:rPr lang="en-US" altLang="zh-CN" sz="2000" dirty="0">
                          <a:effectLst/>
                        </a:rPr>
                        <a:t>: 3</a:t>
                      </a:r>
                      <a:r>
                        <a:rPr lang="zh-CN" altLang="en-US" sz="2000" dirty="0">
                          <a:effectLst/>
                        </a:rPr>
                        <a:t>个月内完成</a:t>
                      </a:r>
                    </a:p>
                    <a:p>
                      <a:r>
                        <a:rPr lang="zh-CN" altLang="en-US" sz="2000" dirty="0">
                          <a:effectLst/>
                        </a:rPr>
                        <a:t>目标</a:t>
                      </a:r>
                      <a:r>
                        <a:rPr lang="en-US" altLang="zh-CN" sz="2000" dirty="0">
                          <a:effectLst/>
                        </a:rPr>
                        <a:t>: </a:t>
                      </a:r>
                      <a:r>
                        <a:rPr lang="zh-CN" altLang="en-US" sz="2000" dirty="0">
                          <a:effectLst/>
                        </a:rPr>
                        <a:t>提高仿真精度和可靠性</a:t>
                      </a:r>
                    </a:p>
                    <a:p>
                      <a:r>
                        <a:rPr lang="zh-CN" altLang="en-US" sz="2000" b="1" dirty="0">
                          <a:effectLst/>
                        </a:rPr>
                        <a:t>优化文档管理体系</a:t>
                      </a:r>
                      <a:endParaRPr lang="zh-CN" altLang="en-US" sz="2000" dirty="0">
                        <a:effectLst/>
                      </a:endParaRPr>
                    </a:p>
                    <a:p>
                      <a:r>
                        <a:rPr lang="zh-CN" altLang="en-US" sz="2000" dirty="0">
                          <a:effectLst/>
                        </a:rPr>
                        <a:t>责任人</a:t>
                      </a:r>
                      <a:r>
                        <a:rPr lang="en-US" altLang="zh-CN" sz="2000" dirty="0">
                          <a:effectLst/>
                        </a:rPr>
                        <a:t>: </a:t>
                      </a:r>
                      <a:r>
                        <a:rPr lang="zh-CN" altLang="en-US" sz="2000" dirty="0">
                          <a:effectLst/>
                        </a:rPr>
                        <a:t>技术文档工程师</a:t>
                      </a:r>
                    </a:p>
                    <a:p>
                      <a:r>
                        <a:rPr lang="zh-CN" altLang="en-US" sz="2000" dirty="0">
                          <a:effectLst/>
                        </a:rPr>
                        <a:t>时间节点</a:t>
                      </a:r>
                      <a:r>
                        <a:rPr lang="en-US" altLang="zh-CN" sz="2000" dirty="0">
                          <a:effectLst/>
                        </a:rPr>
                        <a:t>: 1</a:t>
                      </a:r>
                      <a:r>
                        <a:rPr lang="zh-CN" altLang="en-US" sz="2000" dirty="0">
                          <a:effectLst/>
                        </a:rPr>
                        <a:t>个月内完成</a:t>
                      </a:r>
                    </a:p>
                    <a:p>
                      <a:r>
                        <a:rPr lang="zh-CN" altLang="en-US" sz="2000" dirty="0">
                          <a:effectLst/>
                        </a:rPr>
                        <a:t>目标</a:t>
                      </a:r>
                      <a:r>
                        <a:rPr lang="en-US" altLang="zh-CN" sz="2000" dirty="0">
                          <a:effectLst/>
                        </a:rPr>
                        <a:t>: </a:t>
                      </a:r>
                      <a:r>
                        <a:rPr lang="zh-CN" altLang="en-US" sz="2000" dirty="0">
                          <a:effectLst/>
                        </a:rPr>
                        <a:t>建立标准化的文档管理流程</a:t>
                      </a:r>
                    </a:p>
                    <a:p>
                      <a:pPr>
                        <a:spcBef>
                          <a:spcPts val="150"/>
                        </a:spcBef>
                        <a:spcAft>
                          <a:spcPts val="150"/>
                        </a:spcAft>
                        <a:buFont typeface="+mj-lt"/>
                        <a:buAutoNum type="arabicPeriod"/>
                      </a:pPr>
                      <a:endParaRPr lang="en-GB" sz="2000" dirty="0"/>
                    </a:p>
                  </a:txBody>
                  <a:tcPr/>
                </a:tc>
                <a:tc>
                  <a:txBody>
                    <a:bodyPr/>
                    <a:lstStyle/>
                    <a:p>
                      <a:r>
                        <a:rPr lang="en-US" altLang="zh-CN" sz="2000" b="1" dirty="0">
                          <a:effectLst/>
                        </a:rPr>
                        <a:t>5.1 </a:t>
                      </a:r>
                      <a:r>
                        <a:rPr lang="zh-CN" altLang="en-US" sz="2000" b="1" dirty="0">
                          <a:effectLst/>
                        </a:rPr>
                        <a:t>总体评价</a:t>
                      </a:r>
                    </a:p>
                    <a:p>
                      <a:r>
                        <a:rPr lang="zh-CN" altLang="en-US" sz="2000" dirty="0">
                          <a:effectLst/>
                        </a:rPr>
                        <a:t>该报告在技术内容方面基本完整，但在质量合规性和项目管理方面存在重大缺陷。主要问题是产品性能未达到客户要求，需要立即启动改进措施。</a:t>
                      </a:r>
                      <a:r>
                        <a:rPr lang="en-US" altLang="zh-CN" sz="2000" b="1" dirty="0">
                          <a:effectLst/>
                        </a:rPr>
                        <a:t>5.2 </a:t>
                      </a:r>
                      <a:r>
                        <a:rPr lang="zh-CN" altLang="en-US" sz="2000" b="1" dirty="0">
                          <a:effectLst/>
                        </a:rPr>
                        <a:t>关键建议</a:t>
                      </a:r>
                    </a:p>
                    <a:p>
                      <a:r>
                        <a:rPr lang="zh-CN" altLang="en-US" sz="2000" b="1" dirty="0">
                          <a:effectLst/>
                        </a:rPr>
                        <a:t>立即启动设计优化</a:t>
                      </a:r>
                      <a:endParaRPr lang="zh-CN" altLang="en-US" sz="2000" dirty="0">
                        <a:effectLst/>
                      </a:endParaRPr>
                    </a:p>
                    <a:p>
                      <a:r>
                        <a:rPr lang="zh-CN" altLang="en-US" sz="2000" dirty="0">
                          <a:effectLst/>
                        </a:rPr>
                        <a:t>优先解决保温性能不达标问题</a:t>
                      </a:r>
                    </a:p>
                    <a:p>
                      <a:r>
                        <a:rPr lang="zh-CN" altLang="en-US" sz="2000" dirty="0">
                          <a:effectLst/>
                        </a:rPr>
                        <a:t>制定详细的改进实施计划</a:t>
                      </a:r>
                    </a:p>
                    <a:p>
                      <a:r>
                        <a:rPr lang="zh-CN" altLang="en-US" sz="2000" dirty="0">
                          <a:effectLst/>
                        </a:rPr>
                        <a:t>建立进度监控机制</a:t>
                      </a:r>
                    </a:p>
                    <a:p>
                      <a:r>
                        <a:rPr lang="zh-CN" altLang="en-US" sz="2000" b="1" dirty="0">
                          <a:effectLst/>
                        </a:rPr>
                        <a:t>加强质量管控</a:t>
                      </a:r>
                      <a:endParaRPr lang="zh-CN" altLang="en-US" sz="2000" dirty="0">
                        <a:effectLst/>
                      </a:endParaRPr>
                    </a:p>
                    <a:p>
                      <a:r>
                        <a:rPr lang="zh-CN" altLang="en-US" sz="2000" dirty="0">
                          <a:effectLst/>
                        </a:rPr>
                        <a:t>建立完整的风险评估体系</a:t>
                      </a:r>
                    </a:p>
                    <a:p>
                      <a:r>
                        <a:rPr lang="zh-CN" altLang="en-US" sz="2000" dirty="0">
                          <a:effectLst/>
                        </a:rPr>
                        <a:t>完善仿真验证流程</a:t>
                      </a:r>
                    </a:p>
                    <a:p>
                      <a:r>
                        <a:rPr lang="zh-CN" altLang="en-US" sz="2000" dirty="0">
                          <a:effectLst/>
                        </a:rPr>
                        <a:t>加强跨部门协调</a:t>
                      </a:r>
                    </a:p>
                    <a:p>
                      <a:r>
                        <a:rPr lang="zh-CN" altLang="en-US" sz="2000" b="1" dirty="0">
                          <a:effectLst/>
                        </a:rPr>
                        <a:t>优化项目管理</a:t>
                      </a:r>
                      <a:endParaRPr lang="zh-CN" altLang="en-US" sz="2000" dirty="0">
                        <a:effectLst/>
                      </a:endParaRPr>
                    </a:p>
                    <a:p>
                      <a:r>
                        <a:rPr lang="zh-CN" altLang="en-US" sz="2000" dirty="0">
                          <a:effectLst/>
                        </a:rPr>
                        <a:t>重新评估项目时间线</a:t>
                      </a:r>
                    </a:p>
                    <a:p>
                      <a:r>
                        <a:rPr lang="zh-CN" altLang="en-US" sz="2000" dirty="0">
                          <a:effectLst/>
                        </a:rPr>
                        <a:t>建立风险预警机制</a:t>
                      </a:r>
                    </a:p>
                    <a:p>
                      <a:r>
                        <a:rPr lang="zh-CN" altLang="en-US" sz="2000" dirty="0">
                          <a:effectLst/>
                        </a:rPr>
                        <a:t>加强与客户沟通</a:t>
                      </a:r>
                    </a:p>
                    <a:p>
                      <a:r>
                        <a:rPr lang="en-US" altLang="zh-CN" sz="2000" b="1" dirty="0">
                          <a:effectLst/>
                        </a:rPr>
                        <a:t>5.3 </a:t>
                      </a:r>
                      <a:r>
                        <a:rPr lang="zh-CN" altLang="en-US" sz="2000" b="1" dirty="0">
                          <a:effectLst/>
                        </a:rPr>
                        <a:t>后续行动</a:t>
                      </a:r>
                    </a:p>
                    <a:p>
                      <a:r>
                        <a:rPr lang="zh-CN" altLang="en-US" sz="2000" dirty="0">
                          <a:effectLst/>
                        </a:rPr>
                        <a:t>建议在</a:t>
                      </a:r>
                      <a:r>
                        <a:rPr lang="en-US" altLang="zh-CN" sz="2000" dirty="0">
                          <a:effectLst/>
                        </a:rPr>
                        <a:t>1</a:t>
                      </a:r>
                      <a:r>
                        <a:rPr lang="zh-CN" altLang="en-US" sz="2000" dirty="0">
                          <a:effectLst/>
                        </a:rPr>
                        <a:t>周内召开项目评审会议，讨论改进方案和行动计划，确保项目能够按计划推进到下一阶段。</a:t>
                      </a:r>
                      <a:endParaRPr lang="en-GB" sz="2000" dirty="0"/>
                    </a:p>
                  </a:txBody>
                  <a:tcPr/>
                </a:tc>
                <a:extLst>
                  <a:ext uri="{0D108BD9-81ED-4DB2-BD59-A6C34878D82A}">
                    <a16:rowId xmlns:a16="http://schemas.microsoft.com/office/drawing/2014/main" val="604853937"/>
                  </a:ext>
                </a:extLst>
              </a:tr>
            </a:tbl>
          </a:graphicData>
        </a:graphic>
      </p:graphicFrame>
    </p:spTree>
    <p:extLst>
      <p:ext uri="{BB962C8B-B14F-4D97-AF65-F5344CB8AC3E}">
        <p14:creationId xmlns:p14="http://schemas.microsoft.com/office/powerpoint/2010/main" val="2695971300"/>
      </p:ext>
    </p:extLst>
  </p:cSld>
  <p:clrMapOvr>
    <a:masterClrMapping/>
  </p:clrMapOvr>
  <p:transition spd="med"/>
  <p:extLst>
    <p:ext uri="{6950BFC3-D8DA-4A85-94F7-54DA5524770B}">
      <p188:commentRel xmlns:p188="http://schemas.microsoft.com/office/powerpoint/2018/8/main" r:id="rId2"/>
    </p:ext>
  </p:extLs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91AB4E-93DE-946F-BCC2-D102EE89D15F}"/>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20EF7E23-6C0C-1126-6FC6-879B33069F9F}"/>
              </a:ext>
            </a:extLst>
          </p:cNvPr>
          <p:cNvSpPr txBox="1"/>
          <p:nvPr/>
        </p:nvSpPr>
        <p:spPr>
          <a:xfrm>
            <a:off x="1737558" y="755986"/>
            <a:ext cx="19702715" cy="646331"/>
          </a:xfrm>
          <a:prstGeom prst="rect">
            <a:avLst/>
          </a:prstGeom>
          <a:noFill/>
        </p:spPr>
        <p:txBody>
          <a:bodyPr wrap="square" numCol="1">
            <a:spAutoFit/>
          </a:bodyPr>
          <a:lstStyle/>
          <a:p>
            <a:pPr>
              <a:spcBef>
                <a:spcPts val="1500"/>
              </a:spcBef>
              <a:spcAft>
                <a:spcPts val="750"/>
              </a:spcAft>
              <a:buNone/>
            </a:pPr>
            <a:r>
              <a:rPr lang="en-US" altLang="zh-CN" sz="3600" b="1" dirty="0">
                <a:effectLst/>
              </a:rPr>
              <a:t>B</a:t>
            </a:r>
            <a:r>
              <a:rPr lang="zh-CN" altLang="en-US" sz="3600" b="1" dirty="0">
                <a:effectLst/>
              </a:rPr>
              <a:t>样阶段</a:t>
            </a:r>
            <a:r>
              <a:rPr lang="en-US" altLang="zh-CN" sz="3600" b="1" dirty="0"/>
              <a:t>《570-941B</a:t>
            </a:r>
            <a:r>
              <a:rPr lang="zh-CN" altLang="en-US" sz="3600" b="1" dirty="0"/>
              <a:t>电池包膨胀力仿真分析报告</a:t>
            </a:r>
            <a:r>
              <a:rPr lang="en-US" altLang="zh-CN" sz="3600" b="1" dirty="0"/>
              <a:t>-20240605(</a:t>
            </a:r>
            <a:r>
              <a:rPr lang="zh-CN" altLang="en-US" sz="3600" b="1" dirty="0"/>
              <a:t>纵梁灌胶</a:t>
            </a:r>
            <a:r>
              <a:rPr lang="en-US" altLang="zh-CN" sz="3600" b="1" dirty="0"/>
              <a:t>).pptx》</a:t>
            </a:r>
            <a:r>
              <a:rPr lang="zh-CN" altLang="en-US" sz="3600" b="1" dirty="0">
                <a:effectLst/>
              </a:rPr>
              <a:t>审核报告</a:t>
            </a:r>
          </a:p>
        </p:txBody>
      </p:sp>
      <p:graphicFrame>
        <p:nvGraphicFramePr>
          <p:cNvPr id="3" name="表格 2">
            <a:extLst>
              <a:ext uri="{FF2B5EF4-FFF2-40B4-BE49-F238E27FC236}">
                <a16:creationId xmlns:a16="http://schemas.microsoft.com/office/drawing/2014/main" id="{68C790FF-1E84-771C-01E8-F72DE883EB82}"/>
              </a:ext>
            </a:extLst>
          </p:cNvPr>
          <p:cNvGraphicFramePr>
            <a:graphicFrameLocks noGrp="1"/>
          </p:cNvGraphicFramePr>
          <p:nvPr>
            <p:extLst>
              <p:ext uri="{D42A27DB-BD31-4B8C-83A1-F6EECF244321}">
                <p14:modId xmlns:p14="http://schemas.microsoft.com/office/powerpoint/2010/main" val="2697579537"/>
              </p:ext>
            </p:extLst>
          </p:nvPr>
        </p:nvGraphicFramePr>
        <p:xfrm>
          <a:off x="830796" y="1402317"/>
          <a:ext cx="23059292" cy="11892165"/>
        </p:xfrm>
        <a:graphic>
          <a:graphicData uri="http://schemas.openxmlformats.org/drawingml/2006/table">
            <a:tbl>
              <a:tblPr firstRow="1" bandRow="1"/>
              <a:tblGrid>
                <a:gridCol w="4607171">
                  <a:extLst>
                    <a:ext uri="{9D8B030D-6E8A-4147-A177-3AD203B41FA5}">
                      <a16:colId xmlns:a16="http://schemas.microsoft.com/office/drawing/2014/main" val="520135011"/>
                    </a:ext>
                  </a:extLst>
                </a:gridCol>
                <a:gridCol w="5908430">
                  <a:extLst>
                    <a:ext uri="{9D8B030D-6E8A-4147-A177-3AD203B41FA5}">
                      <a16:colId xmlns:a16="http://schemas.microsoft.com/office/drawing/2014/main" val="585926975"/>
                    </a:ext>
                  </a:extLst>
                </a:gridCol>
                <a:gridCol w="6778868">
                  <a:extLst>
                    <a:ext uri="{9D8B030D-6E8A-4147-A177-3AD203B41FA5}">
                      <a16:colId xmlns:a16="http://schemas.microsoft.com/office/drawing/2014/main" val="3081416713"/>
                    </a:ext>
                  </a:extLst>
                </a:gridCol>
                <a:gridCol w="5764823">
                  <a:extLst>
                    <a:ext uri="{9D8B030D-6E8A-4147-A177-3AD203B41FA5}">
                      <a16:colId xmlns:a16="http://schemas.microsoft.com/office/drawing/2014/main" val="572010187"/>
                    </a:ext>
                  </a:extLst>
                </a:gridCol>
              </a:tblGrid>
              <a:tr h="523125">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审查清单制定</a:t>
                      </a:r>
                    </a:p>
                  </a:txBody>
                  <a:tcPr anchor="ctr"/>
                </a:tc>
                <a:tc gridSpan="2">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逐项审核结果</a:t>
                      </a:r>
                    </a:p>
                  </a:txBody>
                  <a:tcPr anchor="ctr"/>
                </a:tc>
                <a:tc hMerge="1">
                  <a:txBody>
                    <a:bodyPr/>
                    <a:lstStyle/>
                    <a:p>
                      <a:pPr algn="ctr"/>
                      <a:endParaRPr lang="en-GB" sz="2000" dirty="0"/>
                    </a:p>
                  </a:txBody>
                  <a:tcPr/>
                </a:tc>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总体评估</a:t>
                      </a:r>
                    </a:p>
                  </a:txBody>
                  <a:tcPr anchor="ctr"/>
                </a:tc>
                <a:extLst>
                  <a:ext uri="{0D108BD9-81ED-4DB2-BD59-A6C34878D82A}">
                    <a16:rowId xmlns:a16="http://schemas.microsoft.com/office/drawing/2014/main" val="2562292327"/>
                  </a:ext>
                </a:extLst>
              </a:tr>
              <a:tr h="10086326">
                <a:tc>
                  <a:txBody>
                    <a:bodyPr/>
                    <a:lstStyle/>
                    <a:p>
                      <a:r>
                        <a:rPr lang="en-US" altLang="zh-CN" sz="2000" b="1" dirty="0">
                          <a:effectLst/>
                        </a:rPr>
                        <a:t>1. </a:t>
                      </a:r>
                      <a:r>
                        <a:rPr lang="zh-CN" altLang="en-US" sz="2000" b="1" dirty="0">
                          <a:effectLst/>
                        </a:rPr>
                        <a:t>文档完整性审查</a:t>
                      </a:r>
                    </a:p>
                    <a:p>
                      <a:r>
                        <a:rPr lang="zh-CN" altLang="en-US" sz="2000" dirty="0">
                          <a:effectLst/>
                        </a:rPr>
                        <a:t>报告标题和版本信息</a:t>
                      </a:r>
                    </a:p>
                    <a:p>
                      <a:r>
                        <a:rPr lang="zh-CN" altLang="en-US" sz="2000" dirty="0">
                          <a:effectLst/>
                        </a:rPr>
                        <a:t>项目背景和目标</a:t>
                      </a:r>
                    </a:p>
                    <a:p>
                      <a:r>
                        <a:rPr lang="zh-CN" altLang="en-US" sz="2000" dirty="0">
                          <a:effectLst/>
                        </a:rPr>
                        <a:t>技术参数和边界条件</a:t>
                      </a:r>
                    </a:p>
                    <a:p>
                      <a:r>
                        <a:rPr lang="zh-CN" altLang="en-US" sz="2000" dirty="0">
                          <a:effectLst/>
                        </a:rPr>
                        <a:t>分析方法和标准</a:t>
                      </a:r>
                    </a:p>
                    <a:p>
                      <a:r>
                        <a:rPr lang="zh-CN" altLang="en-US" sz="2000" dirty="0">
                          <a:effectLst/>
                        </a:rPr>
                        <a:t>结果和结论</a:t>
                      </a:r>
                    </a:p>
                    <a:p>
                      <a:r>
                        <a:rPr lang="zh-CN" altLang="en-US" sz="2000" dirty="0">
                          <a:effectLst/>
                        </a:rPr>
                        <a:t>建议和后续行动</a:t>
                      </a:r>
                    </a:p>
                    <a:p>
                      <a:r>
                        <a:rPr lang="en-US" altLang="zh-CN" sz="2000" b="1" dirty="0">
                          <a:effectLst/>
                        </a:rPr>
                        <a:t>2. </a:t>
                      </a:r>
                      <a:r>
                        <a:rPr lang="zh-CN" altLang="en-US" sz="2000" b="1" dirty="0">
                          <a:effectLst/>
                        </a:rPr>
                        <a:t>技术内容审查</a:t>
                      </a:r>
                    </a:p>
                    <a:p>
                      <a:r>
                        <a:rPr lang="zh-CN" altLang="en-US" sz="2000" dirty="0">
                          <a:effectLst/>
                        </a:rPr>
                        <a:t>模型准确性</a:t>
                      </a:r>
                    </a:p>
                    <a:p>
                      <a:r>
                        <a:rPr lang="zh-CN" altLang="en-US" sz="2000" dirty="0">
                          <a:effectLst/>
                        </a:rPr>
                        <a:t>材料参数完整性</a:t>
                      </a:r>
                    </a:p>
                    <a:p>
                      <a:r>
                        <a:rPr lang="zh-CN" altLang="en-US" sz="2000" dirty="0">
                          <a:effectLst/>
                        </a:rPr>
                        <a:t>边界条件合理性</a:t>
                      </a:r>
                    </a:p>
                    <a:p>
                      <a:r>
                        <a:rPr lang="zh-CN" altLang="en-US" sz="2000" dirty="0">
                          <a:effectLst/>
                        </a:rPr>
                        <a:t>分析工况覆盖性</a:t>
                      </a:r>
                    </a:p>
                    <a:p>
                      <a:r>
                        <a:rPr lang="zh-CN" altLang="en-US" sz="2000" dirty="0">
                          <a:effectLst/>
                        </a:rPr>
                        <a:t>结果可信度</a:t>
                      </a:r>
                    </a:p>
                    <a:p>
                      <a:r>
                        <a:rPr lang="zh-CN" altLang="en-US" sz="2000" dirty="0">
                          <a:effectLst/>
                        </a:rPr>
                        <a:t>安全裕度评估</a:t>
                      </a:r>
                    </a:p>
                    <a:p>
                      <a:r>
                        <a:rPr lang="en-US" altLang="zh-CN" sz="2000" b="1" dirty="0">
                          <a:effectLst/>
                        </a:rPr>
                        <a:t>3. </a:t>
                      </a:r>
                      <a:r>
                        <a:rPr lang="zh-CN" altLang="en-US" sz="2000" b="1" dirty="0">
                          <a:effectLst/>
                        </a:rPr>
                        <a:t>质量合规性审查</a:t>
                      </a:r>
                    </a:p>
                    <a:p>
                      <a:r>
                        <a:rPr lang="zh-CN" altLang="en-US" sz="2000" dirty="0">
                          <a:effectLst/>
                        </a:rPr>
                        <a:t>设计标准符合性</a:t>
                      </a:r>
                    </a:p>
                    <a:p>
                      <a:r>
                        <a:rPr lang="zh-CN" altLang="en-US" sz="2000" dirty="0">
                          <a:effectLst/>
                        </a:rPr>
                        <a:t>安全要求满足性</a:t>
                      </a:r>
                    </a:p>
                    <a:p>
                      <a:r>
                        <a:rPr lang="zh-CN" altLang="en-US" sz="2000" dirty="0">
                          <a:effectLst/>
                        </a:rPr>
                        <a:t>风险识别和评估</a:t>
                      </a:r>
                    </a:p>
                    <a:p>
                      <a:r>
                        <a:rPr lang="zh-CN" altLang="en-US" sz="2000" dirty="0">
                          <a:effectLst/>
                        </a:rPr>
                        <a:t>验证方法有效性</a:t>
                      </a:r>
                    </a:p>
                    <a:p>
                      <a:pPr>
                        <a:spcBef>
                          <a:spcPts val="1200"/>
                        </a:spcBef>
                        <a:spcAft>
                          <a:spcPts val="600"/>
                        </a:spcAft>
                        <a:buNone/>
                      </a:pPr>
                      <a:endParaRPr lang="en-GB" sz="2000" dirty="0"/>
                    </a:p>
                  </a:txBody>
                  <a:tcPr/>
                </a:tc>
                <a:tc>
                  <a:txBody>
                    <a:bodyPr/>
                    <a:lstStyle/>
                    <a:p>
                      <a:r>
                        <a:rPr lang="zh-CN" altLang="en-US" sz="2000" b="1" dirty="0">
                          <a:effectLst/>
                        </a:rPr>
                        <a:t>细审查结果</a:t>
                      </a:r>
                    </a:p>
                    <a:p>
                      <a:r>
                        <a:rPr lang="zh-CN" altLang="en-US" sz="2000" b="1" dirty="0">
                          <a:effectLst/>
                        </a:rPr>
                        <a:t>✅ 通过项目</a:t>
                      </a:r>
                    </a:p>
                    <a:p>
                      <a:r>
                        <a:rPr lang="en-US" altLang="zh-CN" sz="2000" b="1" dirty="0">
                          <a:effectLst/>
                        </a:rPr>
                        <a:t>1. </a:t>
                      </a:r>
                      <a:r>
                        <a:rPr lang="zh-CN" altLang="en-US" sz="2000" b="1" dirty="0">
                          <a:effectLst/>
                        </a:rPr>
                        <a:t>文档结构完整性</a:t>
                      </a:r>
                    </a:p>
                    <a:p>
                      <a:r>
                        <a:rPr lang="zh-CN" altLang="en-US" sz="2000" b="1" dirty="0">
                          <a:effectLst/>
                        </a:rPr>
                        <a:t>审查结果</a:t>
                      </a:r>
                      <a:r>
                        <a:rPr lang="en-US" altLang="zh-CN" sz="2000" dirty="0">
                          <a:effectLst/>
                        </a:rPr>
                        <a:t>: </a:t>
                      </a:r>
                      <a:r>
                        <a:rPr lang="zh-CN" altLang="en-US" sz="2000" dirty="0">
                          <a:effectLst/>
                        </a:rPr>
                        <a:t>通过</a:t>
                      </a:r>
                    </a:p>
                    <a:p>
                      <a:r>
                        <a:rPr lang="zh-CN" altLang="en-US" sz="2000" b="1" dirty="0">
                          <a:effectLst/>
                        </a:rPr>
                        <a:t>评价</a:t>
                      </a:r>
                      <a:r>
                        <a:rPr lang="en-US" altLang="zh-CN" sz="2000" dirty="0">
                          <a:effectLst/>
                        </a:rPr>
                        <a:t>: </a:t>
                      </a:r>
                      <a:r>
                        <a:rPr lang="zh-CN" altLang="en-US" sz="2000" dirty="0">
                          <a:effectLst/>
                        </a:rPr>
                        <a:t>报告结构清晰，包含项目概况、工况材料、仿真结论和结果等关键章节，符合技术报告基本要求。</a:t>
                      </a:r>
                    </a:p>
                    <a:p>
                      <a:r>
                        <a:rPr lang="en-US" altLang="zh-CN" sz="2000" b="1" dirty="0">
                          <a:effectLst/>
                        </a:rPr>
                        <a:t>2. </a:t>
                      </a:r>
                      <a:r>
                        <a:rPr lang="zh-CN" altLang="en-US" sz="2000" b="1" dirty="0">
                          <a:effectLst/>
                        </a:rPr>
                        <a:t>项目背景和目标</a:t>
                      </a:r>
                    </a:p>
                    <a:p>
                      <a:r>
                        <a:rPr lang="zh-CN" altLang="en-US" sz="2000" b="1" dirty="0">
                          <a:effectLst/>
                        </a:rPr>
                        <a:t>审查结果</a:t>
                      </a:r>
                      <a:r>
                        <a:rPr lang="en-US" altLang="zh-CN" sz="2000" dirty="0">
                          <a:effectLst/>
                        </a:rPr>
                        <a:t>: </a:t>
                      </a:r>
                      <a:r>
                        <a:rPr lang="zh-CN" altLang="en-US" sz="2000" dirty="0">
                          <a:effectLst/>
                        </a:rPr>
                        <a:t>通过</a:t>
                      </a:r>
                    </a:p>
                    <a:p>
                      <a:r>
                        <a:rPr lang="zh-CN" altLang="en-US" sz="2000" b="1" dirty="0">
                          <a:effectLst/>
                        </a:rPr>
                        <a:t>评价</a:t>
                      </a:r>
                      <a:r>
                        <a:rPr lang="en-US" altLang="zh-CN" sz="2000" dirty="0">
                          <a:effectLst/>
                        </a:rPr>
                        <a:t>: </a:t>
                      </a:r>
                      <a:r>
                        <a:rPr lang="zh-CN" altLang="en-US" sz="2000" dirty="0">
                          <a:effectLst/>
                        </a:rPr>
                        <a:t>明确了分析目的（校核电池包结构强度）和输入条件（机械设计工程师提供的电池包），目标明确。</a:t>
                      </a:r>
                    </a:p>
                    <a:p>
                      <a:r>
                        <a:rPr lang="en-US" altLang="zh-CN" sz="2000" b="1" dirty="0">
                          <a:effectLst/>
                        </a:rPr>
                        <a:t>3. </a:t>
                      </a:r>
                      <a:r>
                        <a:rPr lang="zh-CN" altLang="en-US" sz="2000" b="1" dirty="0">
                          <a:effectLst/>
                        </a:rPr>
                        <a:t>材料参数定义</a:t>
                      </a:r>
                    </a:p>
                    <a:p>
                      <a:r>
                        <a:rPr lang="zh-CN" altLang="en-US" sz="2000" b="1" dirty="0">
                          <a:effectLst/>
                        </a:rPr>
                        <a:t>审查结果</a:t>
                      </a:r>
                      <a:r>
                        <a:rPr lang="en-US" altLang="zh-CN" sz="2000" dirty="0">
                          <a:effectLst/>
                        </a:rPr>
                        <a:t>: </a:t>
                      </a:r>
                      <a:r>
                        <a:rPr lang="zh-CN" altLang="en-US" sz="2000" dirty="0">
                          <a:effectLst/>
                        </a:rPr>
                        <a:t>通过</a:t>
                      </a:r>
                    </a:p>
                    <a:p>
                      <a:r>
                        <a:rPr lang="zh-CN" altLang="en-US" sz="2000" b="1" dirty="0">
                          <a:effectLst/>
                        </a:rPr>
                        <a:t>评价</a:t>
                      </a:r>
                      <a:r>
                        <a:rPr lang="en-US" altLang="zh-CN" sz="2000" dirty="0">
                          <a:effectLst/>
                        </a:rPr>
                        <a:t>: </a:t>
                      </a:r>
                      <a:r>
                        <a:rPr lang="zh-CN" altLang="en-US" sz="2000" dirty="0">
                          <a:effectLst/>
                        </a:rPr>
                        <a:t>材料参数表格完整，包含</a:t>
                      </a:r>
                      <a:r>
                        <a:rPr lang="en-US" altLang="zh-CN" sz="2000" dirty="0">
                          <a:effectLst/>
                        </a:rPr>
                        <a:t>7</a:t>
                      </a:r>
                      <a:r>
                        <a:rPr lang="zh-CN" altLang="en-US" sz="2000" dirty="0">
                          <a:effectLst/>
                        </a:rPr>
                        <a:t>种关键材料的屈服强度、极限强度和断裂延伸率，数据来源清晰。</a:t>
                      </a:r>
                    </a:p>
                    <a:p>
                      <a:r>
                        <a:rPr lang="en-US" altLang="zh-CN" sz="2000" b="1" dirty="0">
                          <a:effectLst/>
                        </a:rPr>
                        <a:t>4. </a:t>
                      </a:r>
                      <a:r>
                        <a:rPr lang="zh-CN" altLang="en-US" sz="2000" b="1" dirty="0">
                          <a:effectLst/>
                        </a:rPr>
                        <a:t>主要结构件安全评估</a:t>
                      </a:r>
                    </a:p>
                    <a:p>
                      <a:r>
                        <a:rPr lang="zh-CN" altLang="en-US" sz="2000" b="1" dirty="0">
                          <a:effectLst/>
                        </a:rPr>
                        <a:t>审查结果</a:t>
                      </a:r>
                      <a:r>
                        <a:rPr lang="en-US" altLang="zh-CN" sz="2000" dirty="0">
                          <a:effectLst/>
                        </a:rPr>
                        <a:t>: </a:t>
                      </a:r>
                      <a:r>
                        <a:rPr lang="zh-CN" altLang="en-US" sz="2000" dirty="0">
                          <a:effectLst/>
                        </a:rPr>
                        <a:t>通过</a:t>
                      </a:r>
                    </a:p>
                    <a:p>
                      <a:r>
                        <a:rPr lang="zh-CN" altLang="en-US" sz="2000" b="1" dirty="0">
                          <a:effectLst/>
                        </a:rPr>
                        <a:t>评价</a:t>
                      </a:r>
                      <a:r>
                        <a:rPr lang="en-US" altLang="zh-CN" sz="2000" dirty="0">
                          <a:effectLst/>
                        </a:rPr>
                        <a:t>: </a:t>
                      </a:r>
                      <a:r>
                        <a:rPr lang="zh-CN" altLang="en-US" sz="2000" dirty="0">
                          <a:effectLst/>
                        </a:rPr>
                        <a:t>箱体、焊缝、铝壳、导电排、液冷板、端板等关键部件均满足安全要求，安全裕度充足。</a:t>
                      </a:r>
                    </a:p>
                    <a:p>
                      <a:r>
                        <a:rPr lang="zh-CN" altLang="en-US" sz="2000" b="1" dirty="0">
                          <a:effectLst/>
                        </a:rPr>
                        <a:t>⚠️ 需要关注项目</a:t>
                      </a:r>
                    </a:p>
                    <a:p>
                      <a:r>
                        <a:rPr lang="en-US" altLang="zh-CN" sz="2000" b="1" dirty="0">
                          <a:effectLst/>
                        </a:rPr>
                        <a:t>1. </a:t>
                      </a:r>
                      <a:r>
                        <a:rPr lang="zh-CN" altLang="en-US" sz="2000" b="1" dirty="0">
                          <a:effectLst/>
                        </a:rPr>
                        <a:t>导热结构胶安全评估</a:t>
                      </a:r>
                    </a:p>
                    <a:p>
                      <a:r>
                        <a:rPr lang="zh-CN" altLang="en-US" sz="2000" b="1" dirty="0">
                          <a:effectLst/>
                        </a:rPr>
                        <a:t>审查结果</a:t>
                      </a:r>
                      <a:r>
                        <a:rPr lang="en-US" altLang="zh-CN" sz="2000" dirty="0">
                          <a:effectLst/>
                        </a:rPr>
                        <a:t>: </a:t>
                      </a:r>
                      <a:r>
                        <a:rPr lang="zh-CN" altLang="en-US" sz="2000" dirty="0">
                          <a:effectLst/>
                        </a:rPr>
                        <a:t>需要关注</a:t>
                      </a:r>
                    </a:p>
                    <a:p>
                      <a:r>
                        <a:rPr lang="zh-CN" altLang="en-US" sz="2000" b="1" dirty="0">
                          <a:effectLst/>
                        </a:rPr>
                        <a:t>问题描述</a:t>
                      </a:r>
                      <a:r>
                        <a:rPr lang="en-US" altLang="zh-CN" sz="2000" dirty="0">
                          <a:effectLst/>
                        </a:rPr>
                        <a:t>:</a:t>
                      </a:r>
                    </a:p>
                    <a:p>
                      <a:r>
                        <a:rPr lang="zh-CN" altLang="en-US" sz="2000" dirty="0">
                          <a:effectLst/>
                        </a:rPr>
                        <a:t>灌胶方案：剪切应力</a:t>
                      </a:r>
                      <a:r>
                        <a:rPr lang="en-US" altLang="zh-CN" sz="2000" dirty="0">
                          <a:effectLst/>
                        </a:rPr>
                        <a:t>4.26MPa &gt; </a:t>
                      </a:r>
                      <a:r>
                        <a:rPr lang="zh-CN" altLang="en-US" sz="2000" dirty="0">
                          <a:effectLst/>
                        </a:rPr>
                        <a:t>阈值</a:t>
                      </a:r>
                      <a:r>
                        <a:rPr lang="en-US" altLang="zh-CN" sz="2000" dirty="0">
                          <a:effectLst/>
                        </a:rPr>
                        <a:t>3.12MPa</a:t>
                      </a:r>
                    </a:p>
                    <a:p>
                      <a:r>
                        <a:rPr lang="en-US" altLang="zh-CN" sz="2000" dirty="0">
                          <a:effectLst/>
                        </a:rPr>
                        <a:t>PC</a:t>
                      </a:r>
                      <a:r>
                        <a:rPr lang="zh-CN" altLang="en-US" sz="2000" dirty="0">
                          <a:effectLst/>
                        </a:rPr>
                        <a:t>双面胶方案：剪切应力</a:t>
                      </a:r>
                      <a:r>
                        <a:rPr lang="en-US" altLang="zh-CN" sz="2000" dirty="0">
                          <a:effectLst/>
                        </a:rPr>
                        <a:t>3.91MPa &gt; </a:t>
                      </a:r>
                      <a:r>
                        <a:rPr lang="zh-CN" altLang="en-US" sz="2000" dirty="0">
                          <a:effectLst/>
                        </a:rPr>
                        <a:t>阈值</a:t>
                      </a:r>
                      <a:r>
                        <a:rPr lang="en-US" altLang="zh-CN" sz="2000" dirty="0">
                          <a:effectLst/>
                        </a:rPr>
                        <a:t>3.12MPa</a:t>
                      </a:r>
                    </a:p>
                    <a:p>
                      <a:r>
                        <a:rPr lang="zh-CN" altLang="en-US" sz="2000" b="1" dirty="0">
                          <a:effectLst/>
                        </a:rPr>
                        <a:t>风险评估</a:t>
                      </a:r>
                      <a:r>
                        <a:rPr lang="en-US" altLang="zh-CN" sz="2000" dirty="0">
                          <a:effectLst/>
                        </a:rPr>
                        <a:t>: </a:t>
                      </a:r>
                      <a:r>
                        <a:rPr lang="zh-CN" altLang="en-US" sz="2000" dirty="0">
                          <a:effectLst/>
                        </a:rPr>
                        <a:t>虽然失效面积</a:t>
                      </a:r>
                      <a:r>
                        <a:rPr lang="en-US" altLang="zh-CN" sz="2000" dirty="0">
                          <a:effectLst/>
                        </a:rPr>
                        <a:t>&lt;10%</a:t>
                      </a:r>
                      <a:r>
                        <a:rPr lang="zh-CN" altLang="en-US" sz="2000" dirty="0">
                          <a:effectLst/>
                        </a:rPr>
                        <a:t>满足要求，但剪切应力超出设计阈值，存在潜在风险</a:t>
                      </a:r>
                    </a:p>
                    <a:p>
                      <a:r>
                        <a:rPr lang="zh-CN" altLang="en-US" sz="2000" b="1" dirty="0">
                          <a:effectLst/>
                        </a:rPr>
                        <a:t>建议措施</a:t>
                      </a:r>
                      <a:r>
                        <a:rPr lang="en-US" altLang="zh-CN" sz="2000" dirty="0">
                          <a:effectLst/>
                        </a:rPr>
                        <a:t>:</a:t>
                      </a:r>
                    </a:p>
                    <a:p>
                      <a:r>
                        <a:rPr lang="zh-CN" altLang="en-US" sz="2000" dirty="0">
                          <a:effectLst/>
                        </a:rPr>
                        <a:t>立即进行结构胶材料性能验证试验</a:t>
                      </a:r>
                    </a:p>
                    <a:p>
                      <a:r>
                        <a:rPr lang="zh-CN" altLang="en-US" sz="2000" dirty="0">
                          <a:effectLst/>
                        </a:rPr>
                        <a:t>评估超出阈值对长期可靠性的影响</a:t>
                      </a:r>
                    </a:p>
                    <a:p>
                      <a:r>
                        <a:rPr lang="zh-CN" altLang="en-US" sz="2000" dirty="0">
                          <a:effectLst/>
                        </a:rPr>
                        <a:t>考虑优化灌胶工艺参数或材料选择</a:t>
                      </a:r>
                    </a:p>
                    <a:p>
                      <a:r>
                        <a:rPr lang="zh-CN" altLang="en-US" sz="2000" dirty="0">
                          <a:effectLst/>
                        </a:rPr>
                        <a:t>制定结构胶失效监控方案</a:t>
                      </a:r>
                    </a:p>
                    <a:p>
                      <a:r>
                        <a:rPr lang="en-US" altLang="zh-CN" sz="2000" b="1" dirty="0">
                          <a:effectLst/>
                        </a:rPr>
                        <a:t>2. </a:t>
                      </a:r>
                      <a:r>
                        <a:rPr lang="zh-CN" altLang="en-US" sz="2000" b="1" dirty="0">
                          <a:effectLst/>
                        </a:rPr>
                        <a:t>分析工况覆盖性</a:t>
                      </a:r>
                    </a:p>
                    <a:p>
                      <a:r>
                        <a:rPr lang="zh-CN" altLang="en-US" sz="2000" b="1" dirty="0">
                          <a:effectLst/>
                        </a:rPr>
                        <a:t>审查结果</a:t>
                      </a:r>
                      <a:r>
                        <a:rPr lang="en-US" altLang="zh-CN" sz="2000" dirty="0">
                          <a:effectLst/>
                        </a:rPr>
                        <a:t>: </a:t>
                      </a:r>
                      <a:r>
                        <a:rPr lang="zh-CN" altLang="en-US" sz="2000" dirty="0">
                          <a:effectLst/>
                        </a:rPr>
                        <a:t>需要关注</a:t>
                      </a:r>
                    </a:p>
                    <a:p>
                      <a:r>
                        <a:rPr lang="zh-CN" altLang="en-US" sz="2000" b="1" dirty="0">
                          <a:effectLst/>
                        </a:rPr>
                        <a:t>问题描述</a:t>
                      </a:r>
                      <a:r>
                        <a:rPr lang="en-US" altLang="zh-CN" sz="2000" dirty="0">
                          <a:effectLst/>
                        </a:rPr>
                        <a:t>: </a:t>
                      </a:r>
                      <a:r>
                        <a:rPr lang="zh-CN" altLang="en-US" sz="2000" dirty="0">
                          <a:effectLst/>
                        </a:rPr>
                        <a:t>仅分析了</a:t>
                      </a:r>
                      <a:r>
                        <a:rPr lang="en-US" altLang="zh-CN" sz="2000" dirty="0">
                          <a:effectLst/>
                        </a:rPr>
                        <a:t>20000N</a:t>
                      </a:r>
                      <a:r>
                        <a:rPr lang="zh-CN" altLang="en-US" sz="2000" dirty="0">
                          <a:effectLst/>
                        </a:rPr>
                        <a:t>膨胀力工况，缺乏其他关键工况验证</a:t>
                      </a:r>
                      <a:endParaRPr lang="en-GB" sz="2000" dirty="0"/>
                    </a:p>
                  </a:txBody>
                  <a:tcPr/>
                </a:tc>
                <a:tc>
                  <a:txBody>
                    <a:bodyPr/>
                    <a:lstStyle/>
                    <a:p>
                      <a:r>
                        <a:rPr lang="zh-CN" altLang="en-US" sz="2000" b="1" dirty="0">
                          <a:effectLst/>
                        </a:rPr>
                        <a:t>风险评估</a:t>
                      </a:r>
                      <a:r>
                        <a:rPr lang="en-US" altLang="zh-CN" sz="2000" dirty="0">
                          <a:effectLst/>
                        </a:rPr>
                        <a:t>: </a:t>
                      </a:r>
                      <a:r>
                        <a:rPr lang="zh-CN" altLang="en-US" sz="2000" dirty="0">
                          <a:effectLst/>
                        </a:rPr>
                        <a:t>可能遗漏极端工况下的结构安全性</a:t>
                      </a:r>
                    </a:p>
                    <a:p>
                      <a:r>
                        <a:rPr lang="zh-CN" altLang="en-US" sz="2000" b="1" dirty="0">
                          <a:effectLst/>
                        </a:rPr>
                        <a:t>建议措施</a:t>
                      </a:r>
                      <a:r>
                        <a:rPr lang="en-US" altLang="zh-CN" sz="2000" dirty="0">
                          <a:effectLst/>
                        </a:rPr>
                        <a:t>:</a:t>
                      </a:r>
                    </a:p>
                    <a:p>
                      <a:r>
                        <a:rPr lang="zh-CN" altLang="en-US" sz="2000" dirty="0">
                          <a:effectLst/>
                        </a:rPr>
                        <a:t>补充不同温度条件下的膨胀力分析</a:t>
                      </a:r>
                    </a:p>
                    <a:p>
                      <a:r>
                        <a:rPr lang="zh-CN" altLang="en-US" sz="2000" dirty="0">
                          <a:effectLst/>
                        </a:rPr>
                        <a:t>增加循环载荷工况分析</a:t>
                      </a:r>
                    </a:p>
                    <a:p>
                      <a:r>
                        <a:rPr lang="zh-CN" altLang="en-US" sz="2000" dirty="0">
                          <a:effectLst/>
                        </a:rPr>
                        <a:t>考虑电芯老化对膨胀力的影响</a:t>
                      </a:r>
                    </a:p>
                    <a:p>
                      <a:r>
                        <a:rPr lang="zh-CN" altLang="en-US" sz="2000" dirty="0">
                          <a:effectLst/>
                        </a:rPr>
                        <a:t>验证不同</a:t>
                      </a:r>
                      <a:r>
                        <a:rPr lang="en-US" altLang="zh-CN" sz="2000" dirty="0">
                          <a:effectLst/>
                        </a:rPr>
                        <a:t>SOC</a:t>
                      </a:r>
                      <a:r>
                        <a:rPr lang="zh-CN" altLang="en-US" sz="2000" dirty="0">
                          <a:effectLst/>
                        </a:rPr>
                        <a:t>状态下的结构响应</a:t>
                      </a:r>
                    </a:p>
                    <a:p>
                      <a:r>
                        <a:rPr lang="en-US" altLang="zh-CN" sz="2000" b="1" dirty="0">
                          <a:effectLst/>
                        </a:rPr>
                        <a:t>3. </a:t>
                      </a:r>
                      <a:r>
                        <a:rPr lang="zh-CN" altLang="en-US" sz="2000" b="1" dirty="0">
                          <a:effectLst/>
                        </a:rPr>
                        <a:t>模型验证和校准</a:t>
                      </a:r>
                    </a:p>
                    <a:p>
                      <a:r>
                        <a:rPr lang="zh-CN" altLang="en-US" sz="2000" b="1" dirty="0">
                          <a:effectLst/>
                        </a:rPr>
                        <a:t>审查结果</a:t>
                      </a:r>
                      <a:r>
                        <a:rPr lang="en-US" altLang="zh-CN" sz="2000" dirty="0">
                          <a:effectLst/>
                        </a:rPr>
                        <a:t>: </a:t>
                      </a:r>
                      <a:r>
                        <a:rPr lang="zh-CN" altLang="en-US" sz="2000" dirty="0">
                          <a:effectLst/>
                        </a:rPr>
                        <a:t>需要关注</a:t>
                      </a:r>
                    </a:p>
                    <a:p>
                      <a:r>
                        <a:rPr lang="zh-CN" altLang="en-US" sz="2000" b="1" dirty="0">
                          <a:effectLst/>
                        </a:rPr>
                        <a:t>问题描述</a:t>
                      </a:r>
                      <a:r>
                        <a:rPr lang="en-US" altLang="zh-CN" sz="2000" dirty="0">
                          <a:effectLst/>
                        </a:rPr>
                        <a:t>: </a:t>
                      </a:r>
                      <a:r>
                        <a:rPr lang="zh-CN" altLang="en-US" sz="2000" dirty="0">
                          <a:effectLst/>
                        </a:rPr>
                        <a:t>缺乏有限元模型的试验验证数据</a:t>
                      </a:r>
                    </a:p>
                    <a:p>
                      <a:r>
                        <a:rPr lang="zh-CN" altLang="en-US" sz="2000" b="1" dirty="0">
                          <a:effectLst/>
                        </a:rPr>
                        <a:t>风险评估</a:t>
                      </a:r>
                      <a:r>
                        <a:rPr lang="en-US" altLang="zh-CN" sz="2000" dirty="0">
                          <a:effectLst/>
                        </a:rPr>
                        <a:t>: </a:t>
                      </a:r>
                      <a:r>
                        <a:rPr lang="zh-CN" altLang="en-US" sz="2000" dirty="0">
                          <a:effectLst/>
                        </a:rPr>
                        <a:t>仿真结果可信度需要进一步确认</a:t>
                      </a:r>
                    </a:p>
                    <a:p>
                      <a:r>
                        <a:rPr lang="zh-CN" altLang="en-US" sz="2000" b="1" dirty="0">
                          <a:effectLst/>
                        </a:rPr>
                        <a:t>建议措施</a:t>
                      </a:r>
                      <a:r>
                        <a:rPr lang="en-US" altLang="zh-CN" sz="2000" dirty="0">
                          <a:effectLst/>
                        </a:rPr>
                        <a:t>:</a:t>
                      </a:r>
                    </a:p>
                    <a:p>
                      <a:r>
                        <a:rPr lang="zh-CN" altLang="en-US" sz="2000" dirty="0">
                          <a:effectLst/>
                        </a:rPr>
                        <a:t>进行关键部件的试验验证</a:t>
                      </a:r>
                    </a:p>
                    <a:p>
                      <a:r>
                        <a:rPr lang="zh-CN" altLang="en-US" sz="2000" dirty="0">
                          <a:effectLst/>
                        </a:rPr>
                        <a:t>对比仿真结果与实测数据</a:t>
                      </a:r>
                    </a:p>
                    <a:p>
                      <a:r>
                        <a:rPr lang="zh-CN" altLang="en-US" sz="2000" dirty="0">
                          <a:effectLst/>
                        </a:rPr>
                        <a:t>建立模型校准流程</a:t>
                      </a:r>
                    </a:p>
                    <a:p>
                      <a:r>
                        <a:rPr lang="zh-CN" altLang="en-US" sz="2000" dirty="0">
                          <a:effectLst/>
                        </a:rPr>
                        <a:t>制定模型更新和维护计划</a:t>
                      </a:r>
                    </a:p>
                    <a:p>
                      <a:r>
                        <a:rPr lang="zh-CN" altLang="en-US" sz="2000" b="1" dirty="0">
                          <a:effectLst/>
                        </a:rPr>
                        <a:t>❌ 不通过项目</a:t>
                      </a:r>
                    </a:p>
                    <a:p>
                      <a:r>
                        <a:rPr lang="en-US" altLang="zh-CN" sz="2000" b="1" dirty="0">
                          <a:effectLst/>
                        </a:rPr>
                        <a:t>1. </a:t>
                      </a:r>
                      <a:r>
                        <a:rPr lang="zh-CN" altLang="en-US" sz="2000" b="1" dirty="0">
                          <a:effectLst/>
                        </a:rPr>
                        <a:t>文档版本控制</a:t>
                      </a:r>
                    </a:p>
                    <a:p>
                      <a:r>
                        <a:rPr lang="zh-CN" altLang="en-US" sz="2000" b="1" dirty="0">
                          <a:effectLst/>
                        </a:rPr>
                        <a:t>审查结果</a:t>
                      </a:r>
                      <a:r>
                        <a:rPr lang="en-US" altLang="zh-CN" sz="2000" dirty="0">
                          <a:effectLst/>
                        </a:rPr>
                        <a:t>: </a:t>
                      </a:r>
                      <a:r>
                        <a:rPr lang="zh-CN" altLang="en-US" sz="2000" dirty="0">
                          <a:effectLst/>
                        </a:rPr>
                        <a:t>不通过</a:t>
                      </a:r>
                    </a:p>
                    <a:p>
                      <a:r>
                        <a:rPr lang="zh-CN" altLang="en-US" sz="2000" b="1" dirty="0">
                          <a:effectLst/>
                        </a:rPr>
                        <a:t>问题描述</a:t>
                      </a:r>
                      <a:r>
                        <a:rPr lang="en-US" altLang="zh-CN" sz="2000" dirty="0">
                          <a:effectLst/>
                        </a:rPr>
                        <a:t>: </a:t>
                      </a:r>
                      <a:r>
                        <a:rPr lang="zh-CN" altLang="en-US" sz="2000" dirty="0">
                          <a:effectLst/>
                        </a:rPr>
                        <a:t>报告缺少版本号、修订历史、审核人员信息等关键管理信息</a:t>
                      </a:r>
                    </a:p>
                    <a:p>
                      <a:r>
                        <a:rPr lang="zh-CN" altLang="en-US" sz="2000" b="1" dirty="0">
                          <a:effectLst/>
                        </a:rPr>
                        <a:t>影响</a:t>
                      </a:r>
                      <a:r>
                        <a:rPr lang="en-US" altLang="zh-CN" sz="2000" dirty="0">
                          <a:effectLst/>
                        </a:rPr>
                        <a:t>: </a:t>
                      </a:r>
                      <a:r>
                        <a:rPr lang="zh-CN" altLang="en-US" sz="2000" dirty="0">
                          <a:effectLst/>
                        </a:rPr>
                        <a:t>不符合</a:t>
                      </a:r>
                      <a:r>
                        <a:rPr lang="en-US" altLang="zh-CN" sz="2000" dirty="0">
                          <a:effectLst/>
                        </a:rPr>
                        <a:t>APQP</a:t>
                      </a:r>
                      <a:r>
                        <a:rPr lang="zh-CN" altLang="en-US" sz="2000" dirty="0">
                          <a:effectLst/>
                        </a:rPr>
                        <a:t>文档管理要求，影响追溯性</a:t>
                      </a:r>
                    </a:p>
                    <a:p>
                      <a:r>
                        <a:rPr lang="zh-CN" altLang="en-US" sz="2000" b="1" dirty="0">
                          <a:effectLst/>
                        </a:rPr>
                        <a:t>建议措施</a:t>
                      </a:r>
                      <a:r>
                        <a:rPr lang="en-US" altLang="zh-CN" sz="2000" dirty="0">
                          <a:effectLst/>
                        </a:rPr>
                        <a:t>:</a:t>
                      </a:r>
                    </a:p>
                    <a:p>
                      <a:r>
                        <a:rPr lang="zh-CN" altLang="en-US" sz="2000" dirty="0">
                          <a:effectLst/>
                        </a:rPr>
                        <a:t>立即添加文档版本控制信息</a:t>
                      </a:r>
                    </a:p>
                    <a:p>
                      <a:r>
                        <a:rPr lang="zh-CN" altLang="en-US" sz="2000" dirty="0">
                          <a:effectLst/>
                        </a:rPr>
                        <a:t>建立文档审核和批准流程</a:t>
                      </a:r>
                    </a:p>
                    <a:p>
                      <a:r>
                        <a:rPr lang="zh-CN" altLang="en-US" sz="2000" dirty="0">
                          <a:effectLst/>
                        </a:rPr>
                        <a:t>明确技术负责人和审核人员</a:t>
                      </a:r>
                    </a:p>
                    <a:p>
                      <a:r>
                        <a:rPr lang="zh-CN" altLang="en-US" sz="2000" dirty="0">
                          <a:effectLst/>
                        </a:rPr>
                        <a:t>制定文档更新和维护计划</a:t>
                      </a:r>
                    </a:p>
                    <a:p>
                      <a:r>
                        <a:rPr lang="en-US" altLang="zh-CN" sz="2000" b="1" dirty="0">
                          <a:effectLst/>
                        </a:rPr>
                        <a:t>2. </a:t>
                      </a:r>
                      <a:r>
                        <a:rPr lang="zh-CN" altLang="en-US" sz="2000" b="1" dirty="0">
                          <a:effectLst/>
                        </a:rPr>
                        <a:t>风险识别和应对措施</a:t>
                      </a:r>
                    </a:p>
                    <a:p>
                      <a:r>
                        <a:rPr lang="zh-CN" altLang="en-US" sz="2000" b="1" dirty="0">
                          <a:effectLst/>
                        </a:rPr>
                        <a:t>审查结果</a:t>
                      </a:r>
                      <a:r>
                        <a:rPr lang="en-US" altLang="zh-CN" sz="2000" dirty="0">
                          <a:effectLst/>
                        </a:rPr>
                        <a:t>: </a:t>
                      </a:r>
                      <a:r>
                        <a:rPr lang="zh-CN" altLang="en-US" sz="2000" dirty="0">
                          <a:effectLst/>
                        </a:rPr>
                        <a:t>不通过</a:t>
                      </a:r>
                    </a:p>
                    <a:p>
                      <a:r>
                        <a:rPr lang="zh-CN" altLang="en-US" sz="2000" b="1" dirty="0">
                          <a:effectLst/>
                        </a:rPr>
                        <a:t>问题描述</a:t>
                      </a:r>
                      <a:r>
                        <a:rPr lang="en-US" altLang="zh-CN" sz="2000" dirty="0">
                          <a:effectLst/>
                        </a:rPr>
                        <a:t>: </a:t>
                      </a:r>
                      <a:r>
                        <a:rPr lang="zh-CN" altLang="en-US" sz="2000" dirty="0">
                          <a:effectLst/>
                        </a:rPr>
                        <a:t>报告缺乏系统性风险识别和应对措施</a:t>
                      </a:r>
                    </a:p>
                    <a:p>
                      <a:r>
                        <a:rPr lang="zh-CN" altLang="en-US" sz="2000" b="1" dirty="0">
                          <a:effectLst/>
                        </a:rPr>
                        <a:t>影响</a:t>
                      </a:r>
                      <a:r>
                        <a:rPr lang="en-US" altLang="zh-CN" sz="2000" dirty="0">
                          <a:effectLst/>
                        </a:rPr>
                        <a:t>: </a:t>
                      </a:r>
                      <a:r>
                        <a:rPr lang="zh-CN" altLang="en-US" sz="2000" dirty="0">
                          <a:effectLst/>
                        </a:rPr>
                        <a:t>无法确保产品全生命周期安全性</a:t>
                      </a:r>
                    </a:p>
                    <a:p>
                      <a:r>
                        <a:rPr lang="zh-CN" altLang="en-US" sz="2000" b="1" dirty="0">
                          <a:effectLst/>
                        </a:rPr>
                        <a:t>建议措施</a:t>
                      </a:r>
                      <a:r>
                        <a:rPr lang="en-US" altLang="zh-CN" sz="2000" dirty="0">
                          <a:effectLst/>
                        </a:rPr>
                        <a:t>:</a:t>
                      </a:r>
                    </a:p>
                    <a:p>
                      <a:r>
                        <a:rPr lang="zh-CN" altLang="en-US" sz="2000" dirty="0">
                          <a:effectLst/>
                        </a:rPr>
                        <a:t>建立</a:t>
                      </a:r>
                      <a:r>
                        <a:rPr lang="en-US" altLang="zh-CN" sz="2000" dirty="0">
                          <a:effectLst/>
                        </a:rPr>
                        <a:t>FMEA</a:t>
                      </a:r>
                      <a:r>
                        <a:rPr lang="zh-CN" altLang="en-US" sz="2000" dirty="0">
                          <a:effectLst/>
                        </a:rPr>
                        <a:t>分析流程</a:t>
                      </a:r>
                    </a:p>
                    <a:p>
                      <a:r>
                        <a:rPr lang="zh-CN" altLang="en-US" sz="2000" dirty="0">
                          <a:effectLst/>
                        </a:rPr>
                        <a:t>识别关键失效模式</a:t>
                      </a:r>
                    </a:p>
                    <a:p>
                      <a:r>
                        <a:rPr lang="zh-CN" altLang="en-US" sz="2000" dirty="0">
                          <a:effectLst/>
                        </a:rPr>
                        <a:t>制定预防和检测措施</a:t>
                      </a:r>
                    </a:p>
                    <a:p>
                      <a:r>
                        <a:rPr lang="zh-CN" altLang="en-US" sz="2000" dirty="0">
                          <a:effectLst/>
                        </a:rPr>
                        <a:t>建立风险监控和预警机制</a:t>
                      </a:r>
                    </a:p>
                    <a:p>
                      <a:pPr>
                        <a:spcBef>
                          <a:spcPts val="150"/>
                        </a:spcBef>
                        <a:spcAft>
                          <a:spcPts val="150"/>
                        </a:spcAft>
                        <a:buFont typeface="+mj-lt"/>
                        <a:buAutoNum type="arabicPeriod"/>
                      </a:pPr>
                      <a:endParaRPr lang="en-GB" sz="2000" dirty="0"/>
                    </a:p>
                  </a:txBody>
                  <a:tcPr/>
                </a:tc>
                <a:tc>
                  <a:txBody>
                    <a:bodyPr/>
                    <a:lstStyle/>
                    <a:p>
                      <a:r>
                        <a:rPr lang="zh-CN" altLang="en-US" sz="2000" b="1" dirty="0">
                          <a:effectLst/>
                        </a:rPr>
                        <a:t>技术评价</a:t>
                      </a:r>
                    </a:p>
                    <a:p>
                      <a:r>
                        <a:rPr lang="zh-CN" altLang="en-US" sz="2000" dirty="0">
                          <a:effectLst/>
                        </a:rPr>
                        <a:t>该仿真分析报告在技术层面基本满足</a:t>
                      </a:r>
                      <a:r>
                        <a:rPr lang="en-US" altLang="zh-CN" sz="2000" dirty="0">
                          <a:effectLst/>
                        </a:rPr>
                        <a:t>B</a:t>
                      </a:r>
                      <a:r>
                        <a:rPr lang="zh-CN" altLang="en-US" sz="2000" dirty="0">
                          <a:effectLst/>
                        </a:rPr>
                        <a:t>样阶段要求，主要结构件安全裕度充足，但导热结构胶存在潜在风险需要重点关注。</a:t>
                      </a:r>
                      <a:endParaRPr lang="en-GB" altLang="zh-CN" sz="2000" dirty="0">
                        <a:effectLst/>
                      </a:endParaRPr>
                    </a:p>
                    <a:p>
                      <a:r>
                        <a:rPr lang="zh-CN" altLang="en-US" sz="2000" b="1" dirty="0">
                          <a:effectLst/>
                        </a:rPr>
                        <a:t>管理评价</a:t>
                      </a:r>
                    </a:p>
                    <a:p>
                      <a:r>
                        <a:rPr lang="zh-CN" altLang="en-US" sz="2000" dirty="0">
                          <a:effectLst/>
                        </a:rPr>
                        <a:t>文档管理规范性不足，缺乏版本控制和风险管理系统，需要立即改进以满足</a:t>
                      </a:r>
                      <a:r>
                        <a:rPr lang="en-US" altLang="zh-CN" sz="2000" dirty="0">
                          <a:effectLst/>
                        </a:rPr>
                        <a:t>APQP</a:t>
                      </a:r>
                      <a:r>
                        <a:rPr lang="zh-CN" altLang="en-US" sz="2000" dirty="0">
                          <a:effectLst/>
                        </a:rPr>
                        <a:t>要求。</a:t>
                      </a:r>
                      <a:endParaRPr lang="en-GB" altLang="zh-CN" sz="2000" dirty="0">
                        <a:effectLst/>
                      </a:endParaRPr>
                    </a:p>
                    <a:p>
                      <a:endParaRPr lang="en-GB" altLang="zh-CN" sz="2000" dirty="0">
                        <a:effectLst/>
                      </a:endParaRPr>
                    </a:p>
                    <a:p>
                      <a:r>
                        <a:rPr lang="zh-CN" altLang="en-US" sz="2000" b="1" dirty="0">
                          <a:effectLst/>
                        </a:rPr>
                        <a:t>后续行动建议</a:t>
                      </a:r>
                    </a:p>
                    <a:p>
                      <a:r>
                        <a:rPr lang="zh-CN" altLang="en-US" sz="2000" b="1" dirty="0">
                          <a:effectLst/>
                        </a:rPr>
                        <a:t>短期行动（</a:t>
                      </a:r>
                      <a:r>
                        <a:rPr lang="en-US" altLang="zh-CN" sz="2000" b="1" dirty="0">
                          <a:effectLst/>
                        </a:rPr>
                        <a:t>1-2</a:t>
                      </a:r>
                      <a:r>
                        <a:rPr lang="zh-CN" altLang="en-US" sz="2000" b="1" dirty="0">
                          <a:effectLst/>
                        </a:rPr>
                        <a:t>周内）</a:t>
                      </a:r>
                    </a:p>
                    <a:p>
                      <a:r>
                        <a:rPr lang="zh-CN" altLang="en-US" sz="2000" dirty="0">
                          <a:effectLst/>
                        </a:rPr>
                        <a:t>补充文档版本控制信息</a:t>
                      </a:r>
                    </a:p>
                    <a:p>
                      <a:r>
                        <a:rPr lang="zh-CN" altLang="en-US" sz="2000" dirty="0">
                          <a:effectLst/>
                        </a:rPr>
                        <a:t>进行结构胶材料性能验证试验</a:t>
                      </a:r>
                    </a:p>
                    <a:p>
                      <a:r>
                        <a:rPr lang="zh-CN" altLang="en-US" sz="2000" dirty="0">
                          <a:effectLst/>
                        </a:rPr>
                        <a:t>制定结构胶失效监控方案</a:t>
                      </a:r>
                    </a:p>
                    <a:p>
                      <a:r>
                        <a:rPr lang="zh-CN" altLang="en-US" sz="2000" b="1" dirty="0">
                          <a:effectLst/>
                        </a:rPr>
                        <a:t>中期行动（</a:t>
                      </a:r>
                      <a:r>
                        <a:rPr lang="en-US" altLang="zh-CN" sz="2000" b="1" dirty="0">
                          <a:effectLst/>
                        </a:rPr>
                        <a:t>1</a:t>
                      </a:r>
                      <a:r>
                        <a:rPr lang="zh-CN" altLang="en-US" sz="2000" b="1" dirty="0">
                          <a:effectLst/>
                        </a:rPr>
                        <a:t>个月内）</a:t>
                      </a:r>
                    </a:p>
                    <a:p>
                      <a:r>
                        <a:rPr lang="zh-CN" altLang="en-US" sz="2000" dirty="0">
                          <a:effectLst/>
                        </a:rPr>
                        <a:t>建立</a:t>
                      </a:r>
                      <a:r>
                        <a:rPr lang="en-US" altLang="zh-CN" sz="2000" dirty="0">
                          <a:effectLst/>
                        </a:rPr>
                        <a:t>FMEA</a:t>
                      </a:r>
                      <a:r>
                        <a:rPr lang="zh-CN" altLang="en-US" sz="2000" dirty="0">
                          <a:effectLst/>
                        </a:rPr>
                        <a:t>分析体系</a:t>
                      </a:r>
                    </a:p>
                    <a:p>
                      <a:r>
                        <a:rPr lang="zh-CN" altLang="en-US" sz="2000" dirty="0">
                          <a:effectLst/>
                        </a:rPr>
                        <a:t>补充多工况仿真分析</a:t>
                      </a:r>
                    </a:p>
                    <a:p>
                      <a:r>
                        <a:rPr lang="zh-CN" altLang="en-US" sz="2000" dirty="0">
                          <a:effectLst/>
                        </a:rPr>
                        <a:t>进行模型试验验证</a:t>
                      </a:r>
                    </a:p>
                    <a:p>
                      <a:r>
                        <a:rPr lang="zh-CN" altLang="en-US" sz="2000" b="1" dirty="0">
                          <a:effectLst/>
                        </a:rPr>
                        <a:t>长期行动（</a:t>
                      </a:r>
                      <a:r>
                        <a:rPr lang="en-US" altLang="zh-CN" sz="2000" b="1" dirty="0">
                          <a:effectLst/>
                        </a:rPr>
                        <a:t>3</a:t>
                      </a:r>
                      <a:r>
                        <a:rPr lang="zh-CN" altLang="en-US" sz="2000" b="1" dirty="0">
                          <a:effectLst/>
                        </a:rPr>
                        <a:t>个月内）</a:t>
                      </a:r>
                    </a:p>
                    <a:p>
                      <a:r>
                        <a:rPr lang="zh-CN" altLang="en-US" sz="2000" dirty="0">
                          <a:effectLst/>
                        </a:rPr>
                        <a:t>建立完整的风险监控体系</a:t>
                      </a:r>
                    </a:p>
                    <a:p>
                      <a:r>
                        <a:rPr lang="zh-CN" altLang="en-US" sz="2000" dirty="0">
                          <a:effectLst/>
                        </a:rPr>
                        <a:t>完善文档管理流程</a:t>
                      </a:r>
                    </a:p>
                    <a:p>
                      <a:r>
                        <a:rPr lang="zh-CN" altLang="en-US" sz="2000" dirty="0">
                          <a:effectLst/>
                        </a:rPr>
                        <a:t>制定持续改进计划</a:t>
                      </a:r>
                    </a:p>
                    <a:p>
                      <a:r>
                        <a:rPr lang="zh-CN" altLang="en-US" sz="2000" b="1" dirty="0">
                          <a:effectLst/>
                        </a:rPr>
                        <a:t>质量门禁评估</a:t>
                      </a:r>
                    </a:p>
                    <a:p>
                      <a:r>
                        <a:rPr lang="zh-CN" altLang="en-US" sz="2000" dirty="0">
                          <a:effectLst/>
                        </a:rPr>
                        <a:t>基于当前审查结果，该报告</a:t>
                      </a:r>
                      <a:r>
                        <a:rPr lang="zh-CN" altLang="en-US" sz="2000" b="0" dirty="0">
                          <a:effectLst/>
                        </a:rPr>
                        <a:t>暂不满足</a:t>
                      </a:r>
                      <a:r>
                        <a:rPr lang="en-US" altLang="zh-CN" sz="2000" b="0" dirty="0">
                          <a:effectLst/>
                        </a:rPr>
                        <a:t>Gate 3</a:t>
                      </a:r>
                      <a:r>
                        <a:rPr lang="zh-CN" altLang="en-US" sz="2000" b="0" dirty="0">
                          <a:effectLst/>
                        </a:rPr>
                        <a:t>（产品设计验证）</a:t>
                      </a:r>
                      <a:r>
                        <a:rPr lang="zh-CN" altLang="en-US" sz="2000" dirty="0">
                          <a:effectLst/>
                        </a:rPr>
                        <a:t>的完整要求，建议在完成上述改进措施后重新评估。</a:t>
                      </a:r>
                      <a:endParaRPr lang="en-GB" sz="2000" dirty="0"/>
                    </a:p>
                  </a:txBody>
                  <a:tcPr/>
                </a:tc>
                <a:extLst>
                  <a:ext uri="{0D108BD9-81ED-4DB2-BD59-A6C34878D82A}">
                    <a16:rowId xmlns:a16="http://schemas.microsoft.com/office/drawing/2014/main" val="604853937"/>
                  </a:ext>
                </a:extLst>
              </a:tr>
            </a:tbl>
          </a:graphicData>
        </a:graphic>
      </p:graphicFrame>
    </p:spTree>
    <p:extLst>
      <p:ext uri="{BB962C8B-B14F-4D97-AF65-F5344CB8AC3E}">
        <p14:creationId xmlns:p14="http://schemas.microsoft.com/office/powerpoint/2010/main" val="824410120"/>
      </p:ext>
    </p:extLst>
  </p:cSld>
  <p:clrMapOvr>
    <a:masterClrMapping/>
  </p:clrMapOvr>
  <p:transition spd="med"/>
  <p:extLst>
    <p:ext uri="{6950BFC3-D8DA-4A85-94F7-54DA5524770B}">
      <p188:commentRel xmlns:p188="http://schemas.microsoft.com/office/powerpoint/2018/8/main" r:id="rId2"/>
    </p:ext>
  </p:extLs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8EEA0D-7C5B-3706-BFA4-5B488CDCA2F3}"/>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B5F57D05-FB17-3522-F365-F2B15319C40C}"/>
              </a:ext>
            </a:extLst>
          </p:cNvPr>
          <p:cNvSpPr txBox="1"/>
          <p:nvPr/>
        </p:nvSpPr>
        <p:spPr>
          <a:xfrm>
            <a:off x="1737559" y="755986"/>
            <a:ext cx="17078475" cy="646331"/>
          </a:xfrm>
          <a:prstGeom prst="rect">
            <a:avLst/>
          </a:prstGeom>
          <a:noFill/>
        </p:spPr>
        <p:txBody>
          <a:bodyPr wrap="square" numCol="1">
            <a:spAutoFit/>
          </a:bodyPr>
          <a:lstStyle/>
          <a:p>
            <a:pPr>
              <a:spcBef>
                <a:spcPts val="1500"/>
              </a:spcBef>
              <a:spcAft>
                <a:spcPts val="750"/>
              </a:spcAft>
              <a:buNone/>
            </a:pPr>
            <a:r>
              <a:rPr lang="en-US" altLang="zh-CN" sz="3600" b="1" dirty="0">
                <a:effectLst/>
              </a:rPr>
              <a:t>B</a:t>
            </a:r>
            <a:r>
              <a:rPr lang="zh-CN" altLang="en-US" sz="3600" b="1" dirty="0">
                <a:effectLst/>
              </a:rPr>
              <a:t>样阶段</a:t>
            </a:r>
            <a:r>
              <a:rPr lang="en-US" altLang="zh-CN" sz="3600" b="1" dirty="0"/>
              <a:t>《570-941B</a:t>
            </a:r>
            <a:r>
              <a:rPr lang="zh-CN" altLang="en-US" sz="3600" b="1" dirty="0"/>
              <a:t>电池包挤压分析</a:t>
            </a:r>
            <a:r>
              <a:rPr lang="en-US" altLang="zh-CN" sz="3600" b="1" dirty="0"/>
              <a:t>-20240603(</a:t>
            </a:r>
            <a:r>
              <a:rPr lang="zh-CN" altLang="en-US" sz="3600" b="1" dirty="0"/>
              <a:t>纵梁灌胶</a:t>
            </a:r>
            <a:r>
              <a:rPr lang="en-US" altLang="zh-CN" sz="3600" b="1" dirty="0"/>
              <a:t>).pptx》</a:t>
            </a:r>
            <a:r>
              <a:rPr lang="zh-CN" altLang="en-US" sz="3600" b="1" dirty="0">
                <a:effectLst/>
              </a:rPr>
              <a:t>审核报告</a:t>
            </a:r>
          </a:p>
        </p:txBody>
      </p:sp>
      <p:graphicFrame>
        <p:nvGraphicFramePr>
          <p:cNvPr id="2" name="表格 1">
            <a:extLst>
              <a:ext uri="{FF2B5EF4-FFF2-40B4-BE49-F238E27FC236}">
                <a16:creationId xmlns:a16="http://schemas.microsoft.com/office/drawing/2014/main" id="{DDD9458B-622F-255F-A0DA-37A51BEA5CB8}"/>
              </a:ext>
            </a:extLst>
          </p:cNvPr>
          <p:cNvGraphicFramePr>
            <a:graphicFrameLocks noGrp="1"/>
          </p:cNvGraphicFramePr>
          <p:nvPr>
            <p:extLst>
              <p:ext uri="{D42A27DB-BD31-4B8C-83A1-F6EECF244321}">
                <p14:modId xmlns:p14="http://schemas.microsoft.com/office/powerpoint/2010/main" val="3017378044"/>
              </p:ext>
            </p:extLst>
          </p:nvPr>
        </p:nvGraphicFramePr>
        <p:xfrm>
          <a:off x="890954" y="1570370"/>
          <a:ext cx="23059292" cy="11539239"/>
        </p:xfrm>
        <a:graphic>
          <a:graphicData uri="http://schemas.openxmlformats.org/drawingml/2006/table">
            <a:tbl>
              <a:tblPr firstRow="1" bandRow="1"/>
              <a:tblGrid>
                <a:gridCol w="4607171">
                  <a:extLst>
                    <a:ext uri="{9D8B030D-6E8A-4147-A177-3AD203B41FA5}">
                      <a16:colId xmlns:a16="http://schemas.microsoft.com/office/drawing/2014/main" val="520135011"/>
                    </a:ext>
                  </a:extLst>
                </a:gridCol>
                <a:gridCol w="5908430">
                  <a:extLst>
                    <a:ext uri="{9D8B030D-6E8A-4147-A177-3AD203B41FA5}">
                      <a16:colId xmlns:a16="http://schemas.microsoft.com/office/drawing/2014/main" val="585926975"/>
                    </a:ext>
                  </a:extLst>
                </a:gridCol>
                <a:gridCol w="6778868">
                  <a:extLst>
                    <a:ext uri="{9D8B030D-6E8A-4147-A177-3AD203B41FA5}">
                      <a16:colId xmlns:a16="http://schemas.microsoft.com/office/drawing/2014/main" val="3081416713"/>
                    </a:ext>
                  </a:extLst>
                </a:gridCol>
                <a:gridCol w="5764823">
                  <a:extLst>
                    <a:ext uri="{9D8B030D-6E8A-4147-A177-3AD203B41FA5}">
                      <a16:colId xmlns:a16="http://schemas.microsoft.com/office/drawing/2014/main" val="572010187"/>
                    </a:ext>
                  </a:extLst>
                </a:gridCol>
              </a:tblGrid>
              <a:tr h="474999">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审查清单制定</a:t>
                      </a:r>
                    </a:p>
                  </a:txBody>
                  <a:tcPr anchor="ctr"/>
                </a:tc>
                <a:tc gridSpan="2">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逐项审核结果</a:t>
                      </a:r>
                    </a:p>
                  </a:txBody>
                  <a:tcPr anchor="ctr"/>
                </a:tc>
                <a:tc hMerge="1">
                  <a:txBody>
                    <a:bodyPr/>
                    <a:lstStyle/>
                    <a:p>
                      <a:pPr algn="ctr"/>
                      <a:endParaRPr lang="en-GB" sz="2000" dirty="0"/>
                    </a:p>
                  </a:txBody>
                  <a:tcPr/>
                </a:tc>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总体评估</a:t>
                      </a:r>
                    </a:p>
                  </a:txBody>
                  <a:tcPr anchor="ctr"/>
                </a:tc>
                <a:extLst>
                  <a:ext uri="{0D108BD9-81ED-4DB2-BD59-A6C34878D82A}">
                    <a16:rowId xmlns:a16="http://schemas.microsoft.com/office/drawing/2014/main" val="2562292327"/>
                  </a:ext>
                </a:extLst>
              </a:tr>
              <a:tr h="10086326">
                <a:tc>
                  <a:txBody>
                    <a:bodyPr/>
                    <a:lstStyle/>
                    <a:p>
                      <a:r>
                        <a:rPr lang="en-US" altLang="zh-CN" sz="2000" b="1" dirty="0">
                          <a:effectLst/>
                        </a:rPr>
                        <a:t>1. </a:t>
                      </a:r>
                      <a:r>
                        <a:rPr lang="zh-CN" altLang="en-US" sz="2000" b="1" dirty="0">
                          <a:effectLst/>
                        </a:rPr>
                        <a:t>文档结构与完整性审查</a:t>
                      </a:r>
                    </a:p>
                    <a:p>
                      <a:pPr marL="342900" indent="-342900">
                        <a:buFont typeface="Arial" panose="020B0604020202020204" pitchFamily="34" charset="0"/>
                        <a:buChar char="•"/>
                      </a:pPr>
                      <a:r>
                        <a:rPr lang="zh-CN" altLang="en-US" sz="2000" dirty="0">
                          <a:effectLst/>
                        </a:rPr>
                        <a:t>文档标题与项目编号一致性</a:t>
                      </a:r>
                    </a:p>
                    <a:p>
                      <a:pPr marL="342900" indent="-342900">
                        <a:buFont typeface="Arial" panose="020B0604020202020204" pitchFamily="34" charset="0"/>
                        <a:buChar char="•"/>
                      </a:pPr>
                      <a:r>
                        <a:rPr lang="zh-CN" altLang="en-US" sz="2000" dirty="0">
                          <a:effectLst/>
                        </a:rPr>
                        <a:t>目录结构完整性</a:t>
                      </a:r>
                    </a:p>
                    <a:p>
                      <a:pPr marL="342900" indent="-342900">
                        <a:buFont typeface="Arial" panose="020B0604020202020204" pitchFamily="34" charset="0"/>
                        <a:buChar char="•"/>
                      </a:pPr>
                      <a:r>
                        <a:rPr lang="zh-CN" altLang="en-US" sz="2000" dirty="0">
                          <a:effectLst/>
                        </a:rPr>
                        <a:t>页码编号连续性</a:t>
                      </a:r>
                    </a:p>
                    <a:p>
                      <a:pPr marL="342900" indent="-342900">
                        <a:buFont typeface="Arial" panose="020B0604020202020204" pitchFamily="34" charset="0"/>
                        <a:buChar char="•"/>
                      </a:pPr>
                      <a:r>
                        <a:rPr lang="zh-CN" altLang="en-US" sz="2000" dirty="0">
                          <a:effectLst/>
                        </a:rPr>
                        <a:t>图表编号与引用一致性</a:t>
                      </a:r>
                    </a:p>
                    <a:p>
                      <a:r>
                        <a:rPr lang="en-US" altLang="zh-CN" sz="2000" b="1" dirty="0">
                          <a:effectLst/>
                        </a:rPr>
                        <a:t>2. </a:t>
                      </a:r>
                      <a:r>
                        <a:rPr lang="zh-CN" altLang="en-US" sz="2000" b="1" dirty="0">
                          <a:effectLst/>
                        </a:rPr>
                        <a:t>项目背景与目标审查</a:t>
                      </a:r>
                    </a:p>
                    <a:p>
                      <a:pPr marL="342900" indent="-342900">
                        <a:buFont typeface="Arial" panose="020B0604020202020204" pitchFamily="34" charset="0"/>
                        <a:buChar char="•"/>
                      </a:pPr>
                      <a:r>
                        <a:rPr lang="zh-CN" altLang="en-US" sz="2000" dirty="0">
                          <a:effectLst/>
                        </a:rPr>
                        <a:t>项目背景描述清晰性</a:t>
                      </a:r>
                    </a:p>
                    <a:p>
                      <a:pPr marL="342900" indent="-342900">
                        <a:buFont typeface="Arial" panose="020B0604020202020204" pitchFamily="34" charset="0"/>
                        <a:buChar char="•"/>
                      </a:pPr>
                      <a:r>
                        <a:rPr lang="zh-CN" altLang="en-US" sz="2000" dirty="0">
                          <a:effectLst/>
                        </a:rPr>
                        <a:t>分析目标明确性</a:t>
                      </a:r>
                    </a:p>
                    <a:p>
                      <a:pPr marL="342900" indent="-342900">
                        <a:buFont typeface="Arial" panose="020B0604020202020204" pitchFamily="34" charset="0"/>
                        <a:buChar char="•"/>
                      </a:pPr>
                      <a:r>
                        <a:rPr lang="zh-CN" altLang="en-US" sz="2000" dirty="0">
                          <a:effectLst/>
                        </a:rPr>
                        <a:t>技术规范引用完整性</a:t>
                      </a:r>
                    </a:p>
                    <a:p>
                      <a:r>
                        <a:rPr lang="en-US" altLang="zh-CN" sz="2000" b="1" dirty="0">
                          <a:effectLst/>
                        </a:rPr>
                        <a:t>3. </a:t>
                      </a:r>
                      <a:r>
                        <a:rPr lang="zh-CN" altLang="en-US" sz="2000" b="1" dirty="0">
                          <a:effectLst/>
                        </a:rPr>
                        <a:t>模型与边界条件审查</a:t>
                      </a:r>
                    </a:p>
                    <a:p>
                      <a:pPr marL="342900" indent="-342900">
                        <a:buFont typeface="Arial" panose="020B0604020202020204" pitchFamily="34" charset="0"/>
                        <a:buChar char="•"/>
                      </a:pPr>
                      <a:r>
                        <a:rPr lang="zh-CN" altLang="en-US" sz="2000" dirty="0">
                          <a:effectLst/>
                        </a:rPr>
                        <a:t>有限元模型完整性</a:t>
                      </a:r>
                    </a:p>
                    <a:p>
                      <a:pPr marL="342900" indent="-342900">
                        <a:buFont typeface="Arial" panose="020B0604020202020204" pitchFamily="34" charset="0"/>
                        <a:buChar char="•"/>
                      </a:pPr>
                      <a:r>
                        <a:rPr lang="zh-CN" altLang="en-US" sz="2000" dirty="0">
                          <a:effectLst/>
                        </a:rPr>
                        <a:t>约束条件合理性</a:t>
                      </a:r>
                    </a:p>
                    <a:p>
                      <a:pPr marL="342900" indent="-342900">
                        <a:buFont typeface="Arial" panose="020B0604020202020204" pitchFamily="34" charset="0"/>
                        <a:buChar char="•"/>
                      </a:pPr>
                      <a:r>
                        <a:rPr lang="zh-CN" altLang="en-US" sz="2000" dirty="0">
                          <a:effectLst/>
                        </a:rPr>
                        <a:t>网格质量评估</a:t>
                      </a:r>
                    </a:p>
                    <a:p>
                      <a:pPr marL="342900" indent="-342900">
                        <a:buFont typeface="Arial" panose="020B0604020202020204" pitchFamily="34" charset="0"/>
                        <a:buChar char="•"/>
                      </a:pPr>
                      <a:r>
                        <a:rPr lang="zh-CN" altLang="en-US" sz="2000" dirty="0">
                          <a:effectLst/>
                        </a:rPr>
                        <a:t>材料属性定义准确性</a:t>
                      </a:r>
                    </a:p>
                    <a:p>
                      <a:r>
                        <a:rPr lang="en-US" altLang="zh-CN" sz="2000" b="1" dirty="0">
                          <a:effectLst/>
                        </a:rPr>
                        <a:t>4. </a:t>
                      </a:r>
                      <a:r>
                        <a:rPr lang="zh-CN" altLang="en-US" sz="2000" b="1" dirty="0">
                          <a:effectLst/>
                        </a:rPr>
                        <a:t>工况定义审查</a:t>
                      </a:r>
                    </a:p>
                    <a:p>
                      <a:pPr marL="342900" indent="-342900">
                        <a:buFont typeface="Arial" panose="020B0604020202020204" pitchFamily="34" charset="0"/>
                        <a:buChar char="•"/>
                      </a:pPr>
                      <a:r>
                        <a:rPr lang="zh-CN" altLang="en-US" sz="2000" dirty="0">
                          <a:effectLst/>
                        </a:rPr>
                        <a:t>挤压工况定义完整性</a:t>
                      </a:r>
                    </a:p>
                    <a:p>
                      <a:pPr marL="342900" indent="-342900">
                        <a:buFont typeface="Arial" panose="020B0604020202020204" pitchFamily="34" charset="0"/>
                        <a:buChar char="•"/>
                      </a:pPr>
                      <a:r>
                        <a:rPr lang="zh-CN" altLang="en-US" sz="2000" dirty="0">
                          <a:effectLst/>
                        </a:rPr>
                        <a:t>加载条件合理性</a:t>
                      </a:r>
                    </a:p>
                    <a:p>
                      <a:pPr marL="342900" indent="-342900">
                        <a:buFont typeface="Arial" panose="020B0604020202020204" pitchFamily="34" charset="0"/>
                        <a:buChar char="•"/>
                      </a:pPr>
                      <a:r>
                        <a:rPr lang="zh-CN" altLang="en-US" sz="2000" dirty="0">
                          <a:effectLst/>
                        </a:rPr>
                        <a:t>边界条件设置正确性</a:t>
                      </a:r>
                    </a:p>
                    <a:p>
                      <a:r>
                        <a:rPr lang="en-US" altLang="zh-CN" sz="2000" b="1" dirty="0">
                          <a:effectLst/>
                        </a:rPr>
                        <a:t>5. </a:t>
                      </a:r>
                      <a:r>
                        <a:rPr lang="zh-CN" altLang="en-US" sz="2000" b="1" dirty="0">
                          <a:effectLst/>
                        </a:rPr>
                        <a:t>材料参数审查</a:t>
                      </a:r>
                    </a:p>
                    <a:p>
                      <a:pPr marL="342900" indent="-342900">
                        <a:buFont typeface="Arial" panose="020B0604020202020204" pitchFamily="34" charset="0"/>
                        <a:buChar char="•"/>
                      </a:pPr>
                      <a:r>
                        <a:rPr lang="zh-CN" altLang="en-US" sz="2000" dirty="0">
                          <a:effectLst/>
                        </a:rPr>
                        <a:t>材料牌号准确性</a:t>
                      </a:r>
                    </a:p>
                    <a:p>
                      <a:pPr marL="342900" indent="-342900">
                        <a:buFont typeface="Arial" panose="020B0604020202020204" pitchFamily="34" charset="0"/>
                        <a:buChar char="•"/>
                      </a:pPr>
                      <a:r>
                        <a:rPr lang="zh-CN" altLang="en-US" sz="2000" dirty="0">
                          <a:effectLst/>
                        </a:rPr>
                        <a:t>力学性能参数完整性</a:t>
                      </a:r>
                    </a:p>
                    <a:p>
                      <a:pPr marL="342900" indent="-342900">
                        <a:buFont typeface="Arial" panose="020B0604020202020204" pitchFamily="34" charset="0"/>
                        <a:buChar char="•"/>
                      </a:pPr>
                      <a:r>
                        <a:rPr lang="zh-CN" altLang="en-US" sz="2000" dirty="0">
                          <a:effectLst/>
                        </a:rPr>
                        <a:t>材料来源可追溯性</a:t>
                      </a:r>
                    </a:p>
                    <a:p>
                      <a:r>
                        <a:rPr lang="en-US" altLang="zh-CN" sz="2000" b="1" dirty="0">
                          <a:effectLst/>
                        </a:rPr>
                        <a:t>6. </a:t>
                      </a:r>
                      <a:r>
                        <a:rPr lang="zh-CN" altLang="en-US" sz="2000" b="1" dirty="0">
                          <a:effectLst/>
                        </a:rPr>
                        <a:t>仿真结果审查</a:t>
                      </a:r>
                    </a:p>
                    <a:p>
                      <a:pPr marL="342900" indent="-342900">
                        <a:buFont typeface="Arial" panose="020B0604020202020204" pitchFamily="34" charset="0"/>
                        <a:buChar char="•"/>
                      </a:pPr>
                      <a:r>
                        <a:rPr lang="zh-CN" altLang="en-US" sz="2000" dirty="0">
                          <a:effectLst/>
                        </a:rPr>
                        <a:t>结果数据完整性</a:t>
                      </a:r>
                    </a:p>
                    <a:p>
                      <a:pPr marL="342900" indent="-342900">
                        <a:buFont typeface="Arial" panose="020B0604020202020204" pitchFamily="34" charset="0"/>
                        <a:buChar char="•"/>
                      </a:pPr>
                      <a:r>
                        <a:rPr lang="zh-CN" altLang="en-US" sz="2000" dirty="0">
                          <a:effectLst/>
                        </a:rPr>
                        <a:t>判定标准合理性</a:t>
                      </a:r>
                    </a:p>
                    <a:p>
                      <a:pPr marL="342900" indent="-342900">
                        <a:buFont typeface="Arial" panose="020B0604020202020204" pitchFamily="34" charset="0"/>
                        <a:buChar char="•"/>
                      </a:pPr>
                      <a:r>
                        <a:rPr lang="zh-CN" altLang="en-US" sz="2000" dirty="0">
                          <a:effectLst/>
                        </a:rPr>
                        <a:t>安全裕度评估</a:t>
                      </a:r>
                    </a:p>
                    <a:p>
                      <a:pPr marL="342900" indent="-342900">
                        <a:buFont typeface="Arial" panose="020B0604020202020204" pitchFamily="34" charset="0"/>
                        <a:buChar char="•"/>
                      </a:pPr>
                      <a:r>
                        <a:rPr lang="zh-CN" altLang="en-US" sz="2000" dirty="0">
                          <a:effectLst/>
                        </a:rPr>
                        <a:t>结果可信度分析</a:t>
                      </a:r>
                    </a:p>
                    <a:p>
                      <a:r>
                        <a:rPr lang="en-US" altLang="zh-CN" sz="2000" b="1" dirty="0">
                          <a:effectLst/>
                        </a:rPr>
                        <a:t>7. </a:t>
                      </a:r>
                      <a:r>
                        <a:rPr lang="zh-CN" altLang="en-US" sz="2000" b="1" dirty="0">
                          <a:effectLst/>
                        </a:rPr>
                        <a:t>结论与建议审查</a:t>
                      </a:r>
                    </a:p>
                    <a:p>
                      <a:pPr marL="342900" indent="-342900">
                        <a:buFont typeface="Arial" panose="020B0604020202020204" pitchFamily="34" charset="0"/>
                        <a:buChar char="•"/>
                      </a:pPr>
                      <a:r>
                        <a:rPr lang="zh-CN" altLang="en-US" sz="2000" dirty="0">
                          <a:effectLst/>
                        </a:rPr>
                        <a:t>结论准确性</a:t>
                      </a:r>
                    </a:p>
                    <a:p>
                      <a:pPr marL="342900" indent="-342900">
                        <a:buFont typeface="Arial" panose="020B0604020202020204" pitchFamily="34" charset="0"/>
                        <a:buChar char="•"/>
                      </a:pPr>
                      <a:r>
                        <a:rPr lang="zh-CN" altLang="en-US" sz="2000" dirty="0">
                          <a:effectLst/>
                        </a:rPr>
                        <a:t>建议可操作性</a:t>
                      </a:r>
                    </a:p>
                    <a:p>
                      <a:pPr marL="342900" indent="-342900">
                        <a:buFont typeface="Arial" panose="020B0604020202020204" pitchFamily="34" charset="0"/>
                        <a:buChar char="•"/>
                      </a:pPr>
                      <a:r>
                        <a:rPr lang="zh-CN" altLang="en-US" sz="2000" dirty="0">
                          <a:effectLst/>
                        </a:rPr>
                        <a:t>风险评估完整性</a:t>
                      </a:r>
                    </a:p>
                    <a:p>
                      <a:pPr>
                        <a:spcBef>
                          <a:spcPts val="1200"/>
                        </a:spcBef>
                        <a:spcAft>
                          <a:spcPts val="600"/>
                        </a:spcAft>
                        <a:buNone/>
                      </a:pPr>
                      <a:endParaRPr lang="en-GB" sz="2000" dirty="0"/>
                    </a:p>
                  </a:txBody>
                  <a:tcPr/>
                </a:tc>
                <a:tc>
                  <a:txBody>
                    <a:bodyPr/>
                    <a:lstStyle/>
                    <a:p>
                      <a:r>
                        <a:rPr lang="zh-CN" altLang="en-US" sz="2000" b="1" dirty="0">
                          <a:effectLst/>
                        </a:rPr>
                        <a:t>审查结果：部分通过，需要改进</a:t>
                      </a:r>
                    </a:p>
                    <a:p>
                      <a:r>
                        <a:rPr lang="zh-CN" altLang="en-US" sz="2000" b="1" dirty="0">
                          <a:effectLst/>
                        </a:rPr>
                        <a:t>通过项目：</a:t>
                      </a:r>
                    </a:p>
                    <a:p>
                      <a:r>
                        <a:rPr lang="zh-CN" altLang="en-US" sz="2000" dirty="0">
                          <a:effectLst/>
                        </a:rPr>
                        <a:t>✅ 文档结构基本完整，包含必要的章节</a:t>
                      </a:r>
                    </a:p>
                    <a:p>
                      <a:r>
                        <a:rPr lang="zh-CN" altLang="en-US" sz="2000" dirty="0">
                          <a:effectLst/>
                        </a:rPr>
                        <a:t>✅ 项目背景描述清晰</a:t>
                      </a:r>
                    </a:p>
                    <a:p>
                      <a:r>
                        <a:rPr lang="zh-CN" altLang="en-US" sz="2000" dirty="0">
                          <a:effectLst/>
                        </a:rPr>
                        <a:t>✅ 材料参数表格完整，包含</a:t>
                      </a:r>
                      <a:r>
                        <a:rPr lang="en-US" altLang="zh-CN" sz="2000" dirty="0">
                          <a:effectLst/>
                        </a:rPr>
                        <a:t>7</a:t>
                      </a:r>
                      <a:r>
                        <a:rPr lang="zh-CN" altLang="en-US" sz="2000" dirty="0">
                          <a:effectLst/>
                        </a:rPr>
                        <a:t>种关键材料</a:t>
                      </a:r>
                    </a:p>
                    <a:p>
                      <a:r>
                        <a:rPr lang="zh-CN" altLang="en-US" sz="2000" dirty="0">
                          <a:effectLst/>
                        </a:rPr>
                        <a:t>✅ 仿真结果数据完整，包含两种方案对比</a:t>
                      </a:r>
                    </a:p>
                    <a:p>
                      <a:r>
                        <a:rPr lang="zh-CN" altLang="en-US" sz="2000" b="1" dirty="0">
                          <a:effectLst/>
                        </a:rPr>
                        <a:t>不通过项目及改进建议：</a:t>
                      </a:r>
                    </a:p>
                    <a:p>
                      <a:r>
                        <a:rPr lang="en-US" altLang="zh-CN" sz="2000" b="1" dirty="0">
                          <a:effectLst/>
                        </a:rPr>
                        <a:t>1. </a:t>
                      </a:r>
                      <a:r>
                        <a:rPr lang="zh-CN" altLang="en-US" sz="2000" b="1" dirty="0">
                          <a:effectLst/>
                        </a:rPr>
                        <a:t>文档标题不一致性 ❌</a:t>
                      </a:r>
                    </a:p>
                    <a:p>
                      <a:r>
                        <a:rPr lang="zh-CN" altLang="en-US" sz="2000" b="1" dirty="0">
                          <a:effectLst/>
                        </a:rPr>
                        <a:t>问题：</a:t>
                      </a:r>
                      <a:r>
                        <a:rPr lang="zh-CN" altLang="en-US" sz="2000" dirty="0">
                          <a:effectLst/>
                        </a:rPr>
                        <a:t> 文档标题中</a:t>
                      </a:r>
                      <a:r>
                        <a:rPr lang="en-US" altLang="zh-CN" sz="2000" dirty="0">
                          <a:effectLst/>
                        </a:rPr>
                        <a:t>"570- 941B"</a:t>
                      </a:r>
                      <a:r>
                        <a:rPr lang="zh-CN" altLang="en-US" sz="2000" dirty="0">
                          <a:effectLst/>
                        </a:rPr>
                        <a:t>存在多余空格</a:t>
                      </a:r>
                      <a:r>
                        <a:rPr lang="zh-CN" altLang="en-US" sz="2000" b="1" dirty="0">
                          <a:effectLst/>
                        </a:rPr>
                        <a:t>影响：</a:t>
                      </a:r>
                      <a:r>
                        <a:rPr lang="zh-CN" altLang="en-US" sz="2000" dirty="0">
                          <a:effectLst/>
                        </a:rPr>
                        <a:t> 影响文档专业性和规范性</a:t>
                      </a:r>
                      <a:r>
                        <a:rPr lang="zh-CN" altLang="en-US" sz="2000" b="1" dirty="0">
                          <a:effectLst/>
                        </a:rPr>
                        <a:t>建议：</a:t>
                      </a:r>
                      <a:r>
                        <a:rPr lang="zh-CN" altLang="en-US" sz="2000" dirty="0">
                          <a:effectLst/>
                        </a:rPr>
                        <a:t> 修正为</a:t>
                      </a:r>
                      <a:r>
                        <a:rPr lang="en-US" altLang="zh-CN" sz="2000" dirty="0">
                          <a:effectLst/>
                        </a:rPr>
                        <a:t>"570-941B</a:t>
                      </a:r>
                      <a:r>
                        <a:rPr lang="zh-CN" altLang="en-US" sz="2000" dirty="0">
                          <a:effectLst/>
                        </a:rPr>
                        <a:t>电池包挤压分析</a:t>
                      </a:r>
                      <a:r>
                        <a:rPr lang="en-US" altLang="zh-CN" sz="2000" dirty="0">
                          <a:effectLst/>
                        </a:rPr>
                        <a:t>-20240603(</a:t>
                      </a:r>
                      <a:r>
                        <a:rPr lang="zh-CN" altLang="en-US" sz="2000" dirty="0">
                          <a:effectLst/>
                        </a:rPr>
                        <a:t>纵梁灌胶</a:t>
                      </a:r>
                      <a:r>
                        <a:rPr lang="en-US" altLang="zh-CN" sz="2000" dirty="0">
                          <a:effectLst/>
                        </a:rPr>
                        <a:t>)"</a:t>
                      </a:r>
                      <a:r>
                        <a:rPr lang="en-US" altLang="zh-CN" sz="2000" b="1" dirty="0">
                          <a:effectLst/>
                        </a:rPr>
                        <a:t>2. </a:t>
                      </a:r>
                      <a:r>
                        <a:rPr lang="zh-CN" altLang="en-US" sz="2000" b="1" dirty="0">
                          <a:effectLst/>
                        </a:rPr>
                        <a:t>目录结构不完整 ❌</a:t>
                      </a:r>
                    </a:p>
                    <a:p>
                      <a:r>
                        <a:rPr lang="zh-CN" altLang="en-US" sz="2000" b="1" dirty="0">
                          <a:effectLst/>
                        </a:rPr>
                        <a:t>问题：</a:t>
                      </a:r>
                      <a:r>
                        <a:rPr lang="zh-CN" altLang="en-US" sz="2000" dirty="0">
                          <a:effectLst/>
                        </a:rPr>
                        <a:t> 目录缺少</a:t>
                      </a:r>
                      <a:r>
                        <a:rPr lang="en-US" altLang="zh-CN" sz="2000" dirty="0">
                          <a:effectLst/>
                        </a:rPr>
                        <a:t>"</a:t>
                      </a:r>
                      <a:r>
                        <a:rPr lang="zh-CN" altLang="en-US" sz="2000" dirty="0">
                          <a:effectLst/>
                        </a:rPr>
                        <a:t>仿真结果</a:t>
                      </a:r>
                      <a:r>
                        <a:rPr lang="en-US" altLang="zh-CN" sz="2000" dirty="0">
                          <a:effectLst/>
                        </a:rPr>
                        <a:t>—Y1</a:t>
                      </a:r>
                      <a:r>
                        <a:rPr lang="zh-CN" altLang="en-US" sz="2000" dirty="0">
                          <a:effectLst/>
                        </a:rPr>
                        <a:t>方向（</a:t>
                      </a:r>
                      <a:r>
                        <a:rPr lang="en-US" altLang="zh-CN" sz="2000" dirty="0">
                          <a:effectLst/>
                        </a:rPr>
                        <a:t>PC</a:t>
                      </a:r>
                      <a:r>
                        <a:rPr lang="zh-CN" altLang="en-US" sz="2000" dirty="0">
                          <a:effectLst/>
                        </a:rPr>
                        <a:t>双面胶方案）</a:t>
                      </a:r>
                      <a:r>
                        <a:rPr lang="en-US" altLang="zh-CN" sz="2000" dirty="0">
                          <a:effectLst/>
                        </a:rPr>
                        <a:t>"</a:t>
                      </a:r>
                      <a:r>
                        <a:rPr lang="zh-CN" altLang="en-US" sz="2000" dirty="0">
                          <a:effectLst/>
                        </a:rPr>
                        <a:t>和</a:t>
                      </a:r>
                      <a:r>
                        <a:rPr lang="en-US" altLang="zh-CN" sz="2000" dirty="0">
                          <a:effectLst/>
                        </a:rPr>
                        <a:t>"</a:t>
                      </a:r>
                      <a:r>
                        <a:rPr lang="zh-CN" altLang="en-US" sz="2000" dirty="0">
                          <a:effectLst/>
                        </a:rPr>
                        <a:t>仿真结果</a:t>
                      </a:r>
                      <a:r>
                        <a:rPr lang="en-US" altLang="zh-CN" sz="2000" dirty="0">
                          <a:effectLst/>
                        </a:rPr>
                        <a:t>—Y2</a:t>
                      </a:r>
                      <a:r>
                        <a:rPr lang="zh-CN" altLang="en-US" sz="2000" dirty="0">
                          <a:effectLst/>
                        </a:rPr>
                        <a:t>方向（</a:t>
                      </a:r>
                      <a:r>
                        <a:rPr lang="en-US" altLang="zh-CN" sz="2000" dirty="0">
                          <a:effectLst/>
                        </a:rPr>
                        <a:t>PC</a:t>
                      </a:r>
                      <a:r>
                        <a:rPr lang="zh-CN" altLang="en-US" sz="2000" dirty="0">
                          <a:effectLst/>
                        </a:rPr>
                        <a:t>双面胶方案）</a:t>
                      </a:r>
                      <a:r>
                        <a:rPr lang="en-US" altLang="zh-CN" sz="2000" dirty="0">
                          <a:effectLst/>
                        </a:rPr>
                        <a:t>"</a:t>
                      </a:r>
                      <a:r>
                        <a:rPr lang="zh-CN" altLang="en-US" sz="2000" dirty="0">
                          <a:effectLst/>
                        </a:rPr>
                        <a:t>两个章节</a:t>
                      </a:r>
                      <a:r>
                        <a:rPr lang="zh-CN" altLang="en-US" sz="2000" b="1" dirty="0">
                          <a:effectLst/>
                        </a:rPr>
                        <a:t>影响：</a:t>
                      </a:r>
                      <a:r>
                        <a:rPr lang="zh-CN" altLang="en-US" sz="2000" dirty="0">
                          <a:effectLst/>
                        </a:rPr>
                        <a:t> 影响文档可读性和完整性</a:t>
                      </a:r>
                      <a:r>
                        <a:rPr lang="zh-CN" altLang="en-US" sz="2000" b="1" dirty="0">
                          <a:effectLst/>
                        </a:rPr>
                        <a:t>建议：</a:t>
                      </a:r>
                      <a:r>
                        <a:rPr lang="zh-CN" altLang="en-US" sz="2000" dirty="0">
                          <a:effectLst/>
                        </a:rPr>
                        <a:t> 更新目录，包含所有章节标题</a:t>
                      </a:r>
                      <a:r>
                        <a:rPr lang="en-US" altLang="zh-CN" sz="2000" b="1" dirty="0">
                          <a:effectLst/>
                        </a:rPr>
                        <a:t>3. </a:t>
                      </a:r>
                      <a:r>
                        <a:rPr lang="zh-CN" altLang="en-US" sz="2000" b="1" dirty="0">
                          <a:effectLst/>
                        </a:rPr>
                        <a:t>模型介绍信息不足 ❌</a:t>
                      </a:r>
                    </a:p>
                    <a:p>
                      <a:r>
                        <a:rPr lang="zh-CN" altLang="en-US" sz="2000" b="1" dirty="0">
                          <a:effectLst/>
                        </a:rPr>
                        <a:t>问题：</a:t>
                      </a:r>
                      <a:r>
                        <a:rPr lang="zh-CN" altLang="en-US" sz="2000" dirty="0">
                          <a:effectLst/>
                        </a:rPr>
                        <a:t>缺少网格数量和质量信息</a:t>
                      </a:r>
                    </a:p>
                    <a:p>
                      <a:r>
                        <a:rPr lang="zh-CN" altLang="en-US" sz="2000" dirty="0">
                          <a:effectLst/>
                        </a:rPr>
                        <a:t>缺少单元类型说明</a:t>
                      </a:r>
                    </a:p>
                    <a:p>
                      <a:r>
                        <a:rPr lang="zh-CN" altLang="en-US" sz="2000" dirty="0">
                          <a:effectLst/>
                        </a:rPr>
                        <a:t>缺少接触定义描述</a:t>
                      </a:r>
                    </a:p>
                    <a:p>
                      <a:r>
                        <a:rPr lang="zh-CN" altLang="en-US" sz="2000" dirty="0">
                          <a:effectLst/>
                        </a:rPr>
                        <a:t>缺少收敛性分析</a:t>
                      </a:r>
                    </a:p>
                    <a:p>
                      <a:r>
                        <a:rPr lang="zh-CN" altLang="en-US" sz="2000" b="1" dirty="0">
                          <a:effectLst/>
                        </a:rPr>
                        <a:t>影响：</a:t>
                      </a:r>
                      <a:r>
                        <a:rPr lang="zh-CN" altLang="en-US" sz="2000" dirty="0">
                          <a:effectLst/>
                        </a:rPr>
                        <a:t> 无法评估仿真模型质量</a:t>
                      </a:r>
                      <a:r>
                        <a:rPr lang="zh-CN" altLang="en-US" sz="2000" b="1" dirty="0">
                          <a:effectLst/>
                        </a:rPr>
                        <a:t>建议：</a:t>
                      </a:r>
                      <a:r>
                        <a:rPr lang="zh-CN" altLang="en-US" sz="2000" dirty="0">
                          <a:effectLst/>
                        </a:rPr>
                        <a:t> 补充以下信息：网格统计（节点数、单元数、网格质量指标）</a:t>
                      </a:r>
                    </a:p>
                    <a:p>
                      <a:r>
                        <a:rPr lang="zh-CN" altLang="en-US" sz="2000" dirty="0">
                          <a:effectLst/>
                        </a:rPr>
                        <a:t>单元类型和接触算法</a:t>
                      </a:r>
                    </a:p>
                    <a:p>
                      <a:r>
                        <a:rPr lang="zh-CN" altLang="en-US" sz="2000" dirty="0">
                          <a:effectLst/>
                        </a:rPr>
                        <a:t>收敛性分析结果</a:t>
                      </a:r>
                    </a:p>
                    <a:p>
                      <a:r>
                        <a:rPr lang="zh-CN" altLang="en-US" sz="2000" dirty="0">
                          <a:effectLst/>
                        </a:rPr>
                        <a:t>网格敏感性分析</a:t>
                      </a:r>
                      <a:r>
                        <a:rPr lang="en-US" altLang="zh-CN" sz="2000" b="1" dirty="0">
                          <a:effectLst/>
                        </a:rPr>
                        <a:t>4. </a:t>
                      </a:r>
                      <a:r>
                        <a:rPr lang="zh-CN" altLang="en-US" sz="2000" b="1" dirty="0">
                          <a:effectLst/>
                        </a:rPr>
                        <a:t>工况定义不完整 ❌</a:t>
                      </a:r>
                    </a:p>
                    <a:p>
                      <a:r>
                        <a:rPr lang="zh-CN" altLang="en-US" sz="2000" b="1" dirty="0">
                          <a:effectLst/>
                        </a:rPr>
                        <a:t>问题：</a:t>
                      </a:r>
                      <a:r>
                        <a:rPr lang="zh-CN" altLang="en-US" sz="2000" dirty="0">
                          <a:effectLst/>
                        </a:rPr>
                        <a:t>缺少挤压速度定义</a:t>
                      </a:r>
                    </a:p>
                    <a:p>
                      <a:r>
                        <a:rPr lang="zh-CN" altLang="en-US" sz="2000" dirty="0">
                          <a:effectLst/>
                        </a:rPr>
                        <a:t>缺少压头几何形状描述</a:t>
                      </a:r>
                    </a:p>
                    <a:p>
                      <a:r>
                        <a:rPr lang="zh-CN" altLang="en-US" sz="2000" dirty="0">
                          <a:effectLst/>
                        </a:rPr>
                        <a:t>缺少加载路径说明</a:t>
                      </a:r>
                    </a:p>
                    <a:p>
                      <a:r>
                        <a:rPr lang="zh-CN" altLang="en-US" sz="2000" dirty="0">
                          <a:effectLst/>
                        </a:rPr>
                        <a:t>缺少停止条件明确定义</a:t>
                      </a:r>
                    </a:p>
                    <a:p>
                      <a:r>
                        <a:rPr lang="zh-CN" altLang="en-US" sz="2000" b="1" dirty="0">
                          <a:effectLst/>
                        </a:rPr>
                        <a:t>影响：</a:t>
                      </a:r>
                      <a:r>
                        <a:rPr lang="zh-CN" altLang="en-US" sz="2000" dirty="0">
                          <a:effectLst/>
                        </a:rPr>
                        <a:t> 无法复现仿真条件</a:t>
                      </a:r>
                      <a:r>
                        <a:rPr lang="zh-CN" altLang="en-US" sz="2000" b="1" dirty="0">
                          <a:effectLst/>
                        </a:rPr>
                        <a:t>建议：</a:t>
                      </a:r>
                      <a:r>
                        <a:rPr lang="zh-CN" altLang="en-US" sz="2000" dirty="0">
                          <a:effectLst/>
                        </a:rPr>
                        <a:t> 补充完整的工况定义：挤压速度：</a:t>
                      </a:r>
                      <a:r>
                        <a:rPr lang="en-US" altLang="zh-CN" sz="2000" dirty="0">
                          <a:effectLst/>
                        </a:rPr>
                        <a:t>X mm/s</a:t>
                      </a:r>
                    </a:p>
                    <a:p>
                      <a:r>
                        <a:rPr lang="zh-CN" altLang="en-US" sz="2000" dirty="0">
                          <a:effectLst/>
                        </a:rPr>
                        <a:t>压头几何：直径</a:t>
                      </a:r>
                      <a:r>
                        <a:rPr lang="en-US" altLang="zh-CN" sz="2000" dirty="0">
                          <a:effectLst/>
                        </a:rPr>
                        <a:t>X mm</a:t>
                      </a:r>
                      <a:r>
                        <a:rPr lang="zh-CN" altLang="en-US" sz="2000" dirty="0">
                          <a:effectLst/>
                        </a:rPr>
                        <a:t>的圆柱体</a:t>
                      </a:r>
                    </a:p>
                    <a:p>
                      <a:r>
                        <a:rPr lang="zh-CN" altLang="en-US" sz="2000" dirty="0">
                          <a:effectLst/>
                        </a:rPr>
                        <a:t>加载路径：</a:t>
                      </a:r>
                      <a:r>
                        <a:rPr lang="en-US" altLang="zh-CN" sz="2000" dirty="0">
                          <a:effectLst/>
                        </a:rPr>
                        <a:t>Y</a:t>
                      </a:r>
                      <a:r>
                        <a:rPr lang="zh-CN" altLang="en-US" sz="2000" dirty="0">
                          <a:effectLst/>
                        </a:rPr>
                        <a:t>向垂直加载</a:t>
                      </a:r>
                    </a:p>
                    <a:p>
                      <a:r>
                        <a:rPr lang="zh-CN" altLang="en-US" sz="2000" dirty="0">
                          <a:effectLst/>
                        </a:rPr>
                        <a:t>停止条件：位移达到</a:t>
                      </a:r>
                      <a:r>
                        <a:rPr lang="en-US" altLang="zh-CN" sz="2000" dirty="0">
                          <a:effectLst/>
                        </a:rPr>
                        <a:t>X mm</a:t>
                      </a:r>
                      <a:r>
                        <a:rPr lang="zh-CN" altLang="en-US" sz="2000" dirty="0">
                          <a:effectLst/>
                        </a:rPr>
                        <a:t>或力达到</a:t>
                      </a:r>
                      <a:r>
                        <a:rPr lang="en-US" altLang="zh-CN" sz="2000" dirty="0">
                          <a:effectLst/>
                        </a:rPr>
                        <a:t>X </a:t>
                      </a:r>
                      <a:r>
                        <a:rPr lang="en-US" altLang="zh-CN" sz="2000" dirty="0" err="1">
                          <a:effectLst/>
                        </a:rPr>
                        <a:t>kN</a:t>
                      </a:r>
                      <a:endParaRPr lang="en-US" altLang="zh-CN" sz="2000" dirty="0">
                        <a:effectLst/>
                      </a:endParaRPr>
                    </a:p>
                    <a:p>
                      <a:endParaRPr lang="zh-CN" altLang="en-US" sz="2000" dirty="0">
                        <a:effectLst/>
                      </a:endParaRPr>
                    </a:p>
                  </a:txBody>
                  <a:tcPr/>
                </a:tc>
                <a:tc>
                  <a:txBody>
                    <a:bodyPr/>
                    <a:lstStyle/>
                    <a:p>
                      <a:r>
                        <a:rPr lang="en-US" altLang="zh-CN" sz="2000" b="1" dirty="0">
                          <a:effectLst/>
                        </a:rPr>
                        <a:t>5. </a:t>
                      </a:r>
                      <a:r>
                        <a:rPr lang="zh-CN" altLang="en-US" sz="2000" b="1" dirty="0">
                          <a:effectLst/>
                        </a:rPr>
                        <a:t>安全判定条件不明确 ❌</a:t>
                      </a:r>
                    </a:p>
                    <a:p>
                      <a:r>
                        <a:rPr lang="zh-CN" altLang="en-US" sz="2000" b="1" dirty="0">
                          <a:effectLst/>
                        </a:rPr>
                        <a:t>问题：</a:t>
                      </a:r>
                      <a:r>
                        <a:rPr lang="en-US" altLang="zh-CN" sz="2000" dirty="0">
                          <a:effectLst/>
                        </a:rPr>
                        <a:t>"</a:t>
                      </a:r>
                      <a:r>
                        <a:rPr lang="zh-CN" altLang="en-US" sz="2000" dirty="0">
                          <a:effectLst/>
                        </a:rPr>
                        <a:t>未挤压到电器件</a:t>
                      </a:r>
                      <a:r>
                        <a:rPr lang="en-US" altLang="zh-CN" sz="2000" dirty="0">
                          <a:effectLst/>
                        </a:rPr>
                        <a:t>"</a:t>
                      </a:r>
                      <a:r>
                        <a:rPr lang="zh-CN" altLang="en-US" sz="2000" dirty="0">
                          <a:effectLst/>
                        </a:rPr>
                        <a:t>缺乏量化标准</a:t>
                      </a:r>
                    </a:p>
                    <a:p>
                      <a:r>
                        <a:rPr lang="en-US" altLang="zh-CN" sz="2000" dirty="0">
                          <a:effectLst/>
                        </a:rPr>
                        <a:t>"</a:t>
                      </a:r>
                      <a:r>
                        <a:rPr lang="zh-CN" altLang="en-US" sz="2000" dirty="0">
                          <a:effectLst/>
                        </a:rPr>
                        <a:t>电芯铝壳不破裂</a:t>
                      </a:r>
                      <a:r>
                        <a:rPr lang="en-US" altLang="zh-CN" sz="2000" dirty="0">
                          <a:effectLst/>
                        </a:rPr>
                        <a:t>"</a:t>
                      </a:r>
                      <a:r>
                        <a:rPr lang="zh-CN" altLang="en-US" sz="2000" dirty="0">
                          <a:effectLst/>
                        </a:rPr>
                        <a:t>缺乏具体判定方法</a:t>
                      </a:r>
                    </a:p>
                    <a:p>
                      <a:r>
                        <a:rPr lang="zh-CN" altLang="en-US" sz="2000" dirty="0">
                          <a:effectLst/>
                        </a:rPr>
                        <a:t>缺少应力</a:t>
                      </a:r>
                      <a:r>
                        <a:rPr lang="en-US" altLang="zh-CN" sz="2000" dirty="0">
                          <a:effectLst/>
                        </a:rPr>
                        <a:t>/</a:t>
                      </a:r>
                      <a:r>
                        <a:rPr lang="zh-CN" altLang="en-US" sz="2000" dirty="0">
                          <a:effectLst/>
                        </a:rPr>
                        <a:t>应变阈值定义</a:t>
                      </a:r>
                    </a:p>
                    <a:p>
                      <a:r>
                        <a:rPr lang="zh-CN" altLang="en-US" sz="2000" b="1" dirty="0">
                          <a:effectLst/>
                        </a:rPr>
                        <a:t>影响：</a:t>
                      </a:r>
                      <a:r>
                        <a:rPr lang="zh-CN" altLang="en-US" sz="2000" dirty="0">
                          <a:effectLst/>
                        </a:rPr>
                        <a:t> 无法准确评估安全性</a:t>
                      </a:r>
                      <a:r>
                        <a:rPr lang="zh-CN" altLang="en-US" sz="2000" b="1" dirty="0">
                          <a:effectLst/>
                        </a:rPr>
                        <a:t>建议：</a:t>
                      </a:r>
                      <a:r>
                        <a:rPr lang="zh-CN" altLang="en-US" sz="2000" dirty="0">
                          <a:effectLst/>
                        </a:rPr>
                        <a:t> 明确定义：电器件最小安全距离：</a:t>
                      </a:r>
                      <a:r>
                        <a:rPr lang="en-US" altLang="zh-CN" sz="2000" dirty="0">
                          <a:effectLst/>
                        </a:rPr>
                        <a:t>X mm</a:t>
                      </a:r>
                    </a:p>
                    <a:p>
                      <a:r>
                        <a:rPr lang="zh-CN" altLang="en-US" sz="2000" dirty="0">
                          <a:effectLst/>
                        </a:rPr>
                        <a:t>电芯铝壳最大允许应变：</a:t>
                      </a:r>
                      <a:r>
                        <a:rPr lang="en-US" altLang="zh-CN" sz="2000" dirty="0">
                          <a:effectLst/>
                        </a:rPr>
                        <a:t>X%</a:t>
                      </a:r>
                    </a:p>
                    <a:p>
                      <a:r>
                        <a:rPr lang="zh-CN" altLang="en-US" sz="2000" dirty="0">
                          <a:effectLst/>
                        </a:rPr>
                        <a:t>关键部件应力安全系数：≥</a:t>
                      </a:r>
                      <a:r>
                        <a:rPr lang="en-US" altLang="zh-CN" sz="2000" dirty="0">
                          <a:effectLst/>
                        </a:rPr>
                        <a:t>X</a:t>
                      </a:r>
                    </a:p>
                    <a:p>
                      <a:r>
                        <a:rPr lang="en-US" altLang="zh-CN" sz="2000" b="1" dirty="0">
                          <a:effectLst/>
                        </a:rPr>
                        <a:t>6. </a:t>
                      </a:r>
                      <a:r>
                        <a:rPr lang="zh-CN" altLang="en-US" sz="2000" b="1" dirty="0">
                          <a:effectLst/>
                        </a:rPr>
                        <a:t>结果分析深度不足 ❌</a:t>
                      </a:r>
                    </a:p>
                    <a:p>
                      <a:r>
                        <a:rPr lang="zh-CN" altLang="en-US" sz="2000" b="1" dirty="0">
                          <a:effectLst/>
                        </a:rPr>
                        <a:t>问题：</a:t>
                      </a:r>
                      <a:r>
                        <a:rPr lang="zh-CN" altLang="en-US" sz="2000" dirty="0">
                          <a:effectLst/>
                        </a:rPr>
                        <a:t>缺少应力分布分析</a:t>
                      </a:r>
                    </a:p>
                    <a:p>
                      <a:r>
                        <a:rPr lang="zh-CN" altLang="en-US" sz="2000" dirty="0">
                          <a:effectLst/>
                        </a:rPr>
                        <a:t>缺少变形模式分析</a:t>
                      </a:r>
                    </a:p>
                    <a:p>
                      <a:r>
                        <a:rPr lang="zh-CN" altLang="en-US" sz="2000" dirty="0">
                          <a:effectLst/>
                        </a:rPr>
                        <a:t>缺少失效机理分析</a:t>
                      </a:r>
                    </a:p>
                    <a:p>
                      <a:r>
                        <a:rPr lang="zh-CN" altLang="en-US" sz="2000" dirty="0">
                          <a:effectLst/>
                        </a:rPr>
                        <a:t>缺少两种方案对比分析</a:t>
                      </a:r>
                    </a:p>
                    <a:p>
                      <a:r>
                        <a:rPr lang="zh-CN" altLang="en-US" sz="2000" b="1" dirty="0">
                          <a:effectLst/>
                        </a:rPr>
                        <a:t>影响：</a:t>
                      </a:r>
                      <a:r>
                        <a:rPr lang="zh-CN" altLang="en-US" sz="2000" dirty="0">
                          <a:effectLst/>
                        </a:rPr>
                        <a:t> 无法为设计优化提供指导</a:t>
                      </a:r>
                      <a:r>
                        <a:rPr lang="zh-CN" altLang="en-US" sz="2000" b="1" dirty="0">
                          <a:effectLst/>
                        </a:rPr>
                        <a:t>建议：</a:t>
                      </a:r>
                      <a:r>
                        <a:rPr lang="zh-CN" altLang="en-US" sz="2000" dirty="0">
                          <a:effectLst/>
                        </a:rPr>
                        <a:t> 增加：关键部件应力分布云图</a:t>
                      </a:r>
                    </a:p>
                    <a:p>
                      <a:r>
                        <a:rPr lang="zh-CN" altLang="en-US" sz="2000" dirty="0">
                          <a:effectLst/>
                        </a:rPr>
                        <a:t>变形模式分析</a:t>
                      </a:r>
                    </a:p>
                    <a:p>
                      <a:r>
                        <a:rPr lang="zh-CN" altLang="en-US" sz="2000" dirty="0">
                          <a:effectLst/>
                        </a:rPr>
                        <a:t>失效风险评估</a:t>
                      </a:r>
                    </a:p>
                    <a:p>
                      <a:r>
                        <a:rPr lang="zh-CN" altLang="en-US" sz="2000" dirty="0">
                          <a:effectLst/>
                        </a:rPr>
                        <a:t>方案对比分析</a:t>
                      </a:r>
                    </a:p>
                    <a:p>
                      <a:r>
                        <a:rPr lang="en-US" altLang="zh-CN" sz="2000" b="1" dirty="0">
                          <a:effectLst/>
                        </a:rPr>
                        <a:t>7. </a:t>
                      </a:r>
                      <a:r>
                        <a:rPr lang="zh-CN" altLang="en-US" sz="2000" b="1" dirty="0">
                          <a:effectLst/>
                        </a:rPr>
                        <a:t>质量保证信息缺失 ❌</a:t>
                      </a:r>
                    </a:p>
                    <a:p>
                      <a:r>
                        <a:rPr lang="zh-CN" altLang="en-US" sz="2000" b="1" dirty="0">
                          <a:effectLst/>
                        </a:rPr>
                        <a:t>问题：</a:t>
                      </a:r>
                      <a:r>
                        <a:rPr lang="zh-CN" altLang="en-US" sz="2000" dirty="0">
                          <a:effectLst/>
                        </a:rPr>
                        <a:t>缺少仿真人员资质信息</a:t>
                      </a:r>
                    </a:p>
                    <a:p>
                      <a:r>
                        <a:rPr lang="zh-CN" altLang="en-US" sz="2000" dirty="0">
                          <a:effectLst/>
                        </a:rPr>
                        <a:t>缺少审核人员信息</a:t>
                      </a:r>
                    </a:p>
                    <a:p>
                      <a:r>
                        <a:rPr lang="zh-CN" altLang="en-US" sz="2000" dirty="0">
                          <a:effectLst/>
                        </a:rPr>
                        <a:t>缺少仿真软件版本信息</a:t>
                      </a:r>
                    </a:p>
                    <a:p>
                      <a:r>
                        <a:rPr lang="zh-CN" altLang="en-US" sz="2000" dirty="0">
                          <a:effectLst/>
                        </a:rPr>
                        <a:t>缺少计算时间信息</a:t>
                      </a:r>
                    </a:p>
                    <a:p>
                      <a:r>
                        <a:rPr lang="zh-CN" altLang="en-US" sz="2000" b="1" dirty="0">
                          <a:effectLst/>
                        </a:rPr>
                        <a:t>影响：</a:t>
                      </a:r>
                      <a:r>
                        <a:rPr lang="zh-CN" altLang="en-US" sz="2000" dirty="0">
                          <a:effectLst/>
                        </a:rPr>
                        <a:t> 无法保证结果可信度</a:t>
                      </a:r>
                      <a:r>
                        <a:rPr lang="zh-CN" altLang="en-US" sz="2000" b="1" dirty="0">
                          <a:effectLst/>
                        </a:rPr>
                        <a:t>建议：</a:t>
                      </a:r>
                      <a:r>
                        <a:rPr lang="zh-CN" altLang="en-US" sz="2000" dirty="0">
                          <a:effectLst/>
                        </a:rPr>
                        <a:t> 增加质量保证信息页</a:t>
                      </a:r>
                      <a:r>
                        <a:rPr lang="en-US" altLang="zh-CN" sz="2000" b="1" dirty="0">
                          <a:effectLst/>
                        </a:rPr>
                        <a:t>8. </a:t>
                      </a:r>
                      <a:r>
                        <a:rPr lang="zh-CN" altLang="en-US" sz="2000" b="1" dirty="0">
                          <a:effectLst/>
                        </a:rPr>
                        <a:t>风险评估不完整 ❌</a:t>
                      </a:r>
                    </a:p>
                    <a:p>
                      <a:r>
                        <a:rPr lang="zh-CN" altLang="en-US" sz="2000" b="1" dirty="0">
                          <a:effectLst/>
                        </a:rPr>
                        <a:t>问题：</a:t>
                      </a:r>
                      <a:r>
                        <a:rPr lang="zh-CN" altLang="en-US" sz="2000" dirty="0">
                          <a:effectLst/>
                        </a:rPr>
                        <a:t>缺少不确定性分析</a:t>
                      </a:r>
                    </a:p>
                    <a:p>
                      <a:r>
                        <a:rPr lang="zh-CN" altLang="en-US" sz="2000" dirty="0">
                          <a:effectLst/>
                        </a:rPr>
                        <a:t>缺少参数敏感性分析</a:t>
                      </a:r>
                    </a:p>
                    <a:p>
                      <a:r>
                        <a:rPr lang="zh-CN" altLang="en-US" sz="2000" dirty="0">
                          <a:effectLst/>
                        </a:rPr>
                        <a:t>缺少最坏情况分析</a:t>
                      </a:r>
                    </a:p>
                    <a:p>
                      <a:r>
                        <a:rPr lang="zh-CN" altLang="en-US" sz="2000" b="1" dirty="0">
                          <a:effectLst/>
                        </a:rPr>
                        <a:t>影响：</a:t>
                      </a:r>
                      <a:r>
                        <a:rPr lang="zh-CN" altLang="en-US" sz="2000" dirty="0">
                          <a:effectLst/>
                        </a:rPr>
                        <a:t> 无法评估设计裕度</a:t>
                      </a:r>
                      <a:r>
                        <a:rPr lang="zh-CN" altLang="en-US" sz="2000" b="1" dirty="0">
                          <a:effectLst/>
                        </a:rPr>
                        <a:t>建议：</a:t>
                      </a:r>
                      <a:r>
                        <a:rPr lang="zh-CN" altLang="en-US" sz="2000" dirty="0">
                          <a:effectLst/>
                        </a:rPr>
                        <a:t> 补充风险评估章节</a:t>
                      </a:r>
                      <a:endParaRPr lang="en-GB" sz="2000" dirty="0"/>
                    </a:p>
                  </a:txBody>
                  <a:tcPr/>
                </a:tc>
                <a:tc>
                  <a:txBody>
                    <a:bodyPr/>
                    <a:lstStyle/>
                    <a:p>
                      <a:r>
                        <a:rPr lang="en-US" altLang="zh-CN" sz="2000" b="1" dirty="0">
                          <a:effectLst/>
                        </a:rPr>
                        <a:t>APQP</a:t>
                      </a:r>
                      <a:r>
                        <a:rPr lang="zh-CN" altLang="en-US" sz="2000" b="1" dirty="0">
                          <a:effectLst/>
                        </a:rPr>
                        <a:t>阶段评估：</a:t>
                      </a:r>
                    </a:p>
                    <a:p>
                      <a:pPr marL="342900" indent="-342900">
                        <a:buFont typeface="Arial" panose="020B0604020202020204" pitchFamily="34" charset="0"/>
                        <a:buChar char="•"/>
                      </a:pPr>
                      <a:r>
                        <a:rPr lang="zh-CN" altLang="en-US" sz="2000" dirty="0">
                          <a:effectLst/>
                        </a:rPr>
                        <a:t>该报告处于</a:t>
                      </a:r>
                      <a:r>
                        <a:rPr lang="en-US" altLang="zh-CN" sz="2000" dirty="0">
                          <a:effectLst/>
                        </a:rPr>
                        <a:t>B</a:t>
                      </a:r>
                      <a:r>
                        <a:rPr lang="zh-CN" altLang="en-US" sz="2000" dirty="0">
                          <a:effectLst/>
                        </a:rPr>
                        <a:t>样阶段，基本满足设计验证要求，但需要改进以下方面才能通过</a:t>
                      </a:r>
                      <a:r>
                        <a:rPr lang="en-US" altLang="zh-CN" sz="2000" dirty="0">
                          <a:effectLst/>
                        </a:rPr>
                        <a:t>Gate 3</a:t>
                      </a:r>
                      <a:r>
                        <a:rPr lang="zh-CN" altLang="en-US" sz="2000" dirty="0">
                          <a:effectLst/>
                        </a:rPr>
                        <a:t>评审：</a:t>
                      </a:r>
                      <a:endParaRPr lang="en-GB" altLang="zh-CN" sz="2000" dirty="0">
                        <a:effectLst/>
                      </a:endParaRPr>
                    </a:p>
                    <a:p>
                      <a:endParaRPr lang="en-GB" altLang="zh-CN" sz="2000" b="1" dirty="0">
                        <a:effectLst/>
                      </a:endParaRPr>
                    </a:p>
                    <a:p>
                      <a:r>
                        <a:rPr lang="zh-CN" altLang="en-US" sz="2000" b="1" dirty="0">
                          <a:effectLst/>
                        </a:rPr>
                        <a:t>优先级改进建议：</a:t>
                      </a:r>
                    </a:p>
                    <a:p>
                      <a:r>
                        <a:rPr lang="zh-CN" altLang="en-US" sz="2000" b="1" dirty="0">
                          <a:effectLst/>
                        </a:rPr>
                        <a:t>高优先级（影响安全性）：</a:t>
                      </a:r>
                      <a:endParaRPr lang="en-GB" altLang="zh-CN" sz="2000" b="1" dirty="0">
                        <a:effectLst/>
                      </a:endParaRPr>
                    </a:p>
                    <a:p>
                      <a:pPr marL="342900" indent="-342900">
                        <a:buFont typeface="Arial" panose="020B0604020202020204" pitchFamily="34" charset="0"/>
                        <a:buChar char="•"/>
                      </a:pPr>
                      <a:r>
                        <a:rPr lang="zh-CN" altLang="en-US" sz="2000" dirty="0">
                          <a:effectLst/>
                        </a:rPr>
                        <a:t>明确安全判定条件</a:t>
                      </a:r>
                    </a:p>
                    <a:p>
                      <a:pPr marL="342900" indent="-342900">
                        <a:buFont typeface="Arial" panose="020B0604020202020204" pitchFamily="34" charset="0"/>
                        <a:buChar char="•"/>
                      </a:pPr>
                      <a:r>
                        <a:rPr lang="zh-CN" altLang="en-US" sz="2000" dirty="0">
                          <a:effectLst/>
                        </a:rPr>
                        <a:t>补充工况定义完整性</a:t>
                      </a:r>
                    </a:p>
                    <a:p>
                      <a:pPr marL="342900" indent="-342900">
                        <a:buFont typeface="Arial" panose="020B0604020202020204" pitchFamily="34" charset="0"/>
                        <a:buChar char="•"/>
                      </a:pPr>
                      <a:r>
                        <a:rPr lang="zh-CN" altLang="en-US" sz="2000" dirty="0">
                          <a:effectLst/>
                        </a:rPr>
                        <a:t>增加失效机理分析</a:t>
                      </a:r>
                    </a:p>
                    <a:p>
                      <a:r>
                        <a:rPr lang="zh-CN" altLang="en-US" sz="2000" b="1" dirty="0">
                          <a:effectLst/>
                        </a:rPr>
                        <a:t>中优先级（影响可追溯性）：</a:t>
                      </a:r>
                      <a:endParaRPr lang="en-GB" altLang="zh-CN" sz="2000" b="1" dirty="0">
                        <a:effectLst/>
                      </a:endParaRPr>
                    </a:p>
                    <a:p>
                      <a:pPr marL="342900" indent="-342900">
                        <a:buFont typeface="Arial" panose="020B0604020202020204" pitchFamily="34" charset="0"/>
                        <a:buChar char="•"/>
                      </a:pPr>
                      <a:r>
                        <a:rPr lang="zh-CN" altLang="en-US" sz="2000" dirty="0">
                          <a:effectLst/>
                        </a:rPr>
                        <a:t>完善模型介绍信息</a:t>
                      </a:r>
                    </a:p>
                    <a:p>
                      <a:pPr marL="342900" indent="-342900">
                        <a:buFont typeface="Arial" panose="020B0604020202020204" pitchFamily="34" charset="0"/>
                        <a:buChar char="•"/>
                      </a:pPr>
                      <a:r>
                        <a:rPr lang="zh-CN" altLang="en-US" sz="2000" dirty="0">
                          <a:effectLst/>
                        </a:rPr>
                        <a:t>增加质量保证信息</a:t>
                      </a:r>
                    </a:p>
                    <a:p>
                      <a:pPr marL="342900" indent="-342900">
                        <a:buFont typeface="Arial" panose="020B0604020202020204" pitchFamily="34" charset="0"/>
                        <a:buChar char="•"/>
                      </a:pPr>
                      <a:r>
                        <a:rPr lang="zh-CN" altLang="en-US" sz="2000" dirty="0">
                          <a:effectLst/>
                        </a:rPr>
                        <a:t>补充结果分析深度</a:t>
                      </a:r>
                    </a:p>
                    <a:p>
                      <a:r>
                        <a:rPr lang="zh-CN" altLang="en-US" sz="2000" b="1" dirty="0">
                          <a:effectLst/>
                        </a:rPr>
                        <a:t>低优先级（影响规范性）：</a:t>
                      </a:r>
                      <a:endParaRPr lang="en-GB" altLang="zh-CN" sz="2000" b="1" dirty="0">
                        <a:effectLst/>
                      </a:endParaRPr>
                    </a:p>
                    <a:p>
                      <a:pPr marL="342900" indent="-342900">
                        <a:buFont typeface="Arial" panose="020B0604020202020204" pitchFamily="34" charset="0"/>
                        <a:buChar char="•"/>
                      </a:pPr>
                      <a:r>
                        <a:rPr lang="zh-CN" altLang="en-US" sz="2000" dirty="0">
                          <a:effectLst/>
                        </a:rPr>
                        <a:t>修正文档格式问题</a:t>
                      </a:r>
                    </a:p>
                    <a:p>
                      <a:pPr marL="342900" indent="-342900">
                        <a:buFont typeface="Arial" panose="020B0604020202020204" pitchFamily="34" charset="0"/>
                        <a:buChar char="•"/>
                      </a:pPr>
                      <a:r>
                        <a:rPr lang="zh-CN" altLang="en-US" sz="2000" dirty="0">
                          <a:effectLst/>
                        </a:rPr>
                        <a:t>完善目录结构</a:t>
                      </a:r>
                    </a:p>
                    <a:p>
                      <a:r>
                        <a:rPr lang="zh-CN" altLang="en-US" sz="2000" b="1" dirty="0">
                          <a:effectLst/>
                        </a:rPr>
                        <a:t>时间影响评估：</a:t>
                      </a:r>
                    </a:p>
                    <a:p>
                      <a:pPr marL="342900" indent="-342900">
                        <a:buFont typeface="Arial" panose="020B0604020202020204" pitchFamily="34" charset="0"/>
                        <a:buChar char="•"/>
                      </a:pPr>
                      <a:r>
                        <a:rPr lang="zh-CN" altLang="en-US" sz="2000" dirty="0">
                          <a:effectLst/>
                        </a:rPr>
                        <a:t>高优先级项目需要</a:t>
                      </a:r>
                      <a:r>
                        <a:rPr lang="en-US" altLang="zh-CN" sz="2000" dirty="0">
                          <a:effectLst/>
                        </a:rPr>
                        <a:t>2-3</a:t>
                      </a:r>
                      <a:r>
                        <a:rPr lang="zh-CN" altLang="en-US" sz="2000" dirty="0">
                          <a:effectLst/>
                        </a:rPr>
                        <a:t>个工作日完成</a:t>
                      </a:r>
                    </a:p>
                    <a:p>
                      <a:pPr marL="342900" indent="-342900">
                        <a:buFont typeface="Arial" panose="020B0604020202020204" pitchFamily="34" charset="0"/>
                        <a:buChar char="•"/>
                      </a:pPr>
                      <a:r>
                        <a:rPr lang="zh-CN" altLang="en-US" sz="2000" dirty="0">
                          <a:effectLst/>
                        </a:rPr>
                        <a:t>中优先级项目需要</a:t>
                      </a:r>
                      <a:r>
                        <a:rPr lang="en-US" altLang="zh-CN" sz="2000" dirty="0">
                          <a:effectLst/>
                        </a:rPr>
                        <a:t>1-2</a:t>
                      </a:r>
                      <a:r>
                        <a:rPr lang="zh-CN" altLang="en-US" sz="2000" dirty="0">
                          <a:effectLst/>
                        </a:rPr>
                        <a:t>个工作日完成</a:t>
                      </a:r>
                    </a:p>
                    <a:p>
                      <a:pPr marL="342900" indent="-342900">
                        <a:buFont typeface="Arial" panose="020B0604020202020204" pitchFamily="34" charset="0"/>
                        <a:buChar char="•"/>
                      </a:pPr>
                      <a:r>
                        <a:rPr lang="zh-CN" altLang="en-US" sz="2000" dirty="0">
                          <a:effectLst/>
                        </a:rPr>
                        <a:t>低优先级项目需要</a:t>
                      </a:r>
                      <a:r>
                        <a:rPr lang="en-US" altLang="zh-CN" sz="2000" dirty="0">
                          <a:effectLst/>
                        </a:rPr>
                        <a:t>0.5</a:t>
                      </a:r>
                      <a:r>
                        <a:rPr lang="zh-CN" altLang="en-US" sz="2000" dirty="0">
                          <a:effectLst/>
                        </a:rPr>
                        <a:t>个工作日完成</a:t>
                      </a:r>
                    </a:p>
                    <a:p>
                      <a:r>
                        <a:rPr lang="zh-CN" altLang="en-US" sz="2000" b="1" dirty="0">
                          <a:effectLst/>
                        </a:rPr>
                        <a:t>资源需求：</a:t>
                      </a:r>
                    </a:p>
                    <a:p>
                      <a:pPr marL="342900" indent="-342900">
                        <a:buFont typeface="Arial" panose="020B0604020202020204" pitchFamily="34" charset="0"/>
                        <a:buChar char="•"/>
                      </a:pPr>
                      <a:r>
                        <a:rPr lang="zh-CN" altLang="en-US" sz="2000" dirty="0">
                          <a:effectLst/>
                        </a:rPr>
                        <a:t>需要</a:t>
                      </a:r>
                      <a:r>
                        <a:rPr lang="en-US" altLang="zh-CN" sz="2000" dirty="0">
                          <a:effectLst/>
                        </a:rPr>
                        <a:t>CAE</a:t>
                      </a:r>
                      <a:r>
                        <a:rPr lang="zh-CN" altLang="en-US" sz="2000" dirty="0">
                          <a:effectLst/>
                        </a:rPr>
                        <a:t>工程师</a:t>
                      </a:r>
                      <a:r>
                        <a:rPr lang="en-US" altLang="zh-CN" sz="2000" dirty="0">
                          <a:effectLst/>
                        </a:rPr>
                        <a:t>1</a:t>
                      </a:r>
                      <a:r>
                        <a:rPr lang="zh-CN" altLang="en-US" sz="2000" dirty="0">
                          <a:effectLst/>
                        </a:rPr>
                        <a:t>名</a:t>
                      </a:r>
                    </a:p>
                    <a:p>
                      <a:pPr marL="342900" indent="-342900">
                        <a:buFont typeface="Arial" panose="020B0604020202020204" pitchFamily="34" charset="0"/>
                        <a:buChar char="•"/>
                      </a:pPr>
                      <a:r>
                        <a:rPr lang="zh-CN" altLang="en-US" sz="2000" dirty="0">
                          <a:effectLst/>
                        </a:rPr>
                        <a:t>需要技术审核人员</a:t>
                      </a:r>
                      <a:r>
                        <a:rPr lang="en-US" altLang="zh-CN" sz="2000" dirty="0">
                          <a:effectLst/>
                        </a:rPr>
                        <a:t>1</a:t>
                      </a:r>
                      <a:r>
                        <a:rPr lang="zh-CN" altLang="en-US" sz="2000" dirty="0">
                          <a:effectLst/>
                        </a:rPr>
                        <a:t>名</a:t>
                      </a:r>
                    </a:p>
                    <a:p>
                      <a:pPr marL="342900" indent="-342900">
                        <a:buFont typeface="Arial" panose="020B0604020202020204" pitchFamily="34" charset="0"/>
                        <a:buChar char="•"/>
                      </a:pPr>
                      <a:r>
                        <a:rPr lang="zh-CN" altLang="en-US" sz="2000" dirty="0">
                          <a:effectLst/>
                        </a:rPr>
                        <a:t>需要项目经理协调</a:t>
                      </a:r>
                    </a:p>
                    <a:p>
                      <a:pPr marL="342900" indent="-342900">
                        <a:buFont typeface="Arial" panose="020B0604020202020204" pitchFamily="34" charset="0"/>
                        <a:buChar char="•"/>
                      </a:pPr>
                      <a:r>
                        <a:rPr lang="zh-CN" altLang="en-US" sz="2000" dirty="0">
                          <a:effectLst/>
                        </a:rPr>
                        <a:t>建议在进入下一阶段前完成所有高优先级改进项目，确保设计验证的完整性和可靠性。</a:t>
                      </a:r>
                      <a:endParaRPr lang="en-GB" sz="2000" dirty="0"/>
                    </a:p>
                  </a:txBody>
                  <a:tcPr/>
                </a:tc>
                <a:extLst>
                  <a:ext uri="{0D108BD9-81ED-4DB2-BD59-A6C34878D82A}">
                    <a16:rowId xmlns:a16="http://schemas.microsoft.com/office/drawing/2014/main" val="604853937"/>
                  </a:ext>
                </a:extLst>
              </a:tr>
            </a:tbl>
          </a:graphicData>
        </a:graphic>
      </p:graphicFrame>
    </p:spTree>
    <p:extLst>
      <p:ext uri="{BB962C8B-B14F-4D97-AF65-F5344CB8AC3E}">
        <p14:creationId xmlns:p14="http://schemas.microsoft.com/office/powerpoint/2010/main" val="1849789161"/>
      </p:ext>
    </p:extLst>
  </p:cSld>
  <p:clrMapOvr>
    <a:masterClrMapping/>
  </p:clrMapOvr>
  <p:transition spd="med"/>
  <p:extLst>
    <p:ext uri="{6950BFC3-D8DA-4A85-94F7-54DA5524770B}">
      <p188:commentRel xmlns:p188="http://schemas.microsoft.com/office/powerpoint/2018/8/main" r:id="rId2"/>
    </p:ext>
  </p:extLs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F7FFD-8932-E75E-39F9-65734BDD0511}"/>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C79F4307-79B4-0271-CCD7-D90F6F461808}"/>
              </a:ext>
            </a:extLst>
          </p:cNvPr>
          <p:cNvSpPr txBox="1"/>
          <p:nvPr/>
        </p:nvSpPr>
        <p:spPr>
          <a:xfrm>
            <a:off x="1737559" y="755986"/>
            <a:ext cx="17078475" cy="646331"/>
          </a:xfrm>
          <a:prstGeom prst="rect">
            <a:avLst/>
          </a:prstGeom>
          <a:noFill/>
        </p:spPr>
        <p:txBody>
          <a:bodyPr wrap="square" numCol="1">
            <a:spAutoFit/>
          </a:bodyPr>
          <a:lstStyle/>
          <a:p>
            <a:pPr>
              <a:spcBef>
                <a:spcPts val="1500"/>
              </a:spcBef>
              <a:spcAft>
                <a:spcPts val="750"/>
              </a:spcAft>
              <a:buNone/>
            </a:pPr>
            <a:r>
              <a:rPr lang="en-US" altLang="zh-CN" sz="3600" b="1" dirty="0">
                <a:effectLst/>
              </a:rPr>
              <a:t>B</a:t>
            </a:r>
            <a:r>
              <a:rPr lang="zh-CN" altLang="en-US" sz="3600" b="1" dirty="0">
                <a:effectLst/>
              </a:rPr>
              <a:t>样阶段</a:t>
            </a:r>
            <a:r>
              <a:rPr lang="en-US" altLang="zh-CN" sz="3600" b="1" dirty="0"/>
              <a:t>《570_941B-</a:t>
            </a:r>
            <a:r>
              <a:rPr lang="zh-CN" altLang="en-US" sz="3600" b="1" dirty="0"/>
              <a:t>随机振动仿真报告</a:t>
            </a:r>
            <a:r>
              <a:rPr lang="en-US" altLang="zh-CN" sz="3600" b="1" dirty="0"/>
              <a:t>20240603(</a:t>
            </a:r>
            <a:r>
              <a:rPr lang="zh-CN" altLang="en-US" sz="3600" b="1" dirty="0"/>
              <a:t>纵梁灌胶</a:t>
            </a:r>
            <a:r>
              <a:rPr lang="en-US" altLang="zh-CN" sz="3600" b="1" dirty="0"/>
              <a:t>).pptx》</a:t>
            </a:r>
            <a:r>
              <a:rPr lang="zh-CN" altLang="en-US" sz="3600" b="1" dirty="0">
                <a:effectLst/>
              </a:rPr>
              <a:t>审核报告</a:t>
            </a:r>
          </a:p>
        </p:txBody>
      </p:sp>
      <p:graphicFrame>
        <p:nvGraphicFramePr>
          <p:cNvPr id="2" name="表格 1">
            <a:extLst>
              <a:ext uri="{FF2B5EF4-FFF2-40B4-BE49-F238E27FC236}">
                <a16:creationId xmlns:a16="http://schemas.microsoft.com/office/drawing/2014/main" id="{3CB4179E-69F0-118C-3159-AC5B65B52DDE}"/>
              </a:ext>
            </a:extLst>
          </p:cNvPr>
          <p:cNvGraphicFramePr>
            <a:graphicFrameLocks noGrp="1"/>
          </p:cNvGraphicFramePr>
          <p:nvPr>
            <p:extLst>
              <p:ext uri="{D42A27DB-BD31-4B8C-83A1-F6EECF244321}">
                <p14:modId xmlns:p14="http://schemas.microsoft.com/office/powerpoint/2010/main" val="3495848504"/>
              </p:ext>
            </p:extLst>
          </p:nvPr>
        </p:nvGraphicFramePr>
        <p:xfrm>
          <a:off x="662354" y="1738812"/>
          <a:ext cx="23059292" cy="10987624"/>
        </p:xfrm>
        <a:graphic>
          <a:graphicData uri="http://schemas.openxmlformats.org/drawingml/2006/table">
            <a:tbl>
              <a:tblPr firstRow="1" bandRow="1"/>
              <a:tblGrid>
                <a:gridCol w="4607171">
                  <a:extLst>
                    <a:ext uri="{9D8B030D-6E8A-4147-A177-3AD203B41FA5}">
                      <a16:colId xmlns:a16="http://schemas.microsoft.com/office/drawing/2014/main" val="520135011"/>
                    </a:ext>
                  </a:extLst>
                </a:gridCol>
                <a:gridCol w="5908430">
                  <a:extLst>
                    <a:ext uri="{9D8B030D-6E8A-4147-A177-3AD203B41FA5}">
                      <a16:colId xmlns:a16="http://schemas.microsoft.com/office/drawing/2014/main" val="585926975"/>
                    </a:ext>
                  </a:extLst>
                </a:gridCol>
                <a:gridCol w="6778868">
                  <a:extLst>
                    <a:ext uri="{9D8B030D-6E8A-4147-A177-3AD203B41FA5}">
                      <a16:colId xmlns:a16="http://schemas.microsoft.com/office/drawing/2014/main" val="3081416713"/>
                    </a:ext>
                  </a:extLst>
                </a:gridCol>
                <a:gridCol w="5764823">
                  <a:extLst>
                    <a:ext uri="{9D8B030D-6E8A-4147-A177-3AD203B41FA5}">
                      <a16:colId xmlns:a16="http://schemas.microsoft.com/office/drawing/2014/main" val="572010187"/>
                    </a:ext>
                  </a:extLst>
                </a:gridCol>
              </a:tblGrid>
              <a:tr h="901298">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审查清单制定</a:t>
                      </a:r>
                    </a:p>
                  </a:txBody>
                  <a:tcPr anchor="ctr"/>
                </a:tc>
                <a:tc gridSpan="2">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逐项审核结果</a:t>
                      </a:r>
                    </a:p>
                  </a:txBody>
                  <a:tcPr anchor="ctr"/>
                </a:tc>
                <a:tc hMerge="1">
                  <a:txBody>
                    <a:bodyPr/>
                    <a:lstStyle/>
                    <a:p>
                      <a:pPr algn="ctr"/>
                      <a:endParaRPr lang="en-GB" sz="2000" dirty="0"/>
                    </a:p>
                  </a:txBody>
                  <a:tcPr/>
                </a:tc>
                <a:tc>
                  <a:txBody>
                    <a:bodyPr/>
                    <a:lstStyle/>
                    <a:p>
                      <a:pPr marL="0" marR="0" lvl="0" indent="0" algn="ctr" defTabSz="1828800" rtl="0" eaLnBrk="1" fontAlgn="auto" latinLnBrk="0" hangingPunct="1">
                        <a:lnSpc>
                          <a:spcPct val="100000"/>
                        </a:lnSpc>
                        <a:spcBef>
                          <a:spcPts val="0"/>
                        </a:spcBef>
                        <a:spcAft>
                          <a:spcPts val="0"/>
                        </a:spcAft>
                        <a:buClrTx/>
                        <a:buSzTx/>
                        <a:buFontTx/>
                        <a:buNone/>
                        <a:tabLst/>
                        <a:defRPr/>
                      </a:pPr>
                      <a:r>
                        <a:rPr lang="zh-CN" altLang="en-US" sz="2400" b="1" dirty="0">
                          <a:effectLst/>
                        </a:rPr>
                        <a:t>总体评估</a:t>
                      </a:r>
                    </a:p>
                  </a:txBody>
                  <a:tcPr anchor="ctr"/>
                </a:tc>
                <a:extLst>
                  <a:ext uri="{0D108BD9-81ED-4DB2-BD59-A6C34878D82A}">
                    <a16:rowId xmlns:a16="http://schemas.microsoft.com/office/drawing/2014/main" val="2562292327"/>
                  </a:ext>
                </a:extLst>
              </a:tr>
              <a:tr h="10086326">
                <a:tc>
                  <a:txBody>
                    <a:bodyPr/>
                    <a:lstStyle/>
                    <a:p>
                      <a:r>
                        <a:rPr lang="en-US" altLang="zh-CN" sz="2000" b="1" dirty="0">
                          <a:effectLst/>
                        </a:rPr>
                        <a:t>1. </a:t>
                      </a:r>
                      <a:r>
                        <a:rPr lang="zh-CN" altLang="en-US" sz="2000" b="1" dirty="0">
                          <a:effectLst/>
                        </a:rPr>
                        <a:t>文档完整性审查</a:t>
                      </a:r>
                      <a:r>
                        <a:rPr lang="zh-CN" altLang="en-US" sz="2000" dirty="0">
                          <a:effectLst/>
                        </a:rPr>
                        <a:t>报告基本信息完整性</a:t>
                      </a:r>
                    </a:p>
                    <a:p>
                      <a:r>
                        <a:rPr lang="zh-CN" altLang="en-US" sz="2000" dirty="0">
                          <a:effectLst/>
                        </a:rPr>
                        <a:t>项目背景与目标明确性</a:t>
                      </a:r>
                    </a:p>
                    <a:p>
                      <a:r>
                        <a:rPr lang="zh-CN" altLang="en-US" sz="2000" dirty="0">
                          <a:effectLst/>
                        </a:rPr>
                        <a:t>技术标准引用准确性</a:t>
                      </a:r>
                    </a:p>
                    <a:p>
                      <a:r>
                        <a:rPr lang="en-US" altLang="zh-CN" sz="2000" b="1" dirty="0">
                          <a:effectLst/>
                        </a:rPr>
                        <a:t>2. </a:t>
                      </a:r>
                      <a:r>
                        <a:rPr lang="zh-CN" altLang="en-US" sz="2000" b="1" dirty="0">
                          <a:effectLst/>
                        </a:rPr>
                        <a:t>技术规范符合性审查</a:t>
                      </a:r>
                      <a:r>
                        <a:rPr lang="en-US" altLang="zh-CN" sz="2000" dirty="0">
                          <a:effectLst/>
                        </a:rPr>
                        <a:t>GB38031</a:t>
                      </a:r>
                      <a:r>
                        <a:rPr lang="zh-CN" altLang="en-US" sz="2000" dirty="0">
                          <a:effectLst/>
                        </a:rPr>
                        <a:t>标准符合性</a:t>
                      </a:r>
                    </a:p>
                    <a:p>
                      <a:r>
                        <a:rPr lang="zh-CN" altLang="en-US" sz="2000" dirty="0">
                          <a:effectLst/>
                        </a:rPr>
                        <a:t>振动测试条件完整性</a:t>
                      </a:r>
                    </a:p>
                    <a:p>
                      <a:r>
                        <a:rPr lang="zh-CN" altLang="en-US" sz="2000" dirty="0">
                          <a:effectLst/>
                        </a:rPr>
                        <a:t>材料参数准确性</a:t>
                      </a:r>
                    </a:p>
                    <a:p>
                      <a:r>
                        <a:rPr lang="en-US" altLang="zh-CN" sz="2000" b="1" dirty="0">
                          <a:effectLst/>
                        </a:rPr>
                        <a:t>3. </a:t>
                      </a:r>
                      <a:r>
                        <a:rPr lang="zh-CN" altLang="en-US" sz="2000" b="1" dirty="0">
                          <a:effectLst/>
                        </a:rPr>
                        <a:t>仿真方法学审查</a:t>
                      </a:r>
                      <a:r>
                        <a:rPr lang="zh-CN" altLang="en-US" sz="2000" dirty="0">
                          <a:effectLst/>
                        </a:rPr>
                        <a:t>有限元模型合理性</a:t>
                      </a:r>
                    </a:p>
                    <a:p>
                      <a:r>
                        <a:rPr lang="zh-CN" altLang="en-US" sz="2000" dirty="0">
                          <a:effectLst/>
                        </a:rPr>
                        <a:t>边界条件设置正确性</a:t>
                      </a:r>
                    </a:p>
                    <a:p>
                      <a:r>
                        <a:rPr lang="zh-CN" altLang="en-US" sz="2000" dirty="0">
                          <a:effectLst/>
                        </a:rPr>
                        <a:t>网格质量与收敛性</a:t>
                      </a:r>
                    </a:p>
                    <a:p>
                      <a:r>
                        <a:rPr lang="en-US" altLang="zh-CN" sz="2000" b="1" dirty="0">
                          <a:effectLst/>
                        </a:rPr>
                        <a:t>4. </a:t>
                      </a:r>
                      <a:r>
                        <a:rPr lang="zh-CN" altLang="en-US" sz="2000" b="1" dirty="0">
                          <a:effectLst/>
                        </a:rPr>
                        <a:t>结果分析与判定审查</a:t>
                      </a:r>
                      <a:r>
                        <a:rPr lang="zh-CN" altLang="en-US" sz="2000" dirty="0">
                          <a:effectLst/>
                        </a:rPr>
                        <a:t>安全系数计算正确性</a:t>
                      </a:r>
                    </a:p>
                    <a:p>
                      <a:r>
                        <a:rPr lang="zh-CN" altLang="en-US" sz="2000" dirty="0">
                          <a:effectLst/>
                        </a:rPr>
                        <a:t>风险项识别准确性</a:t>
                      </a:r>
                    </a:p>
                    <a:p>
                      <a:r>
                        <a:rPr lang="zh-CN" altLang="en-US" sz="2000" dirty="0">
                          <a:effectLst/>
                        </a:rPr>
                        <a:t>结论可靠性</a:t>
                      </a:r>
                    </a:p>
                    <a:p>
                      <a:r>
                        <a:rPr lang="en-US" altLang="zh-CN" sz="2000" b="1" dirty="0">
                          <a:effectLst/>
                        </a:rPr>
                        <a:t>5. </a:t>
                      </a:r>
                      <a:r>
                        <a:rPr lang="zh-CN" altLang="en-US" sz="2000" b="1" dirty="0">
                          <a:effectLst/>
                        </a:rPr>
                        <a:t>质量保证审查</a:t>
                      </a:r>
                      <a:r>
                        <a:rPr lang="zh-CN" altLang="en-US" sz="2000" dirty="0">
                          <a:effectLst/>
                        </a:rPr>
                        <a:t>数据可追溯性</a:t>
                      </a:r>
                    </a:p>
                    <a:p>
                      <a:r>
                        <a:rPr lang="zh-CN" altLang="en-US" sz="2000" dirty="0">
                          <a:effectLst/>
                        </a:rPr>
                        <a:t>结果验证方法</a:t>
                      </a:r>
                    </a:p>
                    <a:p>
                      <a:r>
                        <a:rPr lang="zh-CN" altLang="en-US" sz="2000" dirty="0">
                          <a:effectLst/>
                        </a:rPr>
                        <a:t>不确定性分析</a:t>
                      </a:r>
                    </a:p>
                    <a:p>
                      <a:pPr>
                        <a:spcBef>
                          <a:spcPts val="1200"/>
                        </a:spcBef>
                        <a:spcAft>
                          <a:spcPts val="600"/>
                        </a:spcAft>
                        <a:buNone/>
                      </a:pPr>
                      <a:endParaRPr lang="en-GB" sz="2000" dirty="0"/>
                    </a:p>
                  </a:txBody>
                  <a:tcPr/>
                </a:tc>
                <a:tc>
                  <a:txBody>
                    <a:bodyPr/>
                    <a:lstStyle/>
                    <a:p>
                      <a:r>
                        <a:rPr lang="en-US" altLang="zh-CN" sz="2000" b="1" dirty="0">
                          <a:effectLst/>
                        </a:rPr>
                        <a:t>1. </a:t>
                      </a:r>
                      <a:r>
                        <a:rPr lang="zh-CN" altLang="en-US" sz="2000" b="1" dirty="0">
                          <a:effectLst/>
                        </a:rPr>
                        <a:t>文档完整性审查</a:t>
                      </a:r>
                    </a:p>
                    <a:p>
                      <a:r>
                        <a:rPr lang="zh-CN" altLang="en-US" sz="2000" b="1" dirty="0">
                          <a:effectLst/>
                        </a:rPr>
                        <a:t>✅ 通过项目：</a:t>
                      </a:r>
                      <a:r>
                        <a:rPr lang="zh-CN" altLang="en-US" sz="2000" dirty="0">
                          <a:effectLst/>
                        </a:rPr>
                        <a:t>报告标题明确（</a:t>
                      </a:r>
                      <a:r>
                        <a:rPr lang="en-US" altLang="zh-CN" sz="2000" dirty="0">
                          <a:effectLst/>
                        </a:rPr>
                        <a:t>570-941B-</a:t>
                      </a:r>
                      <a:r>
                        <a:rPr lang="zh-CN" altLang="en-US" sz="2000" dirty="0">
                          <a:effectLst/>
                        </a:rPr>
                        <a:t>随机振动仿真报告）</a:t>
                      </a:r>
                    </a:p>
                    <a:p>
                      <a:r>
                        <a:rPr lang="zh-CN" altLang="en-US" sz="2000" dirty="0">
                          <a:effectLst/>
                        </a:rPr>
                        <a:t>项目背景清晰（</a:t>
                      </a:r>
                      <a:r>
                        <a:rPr lang="en-US" altLang="zh-CN" sz="2000" dirty="0">
                          <a:effectLst/>
                        </a:rPr>
                        <a:t>GB38031</a:t>
                      </a:r>
                      <a:r>
                        <a:rPr lang="zh-CN" altLang="en-US" sz="2000" dirty="0">
                          <a:effectLst/>
                        </a:rPr>
                        <a:t>功率谱仿真）</a:t>
                      </a:r>
                    </a:p>
                    <a:p>
                      <a:r>
                        <a:rPr lang="zh-CN" altLang="en-US" sz="2000" dirty="0">
                          <a:effectLst/>
                        </a:rPr>
                        <a:t>模型基本信息完整（总重量</a:t>
                      </a:r>
                      <a:r>
                        <a:rPr lang="en-US" altLang="zh-CN" sz="2000" dirty="0">
                          <a:effectLst/>
                        </a:rPr>
                        <a:t>256.55kg</a:t>
                      </a:r>
                      <a:r>
                        <a:rPr lang="zh-CN" altLang="en-US" sz="2000" dirty="0">
                          <a:effectLst/>
                        </a:rPr>
                        <a:t>）</a:t>
                      </a:r>
                    </a:p>
                    <a:p>
                      <a:r>
                        <a:rPr lang="zh-CN" altLang="en-US" sz="2000" b="1" dirty="0">
                          <a:effectLst/>
                        </a:rPr>
                        <a:t>❌ 不通过项目：缺少报告编号和版本信息</a:t>
                      </a:r>
                      <a:endParaRPr lang="zh-CN" altLang="en-US" sz="2000" dirty="0">
                        <a:effectLst/>
                      </a:endParaRPr>
                    </a:p>
                    <a:p>
                      <a:r>
                        <a:rPr lang="zh-CN" altLang="en-US" sz="2000" b="1" dirty="0">
                          <a:effectLst/>
                        </a:rPr>
                        <a:t>缺少编制人员、审核人员、批准人员信息</a:t>
                      </a:r>
                      <a:endParaRPr lang="zh-CN" altLang="en-US" sz="2000" dirty="0">
                        <a:effectLst/>
                      </a:endParaRPr>
                    </a:p>
                    <a:p>
                      <a:r>
                        <a:rPr lang="zh-CN" altLang="en-US" sz="2000" b="1" dirty="0">
                          <a:effectLst/>
                        </a:rPr>
                        <a:t>缺少报告日期和有效期</a:t>
                      </a:r>
                      <a:endParaRPr lang="zh-CN" altLang="en-US" sz="2000" dirty="0">
                        <a:effectLst/>
                      </a:endParaRPr>
                    </a:p>
                    <a:p>
                      <a:r>
                        <a:rPr lang="zh-CN" altLang="en-US" sz="2000" b="1" dirty="0">
                          <a:effectLst/>
                        </a:rPr>
                        <a:t>缺少保密等级标识</a:t>
                      </a:r>
                      <a:endParaRPr lang="zh-CN" altLang="en-US" sz="2000" dirty="0">
                        <a:effectLst/>
                      </a:endParaRPr>
                    </a:p>
                    <a:p>
                      <a:r>
                        <a:rPr lang="zh-CN" altLang="en-US" sz="2000" b="1" dirty="0">
                          <a:effectLst/>
                        </a:rPr>
                        <a:t>应对建议：</a:t>
                      </a:r>
                      <a:r>
                        <a:rPr lang="zh-CN" altLang="en-US" sz="2000" dirty="0">
                          <a:effectLst/>
                        </a:rPr>
                        <a:t>立即补充报告头部信息，包括报告编号、版本、编制</a:t>
                      </a:r>
                      <a:r>
                        <a:rPr lang="en-US" altLang="zh-CN" sz="2000" dirty="0">
                          <a:effectLst/>
                        </a:rPr>
                        <a:t>/</a:t>
                      </a:r>
                      <a:r>
                        <a:rPr lang="zh-CN" altLang="en-US" sz="2000" dirty="0">
                          <a:effectLst/>
                        </a:rPr>
                        <a:t>审核</a:t>
                      </a:r>
                      <a:r>
                        <a:rPr lang="en-US" altLang="zh-CN" sz="2000" dirty="0">
                          <a:effectLst/>
                        </a:rPr>
                        <a:t>/</a:t>
                      </a:r>
                      <a:r>
                        <a:rPr lang="zh-CN" altLang="en-US" sz="2000" dirty="0">
                          <a:effectLst/>
                        </a:rPr>
                        <a:t>批准人员</a:t>
                      </a:r>
                    </a:p>
                    <a:p>
                      <a:r>
                        <a:rPr lang="zh-CN" altLang="en-US" sz="2000" dirty="0">
                          <a:effectLst/>
                        </a:rPr>
                        <a:t>添加报告日期和有效期信息</a:t>
                      </a:r>
                    </a:p>
                    <a:p>
                      <a:r>
                        <a:rPr lang="zh-CN" altLang="en-US" sz="2000" dirty="0">
                          <a:effectLst/>
                        </a:rPr>
                        <a:t>明确标注保密等级</a:t>
                      </a:r>
                    </a:p>
                    <a:p>
                      <a:r>
                        <a:rPr lang="en-US" altLang="zh-CN" sz="2000" b="1" dirty="0">
                          <a:effectLst/>
                        </a:rPr>
                        <a:t>2. </a:t>
                      </a:r>
                      <a:r>
                        <a:rPr lang="zh-CN" altLang="en-US" sz="2000" b="1" dirty="0">
                          <a:effectLst/>
                        </a:rPr>
                        <a:t>技术规范符合性审查</a:t>
                      </a:r>
                    </a:p>
                    <a:p>
                      <a:r>
                        <a:rPr lang="zh-CN" altLang="en-US" sz="2000" b="1" dirty="0">
                          <a:effectLst/>
                        </a:rPr>
                        <a:t>✅ 通过项目：</a:t>
                      </a:r>
                      <a:r>
                        <a:rPr lang="en-US" altLang="zh-CN" sz="2000" dirty="0">
                          <a:effectLst/>
                        </a:rPr>
                        <a:t>GB38031</a:t>
                      </a:r>
                      <a:r>
                        <a:rPr lang="zh-CN" altLang="en-US" sz="2000" dirty="0">
                          <a:effectLst/>
                        </a:rPr>
                        <a:t>标准引用正确</a:t>
                      </a:r>
                    </a:p>
                    <a:p>
                      <a:r>
                        <a:rPr lang="zh-CN" altLang="en-US" sz="2000" dirty="0">
                          <a:effectLst/>
                        </a:rPr>
                        <a:t>振动测试条件表格完整</a:t>
                      </a:r>
                    </a:p>
                    <a:p>
                      <a:r>
                        <a:rPr lang="zh-CN" altLang="en-US" sz="2000" dirty="0">
                          <a:effectLst/>
                        </a:rPr>
                        <a:t>材料参数表格详细</a:t>
                      </a:r>
                    </a:p>
                    <a:p>
                      <a:r>
                        <a:rPr lang="zh-CN" altLang="en-US" sz="2000" b="1" dirty="0">
                          <a:effectLst/>
                        </a:rPr>
                        <a:t>❌ 不通过项目：缺少</a:t>
                      </a:r>
                      <a:r>
                        <a:rPr lang="en-US" altLang="zh-CN" sz="2000" b="1" dirty="0">
                          <a:effectLst/>
                        </a:rPr>
                        <a:t>GB38031</a:t>
                      </a:r>
                      <a:r>
                        <a:rPr lang="zh-CN" altLang="en-US" sz="2000" b="1" dirty="0">
                          <a:effectLst/>
                        </a:rPr>
                        <a:t>标准版本号</a:t>
                      </a:r>
                      <a:endParaRPr lang="zh-CN" altLang="en-US" sz="2000" dirty="0">
                        <a:effectLst/>
                      </a:endParaRPr>
                    </a:p>
                    <a:p>
                      <a:r>
                        <a:rPr lang="zh-CN" altLang="en-US" sz="2000" b="1" dirty="0">
                          <a:effectLst/>
                        </a:rPr>
                        <a:t>振动测试条件中缺少测试时间说明</a:t>
                      </a:r>
                      <a:endParaRPr lang="zh-CN" altLang="en-US" sz="2000" dirty="0">
                        <a:effectLst/>
                      </a:endParaRPr>
                    </a:p>
                    <a:p>
                      <a:r>
                        <a:rPr lang="zh-CN" altLang="en-US" sz="2000" b="1" dirty="0">
                          <a:effectLst/>
                        </a:rPr>
                        <a:t>材料参数缺少温度条件</a:t>
                      </a:r>
                      <a:endParaRPr lang="zh-CN" altLang="en-US" sz="2000" dirty="0">
                        <a:effectLst/>
                      </a:endParaRPr>
                    </a:p>
                    <a:p>
                      <a:r>
                        <a:rPr lang="zh-CN" altLang="en-US" sz="2000" b="1" dirty="0">
                          <a:effectLst/>
                        </a:rPr>
                        <a:t>应对建议：</a:t>
                      </a:r>
                      <a:r>
                        <a:rPr lang="zh-CN" altLang="en-US" sz="2000" dirty="0">
                          <a:effectLst/>
                        </a:rPr>
                        <a:t>明确标注</a:t>
                      </a:r>
                      <a:r>
                        <a:rPr lang="en-US" altLang="zh-CN" sz="2000" dirty="0">
                          <a:effectLst/>
                        </a:rPr>
                        <a:t>GB38031</a:t>
                      </a:r>
                      <a:r>
                        <a:rPr lang="zh-CN" altLang="en-US" sz="2000" dirty="0">
                          <a:effectLst/>
                        </a:rPr>
                        <a:t>标准版本号</a:t>
                      </a:r>
                    </a:p>
                    <a:p>
                      <a:r>
                        <a:rPr lang="zh-CN" altLang="en-US" sz="2000" dirty="0">
                          <a:effectLst/>
                        </a:rPr>
                        <a:t>补充振动测试的具体时间要求</a:t>
                      </a:r>
                    </a:p>
                    <a:p>
                      <a:r>
                        <a:rPr lang="zh-CN" altLang="en-US" sz="2000" dirty="0">
                          <a:effectLst/>
                        </a:rPr>
                        <a:t>添加材料参数的温度条件说明</a:t>
                      </a:r>
                    </a:p>
                    <a:p>
                      <a:pPr>
                        <a:spcBef>
                          <a:spcPts val="150"/>
                        </a:spcBef>
                        <a:spcAft>
                          <a:spcPts val="150"/>
                        </a:spcAft>
                        <a:buFont typeface="+mj-lt"/>
                        <a:buAutoNum type="arabicPeriod"/>
                      </a:pPr>
                      <a:endParaRPr lang="en-GB" sz="2000" dirty="0"/>
                    </a:p>
                  </a:txBody>
                  <a:tcPr/>
                </a:tc>
                <a:tc>
                  <a:txBody>
                    <a:bodyPr/>
                    <a:lstStyle/>
                    <a:p>
                      <a:r>
                        <a:rPr lang="en-US" altLang="zh-CN" sz="2000" b="1" dirty="0">
                          <a:effectLst/>
                        </a:rPr>
                        <a:t>3. </a:t>
                      </a:r>
                      <a:r>
                        <a:rPr lang="zh-CN" altLang="en-US" sz="2000" b="1" dirty="0">
                          <a:effectLst/>
                        </a:rPr>
                        <a:t>仿真方法学审查</a:t>
                      </a:r>
                    </a:p>
                    <a:p>
                      <a:r>
                        <a:rPr lang="zh-CN" altLang="en-US" sz="2000" b="1" dirty="0">
                          <a:effectLst/>
                        </a:rPr>
                        <a:t>✅ 通过项目：</a:t>
                      </a:r>
                      <a:r>
                        <a:rPr lang="zh-CN" altLang="en-US" sz="2000" dirty="0">
                          <a:effectLst/>
                        </a:rPr>
                        <a:t>有限元模型图片清晰</a:t>
                      </a:r>
                    </a:p>
                    <a:p>
                      <a:r>
                        <a:rPr lang="zh-CN" altLang="en-US" sz="2000" dirty="0">
                          <a:effectLst/>
                        </a:rPr>
                        <a:t>约束条件设置合理（电池包安装点约束）</a:t>
                      </a:r>
                    </a:p>
                    <a:p>
                      <a:r>
                        <a:rPr lang="zh-CN" altLang="en-US" sz="2000" dirty="0">
                          <a:effectLst/>
                        </a:rPr>
                        <a:t>模态分析结果完整</a:t>
                      </a:r>
                    </a:p>
                    <a:p>
                      <a:r>
                        <a:rPr lang="zh-CN" altLang="en-US" sz="2000" b="1" dirty="0">
                          <a:effectLst/>
                        </a:rPr>
                        <a:t>❌ 不通过项目：缺少网格质量信息</a:t>
                      </a:r>
                      <a:endParaRPr lang="zh-CN" altLang="en-US" sz="2000" dirty="0">
                        <a:effectLst/>
                      </a:endParaRPr>
                    </a:p>
                    <a:p>
                      <a:r>
                        <a:rPr lang="zh-CN" altLang="en-US" sz="2000" b="1" dirty="0">
                          <a:effectLst/>
                        </a:rPr>
                        <a:t>缺少收敛性分析</a:t>
                      </a:r>
                      <a:endParaRPr lang="zh-CN" altLang="en-US" sz="2000" dirty="0">
                        <a:effectLst/>
                      </a:endParaRPr>
                    </a:p>
                    <a:p>
                      <a:r>
                        <a:rPr lang="zh-CN" altLang="en-US" sz="2000" b="1" dirty="0">
                          <a:effectLst/>
                        </a:rPr>
                        <a:t>缺少模型验证方法</a:t>
                      </a:r>
                      <a:endParaRPr lang="zh-CN" altLang="en-US" sz="2000" dirty="0">
                        <a:effectLst/>
                      </a:endParaRPr>
                    </a:p>
                    <a:p>
                      <a:r>
                        <a:rPr lang="zh-CN" altLang="en-US" sz="2000" b="1" dirty="0">
                          <a:effectLst/>
                        </a:rPr>
                        <a:t>应对建议：</a:t>
                      </a:r>
                      <a:r>
                        <a:rPr lang="zh-CN" altLang="en-US" sz="2000" dirty="0">
                          <a:effectLst/>
                        </a:rPr>
                        <a:t>补充网格质量参数（网格数量、质量指标）</a:t>
                      </a:r>
                    </a:p>
                    <a:p>
                      <a:r>
                        <a:rPr lang="zh-CN" altLang="en-US" sz="2000" dirty="0">
                          <a:effectLst/>
                        </a:rPr>
                        <a:t>添加收敛性分析结果</a:t>
                      </a:r>
                    </a:p>
                    <a:p>
                      <a:r>
                        <a:rPr lang="zh-CN" altLang="en-US" sz="2000" dirty="0">
                          <a:effectLst/>
                        </a:rPr>
                        <a:t>提供模型验证方法（如与试验对比）</a:t>
                      </a:r>
                    </a:p>
                    <a:p>
                      <a:r>
                        <a:rPr lang="en-US" altLang="zh-CN" sz="2000" b="1" dirty="0">
                          <a:effectLst/>
                        </a:rPr>
                        <a:t>4. </a:t>
                      </a:r>
                      <a:r>
                        <a:rPr lang="zh-CN" altLang="en-US" sz="2000" b="1" dirty="0">
                          <a:effectLst/>
                        </a:rPr>
                        <a:t>结果分析与判定审查</a:t>
                      </a:r>
                    </a:p>
                    <a:p>
                      <a:r>
                        <a:rPr lang="zh-CN" altLang="en-US" sz="2000" b="1" dirty="0">
                          <a:effectLst/>
                        </a:rPr>
                        <a:t>❌ 严重不通过项目：焊缝应力超出安全阈值（</a:t>
                      </a:r>
                      <a:r>
                        <a:rPr lang="en-US" altLang="zh-CN" sz="2000" b="1" dirty="0">
                          <a:effectLst/>
                        </a:rPr>
                        <a:t>34.96MPa &gt; 34.6MPa</a:t>
                      </a:r>
                      <a:r>
                        <a:rPr lang="zh-CN" altLang="en-US" sz="2000" b="1" dirty="0">
                          <a:effectLst/>
                        </a:rPr>
                        <a:t>）</a:t>
                      </a:r>
                      <a:endParaRPr lang="zh-CN" altLang="en-US" sz="2000" dirty="0">
                        <a:effectLst/>
                      </a:endParaRPr>
                    </a:p>
                    <a:p>
                      <a:r>
                        <a:rPr lang="zh-CN" altLang="en-US" sz="2000" b="1" dirty="0">
                          <a:effectLst/>
                        </a:rPr>
                        <a:t>缺少</a:t>
                      </a:r>
                      <a:r>
                        <a:rPr lang="en-US" altLang="zh-CN" sz="2000" b="1" dirty="0">
                          <a:effectLst/>
                        </a:rPr>
                        <a:t>X</a:t>
                      </a:r>
                      <a:r>
                        <a:rPr lang="zh-CN" altLang="en-US" sz="2000" b="1" dirty="0">
                          <a:effectLst/>
                        </a:rPr>
                        <a:t>、</a:t>
                      </a:r>
                      <a:r>
                        <a:rPr lang="en-US" altLang="zh-CN" sz="2000" b="1" dirty="0">
                          <a:effectLst/>
                        </a:rPr>
                        <a:t>Y</a:t>
                      </a:r>
                      <a:r>
                        <a:rPr lang="zh-CN" altLang="en-US" sz="2000" b="1" dirty="0">
                          <a:effectLst/>
                        </a:rPr>
                        <a:t>方向振动分析结果</a:t>
                      </a:r>
                      <a:endParaRPr lang="zh-CN" altLang="en-US" sz="2000" dirty="0">
                        <a:effectLst/>
                      </a:endParaRPr>
                    </a:p>
                    <a:p>
                      <a:r>
                        <a:rPr lang="zh-CN" altLang="en-US" sz="2000" b="1" dirty="0">
                          <a:effectLst/>
                        </a:rPr>
                        <a:t>安全系数计算缺少详细过程</a:t>
                      </a:r>
                      <a:endParaRPr lang="zh-CN" altLang="en-US" sz="2000" dirty="0">
                        <a:effectLst/>
                      </a:endParaRPr>
                    </a:p>
                    <a:p>
                      <a:r>
                        <a:rPr lang="zh-CN" altLang="en-US" sz="2000" b="1" dirty="0">
                          <a:effectLst/>
                        </a:rPr>
                        <a:t>应对建议：立即进行焊缝设计优化，降低应力水平</a:t>
                      </a:r>
                      <a:endParaRPr lang="zh-CN" altLang="en-US" sz="2000" dirty="0">
                        <a:effectLst/>
                      </a:endParaRPr>
                    </a:p>
                    <a:p>
                      <a:r>
                        <a:rPr lang="zh-CN" altLang="en-US" sz="2000" b="1" dirty="0">
                          <a:effectLst/>
                        </a:rPr>
                        <a:t>补充</a:t>
                      </a:r>
                      <a:r>
                        <a:rPr lang="en-US" altLang="zh-CN" sz="2000" b="1" dirty="0">
                          <a:effectLst/>
                        </a:rPr>
                        <a:t>X</a:t>
                      </a:r>
                      <a:r>
                        <a:rPr lang="zh-CN" altLang="en-US" sz="2000" b="1" dirty="0">
                          <a:effectLst/>
                        </a:rPr>
                        <a:t>、</a:t>
                      </a:r>
                      <a:r>
                        <a:rPr lang="en-US" altLang="zh-CN" sz="2000" b="1" dirty="0">
                          <a:effectLst/>
                        </a:rPr>
                        <a:t>Y</a:t>
                      </a:r>
                      <a:r>
                        <a:rPr lang="zh-CN" altLang="en-US" sz="2000" b="1" dirty="0">
                          <a:effectLst/>
                        </a:rPr>
                        <a:t>方向振动仿真分析</a:t>
                      </a:r>
                      <a:endParaRPr lang="zh-CN" altLang="en-US" sz="2000" dirty="0">
                        <a:effectLst/>
                      </a:endParaRPr>
                    </a:p>
                    <a:p>
                      <a:r>
                        <a:rPr lang="zh-CN" altLang="en-US" sz="2000" b="1" dirty="0">
                          <a:effectLst/>
                        </a:rPr>
                        <a:t>详细说明安全系数计算方法</a:t>
                      </a:r>
                      <a:endParaRPr lang="zh-CN" altLang="en-US" sz="2000" dirty="0">
                        <a:effectLst/>
                      </a:endParaRPr>
                    </a:p>
                    <a:p>
                      <a:r>
                        <a:rPr lang="en-US" altLang="zh-CN" sz="2000" b="1" dirty="0">
                          <a:effectLst/>
                        </a:rPr>
                        <a:t>5. </a:t>
                      </a:r>
                      <a:r>
                        <a:rPr lang="zh-CN" altLang="en-US" sz="2000" b="1" dirty="0">
                          <a:effectLst/>
                        </a:rPr>
                        <a:t>质量保证审查</a:t>
                      </a:r>
                    </a:p>
                    <a:p>
                      <a:r>
                        <a:rPr lang="zh-CN" altLang="en-US" sz="2000" b="1" dirty="0">
                          <a:effectLst/>
                        </a:rPr>
                        <a:t>❌ 不通过项目：缺少仿真软件版本信息</a:t>
                      </a:r>
                      <a:endParaRPr lang="zh-CN" altLang="en-US" sz="2000" dirty="0">
                        <a:effectLst/>
                      </a:endParaRPr>
                    </a:p>
                    <a:p>
                      <a:r>
                        <a:rPr lang="zh-CN" altLang="en-US" sz="2000" b="1" dirty="0">
                          <a:effectLst/>
                        </a:rPr>
                        <a:t>缺少结果不确定性分析</a:t>
                      </a:r>
                      <a:endParaRPr lang="zh-CN" altLang="en-US" sz="2000" dirty="0">
                        <a:effectLst/>
                      </a:endParaRPr>
                    </a:p>
                    <a:p>
                      <a:r>
                        <a:rPr lang="zh-CN" altLang="en-US" sz="2000" b="1" dirty="0">
                          <a:effectLst/>
                        </a:rPr>
                        <a:t>缺少与试验结果对比</a:t>
                      </a:r>
                      <a:endParaRPr lang="zh-CN" altLang="en-US" sz="2000" dirty="0">
                        <a:effectLst/>
                      </a:endParaRPr>
                    </a:p>
                    <a:p>
                      <a:r>
                        <a:rPr lang="zh-CN" altLang="en-US" sz="2000" b="1" dirty="0">
                          <a:effectLst/>
                        </a:rPr>
                        <a:t>应对建议：</a:t>
                      </a:r>
                      <a:r>
                        <a:rPr lang="zh-CN" altLang="en-US" sz="2000" dirty="0">
                          <a:effectLst/>
                        </a:rPr>
                        <a:t>明确标注使用的仿真软件及版本</a:t>
                      </a:r>
                    </a:p>
                    <a:p>
                      <a:r>
                        <a:rPr lang="zh-CN" altLang="en-US" sz="2000" dirty="0">
                          <a:effectLst/>
                        </a:rPr>
                        <a:t>进行结果不确定性分析</a:t>
                      </a:r>
                    </a:p>
                    <a:p>
                      <a:r>
                        <a:rPr lang="zh-CN" altLang="en-US" sz="2000" dirty="0">
                          <a:effectLst/>
                        </a:rPr>
                        <a:t>提供与试验结果的对比验证</a:t>
                      </a:r>
                    </a:p>
                    <a:p>
                      <a:pPr>
                        <a:spcBef>
                          <a:spcPts val="150"/>
                        </a:spcBef>
                        <a:spcAft>
                          <a:spcPts val="150"/>
                        </a:spcAft>
                        <a:buFont typeface="+mj-lt"/>
                        <a:buAutoNum type="arabicPeriod"/>
                      </a:pPr>
                      <a:endParaRPr lang="en-GB" sz="2000" dirty="0"/>
                    </a:p>
                  </a:txBody>
                  <a:tcPr/>
                </a:tc>
                <a:tc>
                  <a:txBody>
                    <a:bodyPr/>
                    <a:lstStyle/>
                    <a:p>
                      <a:r>
                        <a:rPr lang="zh-CN" altLang="en-US" sz="2000" b="1" dirty="0">
                          <a:effectLst/>
                        </a:rPr>
                        <a:t>三、总体评审结论</a:t>
                      </a:r>
                    </a:p>
                    <a:p>
                      <a:r>
                        <a:rPr lang="zh-CN" altLang="en-US" sz="2000" b="1" dirty="0">
                          <a:effectLst/>
                        </a:rPr>
                        <a:t>评审结果：不通过主要问题：焊缝应力超出安全阈值</a:t>
                      </a:r>
                      <a:r>
                        <a:rPr lang="zh-CN" altLang="en-US" sz="2000" dirty="0">
                          <a:effectLst/>
                        </a:rPr>
                        <a:t> </a:t>
                      </a:r>
                      <a:r>
                        <a:rPr lang="en-US" altLang="zh-CN" sz="2000" dirty="0">
                          <a:effectLst/>
                        </a:rPr>
                        <a:t>- </a:t>
                      </a:r>
                      <a:r>
                        <a:rPr lang="zh-CN" altLang="en-US" sz="2000" dirty="0">
                          <a:effectLst/>
                        </a:rPr>
                        <a:t>高风险项</a:t>
                      </a:r>
                    </a:p>
                    <a:p>
                      <a:r>
                        <a:rPr lang="zh-CN" altLang="en-US" sz="2000" b="1" dirty="0">
                          <a:effectLst/>
                        </a:rPr>
                        <a:t>缺少</a:t>
                      </a:r>
                      <a:r>
                        <a:rPr lang="en-US" altLang="zh-CN" sz="2000" b="1" dirty="0">
                          <a:effectLst/>
                        </a:rPr>
                        <a:t>X</a:t>
                      </a:r>
                      <a:r>
                        <a:rPr lang="zh-CN" altLang="en-US" sz="2000" b="1" dirty="0">
                          <a:effectLst/>
                        </a:rPr>
                        <a:t>、</a:t>
                      </a:r>
                      <a:r>
                        <a:rPr lang="en-US" altLang="zh-CN" sz="2000" b="1" dirty="0">
                          <a:effectLst/>
                        </a:rPr>
                        <a:t>Y</a:t>
                      </a:r>
                      <a:r>
                        <a:rPr lang="zh-CN" altLang="en-US" sz="2000" b="1" dirty="0">
                          <a:effectLst/>
                        </a:rPr>
                        <a:t>方向振动分析</a:t>
                      </a:r>
                      <a:r>
                        <a:rPr lang="zh-CN" altLang="en-US" sz="2000" dirty="0">
                          <a:effectLst/>
                        </a:rPr>
                        <a:t> </a:t>
                      </a:r>
                      <a:r>
                        <a:rPr lang="en-US" altLang="zh-CN" sz="2000" dirty="0">
                          <a:effectLst/>
                        </a:rPr>
                        <a:t>- </a:t>
                      </a:r>
                      <a:r>
                        <a:rPr lang="zh-CN" altLang="en-US" sz="2000" dirty="0">
                          <a:effectLst/>
                        </a:rPr>
                        <a:t>中风险项</a:t>
                      </a:r>
                    </a:p>
                    <a:p>
                      <a:r>
                        <a:rPr lang="zh-CN" altLang="en-US" sz="2000" b="1" dirty="0">
                          <a:effectLst/>
                        </a:rPr>
                        <a:t>文档信息不完整</a:t>
                      </a:r>
                      <a:r>
                        <a:rPr lang="zh-CN" altLang="en-US" sz="2000" dirty="0">
                          <a:effectLst/>
                        </a:rPr>
                        <a:t> </a:t>
                      </a:r>
                      <a:r>
                        <a:rPr lang="en-US" altLang="zh-CN" sz="2000" dirty="0">
                          <a:effectLst/>
                        </a:rPr>
                        <a:t>- </a:t>
                      </a:r>
                      <a:r>
                        <a:rPr lang="zh-CN" altLang="en-US" sz="2000" dirty="0">
                          <a:effectLst/>
                        </a:rPr>
                        <a:t>低风险项</a:t>
                      </a:r>
                    </a:p>
                    <a:p>
                      <a:r>
                        <a:rPr lang="en-US" altLang="zh-CN" sz="2000" b="1" dirty="0">
                          <a:effectLst/>
                        </a:rPr>
                        <a:t>APQP</a:t>
                      </a:r>
                      <a:r>
                        <a:rPr lang="zh-CN" altLang="en-US" sz="2000" b="1" dirty="0">
                          <a:effectLst/>
                        </a:rPr>
                        <a:t>阶段影响：</a:t>
                      </a:r>
                      <a:r>
                        <a:rPr lang="zh-CN" altLang="en-US" sz="2000" dirty="0">
                          <a:effectLst/>
                        </a:rPr>
                        <a:t>当前处于</a:t>
                      </a:r>
                      <a:r>
                        <a:rPr lang="en-US" altLang="zh-CN" sz="2000" dirty="0">
                          <a:effectLst/>
                        </a:rPr>
                        <a:t>B</a:t>
                      </a:r>
                      <a:r>
                        <a:rPr lang="zh-CN" altLang="en-US" sz="2000" dirty="0">
                          <a:effectLst/>
                        </a:rPr>
                        <a:t>样阶段，焊缝应力超标将影响</a:t>
                      </a:r>
                      <a:r>
                        <a:rPr lang="en-US" altLang="zh-CN" sz="2000" dirty="0">
                          <a:effectLst/>
                        </a:rPr>
                        <a:t>PPAP</a:t>
                      </a:r>
                      <a:r>
                        <a:rPr lang="zh-CN" altLang="en-US" sz="2000" dirty="0">
                          <a:effectLst/>
                        </a:rPr>
                        <a:t>提交</a:t>
                      </a:r>
                    </a:p>
                    <a:p>
                      <a:r>
                        <a:rPr lang="zh-CN" altLang="en-US" sz="2000" dirty="0">
                          <a:effectLst/>
                        </a:rPr>
                        <a:t>缺少多方向振动分析可能影响整车安全性评估</a:t>
                      </a:r>
                    </a:p>
                    <a:p>
                      <a:r>
                        <a:rPr lang="zh-CN" altLang="en-US" sz="2000" dirty="0">
                          <a:effectLst/>
                        </a:rPr>
                        <a:t>文档不完整影响质量体系审核</a:t>
                      </a:r>
                    </a:p>
                    <a:p>
                      <a:r>
                        <a:rPr lang="zh-CN" altLang="en-US" sz="2000" b="1" dirty="0">
                          <a:effectLst/>
                        </a:rPr>
                        <a:t>建议行动：立即优化焊缝设计，重新进行仿真验证</a:t>
                      </a:r>
                      <a:endParaRPr lang="zh-CN" altLang="en-US" sz="2000" dirty="0">
                        <a:effectLst/>
                      </a:endParaRPr>
                    </a:p>
                    <a:p>
                      <a:r>
                        <a:rPr lang="zh-CN" altLang="en-US" sz="2000" b="1" dirty="0">
                          <a:effectLst/>
                        </a:rPr>
                        <a:t>补充</a:t>
                      </a:r>
                      <a:r>
                        <a:rPr lang="en-US" altLang="zh-CN" sz="2000" b="1" dirty="0">
                          <a:effectLst/>
                        </a:rPr>
                        <a:t>X</a:t>
                      </a:r>
                      <a:r>
                        <a:rPr lang="zh-CN" altLang="en-US" sz="2000" b="1" dirty="0">
                          <a:effectLst/>
                        </a:rPr>
                        <a:t>、</a:t>
                      </a:r>
                      <a:r>
                        <a:rPr lang="en-US" altLang="zh-CN" sz="2000" b="1" dirty="0">
                          <a:effectLst/>
                        </a:rPr>
                        <a:t>Y</a:t>
                      </a:r>
                      <a:r>
                        <a:rPr lang="zh-CN" altLang="en-US" sz="2000" b="1" dirty="0">
                          <a:effectLst/>
                        </a:rPr>
                        <a:t>方向振动分析</a:t>
                      </a:r>
                      <a:endParaRPr lang="zh-CN" altLang="en-US" sz="2000" dirty="0">
                        <a:effectLst/>
                      </a:endParaRPr>
                    </a:p>
                    <a:p>
                      <a:r>
                        <a:rPr lang="zh-CN" altLang="en-US" sz="2000" b="1" dirty="0">
                          <a:effectLst/>
                        </a:rPr>
                        <a:t>完善文档信息，确保符合质量体系要求</a:t>
                      </a:r>
                      <a:endParaRPr lang="zh-CN" altLang="en-US" sz="2000" dirty="0">
                        <a:effectLst/>
                      </a:endParaRPr>
                    </a:p>
                    <a:p>
                      <a:r>
                        <a:rPr lang="zh-CN" altLang="en-US" sz="2000" b="1" dirty="0">
                          <a:effectLst/>
                        </a:rPr>
                        <a:t>建立仿真结果与试验验证的对比机制</a:t>
                      </a:r>
                      <a:endParaRPr lang="zh-CN" altLang="en-US" sz="2000" dirty="0">
                        <a:effectLst/>
                      </a:endParaRPr>
                    </a:p>
                    <a:p>
                      <a:r>
                        <a:rPr lang="zh-CN" altLang="en-US" sz="2000" b="1" dirty="0">
                          <a:effectLst/>
                        </a:rPr>
                        <a:t>时间影响：</a:t>
                      </a:r>
                      <a:r>
                        <a:rPr lang="zh-CN" altLang="en-US" sz="2000" dirty="0">
                          <a:effectLst/>
                        </a:rPr>
                        <a:t>焊缝优化需要</a:t>
                      </a:r>
                      <a:r>
                        <a:rPr lang="en-US" altLang="zh-CN" sz="2000" dirty="0">
                          <a:effectLst/>
                        </a:rPr>
                        <a:t>2-3</a:t>
                      </a:r>
                      <a:r>
                        <a:rPr lang="zh-CN" altLang="en-US" sz="2000" dirty="0">
                          <a:effectLst/>
                        </a:rPr>
                        <a:t>周</a:t>
                      </a:r>
                    </a:p>
                    <a:p>
                      <a:r>
                        <a:rPr lang="zh-CN" altLang="en-US" sz="2000" dirty="0">
                          <a:effectLst/>
                        </a:rPr>
                        <a:t>多方向分析需要</a:t>
                      </a:r>
                      <a:r>
                        <a:rPr lang="en-US" altLang="zh-CN" sz="2000" dirty="0">
                          <a:effectLst/>
                        </a:rPr>
                        <a:t>1-2</a:t>
                      </a:r>
                      <a:r>
                        <a:rPr lang="zh-CN" altLang="en-US" sz="2000" dirty="0">
                          <a:effectLst/>
                        </a:rPr>
                        <a:t>周</a:t>
                      </a:r>
                    </a:p>
                    <a:p>
                      <a:r>
                        <a:rPr lang="zh-CN" altLang="en-US" sz="2000" dirty="0">
                          <a:effectLst/>
                        </a:rPr>
                        <a:t>文档完善需要</a:t>
                      </a:r>
                      <a:r>
                        <a:rPr lang="en-US" altLang="zh-CN" sz="2000" dirty="0">
                          <a:effectLst/>
                        </a:rPr>
                        <a:t>1</a:t>
                      </a:r>
                      <a:r>
                        <a:rPr lang="zh-CN" altLang="en-US" sz="2000" dirty="0">
                          <a:effectLst/>
                        </a:rPr>
                        <a:t>周</a:t>
                      </a:r>
                    </a:p>
                    <a:p>
                      <a:r>
                        <a:rPr lang="zh-CN" altLang="en-US" sz="2000" b="1" dirty="0">
                          <a:effectLst/>
                        </a:rPr>
                        <a:t>预计影响项目进度</a:t>
                      </a:r>
                      <a:r>
                        <a:rPr lang="en-US" altLang="zh-CN" sz="2000" b="1" dirty="0">
                          <a:effectLst/>
                        </a:rPr>
                        <a:t>4-6</a:t>
                      </a:r>
                      <a:r>
                        <a:rPr lang="zh-CN" altLang="en-US" sz="2000" b="1" dirty="0">
                          <a:effectLst/>
                        </a:rPr>
                        <a:t>周</a:t>
                      </a:r>
                      <a:endParaRPr lang="zh-CN" altLang="en-US" sz="2000" dirty="0">
                        <a:effectLst/>
                      </a:endParaRPr>
                    </a:p>
                    <a:p>
                      <a:r>
                        <a:rPr lang="zh-CN" altLang="en-US" sz="2000" dirty="0">
                          <a:effectLst/>
                        </a:rPr>
                        <a:t>请立即启动纠正措施，确保在下一阶段评审前完成所有整改要求。</a:t>
                      </a:r>
                      <a:endParaRPr lang="en-GB" sz="2000" dirty="0"/>
                    </a:p>
                  </a:txBody>
                  <a:tcPr/>
                </a:tc>
                <a:extLst>
                  <a:ext uri="{0D108BD9-81ED-4DB2-BD59-A6C34878D82A}">
                    <a16:rowId xmlns:a16="http://schemas.microsoft.com/office/drawing/2014/main" val="604853937"/>
                  </a:ext>
                </a:extLst>
              </a:tr>
            </a:tbl>
          </a:graphicData>
        </a:graphic>
      </p:graphicFrame>
    </p:spTree>
    <p:extLst>
      <p:ext uri="{BB962C8B-B14F-4D97-AF65-F5344CB8AC3E}">
        <p14:creationId xmlns:p14="http://schemas.microsoft.com/office/powerpoint/2010/main" val="1619544260"/>
      </p:ext>
    </p:extLst>
  </p:cSld>
  <p:clrMapOvr>
    <a:masterClrMapping/>
  </p:clrMapOvr>
  <p:transition spd="med"/>
  <p:extLst>
    <p:ext uri="{6950BFC3-D8DA-4A85-94F7-54DA5524770B}">
      <p188:commentRel xmlns:p188="http://schemas.microsoft.com/office/powerpoint/2018/8/main" r:id="rId2"/>
    </p:ext>
  </p:extLst>
</p:sld>
</file>

<file path=ppt/theme/theme1.xml><?xml version="1.0" encoding="utf-8"?>
<a:theme xmlns:a="http://schemas.openxmlformats.org/drawingml/2006/main" name="Parcel">
  <a:themeElements>
    <a:clrScheme name="字幕">
      <a:dk1>
        <a:srgbClr val="000000"/>
      </a:dk1>
      <a:lt1>
        <a:sysClr val="window" lastClr="FFFFFF"/>
      </a:lt1>
      <a:dk2>
        <a:srgbClr val="5E5E5E"/>
      </a:dk2>
      <a:lt2>
        <a:srgbClr val="DDDDDD"/>
      </a:lt2>
      <a:accent1>
        <a:srgbClr val="418AB3"/>
      </a:accent1>
      <a:accent2>
        <a:srgbClr val="A6B727"/>
      </a:accent2>
      <a:accent3>
        <a:srgbClr val="F69200"/>
      </a:accent3>
      <a:accent4>
        <a:srgbClr val="838383"/>
      </a:accent4>
      <a:accent5>
        <a:srgbClr val="FEC306"/>
      </a:accent5>
      <a:accent6>
        <a:srgbClr val="DF5327"/>
      </a:accent6>
      <a:hlink>
        <a:srgbClr val="F59E00"/>
      </a:hlink>
      <a:folHlink>
        <a:srgbClr val="B2B2B2"/>
      </a:folHlink>
    </a:clrScheme>
    <a:fontScheme name="字体">
      <a:majorFont>
        <a:latin typeface="Arial Black"/>
        <a:ea typeface="微软雅黑"/>
        <a:cs typeface=""/>
      </a:majorFont>
      <a:minorFont>
        <a:latin typeface="Arial"/>
        <a:ea typeface="微软雅黑"/>
        <a:cs typeface=""/>
      </a:minorFont>
    </a:fontScheme>
    <a:fmtScheme name="光面">
      <a:fillStyleLst>
        <a:solidFill>
          <a:schemeClr val="phClr"/>
        </a:solidFill>
        <a:gradFill rotWithShape="1">
          <a:gsLst>
            <a:gs pos="0">
              <a:schemeClr val="phClr">
                <a:tint val="62000"/>
                <a:satMod val="180000"/>
              </a:schemeClr>
            </a:gs>
            <a:gs pos="65000">
              <a:schemeClr val="phClr">
                <a:tint val="32000"/>
                <a:satMod val="250000"/>
              </a:schemeClr>
            </a:gs>
            <a:gs pos="100000">
              <a:schemeClr val="phClr">
                <a:tint val="23000"/>
                <a:satMod val="300000"/>
              </a:schemeClr>
            </a:gs>
          </a:gsLst>
          <a:lin ang="16200000" scaled="0"/>
        </a:gradFill>
        <a:gradFill rotWithShape="1">
          <a:gsLst>
            <a:gs pos="0">
              <a:schemeClr val="phClr">
                <a:shade val="15000"/>
                <a:satMod val="180000"/>
              </a:schemeClr>
            </a:gs>
            <a:gs pos="50000">
              <a:schemeClr val="phClr">
                <a:shade val="45000"/>
                <a:satMod val="170000"/>
              </a:schemeClr>
            </a:gs>
            <a:gs pos="70000">
              <a:schemeClr val="phClr">
                <a:tint val="99000"/>
                <a:shade val="65000"/>
                <a:satMod val="155000"/>
              </a:schemeClr>
            </a:gs>
            <a:gs pos="100000">
              <a:schemeClr val="phClr">
                <a:tint val="95500"/>
                <a:shade val="100000"/>
                <a:satMod val="155000"/>
              </a:schemeClr>
            </a:gs>
          </a:gsLst>
          <a:lin ang="16200000" scaled="0"/>
        </a:gradFill>
      </a:fillStyleLst>
      <a:lnStyleLst>
        <a:ln w="12700" cap="flat" cmpd="sng" algn="ctr">
          <a:solidFill>
            <a:schemeClr val="phClr">
              <a:tint val="95000"/>
              <a:shade val="95000"/>
              <a:satMod val="120000"/>
            </a:schemeClr>
          </a:solidFill>
          <a:prstDash val="solid"/>
        </a:ln>
        <a:ln w="55000" cap="flat" cmpd="thickThin" algn="ctr">
          <a:solidFill>
            <a:schemeClr val="phClr">
              <a:tint val="90000"/>
              <a:satMod val="130000"/>
            </a:schemeClr>
          </a:solidFill>
          <a:prstDash val="solid"/>
        </a:ln>
        <a:ln w="50800" cap="flat" cmpd="sng" algn="ctr">
          <a:solidFill>
            <a:schemeClr val="phClr"/>
          </a:solidFill>
          <a:prstDash val="solid"/>
        </a:ln>
      </a:lnStyleLst>
      <a:effectStyleLst>
        <a:effectStyle>
          <a:effectLst>
            <a:outerShdw blurRad="50800" dist="38100" dir="5400000" rotWithShape="0">
              <a:srgbClr val="000000">
                <a:alpha val="35000"/>
              </a:srgbClr>
            </a:outerShdw>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45000"/>
              </a:srgbClr>
            </a:outerShdw>
          </a:effectLst>
          <a:scene3d>
            <a:camera prst="orthographicFront">
              <a:rot lat="0" lon="0" rev="0"/>
            </a:camera>
            <a:lightRig rig="glow" dir="t">
              <a:rot lat="0" lon="0" rev="6360000"/>
            </a:lightRig>
          </a:scene3d>
          <a:sp3d contourW="1000" prstMaterial="flat">
            <a:bevelT w="95250" h="101600"/>
            <a:contourClr>
              <a:schemeClr val="phClr">
                <a:satMod val="300000"/>
              </a:schemeClr>
            </a:contourClr>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White">
  <a:themeElements>
    <a:clrScheme name="White">
      <a:dk1>
        <a:srgbClr val="000000"/>
      </a:dk1>
      <a:lt1>
        <a:srgbClr val="FFFFFF"/>
      </a:lt1>
      <a:dk2>
        <a:srgbClr val="5E5E5E"/>
      </a:dk2>
      <a:lt2>
        <a:srgbClr val="D5D5D5"/>
      </a:lt2>
      <a:accent1>
        <a:srgbClr val="00A2FF"/>
      </a:accent1>
      <a:accent2>
        <a:srgbClr val="16E7CF"/>
      </a:accent2>
      <a:accent3>
        <a:srgbClr val="61D836"/>
      </a:accent3>
      <a:accent4>
        <a:srgbClr val="FAE232"/>
      </a:accent4>
      <a:accent5>
        <a:srgbClr val="FF644E"/>
      </a:accent5>
      <a:accent6>
        <a:srgbClr val="EF5FA7"/>
      </a:accent6>
      <a:hlink>
        <a:srgbClr val="0000FF"/>
      </a:hlink>
      <a:folHlink>
        <a:srgbClr val="FF00FF"/>
      </a:folHlink>
    </a:clrScheme>
    <a:fontScheme name="White">
      <a:majorFont>
        <a:latin typeface="Helvetica Neue Medium"/>
        <a:ea typeface="Helvetica Neue Medium"/>
        <a:cs typeface="Helvetica Neue Medium"/>
      </a:majorFont>
      <a:minorFont>
        <a:latin typeface="Helvetica Neue Medium"/>
        <a:ea typeface="Helvetica Neue Medium"/>
        <a:cs typeface="Helvetica Neue Medium"/>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12700" cap="flat">
          <a:noFill/>
          <a:miter lim="400000"/>
        </a:ln>
      </a:spPr>
      <a:bodyPr rot="0" spcFirstLastPara="1" vertOverflow="overflow" horzOverflow="overflow" vert="horz" wrap="square" lIns="0" tIns="0" rIns="0" bIns="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defRPr kumimoji="0" sz="3200" b="0" i="0" u="none" strike="noStrike" cap="none" spc="0" normalizeH="0" baseline="0">
            <a:ln>
              <a:noFill/>
            </a:ln>
            <a:solidFill>
              <a:srgbClr val="FFFFFF"/>
            </a:solidFill>
            <a:effectLst/>
            <a:uFillTx/>
            <a:latin typeface="+mn-lt"/>
            <a:ea typeface="+mn-ea"/>
            <a:cs typeface="+mn-cs"/>
            <a:sym typeface="Helvetica Neue Medium"/>
          </a:defRPr>
        </a:defPPr>
        <a:lvl1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defRPr kumimoji="0" sz="3000" b="1" i="0" u="none" strike="noStrike" cap="none" spc="0" normalizeH="0" baseline="0">
            <a:ln>
              <a:noFill/>
            </a:ln>
            <a:solidFill>
              <a:srgbClr val="000000"/>
            </a:solidFill>
            <a:effectLst/>
            <a:uFillTx/>
            <a:latin typeface="Helvetica Neue"/>
            <a:ea typeface="Helvetica Neue"/>
            <a:cs typeface="Helvetica Neue"/>
            <a:sym typeface="Helvetica Neue"/>
          </a:defRPr>
        </a:defPPr>
        <a:lvl1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91881</TotalTime>
  <Words>20815</Words>
  <Application>Microsoft Office PowerPoint</Application>
  <PresentationFormat>自定义</PresentationFormat>
  <Paragraphs>2792</Paragraphs>
  <Slides>29</Slides>
  <Notes>1</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29</vt:i4>
      </vt:variant>
    </vt:vector>
  </HeadingPairs>
  <TitlesOfParts>
    <vt:vector size="33" baseType="lpstr">
      <vt:lpstr>Helvetica Neue</vt:lpstr>
      <vt:lpstr>Arial</vt:lpstr>
      <vt:lpstr>Arial Black</vt:lpstr>
      <vt:lpstr>Parcel</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ZhangYiHan张忆涵</dc:creator>
  <cp:lastModifiedBy>Jack Zhou</cp:lastModifiedBy>
  <cp:revision>1390</cp:revision>
  <dcterms:created xsi:type="dcterms:W3CDTF">2021-12-03T14:39:00Z</dcterms:created>
  <dcterms:modified xsi:type="dcterms:W3CDTF">2025-07-11T06:51:27Z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ACEE860C213C456B9FC86AAF9DAE088F</vt:lpwstr>
  </property>
  <property fmtid="{D5CDD505-2E9C-101B-9397-08002B2CF9AE}" pid="3" name="KSOProductBuildVer">
    <vt:lpwstr>2052-11.1.0.11115</vt:lpwstr>
  </property>
</Properties>
</file>